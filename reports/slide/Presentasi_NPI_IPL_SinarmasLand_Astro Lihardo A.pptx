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9.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0.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5.xml" ContentType="application/vnd.openxmlformats-officedocument.presentationml.notesSlide+xml"/>
  <Override PartName="/ppt/charts/chart13.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4.xml" ContentType="application/vnd.openxmlformats-officedocument.drawingml.chart+xml"/>
  <Override PartName="/ppt/notesSlides/notesSlide28.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an" id="{E4067655-FA94-89D0-36EF-295D251D7EF7}">
          <p14:sldIdLst>
            <p14:sldId id="256"/>
            <p14:sldId id="257"/>
            <p14:sldId id="258"/>
          </p14:sldIdLst>
        </p14:section>
        <p14:section name="Konteks bisnis" id="{32ED5FEA-E851-139A-BBD9-51F41FA88381}">
          <p14:sldIdLst>
            <p14:sldId id="259"/>
            <p14:sldId id="260"/>
            <p14:sldId id="261"/>
          </p14:sldIdLst>
        </p14:section>
        <p14:section name="Data &amp; metodologi" id="{25A323FA-DEE8-50AC-73AE-00BFF087A257}">
          <p14:sldIdLst>
            <p14:sldId id="262"/>
            <p14:sldId id="263"/>
            <p14:sldId id="264"/>
            <p14:sldId id="265"/>
            <p14:sldId id="266"/>
          </p14:sldIdLst>
        </p14:section>
        <p14:section name="Besar masalah" id="{2C948C0A-05EA-6D42-9E41-F04FE655951C}">
          <p14:sldIdLst>
            <p14:sldId id="267"/>
            <p14:sldId id="268"/>
            <p14:sldId id="269"/>
          </p14:sldIdLst>
        </p14:section>
        <p14:section name="Faktor risiko" id="{B47E2F4D-8478-23C4-EE16-BFF724928E53}">
          <p14:sldIdLst>
            <p14:sldId id="270"/>
            <p14:sldId id="271"/>
            <p14:sldId id="272"/>
            <p14:sldId id="273"/>
            <p14:sldId id="274"/>
            <p14:sldId id="275"/>
          </p14:sldIdLst>
        </p14:section>
        <p14:section name="Collection &amp; Finance" id="{668F66EF-E932-0E90-875F-00ED8CDD87E2}">
          <p14:sldIdLst>
            <p14:sldId id="276"/>
            <p14:sldId id="277"/>
            <p14:sldId id="278"/>
            <p14:sldId id="279"/>
            <p14:sldId id="280"/>
          </p14:sldIdLst>
        </p14:section>
        <p14:section name="Simulasi" id="{FA2F9E48-0987-0ACD-44C6-1DCE992FC2E5}">
          <p14:sldIdLst>
            <p14:sldId id="281"/>
            <p14:sldId id="282"/>
            <p14:sldId id="283"/>
            <p14:sldId id="284"/>
          </p14:sldIdLst>
        </p14:section>
        <p14:section name="Rekomendasi" id="{913F1022-D0FB-1241-2538-D0090B4A603B}">
          <p14:sldIdLst>
            <p14:sldId id="285"/>
            <p14:sldId id="286"/>
            <p14:sldId id="287"/>
            <p14:sldId id="288"/>
            <p14:sldId id="289"/>
          </p14:sldIdLst>
        </p14:section>
        <p14:section name="Penutup" id="{9254CE9F-3F10-7EFA-3C2D-5FE2C0AF59EA}">
          <p14:sldIdLst>
            <p14:sldId id="290"/>
          </p14:sldIdLst>
        </p14:section>
        <p14:section name="Appendix" id="{0194748F-0895-E3F2-E458-6B29C8369303}">
          <p14:sldIdLst>
            <p14:sldId id="291"/>
            <p14:sldId id="292"/>
            <p14:sldId id="293"/>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6081"/>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NPI rate (% invoice)</a:t>
            </a:r>
          </a:p>
        </c:rich>
      </c:tx>
      <c:overlay val="0"/>
    </c:title>
    <c:autoTitleDeleted val="0"/>
    <c:plotArea>
      <c:layout/>
      <c:barChart>
        <c:barDir val="col"/>
        <c:grouping val="clustered"/>
        <c:varyColors val="0"/>
        <c:ser>
          <c:idx val="0"/>
          <c:order val="0"/>
          <c:tx>
            <c:strRef>
              <c:f>Sheet1!$B$1</c:f>
              <c:strCache>
                <c:ptCount val="1"/>
                <c:pt idx="0">
                  <c:v>NPI rate</c:v>
                </c:pt>
              </c:strCache>
            </c:strRef>
          </c:tx>
          <c:spPr>
            <a:solidFill>
              <a:srgbClr val="B8C0CC"/>
            </a:solidFill>
            <a:effectLst/>
          </c:spPr>
          <c:invertIfNegative val="0"/>
          <c:dPt>
            <c:idx val="0"/>
            <c:invertIfNegative val="0"/>
            <c:bubble3D val="0"/>
            <c:spPr>
              <a:solidFill>
                <a:srgbClr val="B8C0CC"/>
              </a:solidFill>
              <a:effectLst/>
            </c:spPr>
            <c:extLst>
              <c:ext xmlns:c16="http://schemas.microsoft.com/office/drawing/2014/chart" uri="{C3380CC4-5D6E-409C-BE32-E72D297353CC}">
                <c16:uniqueId val="{00000001-50B9-F341-A87D-AF63351A0147}"/>
              </c:ext>
            </c:extLst>
          </c:dPt>
          <c:dPt>
            <c:idx val="1"/>
            <c:invertIfNegative val="0"/>
            <c:bubble3D val="0"/>
            <c:spPr>
              <a:solidFill>
                <a:srgbClr val="13294B"/>
              </a:solidFill>
              <a:effectLst/>
            </c:spPr>
            <c:extLst>
              <c:ext xmlns:c16="http://schemas.microsoft.com/office/drawing/2014/chart" uri="{C3380CC4-5D6E-409C-BE32-E72D297353CC}">
                <c16:uniqueId val="{00000003-50B9-F341-A87D-AF63351A0147}"/>
              </c:ext>
            </c:extLst>
          </c:dPt>
          <c:dLbls>
            <c:numFmt formatCode="0\,00&quot;%&quot;"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Sebelum aturan duplikasi</c:v>
                </c:pt>
                <c:pt idx="1">
                  <c:v>Sesudah aturan duplikasi</c:v>
                </c:pt>
              </c:strCache>
            </c:strRef>
          </c:cat>
          <c:val>
            <c:numRef>
              <c:f>Sheet1!$B$2:$B$3</c:f>
              <c:numCache>
                <c:formatCode>General</c:formatCode>
                <c:ptCount val="2"/>
                <c:pt idx="0">
                  <c:v>3696</c:v>
                </c:pt>
                <c:pt idx="1">
                  <c:v>3544</c:v>
                </c:pt>
              </c:numCache>
            </c:numRef>
          </c:val>
          <c:extLst>
            <c:ext xmlns:c16="http://schemas.microsoft.com/office/drawing/2014/chart" uri="{C3380CC4-5D6E-409C-BE32-E72D297353CC}">
              <c16:uniqueId val="{00000004-50B9-F341-A87D-AF63351A014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450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NPI per cohort penerbitan yang masih berstatus NPI per 27 Jan 2025 (% invoice)</a:t>
            </a:r>
          </a:p>
        </c:rich>
      </c:tx>
      <c:overlay val="0"/>
    </c:title>
    <c:autoTitleDeleted val="0"/>
    <c:plotArea>
      <c:layout/>
      <c:lineChart>
        <c:grouping val="standard"/>
        <c:varyColors val="0"/>
        <c:ser>
          <c:idx val="0"/>
          <c:order val="0"/>
          <c:tx>
            <c:strRef>
              <c:f>Sheet1!$B$1</c:f>
              <c:strCache>
                <c:ptCount val="1"/>
                <c:pt idx="0">
                  <c:v>NPI cohort matang</c:v>
                </c:pt>
              </c:strCache>
            </c:strRef>
          </c:tx>
          <c:spPr>
            <a:ln w="31750" cap="flat">
              <a:solidFill>
                <a:srgbClr val="13294B"/>
              </a:solidFill>
              <a:prstDash val="solid"/>
              <a:round/>
            </a:ln>
            <a:effectLst/>
          </c:spPr>
          <c:marker>
            <c:symbol val="circle"/>
            <c:size val="5"/>
            <c:spPr>
              <a:solidFill>
                <a:srgbClr val="13294B"/>
              </a:solidFill>
              <a:ln w="9525" cap="flat">
                <a:solidFill>
                  <a:srgbClr val="13294B"/>
                </a:solidFill>
                <a:prstDash val="solid"/>
                <a:round/>
              </a:ln>
              <a:effectLst/>
            </c:spPr>
          </c:marker>
          <c:cat>
            <c:strRef>
              <c:f>Sheet1!$A$2:$A$30</c:f>
              <c:strCache>
                <c:ptCount val="29"/>
                <c:pt idx="0">
                  <c:v>Jul 22</c:v>
                </c:pt>
                <c:pt idx="1">
                  <c:v>Aug 22</c:v>
                </c:pt>
                <c:pt idx="2">
                  <c:v>Sep 22</c:v>
                </c:pt>
                <c:pt idx="3">
                  <c:v>Oct 22</c:v>
                </c:pt>
                <c:pt idx="4">
                  <c:v>Nov 22</c:v>
                </c:pt>
                <c:pt idx="5">
                  <c:v>Dec 22</c:v>
                </c:pt>
                <c:pt idx="6">
                  <c:v>Jan 23</c:v>
                </c:pt>
                <c:pt idx="7">
                  <c:v>Feb 23</c:v>
                </c:pt>
                <c:pt idx="8">
                  <c:v>Mar 23</c:v>
                </c:pt>
                <c:pt idx="9">
                  <c:v>Apr 23</c:v>
                </c:pt>
                <c:pt idx="10">
                  <c:v>May 23</c:v>
                </c:pt>
                <c:pt idx="11">
                  <c:v>Jun 23</c:v>
                </c:pt>
                <c:pt idx="12">
                  <c:v>Jul 23</c:v>
                </c:pt>
                <c:pt idx="13">
                  <c:v>Aug 23</c:v>
                </c:pt>
                <c:pt idx="14">
                  <c:v>Sep 23</c:v>
                </c:pt>
                <c:pt idx="15">
                  <c:v>Oct 23</c:v>
                </c:pt>
                <c:pt idx="16">
                  <c:v>Nov 23</c:v>
                </c:pt>
                <c:pt idx="17">
                  <c:v>Dec 23</c:v>
                </c:pt>
                <c:pt idx="18">
                  <c:v>Jan 24</c:v>
                </c:pt>
                <c:pt idx="19">
                  <c:v>Feb 24</c:v>
                </c:pt>
                <c:pt idx="20">
                  <c:v>Mar 24</c:v>
                </c:pt>
                <c:pt idx="21">
                  <c:v>Apr 24</c:v>
                </c:pt>
                <c:pt idx="22">
                  <c:v>May 24</c:v>
                </c:pt>
                <c:pt idx="23">
                  <c:v>Jun 24</c:v>
                </c:pt>
                <c:pt idx="24">
                  <c:v>Jul 24</c:v>
                </c:pt>
                <c:pt idx="25">
                  <c:v>Aug 24</c:v>
                </c:pt>
                <c:pt idx="26">
                  <c:v>Sep 24</c:v>
                </c:pt>
                <c:pt idx="27">
                  <c:v>Oct 24</c:v>
                </c:pt>
                <c:pt idx="28">
                  <c:v>Nov 24</c:v>
                </c:pt>
              </c:strCache>
            </c:strRef>
          </c:cat>
          <c:val>
            <c:numRef>
              <c:f>Sheet1!$B$2:$B$30</c:f>
              <c:numCache>
                <c:formatCode>General</c:formatCode>
                <c:ptCount val="29"/>
                <c:pt idx="0">
                  <c:v>20.03</c:v>
                </c:pt>
                <c:pt idx="1">
                  <c:v>27.35</c:v>
                </c:pt>
                <c:pt idx="2">
                  <c:v>31.51</c:v>
                </c:pt>
                <c:pt idx="3">
                  <c:v>33.24</c:v>
                </c:pt>
                <c:pt idx="4">
                  <c:v>33.92</c:v>
                </c:pt>
                <c:pt idx="5">
                  <c:v>34.76</c:v>
                </c:pt>
                <c:pt idx="6">
                  <c:v>34.94</c:v>
                </c:pt>
                <c:pt idx="7">
                  <c:v>35.25</c:v>
                </c:pt>
                <c:pt idx="8">
                  <c:v>35.21</c:v>
                </c:pt>
                <c:pt idx="9">
                  <c:v>35.61</c:v>
                </c:pt>
                <c:pt idx="10">
                  <c:v>35.96</c:v>
                </c:pt>
                <c:pt idx="11">
                  <c:v>35.700000000000003</c:v>
                </c:pt>
                <c:pt idx="12">
                  <c:v>35.35</c:v>
                </c:pt>
                <c:pt idx="13">
                  <c:v>35.46</c:v>
                </c:pt>
                <c:pt idx="14">
                  <c:v>36.29</c:v>
                </c:pt>
                <c:pt idx="15">
                  <c:v>36.35</c:v>
                </c:pt>
                <c:pt idx="16">
                  <c:v>36.4</c:v>
                </c:pt>
                <c:pt idx="17">
                  <c:v>36.659999999999997</c:v>
                </c:pt>
                <c:pt idx="18">
                  <c:v>36.69</c:v>
                </c:pt>
                <c:pt idx="19">
                  <c:v>37.130000000000003</c:v>
                </c:pt>
                <c:pt idx="20">
                  <c:v>36.56</c:v>
                </c:pt>
                <c:pt idx="21">
                  <c:v>36.89</c:v>
                </c:pt>
                <c:pt idx="22">
                  <c:v>36.94</c:v>
                </c:pt>
                <c:pt idx="23">
                  <c:v>37.06</c:v>
                </c:pt>
                <c:pt idx="24">
                  <c:v>37.270000000000003</c:v>
                </c:pt>
                <c:pt idx="25">
                  <c:v>37.19</c:v>
                </c:pt>
                <c:pt idx="26">
                  <c:v>37.5</c:v>
                </c:pt>
                <c:pt idx="27">
                  <c:v>37.5</c:v>
                </c:pt>
                <c:pt idx="28">
                  <c:v>36.93</c:v>
                </c:pt>
              </c:numCache>
            </c:numRef>
          </c:val>
          <c:smooth val="0"/>
          <c:extLst>
            <c:ext xmlns:c16="http://schemas.microsoft.com/office/drawing/2014/chart" uri="{C3380CC4-5D6E-409C-BE32-E72D297353CC}">
              <c16:uniqueId val="{00000000-6200-3547-8B14-C3DF989BA79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8EBF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Nominal NPI analisis per cohort (Rp miliar)</a:t>
            </a:r>
          </a:p>
        </c:rich>
      </c:tx>
      <c:overlay val="0"/>
    </c:title>
    <c:autoTitleDeleted val="0"/>
    <c:plotArea>
      <c:layout/>
      <c:barChart>
        <c:barDir val="col"/>
        <c:grouping val="clustered"/>
        <c:varyColors val="0"/>
        <c:ser>
          <c:idx val="0"/>
          <c:order val="0"/>
          <c:tx>
            <c:strRef>
              <c:f>Sheet1!$B$1</c:f>
              <c:strCache>
                <c:ptCount val="1"/>
                <c:pt idx="0">
                  <c:v>Nominal NPI</c:v>
                </c:pt>
              </c:strCache>
            </c:strRef>
          </c:tx>
          <c:spPr>
            <a:solidFill>
              <a:srgbClr val="C9A227"/>
            </a:solidFill>
            <a:effectLst/>
          </c:spPr>
          <c:invertIfNegative val="0"/>
          <c:cat>
            <c:strRef>
              <c:f>Sheet1!$A$2:$A$31</c:f>
              <c:strCache>
                <c:ptCount val="30"/>
                <c:pt idx="0">
                  <c:v>Jul 22</c:v>
                </c:pt>
                <c:pt idx="1">
                  <c:v>Aug 22</c:v>
                </c:pt>
                <c:pt idx="2">
                  <c:v>Sep 22</c:v>
                </c:pt>
                <c:pt idx="3">
                  <c:v>Oct 22</c:v>
                </c:pt>
                <c:pt idx="4">
                  <c:v>Nov 22</c:v>
                </c:pt>
                <c:pt idx="5">
                  <c:v>Dec 22</c:v>
                </c:pt>
                <c:pt idx="6">
                  <c:v>Jan 23</c:v>
                </c:pt>
                <c:pt idx="7">
                  <c:v>Feb 23</c:v>
                </c:pt>
                <c:pt idx="8">
                  <c:v>Mar 23</c:v>
                </c:pt>
                <c:pt idx="9">
                  <c:v>Apr 23</c:v>
                </c:pt>
                <c:pt idx="10">
                  <c:v>May 23</c:v>
                </c:pt>
                <c:pt idx="11">
                  <c:v>Jun 23</c:v>
                </c:pt>
                <c:pt idx="12">
                  <c:v>Jul 23</c:v>
                </c:pt>
                <c:pt idx="13">
                  <c:v>Aug 23</c:v>
                </c:pt>
                <c:pt idx="14">
                  <c:v>Sep 23</c:v>
                </c:pt>
                <c:pt idx="15">
                  <c:v>Oct 23</c:v>
                </c:pt>
                <c:pt idx="16">
                  <c:v>Nov 23</c:v>
                </c:pt>
                <c:pt idx="17">
                  <c:v>Dec 23</c:v>
                </c:pt>
                <c:pt idx="18">
                  <c:v>Jan 24</c:v>
                </c:pt>
                <c:pt idx="19">
                  <c:v>Feb 24</c:v>
                </c:pt>
                <c:pt idx="20">
                  <c:v>Mar 24</c:v>
                </c:pt>
                <c:pt idx="21">
                  <c:v>Apr 24</c:v>
                </c:pt>
                <c:pt idx="22">
                  <c:v>May 24</c:v>
                </c:pt>
                <c:pt idx="23">
                  <c:v>Jun 24</c:v>
                </c:pt>
                <c:pt idx="24">
                  <c:v>Jul 24</c:v>
                </c:pt>
                <c:pt idx="25">
                  <c:v>Aug 24</c:v>
                </c:pt>
                <c:pt idx="26">
                  <c:v>Sep 24</c:v>
                </c:pt>
                <c:pt idx="27">
                  <c:v>Oct 24</c:v>
                </c:pt>
                <c:pt idx="28">
                  <c:v>Nov 24</c:v>
                </c:pt>
                <c:pt idx="29">
                  <c:v>Dec 24</c:v>
                </c:pt>
              </c:strCache>
            </c:strRef>
          </c:cat>
          <c:val>
            <c:numRef>
              <c:f>Sheet1!$B$2:$B$31</c:f>
              <c:numCache>
                <c:formatCode>General</c:formatCode>
                <c:ptCount val="30"/>
                <c:pt idx="0">
                  <c:v>24</c:v>
                </c:pt>
                <c:pt idx="1">
                  <c:v>34</c:v>
                </c:pt>
                <c:pt idx="2">
                  <c:v>40</c:v>
                </c:pt>
                <c:pt idx="3">
                  <c:v>44</c:v>
                </c:pt>
                <c:pt idx="4">
                  <c:v>46</c:v>
                </c:pt>
                <c:pt idx="5">
                  <c:v>49</c:v>
                </c:pt>
                <c:pt idx="6">
                  <c:v>51</c:v>
                </c:pt>
                <c:pt idx="7">
                  <c:v>53</c:v>
                </c:pt>
                <c:pt idx="8">
                  <c:v>53</c:v>
                </c:pt>
                <c:pt idx="9">
                  <c:v>55</c:v>
                </c:pt>
                <c:pt idx="10">
                  <c:v>56</c:v>
                </c:pt>
                <c:pt idx="11">
                  <c:v>57</c:v>
                </c:pt>
                <c:pt idx="12">
                  <c:v>58</c:v>
                </c:pt>
                <c:pt idx="13">
                  <c:v>59</c:v>
                </c:pt>
                <c:pt idx="14">
                  <c:v>61</c:v>
                </c:pt>
                <c:pt idx="15">
                  <c:v>63</c:v>
                </c:pt>
                <c:pt idx="16">
                  <c:v>65</c:v>
                </c:pt>
                <c:pt idx="17">
                  <c:v>67</c:v>
                </c:pt>
                <c:pt idx="18">
                  <c:v>67</c:v>
                </c:pt>
                <c:pt idx="19">
                  <c:v>68</c:v>
                </c:pt>
                <c:pt idx="20">
                  <c:v>67</c:v>
                </c:pt>
                <c:pt idx="21">
                  <c:v>68</c:v>
                </c:pt>
                <c:pt idx="22">
                  <c:v>69</c:v>
                </c:pt>
                <c:pt idx="23">
                  <c:v>69</c:v>
                </c:pt>
                <c:pt idx="24">
                  <c:v>70</c:v>
                </c:pt>
                <c:pt idx="25">
                  <c:v>70</c:v>
                </c:pt>
                <c:pt idx="26">
                  <c:v>71</c:v>
                </c:pt>
                <c:pt idx="27">
                  <c:v>71</c:v>
                </c:pt>
                <c:pt idx="28">
                  <c:v>70</c:v>
                </c:pt>
                <c:pt idx="29">
                  <c:v>70</c:v>
                </c:pt>
              </c:numCache>
            </c:numRef>
          </c:val>
          <c:extLst>
            <c:ext xmlns:c16="http://schemas.microsoft.com/office/drawing/2014/chart" uri="{C3380CC4-5D6E-409C-BE32-E72D297353CC}">
              <c16:uniqueId val="{00000000-841E-864F-96D1-321D37B8480E}"/>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8EBF0"/>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NPI rate kelompok uji vs pembanding (% invoice)</a:t>
            </a:r>
          </a:p>
        </c:rich>
      </c:tx>
      <c:overlay val="0"/>
    </c:title>
    <c:autoTitleDeleted val="0"/>
    <c:plotArea>
      <c:layout/>
      <c:barChart>
        <c:barDir val="bar"/>
        <c:grouping val="clustered"/>
        <c:varyColors val="0"/>
        <c:ser>
          <c:idx val="0"/>
          <c:order val="0"/>
          <c:tx>
            <c:strRef>
              <c:f>Sheet1!$B$1</c:f>
              <c:strCache>
                <c:ptCount val="1"/>
                <c:pt idx="0">
                  <c:v>Kelompok pembanding</c:v>
                </c:pt>
              </c:strCache>
            </c:strRef>
          </c:tx>
          <c:spPr>
            <a:solidFill>
              <a:srgbClr val="B8C0CC"/>
            </a:solidFill>
            <a:effectLst/>
          </c:spPr>
          <c:invertIfNegative val="0"/>
          <c:dLbls>
            <c:numFmt formatCode="0\,0" sourceLinked="0"/>
            <c:spPr>
              <a:noFill/>
              <a:ln>
                <a:noFill/>
              </a:ln>
              <a:effectLst/>
            </c:spPr>
            <c:txPr>
              <a:bodyPr/>
              <a:lstStyle/>
              <a:p>
                <a:pPr>
                  <a:defRPr sz="10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H12 Regional Hub vs Onsite</c:v>
                </c:pt>
                <c:pt idx="1">
                  <c:v>H8 Tarif &gt; Rp500 rb vs ≤ Rp500 rb</c:v>
                </c:pt>
                <c:pt idx="2">
                  <c:v>H11 New Phase vs Established</c:v>
                </c:pt>
                <c:pt idx="3">
                  <c:v>H7 Cetak fisik vs portal</c:v>
                </c:pt>
                <c:pt idx="4">
                  <c:v>H3 Tanpa nomor vs terverifikasi</c:v>
                </c:pt>
                <c:pt idx="5">
                  <c:v>H2 Luar kota/negeri vs dalam kota</c:v>
                </c:pt>
                <c:pt idx="6">
                  <c:v>H6 Tanpa vs dengan autodebit</c:v>
                </c:pt>
                <c:pt idx="7">
                  <c:v>H1 Vacant vs dihuni</c:v>
                </c:pt>
              </c:strCache>
            </c:strRef>
          </c:cat>
          <c:val>
            <c:numRef>
              <c:f>Sheet1!$B$2:$B$9</c:f>
              <c:numCache>
                <c:formatCode>General</c:formatCode>
                <c:ptCount val="8"/>
                <c:pt idx="0">
                  <c:v>344</c:v>
                </c:pt>
                <c:pt idx="1">
                  <c:v>348</c:v>
                </c:pt>
                <c:pt idx="2">
                  <c:v>328</c:v>
                </c:pt>
                <c:pt idx="3">
                  <c:v>322</c:v>
                </c:pt>
                <c:pt idx="4">
                  <c:v>323</c:v>
                </c:pt>
                <c:pt idx="5">
                  <c:v>279</c:v>
                </c:pt>
                <c:pt idx="6">
                  <c:v>99</c:v>
                </c:pt>
                <c:pt idx="7">
                  <c:v>281</c:v>
                </c:pt>
              </c:numCache>
            </c:numRef>
          </c:val>
          <c:extLst>
            <c:ext xmlns:c16="http://schemas.microsoft.com/office/drawing/2014/chart" uri="{C3380CC4-5D6E-409C-BE32-E72D297353CC}">
              <c16:uniqueId val="{00000000-B5AE-FF45-AB70-A3372FD7A1C9}"/>
            </c:ext>
          </c:extLst>
        </c:ser>
        <c:ser>
          <c:idx val="1"/>
          <c:order val="1"/>
          <c:tx>
            <c:strRef>
              <c:f>Sheet1!$C$1</c:f>
              <c:strCache>
                <c:ptCount val="1"/>
                <c:pt idx="0">
                  <c:v>Kelompok uji</c:v>
                </c:pt>
              </c:strCache>
            </c:strRef>
          </c:tx>
          <c:spPr>
            <a:solidFill>
              <a:srgbClr val="13294B"/>
            </a:solidFill>
            <a:effectLst/>
          </c:spPr>
          <c:invertIfNegative val="0"/>
          <c:dLbls>
            <c:numFmt formatCode="0\,0" sourceLinked="0"/>
            <c:spPr>
              <a:noFill/>
              <a:ln>
                <a:noFill/>
              </a:ln>
              <a:effectLst/>
            </c:spPr>
            <c:txPr>
              <a:bodyPr/>
              <a:lstStyle/>
              <a:p>
                <a:pPr>
                  <a:defRPr sz="10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H12 Regional Hub vs Onsite</c:v>
                </c:pt>
                <c:pt idx="1">
                  <c:v>H8 Tarif &gt; Rp500 rb vs ≤ Rp500 rb</c:v>
                </c:pt>
                <c:pt idx="2">
                  <c:v>H11 New Phase vs Established</c:v>
                </c:pt>
                <c:pt idx="3">
                  <c:v>H7 Cetak fisik vs portal</c:v>
                </c:pt>
                <c:pt idx="4">
                  <c:v>H3 Tanpa nomor vs terverifikasi</c:v>
                </c:pt>
                <c:pt idx="5">
                  <c:v>H2 Luar kota/negeri vs dalam kota</c:v>
                </c:pt>
                <c:pt idx="6">
                  <c:v>H6 Tanpa vs dengan autodebit</c:v>
                </c:pt>
                <c:pt idx="7">
                  <c:v>H1 Vacant vs dihuni</c:v>
                </c:pt>
              </c:strCache>
            </c:strRef>
          </c:cat>
          <c:val>
            <c:numRef>
              <c:f>Sheet1!$C$2:$C$9</c:f>
              <c:numCache>
                <c:formatCode>General</c:formatCode>
                <c:ptCount val="8"/>
                <c:pt idx="0">
                  <c:v>374</c:v>
                </c:pt>
                <c:pt idx="1">
                  <c:v>393</c:v>
                </c:pt>
                <c:pt idx="2">
                  <c:v>401</c:v>
                </c:pt>
                <c:pt idx="3">
                  <c:v>408</c:v>
                </c:pt>
                <c:pt idx="4">
                  <c:v>442</c:v>
                </c:pt>
                <c:pt idx="5">
                  <c:v>499</c:v>
                </c:pt>
                <c:pt idx="6">
                  <c:v>397</c:v>
                </c:pt>
                <c:pt idx="7">
                  <c:v>584</c:v>
                </c:pt>
              </c:numCache>
            </c:numRef>
          </c:val>
          <c:extLst>
            <c:ext xmlns:c16="http://schemas.microsoft.com/office/drawing/2014/chart" uri="{C3380CC4-5D6E-409C-BE32-E72D297353CC}">
              <c16:uniqueId val="{00000001-B5AE-FF45-AB70-A3372FD7A1C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700"/>
          <c:min val="0"/>
        </c:scaling>
        <c:delete val="1"/>
        <c:axPos val="b"/>
        <c:majorGridlines>
          <c:spPr>
            <a:ln w="9525" cap="flat">
              <a:solidFill>
                <a:srgbClr val="E8EB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Selisih NPI sebelum vs setelah faktor lain dikendalikan (poin persen)</a:t>
            </a:r>
          </a:p>
        </c:rich>
      </c:tx>
      <c:overlay val="0"/>
    </c:title>
    <c:autoTitleDeleted val="0"/>
    <c:plotArea>
      <c:layout/>
      <c:barChart>
        <c:barDir val="bar"/>
        <c:grouping val="clustered"/>
        <c:varyColors val="0"/>
        <c:ser>
          <c:idx val="0"/>
          <c:order val="0"/>
          <c:tx>
            <c:strRef>
              <c:f>Sheet1!$B$1</c:f>
              <c:strCache>
                <c:ptCount val="1"/>
                <c:pt idx="0">
                  <c:v>Selisih awal</c:v>
                </c:pt>
              </c:strCache>
            </c:strRef>
          </c:tx>
          <c:spPr>
            <a:solidFill>
              <a:srgbClr val="B8C0CC"/>
            </a:solidFill>
            <a:effectLst/>
          </c:spPr>
          <c:invertIfNegative val="0"/>
          <c:dLbls>
            <c:numFmt formatCode="0\,00" sourceLinked="0"/>
            <c:spPr>
              <a:noFill/>
              <a:ln>
                <a:noFill/>
              </a:ln>
              <a:effectLst/>
            </c:spPr>
            <c:txPr>
              <a:bodyPr/>
              <a:lstStyle/>
              <a:p>
                <a:pPr>
                  <a:defRPr sz="10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H12 Regional Hub</c:v>
                </c:pt>
                <c:pt idx="1">
                  <c:v>H7 Cetak &amp; antar fisik</c:v>
                </c:pt>
                <c:pt idx="2">
                  <c:v>H3 Kontak belum terverifikasi/kosong</c:v>
                </c:pt>
                <c:pt idx="3">
                  <c:v>H11 Cluster New Phase</c:v>
                </c:pt>
                <c:pt idx="4">
                  <c:v>H2 Pemilik luar kota/negeri</c:v>
                </c:pt>
                <c:pt idx="5">
                  <c:v>H1 Vacant</c:v>
                </c:pt>
                <c:pt idx="6">
                  <c:v>H6 Tanpa autodebit</c:v>
                </c:pt>
              </c:strCache>
            </c:strRef>
          </c:cat>
          <c:val>
            <c:numRef>
              <c:f>Sheet1!$B$2:$B$8</c:f>
              <c:numCache>
                <c:formatCode>General</c:formatCode>
                <c:ptCount val="7"/>
                <c:pt idx="0">
                  <c:v>303</c:v>
                </c:pt>
                <c:pt idx="1">
                  <c:v>726</c:v>
                </c:pt>
                <c:pt idx="2">
                  <c:v>1005</c:v>
                </c:pt>
                <c:pt idx="3">
                  <c:v>723</c:v>
                </c:pt>
                <c:pt idx="4">
                  <c:v>2204</c:v>
                </c:pt>
                <c:pt idx="5">
                  <c:v>3032</c:v>
                </c:pt>
                <c:pt idx="6">
                  <c:v>2978</c:v>
                </c:pt>
              </c:numCache>
            </c:numRef>
          </c:val>
          <c:extLst>
            <c:ext xmlns:c16="http://schemas.microsoft.com/office/drawing/2014/chart" uri="{C3380CC4-5D6E-409C-BE32-E72D297353CC}">
              <c16:uniqueId val="{00000000-A33B-084A-AB2C-B92F137D8DA4}"/>
            </c:ext>
          </c:extLst>
        </c:ser>
        <c:ser>
          <c:idx val="1"/>
          <c:order val="1"/>
          <c:tx>
            <c:strRef>
              <c:f>Sheet1!$C$1</c:f>
              <c:strCache>
                <c:ptCount val="1"/>
                <c:pt idx="0">
                  <c:v>Selisih terkendali</c:v>
                </c:pt>
              </c:strCache>
            </c:strRef>
          </c:tx>
          <c:spPr>
            <a:solidFill>
              <a:srgbClr val="C9A227"/>
            </a:solidFill>
            <a:effectLst/>
          </c:spPr>
          <c:invertIfNegative val="0"/>
          <c:dLbls>
            <c:numFmt formatCode="0\,00" sourceLinked="0"/>
            <c:spPr>
              <a:noFill/>
              <a:ln>
                <a:noFill/>
              </a:ln>
              <a:effectLst/>
            </c:spPr>
            <c:txPr>
              <a:bodyPr/>
              <a:lstStyle/>
              <a:p>
                <a:pPr>
                  <a:defRPr sz="10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H12 Regional Hub</c:v>
                </c:pt>
                <c:pt idx="1">
                  <c:v>H7 Cetak &amp; antar fisik</c:v>
                </c:pt>
                <c:pt idx="2">
                  <c:v>H3 Kontak belum terverifikasi/kosong</c:v>
                </c:pt>
                <c:pt idx="3">
                  <c:v>H11 Cluster New Phase</c:v>
                </c:pt>
                <c:pt idx="4">
                  <c:v>H2 Pemilik luar kota/negeri</c:v>
                </c:pt>
                <c:pt idx="5">
                  <c:v>H1 Vacant</c:v>
                </c:pt>
                <c:pt idx="6">
                  <c:v>H6 Tanpa autodebit</c:v>
                </c:pt>
              </c:strCache>
            </c:strRef>
          </c:cat>
          <c:val>
            <c:numRef>
              <c:f>Sheet1!$C$2:$C$8</c:f>
              <c:numCache>
                <c:formatCode>General</c:formatCode>
                <c:ptCount val="7"/>
                <c:pt idx="0">
                  <c:v>34</c:v>
                </c:pt>
                <c:pt idx="1">
                  <c:v>-2</c:v>
                </c:pt>
                <c:pt idx="2">
                  <c:v>24</c:v>
                </c:pt>
                <c:pt idx="3">
                  <c:v>700</c:v>
                </c:pt>
                <c:pt idx="4">
                  <c:v>1014</c:v>
                </c:pt>
                <c:pt idx="5">
                  <c:v>2328</c:v>
                </c:pt>
                <c:pt idx="6">
                  <c:v>2659</c:v>
                </c:pt>
              </c:numCache>
            </c:numRef>
          </c:val>
          <c:extLst>
            <c:ext xmlns:c16="http://schemas.microsoft.com/office/drawing/2014/chart" uri="{C3380CC4-5D6E-409C-BE32-E72D297353CC}">
              <c16:uniqueId val="{00000001-A33B-084A-AB2C-B92F137D8DA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3500"/>
          <c:min val="-200"/>
        </c:scaling>
        <c:delete val="1"/>
        <c:axPos val="b"/>
        <c:majorGridlines>
          <c:spPr>
            <a:ln w="9525" cap="flat">
              <a:solidFill>
                <a:srgbClr val="E8EB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NPI rate per skor (% invoice)</a:t>
            </a:r>
          </a:p>
        </c:rich>
      </c:tx>
      <c:overlay val="0"/>
    </c:title>
    <c:autoTitleDeleted val="0"/>
    <c:plotArea>
      <c:layout/>
      <c:barChart>
        <c:barDir val="col"/>
        <c:grouping val="clustered"/>
        <c:varyColors val="0"/>
        <c:ser>
          <c:idx val="0"/>
          <c:order val="0"/>
          <c:tx>
            <c:strRef>
              <c:f>Sheet1!$B$1</c:f>
              <c:strCache>
                <c:ptCount val="1"/>
                <c:pt idx="0">
                  <c:v>NPI rate</c:v>
                </c:pt>
              </c:strCache>
            </c:strRef>
          </c:tx>
          <c:spPr>
            <a:solidFill>
              <a:srgbClr val="13294B"/>
            </a:solidFill>
            <a:effectLst/>
          </c:spPr>
          <c:invertIfNegative val="0"/>
          <c:dPt>
            <c:idx val="0"/>
            <c:invertIfNegative val="0"/>
            <c:bubble3D val="0"/>
            <c:extLst>
              <c:ext xmlns:c16="http://schemas.microsoft.com/office/drawing/2014/chart" uri="{C3380CC4-5D6E-409C-BE32-E72D297353CC}">
                <c16:uniqueId val="{00000001-9D5D-3448-826A-306EF0736D30}"/>
              </c:ext>
            </c:extLst>
          </c:dPt>
          <c:dPt>
            <c:idx val="1"/>
            <c:invertIfNegative val="0"/>
            <c:bubble3D val="0"/>
            <c:extLst>
              <c:ext xmlns:c16="http://schemas.microsoft.com/office/drawing/2014/chart" uri="{C3380CC4-5D6E-409C-BE32-E72D297353CC}">
                <c16:uniqueId val="{00000003-9D5D-3448-826A-306EF0736D30}"/>
              </c:ext>
            </c:extLst>
          </c:dPt>
          <c:dPt>
            <c:idx val="2"/>
            <c:invertIfNegative val="0"/>
            <c:bubble3D val="0"/>
            <c:extLst>
              <c:ext xmlns:c16="http://schemas.microsoft.com/office/drawing/2014/chart" uri="{C3380CC4-5D6E-409C-BE32-E72D297353CC}">
                <c16:uniqueId val="{00000005-9D5D-3448-826A-306EF0736D30}"/>
              </c:ext>
            </c:extLst>
          </c:dPt>
          <c:dPt>
            <c:idx val="3"/>
            <c:invertIfNegative val="0"/>
            <c:bubble3D val="0"/>
            <c:spPr>
              <a:solidFill>
                <a:srgbClr val="C9A227"/>
              </a:solidFill>
              <a:effectLst/>
            </c:spPr>
            <c:extLst>
              <c:ext xmlns:c16="http://schemas.microsoft.com/office/drawing/2014/chart" uri="{C3380CC4-5D6E-409C-BE32-E72D297353CC}">
                <c16:uniqueId val="{00000007-9D5D-3448-826A-306EF0736D30}"/>
              </c:ext>
            </c:extLst>
          </c:dPt>
          <c:dPt>
            <c:idx val="4"/>
            <c:invertIfNegative val="0"/>
            <c:bubble3D val="0"/>
            <c:spPr>
              <a:solidFill>
                <a:srgbClr val="C9A227"/>
              </a:solidFill>
              <a:effectLst/>
            </c:spPr>
            <c:extLst>
              <c:ext xmlns:c16="http://schemas.microsoft.com/office/drawing/2014/chart" uri="{C3380CC4-5D6E-409C-BE32-E72D297353CC}">
                <c16:uniqueId val="{00000009-9D5D-3448-826A-306EF0736D30}"/>
              </c:ext>
            </c:extLst>
          </c:dPt>
          <c:dLbls>
            <c:numFmt formatCode="0\,00&quot;%&quot;"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 faktor</c:v>
                </c:pt>
                <c:pt idx="1">
                  <c:v>1 faktor</c:v>
                </c:pt>
                <c:pt idx="2">
                  <c:v>2 faktor</c:v>
                </c:pt>
                <c:pt idx="3">
                  <c:v>3 faktor</c:v>
                </c:pt>
                <c:pt idx="4">
                  <c:v>4 faktor</c:v>
                </c:pt>
              </c:strCache>
            </c:strRef>
          </c:cat>
          <c:val>
            <c:numRef>
              <c:f>Sheet1!$B$2:$B$6</c:f>
              <c:numCache>
                <c:formatCode>General</c:formatCode>
                <c:ptCount val="5"/>
                <c:pt idx="0">
                  <c:v>493</c:v>
                </c:pt>
                <c:pt idx="1">
                  <c:v>2363</c:v>
                </c:pt>
                <c:pt idx="2">
                  <c:v>3751</c:v>
                </c:pt>
                <c:pt idx="3">
                  <c:v>5631</c:v>
                </c:pt>
                <c:pt idx="4">
                  <c:v>6710</c:v>
                </c:pt>
              </c:numCache>
            </c:numRef>
          </c:val>
          <c:extLst>
            <c:ext xmlns:c16="http://schemas.microsoft.com/office/drawing/2014/chart" uri="{C3380CC4-5D6E-409C-BE32-E72D297353CC}">
              <c16:uniqueId val="{0000000A-9D5D-3448-826A-306EF0736D30}"/>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800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Nominal NPI analisis per skor (Rp miliar)</a:t>
            </a:r>
          </a:p>
        </c:rich>
      </c:tx>
      <c:overlay val="0"/>
    </c:title>
    <c:autoTitleDeleted val="0"/>
    <c:plotArea>
      <c:layout/>
      <c:barChart>
        <c:barDir val="col"/>
        <c:grouping val="clustered"/>
        <c:varyColors val="0"/>
        <c:ser>
          <c:idx val="0"/>
          <c:order val="0"/>
          <c:tx>
            <c:strRef>
              <c:f>Sheet1!$B$1</c:f>
              <c:strCache>
                <c:ptCount val="1"/>
                <c:pt idx="0">
                  <c:v>Nominal</c:v>
                </c:pt>
              </c:strCache>
            </c:strRef>
          </c:tx>
          <c:spPr>
            <a:solidFill>
              <a:srgbClr val="B8C0CC"/>
            </a:solidFill>
            <a:effectLst/>
          </c:spPr>
          <c:invertIfNegative val="0"/>
          <c:dLbls>
            <c:numFmt formatCode="0\,0"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 faktor</c:v>
                </c:pt>
                <c:pt idx="1">
                  <c:v>1 faktor</c:v>
                </c:pt>
                <c:pt idx="2">
                  <c:v>2 faktor</c:v>
                </c:pt>
                <c:pt idx="3">
                  <c:v>3 faktor</c:v>
                </c:pt>
                <c:pt idx="4">
                  <c:v>4 faktor</c:v>
                </c:pt>
              </c:strCache>
            </c:strRef>
          </c:cat>
          <c:val>
            <c:numRef>
              <c:f>Sheet1!$B$2:$B$6</c:f>
              <c:numCache>
                <c:formatCode>General</c:formatCode>
                <c:ptCount val="5"/>
                <c:pt idx="0">
                  <c:v>16</c:v>
                </c:pt>
                <c:pt idx="1">
                  <c:v>417</c:v>
                </c:pt>
                <c:pt idx="2">
                  <c:v>623</c:v>
                </c:pt>
                <c:pt idx="3">
                  <c:v>515</c:v>
                </c:pt>
                <c:pt idx="4">
                  <c:v>192</c:v>
                </c:pt>
              </c:numCache>
            </c:numRef>
          </c:val>
          <c:extLst>
            <c:ext xmlns:c16="http://schemas.microsoft.com/office/drawing/2014/chart" uri="{C3380CC4-5D6E-409C-BE32-E72D297353CC}">
              <c16:uniqueId val="{00000000-1771-6143-BBA7-20A1AE690553}"/>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75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Risk rate: NPI kelompok (% invoice)</a:t>
            </a:r>
          </a:p>
        </c:rich>
      </c:tx>
      <c:overlay val="0"/>
    </c:title>
    <c:autoTitleDeleted val="0"/>
    <c:plotArea>
      <c:layout/>
      <c:barChart>
        <c:barDir val="bar"/>
        <c:grouping val="clustered"/>
        <c:varyColors val="0"/>
        <c:ser>
          <c:idx val="0"/>
          <c:order val="0"/>
          <c:tx>
            <c:strRef>
              <c:f>Sheet1!$B$1</c:f>
              <c:strCache>
                <c:ptCount val="1"/>
                <c:pt idx="0">
                  <c:v>Risk rate</c:v>
                </c:pt>
              </c:strCache>
            </c:strRef>
          </c:tx>
          <c:spPr>
            <a:solidFill>
              <a:srgbClr val="13294B"/>
            </a:solidFill>
            <a:effectLst/>
          </c:spPr>
          <c:invertIfNegative val="0"/>
          <c:dLbls>
            <c:numFmt formatCode="0\,0&quot;%&quot;"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H17 Disengketakan</c:v>
                </c:pt>
                <c:pt idx="1">
                  <c:v>H3 Tanpa nomor</c:v>
                </c:pt>
                <c:pt idx="2">
                  <c:v>H7 Cetak fisik</c:v>
                </c:pt>
                <c:pt idx="3">
                  <c:v>H8 Tarif tinggi</c:v>
                </c:pt>
                <c:pt idx="4">
                  <c:v>H1 Vacant</c:v>
                </c:pt>
                <c:pt idx="5">
                  <c:v>H12 Regional Hub</c:v>
                </c:pt>
                <c:pt idx="6">
                  <c:v>H11 New Phase</c:v>
                </c:pt>
                <c:pt idx="7">
                  <c:v>H2 Pemilik jauh</c:v>
                </c:pt>
                <c:pt idx="8">
                  <c:v>H6 Tanpa autodebit</c:v>
                </c:pt>
              </c:strCache>
            </c:strRef>
          </c:cat>
          <c:val>
            <c:numRef>
              <c:f>Sheet1!$B$2:$B$10</c:f>
              <c:numCache>
                <c:formatCode>General</c:formatCode>
                <c:ptCount val="9"/>
                <c:pt idx="0">
                  <c:v>428</c:v>
                </c:pt>
                <c:pt idx="1">
                  <c:v>442</c:v>
                </c:pt>
                <c:pt idx="2">
                  <c:v>408</c:v>
                </c:pt>
                <c:pt idx="3">
                  <c:v>393</c:v>
                </c:pt>
                <c:pt idx="4">
                  <c:v>584</c:v>
                </c:pt>
                <c:pt idx="5">
                  <c:v>374</c:v>
                </c:pt>
                <c:pt idx="6">
                  <c:v>401</c:v>
                </c:pt>
                <c:pt idx="7">
                  <c:v>499</c:v>
                </c:pt>
                <c:pt idx="8">
                  <c:v>397</c:v>
                </c:pt>
              </c:numCache>
            </c:numRef>
          </c:val>
          <c:extLst>
            <c:ext xmlns:c16="http://schemas.microsoft.com/office/drawing/2014/chart" uri="{C3380CC4-5D6E-409C-BE32-E72D297353CC}">
              <c16:uniqueId val="{00000000-2201-AC46-9393-539F500C0DA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750"/>
          <c:min val="0"/>
        </c:scaling>
        <c:delete val="1"/>
        <c:axPos val="b"/>
        <c:majorGridlines>
          <c:spPr>
            <a:ln w="9525" cap="flat">
              <a:solidFill>
                <a:srgbClr val="E8EB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Financial exposure: nominal NPI (Rp miliar)</a:t>
            </a:r>
          </a:p>
        </c:rich>
      </c:tx>
      <c:overlay val="0"/>
    </c:title>
    <c:autoTitleDeleted val="0"/>
    <c:plotArea>
      <c:layout/>
      <c:barChart>
        <c:barDir val="bar"/>
        <c:grouping val="clustered"/>
        <c:varyColors val="0"/>
        <c:ser>
          <c:idx val="0"/>
          <c:order val="0"/>
          <c:tx>
            <c:strRef>
              <c:f>Sheet1!$B$1</c:f>
              <c:strCache>
                <c:ptCount val="1"/>
                <c:pt idx="0">
                  <c:v>Exposure</c:v>
                </c:pt>
              </c:strCache>
            </c:strRef>
          </c:tx>
          <c:spPr>
            <a:solidFill>
              <a:srgbClr val="C9A227"/>
            </a:solidFill>
            <a:effectLst/>
          </c:spPr>
          <c:invertIfNegative val="0"/>
          <c:dLbls>
            <c:numFmt formatCode="0\,0"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H17 Disengketakan</c:v>
                </c:pt>
                <c:pt idx="1">
                  <c:v>H3 Tanpa nomor</c:v>
                </c:pt>
                <c:pt idx="2">
                  <c:v>H7 Cetak fisik</c:v>
                </c:pt>
                <c:pt idx="3">
                  <c:v>H8 Tarif tinggi</c:v>
                </c:pt>
                <c:pt idx="4">
                  <c:v>H1 Vacant</c:v>
                </c:pt>
                <c:pt idx="5">
                  <c:v>H12 Regional Hub</c:v>
                </c:pt>
                <c:pt idx="6">
                  <c:v>H11 New Phase</c:v>
                </c:pt>
                <c:pt idx="7">
                  <c:v>H2 Pemilik jauh</c:v>
                </c:pt>
                <c:pt idx="8">
                  <c:v>H6 Tanpa autodebit</c:v>
                </c:pt>
              </c:strCache>
            </c:strRef>
          </c:cat>
          <c:val>
            <c:numRef>
              <c:f>Sheet1!$B$2:$B$10</c:f>
              <c:numCache>
                <c:formatCode>General</c:formatCode>
                <c:ptCount val="9"/>
                <c:pt idx="0">
                  <c:v>42</c:v>
                </c:pt>
                <c:pt idx="1">
                  <c:v>395</c:v>
                </c:pt>
                <c:pt idx="2">
                  <c:v>544</c:v>
                </c:pt>
                <c:pt idx="3">
                  <c:v>575</c:v>
                </c:pt>
                <c:pt idx="4">
                  <c:v>661</c:v>
                </c:pt>
                <c:pt idx="5">
                  <c:v>686</c:v>
                </c:pt>
                <c:pt idx="6">
                  <c:v>728</c:v>
                </c:pt>
                <c:pt idx="7">
                  <c:v>894</c:v>
                </c:pt>
                <c:pt idx="8">
                  <c:v>1693</c:v>
                </c:pt>
              </c:numCache>
            </c:numRef>
          </c:val>
          <c:extLst>
            <c:ext xmlns:c16="http://schemas.microsoft.com/office/drawing/2014/chart" uri="{C3380CC4-5D6E-409C-BE32-E72D297353CC}">
              <c16:uniqueId val="{00000000-223E-9C4B-ACA5-9F5CAE2E5E3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max val="2100"/>
          <c:min val="0"/>
        </c:scaling>
        <c:delete val="1"/>
        <c:axPos val="b"/>
        <c:majorGridlines>
          <c:spPr>
            <a:ln w="9525" cap="flat">
              <a:solidFill>
                <a:srgbClr val="E8EB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Nominal NPI per umur tunggakan per 27 Jan 2025 (Rp miliar)</a:t>
            </a:r>
          </a:p>
        </c:rich>
      </c:tx>
      <c:overlay val="0"/>
    </c:title>
    <c:autoTitleDeleted val="0"/>
    <c:plotArea>
      <c:layout/>
      <c:barChart>
        <c:barDir val="col"/>
        <c:grouping val="clustered"/>
        <c:varyColors val="0"/>
        <c:ser>
          <c:idx val="0"/>
          <c:order val="0"/>
          <c:tx>
            <c:strRef>
              <c:f>Sheet1!$B$1</c:f>
              <c:strCache>
                <c:ptCount val="1"/>
                <c:pt idx="0">
                  <c:v>Nominal bruto</c:v>
                </c:pt>
              </c:strCache>
            </c:strRef>
          </c:tx>
          <c:spPr>
            <a:solidFill>
              <a:srgbClr val="B8C0CC"/>
            </a:solidFill>
            <a:effectLst/>
          </c:spPr>
          <c:invertIfNegative val="0"/>
          <c:dLbls>
            <c:numFmt formatCode="0\,0" sourceLinked="0"/>
            <c:spPr>
              <a:noFill/>
              <a:ln>
                <a:noFill/>
              </a:ln>
              <a:effectLst/>
            </c:spPr>
            <c:txPr>
              <a:bodyPr/>
              <a:lstStyle/>
              <a:p>
                <a:pPr>
                  <a:defRPr sz="10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Belum jatuh tempo</c:v>
                </c:pt>
                <c:pt idx="1">
                  <c:v>0–30 hari</c:v>
                </c:pt>
                <c:pt idx="2">
                  <c:v>31–90 hari</c:v>
                </c:pt>
                <c:pt idx="3">
                  <c:v>91–180 hari</c:v>
                </c:pt>
                <c:pt idx="4">
                  <c:v>181–365 hari</c:v>
                </c:pt>
                <c:pt idx="5">
                  <c:v>&gt; 365 hari</c:v>
                </c:pt>
              </c:strCache>
            </c:strRef>
          </c:cat>
          <c:val>
            <c:numRef>
              <c:f>Sheet1!$B$2:$B$7</c:f>
              <c:numCache>
                <c:formatCode>General</c:formatCode>
                <c:ptCount val="6"/>
                <c:pt idx="0">
                  <c:v>0</c:v>
                </c:pt>
                <c:pt idx="1">
                  <c:v>90</c:v>
                </c:pt>
                <c:pt idx="2">
                  <c:v>173</c:v>
                </c:pt>
                <c:pt idx="3">
                  <c:v>255</c:v>
                </c:pt>
                <c:pt idx="4">
                  <c:v>511</c:v>
                </c:pt>
                <c:pt idx="5">
                  <c:v>1218</c:v>
                </c:pt>
              </c:numCache>
            </c:numRef>
          </c:val>
          <c:extLst>
            <c:ext xmlns:c16="http://schemas.microsoft.com/office/drawing/2014/chart" uri="{C3380CC4-5D6E-409C-BE32-E72D297353CC}">
              <c16:uniqueId val="{00000000-9840-B448-B10C-0F06A232870C}"/>
            </c:ext>
          </c:extLst>
        </c:ser>
        <c:ser>
          <c:idx val="1"/>
          <c:order val="1"/>
          <c:tx>
            <c:strRef>
              <c:f>Sheet1!$C$1</c:f>
              <c:strCache>
                <c:ptCount val="1"/>
                <c:pt idx="0">
                  <c:v>Nominal analisis</c:v>
                </c:pt>
              </c:strCache>
            </c:strRef>
          </c:tx>
          <c:spPr>
            <a:solidFill>
              <a:srgbClr val="13294B"/>
            </a:solidFill>
            <a:effectLst/>
          </c:spPr>
          <c:invertIfNegative val="0"/>
          <c:dLbls>
            <c:numFmt formatCode="0\,0" sourceLinked="0"/>
            <c:spPr>
              <a:noFill/>
              <a:ln>
                <a:noFill/>
              </a:ln>
              <a:effectLst/>
            </c:spPr>
            <c:txPr>
              <a:bodyPr/>
              <a:lstStyle/>
              <a:p>
                <a:pPr>
                  <a:defRPr sz="10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Belum jatuh tempo</c:v>
                </c:pt>
                <c:pt idx="1">
                  <c:v>0–30 hari</c:v>
                </c:pt>
                <c:pt idx="2">
                  <c:v>31–90 hari</c:v>
                </c:pt>
                <c:pt idx="3">
                  <c:v>91–180 hari</c:v>
                </c:pt>
                <c:pt idx="4">
                  <c:v>181–365 hari</c:v>
                </c:pt>
                <c:pt idx="5">
                  <c:v>&gt; 365 hari</c:v>
                </c:pt>
              </c:strCache>
            </c:strRef>
          </c:cat>
          <c:val>
            <c:numRef>
              <c:f>Sheet1!$C$2:$C$7</c:f>
              <c:numCache>
                <c:formatCode>General</c:formatCode>
                <c:ptCount val="6"/>
                <c:pt idx="0">
                  <c:v>0</c:v>
                </c:pt>
                <c:pt idx="1">
                  <c:v>70</c:v>
                </c:pt>
                <c:pt idx="2">
                  <c:v>141</c:v>
                </c:pt>
                <c:pt idx="3">
                  <c:v>210</c:v>
                </c:pt>
                <c:pt idx="4">
                  <c:v>408</c:v>
                </c:pt>
                <c:pt idx="5">
                  <c:v>935</c:v>
                </c:pt>
              </c:numCache>
            </c:numRef>
          </c:val>
          <c:extLst>
            <c:ext xmlns:c16="http://schemas.microsoft.com/office/drawing/2014/chart" uri="{C3380CC4-5D6E-409C-BE32-E72D297353CC}">
              <c16:uniqueId val="{00000001-9840-B448-B10C-0F06A232870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140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Invoice bulan depan tidak dibayar (%)</a:t>
            </a:r>
          </a:p>
        </c:rich>
      </c:tx>
      <c:overlay val="0"/>
    </c:title>
    <c:autoTitleDeleted val="0"/>
    <c:plotArea>
      <c:layout/>
      <c:barChart>
        <c:barDir val="col"/>
        <c:grouping val="clustered"/>
        <c:varyColors val="0"/>
        <c:ser>
          <c:idx val="0"/>
          <c:order val="0"/>
          <c:tx>
            <c:strRef>
              <c:f>Sheet1!$B$1</c:f>
              <c:strCache>
                <c:ptCount val="1"/>
                <c:pt idx="0">
                  <c:v>Tidak dibayar bulan depan</c:v>
                </c:pt>
              </c:strCache>
            </c:strRef>
          </c:tx>
          <c:spPr>
            <a:solidFill>
              <a:srgbClr val="B8C0CC"/>
            </a:solidFill>
            <a:effectLst/>
          </c:spPr>
          <c:invertIfNegative val="0"/>
          <c:dLbls>
            <c:numFmt formatCode="0\,0&quot;%&quot;"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Ditagih</c:v>
                </c:pt>
                <c:pt idx="1">
                  <c:v>Tidak ditagih</c:v>
                </c:pt>
              </c:strCache>
            </c:strRef>
          </c:cat>
          <c:val>
            <c:numRef>
              <c:f>Sheet1!$B$2:$B$3</c:f>
              <c:numCache>
                <c:formatCode>General</c:formatCode>
                <c:ptCount val="2"/>
                <c:pt idx="0">
                  <c:v>724</c:v>
                </c:pt>
                <c:pt idx="1">
                  <c:v>712</c:v>
                </c:pt>
              </c:numCache>
            </c:numRef>
          </c:val>
          <c:extLst>
            <c:ext xmlns:c16="http://schemas.microsoft.com/office/drawing/2014/chart" uri="{C3380CC4-5D6E-409C-BE32-E72D297353CC}">
              <c16:uniqueId val="{00000000-B1C6-2645-AA09-FFC4FBFB5B86}"/>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100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Menurut respons terakhir pemilik (%)</a:t>
            </a:r>
          </a:p>
        </c:rich>
      </c:tx>
      <c:overlay val="0"/>
    </c:title>
    <c:autoTitleDeleted val="0"/>
    <c:plotArea>
      <c:layout/>
      <c:barChart>
        <c:barDir val="col"/>
        <c:grouping val="clustered"/>
        <c:varyColors val="0"/>
        <c:ser>
          <c:idx val="0"/>
          <c:order val="0"/>
          <c:tx>
            <c:strRef>
              <c:f>Sheet1!$B$1</c:f>
              <c:strCache>
                <c:ptCount val="1"/>
                <c:pt idx="0">
                  <c:v>Tidak dibayar bulan depan</c:v>
                </c:pt>
              </c:strCache>
            </c:strRef>
          </c:tx>
          <c:spPr>
            <a:solidFill>
              <a:srgbClr val="1F4D3A"/>
            </a:solidFill>
            <a:effectLst/>
          </c:spPr>
          <c:invertIfNegative val="0"/>
          <c:dPt>
            <c:idx val="0"/>
            <c:invertIfNegative val="0"/>
            <c:bubble3D val="0"/>
            <c:extLst>
              <c:ext xmlns:c16="http://schemas.microsoft.com/office/drawing/2014/chart" uri="{C3380CC4-5D6E-409C-BE32-E72D297353CC}">
                <c16:uniqueId val="{00000001-C5A7-6147-B506-EC2C3041676C}"/>
              </c:ext>
            </c:extLst>
          </c:dPt>
          <c:dPt>
            <c:idx val="1"/>
            <c:invertIfNegative val="0"/>
            <c:bubble3D val="0"/>
            <c:spPr>
              <a:solidFill>
                <a:srgbClr val="C9A227"/>
              </a:solidFill>
              <a:effectLst/>
            </c:spPr>
            <c:extLst>
              <c:ext xmlns:c16="http://schemas.microsoft.com/office/drawing/2014/chart" uri="{C3380CC4-5D6E-409C-BE32-E72D297353CC}">
                <c16:uniqueId val="{00000003-C5A7-6147-B506-EC2C3041676C}"/>
              </c:ext>
            </c:extLst>
          </c:dPt>
          <c:dPt>
            <c:idx val="2"/>
            <c:invertIfNegative val="0"/>
            <c:bubble3D val="0"/>
            <c:spPr>
              <a:solidFill>
                <a:srgbClr val="B23A3A"/>
              </a:solidFill>
              <a:effectLst/>
            </c:spPr>
            <c:extLst>
              <c:ext xmlns:c16="http://schemas.microsoft.com/office/drawing/2014/chart" uri="{C3380CC4-5D6E-409C-BE32-E72D297353CC}">
                <c16:uniqueId val="{00000005-C5A7-6147-B506-EC2C3041676C}"/>
              </c:ext>
            </c:extLst>
          </c:dPt>
          <c:dPt>
            <c:idx val="3"/>
            <c:invertIfNegative val="0"/>
            <c:bubble3D val="0"/>
            <c:spPr>
              <a:solidFill>
                <a:srgbClr val="B23A3A"/>
              </a:solidFill>
              <a:effectLst/>
            </c:spPr>
            <c:extLst>
              <c:ext xmlns:c16="http://schemas.microsoft.com/office/drawing/2014/chart" uri="{C3380CC4-5D6E-409C-BE32-E72D297353CC}">
                <c16:uniqueId val="{00000007-C5A7-6147-B506-EC2C3041676C}"/>
              </c:ext>
            </c:extLst>
          </c:dPt>
          <c:dLbls>
            <c:numFmt formatCode="0\,0&quot;%&quot;"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Lunas Setelah Kontak</c:v>
                </c:pt>
                <c:pt idx="1">
                  <c:v>Janji Bayar</c:v>
                </c:pt>
                <c:pt idx="2">
                  <c:v>Tidak Respon</c:v>
                </c:pt>
                <c:pt idx="3">
                  <c:v>Sengketa</c:v>
                </c:pt>
              </c:strCache>
            </c:strRef>
          </c:cat>
          <c:val>
            <c:numRef>
              <c:f>Sheet1!$B$2:$B$5</c:f>
              <c:numCache>
                <c:formatCode>General</c:formatCode>
                <c:ptCount val="4"/>
                <c:pt idx="0">
                  <c:v>0</c:v>
                </c:pt>
                <c:pt idx="1">
                  <c:v>615</c:v>
                </c:pt>
                <c:pt idx="2">
                  <c:v>831</c:v>
                </c:pt>
                <c:pt idx="3">
                  <c:v>842</c:v>
                </c:pt>
              </c:numCache>
            </c:numRef>
          </c:val>
          <c:extLst>
            <c:ext xmlns:c16="http://schemas.microsoft.com/office/drawing/2014/chart" uri="{C3380CC4-5D6E-409C-BE32-E72D297353CC}">
              <c16:uniqueId val="{00000008-C5A7-6147-B506-EC2C3041676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100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Porsi metode bayar setelah standarisasi (% invoice utama Paid)</a:t>
            </a:r>
          </a:p>
        </c:rich>
      </c:tx>
      <c:overlay val="0"/>
    </c:title>
    <c:autoTitleDeleted val="0"/>
    <c:plotArea>
      <c:layout/>
      <c:barChart>
        <c:barDir val="bar"/>
        <c:grouping val="clustered"/>
        <c:varyColors val="0"/>
        <c:ser>
          <c:idx val="0"/>
          <c:order val="0"/>
          <c:tx>
            <c:strRef>
              <c:f>Sheet1!$B$1</c:f>
              <c:strCache>
                <c:ptCount val="1"/>
                <c:pt idx="0">
                  <c:v>Invoice Paid</c:v>
                </c:pt>
              </c:strCache>
            </c:strRef>
          </c:tx>
          <c:spPr>
            <a:solidFill>
              <a:srgbClr val="13294B"/>
            </a:solidFill>
            <a:effectLst/>
          </c:spPr>
          <c:invertIfNegative val="0"/>
          <c:dLbls>
            <c:numFmt formatCode="0\,00&quot;%&quot;"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Tokopedia</c:v>
                </c:pt>
                <c:pt idx="1">
                  <c:v>Kartu Kredit</c:v>
                </c:pt>
                <c:pt idx="2">
                  <c:v>Tunai</c:v>
                </c:pt>
                <c:pt idx="3">
                  <c:v>Virtual Account BCA</c:v>
                </c:pt>
              </c:strCache>
            </c:strRef>
          </c:cat>
          <c:val>
            <c:numRef>
              <c:f>Sheet1!$B$2:$B$5</c:f>
              <c:numCache>
                <c:formatCode>General</c:formatCode>
                <c:ptCount val="4"/>
                <c:pt idx="0">
                  <c:v>1504</c:v>
                </c:pt>
                <c:pt idx="1">
                  <c:v>1504</c:v>
                </c:pt>
                <c:pt idx="2">
                  <c:v>2502</c:v>
                </c:pt>
                <c:pt idx="3">
                  <c:v>4490</c:v>
                </c:pt>
              </c:numCache>
            </c:numRef>
          </c:val>
          <c:extLst>
            <c:ext xmlns:c16="http://schemas.microsoft.com/office/drawing/2014/chart" uri="{C3380CC4-5D6E-409C-BE32-E72D297353CC}">
              <c16:uniqueId val="{00000000-9844-734D-9052-9CCF713E389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5500"/>
          <c:min val="0"/>
        </c:scaling>
        <c:delete val="1"/>
        <c:axPos val="b"/>
        <c:majorGridlines>
          <c:spPr>
            <a:ln w="9525" cap="flat">
              <a:solidFill>
                <a:srgbClr val="E8EB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Ilustrasi kumulatif apabila pola tetap (Rp miliar)</a:t>
            </a:r>
          </a:p>
        </c:rich>
      </c:tx>
      <c:overlay val="0"/>
    </c:title>
    <c:autoTitleDeleted val="0"/>
    <c:plotArea>
      <c:layout/>
      <c:barChart>
        <c:barDir val="col"/>
        <c:grouping val="clustered"/>
        <c:varyColors val="0"/>
        <c:ser>
          <c:idx val="0"/>
          <c:order val="0"/>
          <c:tx>
            <c:strRef>
              <c:f>Sheet1!$B$1</c:f>
              <c:strCache>
                <c:ptCount val="1"/>
                <c:pt idx="0">
                  <c:v>Nominal NPI kumulatif</c:v>
                </c:pt>
              </c:strCache>
            </c:strRef>
          </c:tx>
          <c:spPr>
            <a:solidFill>
              <a:srgbClr val="C9A227"/>
            </a:solidFill>
            <a:effectLst/>
          </c:spPr>
          <c:invertIfNegative val="0"/>
          <c:dLbls>
            <c:numFmt formatCode="0\,0"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Bulan 1</c:v>
                </c:pt>
                <c:pt idx="1">
                  <c:v>Bulan 2</c:v>
                </c:pt>
                <c:pt idx="2">
                  <c:v>Bulan 3</c:v>
                </c:pt>
                <c:pt idx="3">
                  <c:v>Bulan 4</c:v>
                </c:pt>
                <c:pt idx="4">
                  <c:v>Bulan 5</c:v>
                </c:pt>
                <c:pt idx="5">
                  <c:v>Bulan 6</c:v>
                </c:pt>
              </c:strCache>
            </c:strRef>
          </c:cat>
          <c:val>
            <c:numRef>
              <c:f>Sheet1!$B$2:$B$7</c:f>
              <c:numCache>
                <c:formatCode>General</c:formatCode>
                <c:ptCount val="6"/>
                <c:pt idx="0">
                  <c:v>70</c:v>
                </c:pt>
                <c:pt idx="1">
                  <c:v>140</c:v>
                </c:pt>
                <c:pt idx="2">
                  <c:v>210</c:v>
                </c:pt>
                <c:pt idx="3">
                  <c:v>280</c:v>
                </c:pt>
                <c:pt idx="4">
                  <c:v>350</c:v>
                </c:pt>
                <c:pt idx="5">
                  <c:v>420</c:v>
                </c:pt>
              </c:numCache>
            </c:numRef>
          </c:val>
          <c:extLst>
            <c:ext xmlns:c16="http://schemas.microsoft.com/office/drawing/2014/chart" uri="{C3380CC4-5D6E-409C-BE32-E72D297353CC}">
              <c16:uniqueId val="{00000000-21F8-5446-BF24-494980A63BB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50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NPI tagihan baru setelah simulasi (%)</a:t>
            </a:r>
          </a:p>
        </c:rich>
      </c:tx>
      <c:overlay val="0"/>
    </c:title>
    <c:autoTitleDeleted val="0"/>
    <c:plotArea>
      <c:layout/>
      <c:barChart>
        <c:barDir val="col"/>
        <c:grouping val="clustered"/>
        <c:varyColors val="0"/>
        <c:ser>
          <c:idx val="0"/>
          <c:order val="0"/>
          <c:tx>
            <c:strRef>
              <c:f>Sheet1!$B$1</c:f>
              <c:strCache>
                <c:ptCount val="1"/>
                <c:pt idx="0">
                  <c:v>NPI tagihan baru</c:v>
                </c:pt>
              </c:strCache>
            </c:strRef>
          </c:tx>
          <c:spPr>
            <a:solidFill>
              <a:srgbClr val="B8C0CC"/>
            </a:solidFill>
            <a:effectLst/>
          </c:spPr>
          <c:invertIfNegative val="0"/>
          <c:dPt>
            <c:idx val="0"/>
            <c:invertIfNegative val="0"/>
            <c:bubble3D val="0"/>
            <c:extLst>
              <c:ext xmlns:c16="http://schemas.microsoft.com/office/drawing/2014/chart" uri="{C3380CC4-5D6E-409C-BE32-E72D297353CC}">
                <c16:uniqueId val="{00000001-85A3-D341-B65F-B09854DEBD3C}"/>
              </c:ext>
            </c:extLst>
          </c:dPt>
          <c:dPt>
            <c:idx val="1"/>
            <c:invertIfNegative val="0"/>
            <c:bubble3D val="0"/>
            <c:spPr>
              <a:solidFill>
                <a:srgbClr val="13294B"/>
              </a:solidFill>
              <a:effectLst/>
            </c:spPr>
            <c:extLst>
              <c:ext xmlns:c16="http://schemas.microsoft.com/office/drawing/2014/chart" uri="{C3380CC4-5D6E-409C-BE32-E72D297353CC}">
                <c16:uniqueId val="{00000003-85A3-D341-B65F-B09854DEBD3C}"/>
              </c:ext>
            </c:extLst>
          </c:dPt>
          <c:dPt>
            <c:idx val="2"/>
            <c:invertIfNegative val="0"/>
            <c:bubble3D val="0"/>
            <c:spPr>
              <a:solidFill>
                <a:srgbClr val="C9A227"/>
              </a:solidFill>
              <a:effectLst/>
            </c:spPr>
            <c:extLst>
              <c:ext xmlns:c16="http://schemas.microsoft.com/office/drawing/2014/chart" uri="{C3380CC4-5D6E-409C-BE32-E72D297353CC}">
                <c16:uniqueId val="{00000005-85A3-D341-B65F-B09854DEBD3C}"/>
              </c:ext>
            </c:extLst>
          </c:dPt>
          <c:dPt>
            <c:idx val="3"/>
            <c:invertIfNegative val="0"/>
            <c:bubble3D val="0"/>
            <c:spPr>
              <a:solidFill>
                <a:srgbClr val="13294B"/>
              </a:solidFill>
              <a:effectLst/>
            </c:spPr>
            <c:extLst>
              <c:ext xmlns:c16="http://schemas.microsoft.com/office/drawing/2014/chart" uri="{C3380CC4-5D6E-409C-BE32-E72D297353CC}">
                <c16:uniqueId val="{00000007-85A3-D341-B65F-B09854DEBD3C}"/>
              </c:ext>
            </c:extLst>
          </c:dPt>
          <c:dLbls>
            <c:numFmt formatCode="0\,00&quot;%&quot;"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Saat ini</c:v>
                </c:pt>
                <c:pt idx="1">
                  <c:v>Konservatif (25%)</c:v>
                </c:pt>
                <c:pt idx="2">
                  <c:v>Dasar (50%)</c:v>
                </c:pt>
                <c:pt idx="3">
                  <c:v>Optimistis (100%)</c:v>
                </c:pt>
              </c:strCache>
            </c:strRef>
          </c:cat>
          <c:val>
            <c:numRef>
              <c:f>Sheet1!$B$2:$B$5</c:f>
              <c:numCache>
                <c:formatCode>General</c:formatCode>
                <c:ptCount val="4"/>
                <c:pt idx="0">
                  <c:v>3724</c:v>
                </c:pt>
                <c:pt idx="1">
                  <c:v>3601</c:v>
                </c:pt>
                <c:pt idx="2">
                  <c:v>3478</c:v>
                </c:pt>
                <c:pt idx="3">
                  <c:v>3232</c:v>
                </c:pt>
              </c:numCache>
            </c:numRef>
          </c:val>
          <c:extLst>
            <c:ext xmlns:c16="http://schemas.microsoft.com/office/drawing/2014/chart" uri="{C3380CC4-5D6E-409C-BE32-E72D297353CC}">
              <c16:uniqueId val="{00000008-85A3-D341-B65F-B09854DEBD3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450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en-ID" sz="1300" b="0" i="0" u="none" strike="noStrike">
                <a:solidFill>
                  <a:srgbClr val="13294B"/>
                </a:solidFill>
                <a:latin typeface="+mn-lt"/>
              </a:rPr>
              <a:t>NPI baru yang berpotensi dicegah (Rp miliar/bulan)</a:t>
            </a:r>
          </a:p>
        </c:rich>
      </c:tx>
      <c:overlay val="0"/>
    </c:title>
    <c:autoTitleDeleted val="0"/>
    <c:plotArea>
      <c:layout/>
      <c:barChart>
        <c:barDir val="col"/>
        <c:grouping val="clustered"/>
        <c:varyColors val="0"/>
        <c:ser>
          <c:idx val="0"/>
          <c:order val="0"/>
          <c:tx>
            <c:strRef>
              <c:f>Sheet1!$B$1</c:f>
              <c:strCache>
                <c:ptCount val="1"/>
                <c:pt idx="0">
                  <c:v>Nominal dicegah</c:v>
                </c:pt>
              </c:strCache>
            </c:strRef>
          </c:tx>
          <c:spPr>
            <a:solidFill>
              <a:srgbClr val="13294B"/>
            </a:solidFill>
            <a:effectLst/>
          </c:spPr>
          <c:invertIfNegative val="0"/>
          <c:dPt>
            <c:idx val="0"/>
            <c:invertIfNegative val="0"/>
            <c:bubble3D val="0"/>
            <c:spPr>
              <a:solidFill>
                <a:srgbClr val="13294B"/>
              </a:solidFill>
              <a:effectLst/>
            </c:spPr>
            <c:extLst>
              <c:ext xmlns:c16="http://schemas.microsoft.com/office/drawing/2014/chart" uri="{C3380CC4-5D6E-409C-BE32-E72D297353CC}">
                <c16:uniqueId val="{00000001-5669-984E-B477-2B991250C52E}"/>
              </c:ext>
            </c:extLst>
          </c:dPt>
          <c:dPt>
            <c:idx val="1"/>
            <c:invertIfNegative val="0"/>
            <c:bubble3D val="0"/>
            <c:spPr>
              <a:solidFill>
                <a:srgbClr val="C9A227"/>
              </a:solidFill>
              <a:effectLst/>
            </c:spPr>
            <c:extLst>
              <c:ext xmlns:c16="http://schemas.microsoft.com/office/drawing/2014/chart" uri="{C3380CC4-5D6E-409C-BE32-E72D297353CC}">
                <c16:uniqueId val="{00000003-5669-984E-B477-2B991250C52E}"/>
              </c:ext>
            </c:extLst>
          </c:dPt>
          <c:dPt>
            <c:idx val="2"/>
            <c:invertIfNegative val="0"/>
            <c:bubble3D val="0"/>
            <c:spPr>
              <a:solidFill>
                <a:srgbClr val="13294B"/>
              </a:solidFill>
              <a:effectLst/>
            </c:spPr>
            <c:extLst>
              <c:ext xmlns:c16="http://schemas.microsoft.com/office/drawing/2014/chart" uri="{C3380CC4-5D6E-409C-BE32-E72D297353CC}">
                <c16:uniqueId val="{00000005-5669-984E-B477-2B991250C52E}"/>
              </c:ext>
            </c:extLst>
          </c:dPt>
          <c:dLbls>
            <c:numFmt formatCode="0\,00" sourceLinked="0"/>
            <c:spPr>
              <a:noFill/>
              <a:ln>
                <a:noFill/>
              </a:ln>
              <a:effectLst/>
            </c:spPr>
            <c:txPr>
              <a:bodyPr/>
              <a:lstStyle/>
              <a:p>
                <a:pPr>
                  <a:defRPr sz="1100" b="0" i="0" u="none" strike="noStrike">
                    <a:solidFill>
                      <a:srgbClr val="1E26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Konservatif (25%)</c:v>
                </c:pt>
                <c:pt idx="1">
                  <c:v>Dasar (50%)</c:v>
                </c:pt>
                <c:pt idx="2">
                  <c:v>Optimistis (100%)</c:v>
                </c:pt>
              </c:strCache>
            </c:strRef>
          </c:cat>
          <c:val>
            <c:numRef>
              <c:f>Sheet1!$B$2:$B$4</c:f>
              <c:numCache>
                <c:formatCode>General</c:formatCode>
                <c:ptCount val="3"/>
                <c:pt idx="0">
                  <c:v>23</c:v>
                </c:pt>
                <c:pt idx="1">
                  <c:v>46</c:v>
                </c:pt>
                <c:pt idx="2">
                  <c:v>93</c:v>
                </c:pt>
              </c:numCache>
            </c:numRef>
          </c:val>
          <c:extLst>
            <c:ext xmlns:c16="http://schemas.microsoft.com/office/drawing/2014/chart" uri="{C3380CC4-5D6E-409C-BE32-E72D297353CC}">
              <c16:uniqueId val="{00000006-5669-984E-B477-2B991250C52E}"/>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7B8494"/>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l"/>
        <c:majorGridlines>
          <c:spPr>
            <a:ln w="9525" cap="flat">
              <a:solidFill>
                <a:srgbClr val="E8EBF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601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membuka presentasi dan menegaskan bahwa diskusi hari ini berorientasi pada keputusan.
Narasi: Selamat pagi, Bapak dan Ibu. Hari ini saya menyampaikan hasil analisis data tagihan Iuran Pemeliharaan Lingkungan atau IPL Sinarmas Land. IPL adalah pendapatan rutin yang membiayai keamanan, kebersihan, dan perawatan fasilitas kawasan. Ketika banyak tagihan tidak terbayar, kawasan tetap harus beroperasi, sehingga muncul risiko cashflow. Fokus presentasi ini bukan sekadar mengukur tunggakan, melainkan menjawab: segmen mana yang paling berisiko, intervensi apa yang layak diuji, dan keputusan apa yang perlu diambil dalam dua kuartal ke depan.
Cakupan: tagihan Juli 2022 sampai Desember 2024, dengan status pembayaran per 27 Januari 2025. Tanggal tersebut masih berupa asumsi karena log ekstraksi resmi belum tersedia.
Catatan: gambar latar adalah ilustrasi kawasan terencana, bukan foto lokasi Sinarmas Land.
Transisi: Saya mulai dengan agenda, lalu langsung ke ringkasan eksekutif.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 peta perjalanan presentasi.
Narasi: Presentasi ini disusun seperti piramida. Pertama, saya jelaskan konteks bisnis dan rumusan masalah. Kedua, data apa yang dipakai, bagaimana unit analisisnya, dan masalah kualitas data apa yang memengaruhi angka. Ketiga, seberapa besar NPI dari sisi jumlah invoice maupun nominal. Keempat, faktor risiko mana yang tetap kuat setelah faktor lain dikendalikan. Kelima, apa artinya bagi Collection dan Finance. Keenam, simulasi intervensi beserta batasnya. Terakhir, rekomendasi, roadmap dua kuartal, KPI, dan keputusan yang kami minta. Rincian teknis seperti metode statistik dan daftar hipotesis lengkap tersedia di appendix.
Transisi: Sebelum masuk ke detail, berikut ringkasan eksekutif dalam satu halaman.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memberikan gambaran utuh yang dapat berdiri sendiri.
Narasi: Ada empat pesan utama. Pertama, masalahnya besar: 35,44 persen invoice utama atau 272.545 dari 768.978 invoice berstatus Unpaid atau Overdue per tanggal snapshot. Nominal bruto tagihan bermasalah Rp224,64 miliar; setelah komponen air yang masih perlu divalidasi dipisahkan, nominal analisisnya Rp176,34 miliar.
Kedua, karakteristik yang paling berkaitan dengan NPI adalah tidak memakai autodebit, unit vacant, dan pemilik luar kota atau luar negeri.
Ketiga, setelah faktor lain disamakan, autodebit, vacant, domisili, dan fase cluster tetap berkaitan dengan NPI. Sebaliknya, kontak dan kanal tagihan hampir tidak berpengaruh setelah dikendalikan. Ini penting agar kita tidak menjanjikan penurunan NPI dari program yang sebenarnya hanya meningkatkan keterjangkauan.
Keempat, 88 persen nilai NPI sudah lewat 90 hari, sehingga cara paling realistis dalam dua kuartal adalah mencegah tagihan baru menjadi NPI.
Keputusan yang kami minta adalah persetujuan pilot, bukan peluncuran penuh. Target 34,8 persen untuk NPI tagihan baru adalah target usulan dari skenario dasar, bukan hasil yang sudah pasti.
Pertanyaan yang mungkin muncul: Mengapa targetnya tidak di bawah 30 persen? Jawaban: berdasarkan simulasi, mencapai level itu hanya melalui autodebit membutuhkan sekitar 72 persen unit yang belum autodebit untuk beralih, yang tidak realistis dalam dua kuartal.
Transisi: Mari mulai dari konteks </a:t>
            </a:r>
            <a:r>
              <a:rPr lang="en-US" dirty="0" err="1"/>
              <a:t>bisnisnya</a:t>
            </a:r>
            <a:r>
              <a:rPr lang="en-US" dirty="0"/>
              <a:t>.</a:t>
            </a:r>
          </a:p>
          <a:p>
            <a:endParaRPr lang="en-US" dirty="0"/>
          </a:p>
          <a:p>
            <a:endParaRPr lang="en-US" dirty="0"/>
          </a:p>
          <a:p>
            <a:endParaRPr lang="en-US" dirty="0"/>
          </a:p>
          <a:p>
            <a:r>
              <a:rPr lang="en-US" b="1" dirty="0">
                <a:highlight>
                  <a:srgbClr val="FFFF00"/>
                </a:highlight>
              </a:rPr>
              <a:t>??? </a:t>
            </a:r>
            <a:r>
              <a:rPr lang="en-US" b="1" dirty="0" err="1">
                <a:highlight>
                  <a:srgbClr val="FFFF00"/>
                </a:highlight>
              </a:rPr>
              <a:t>Kenapa</a:t>
            </a:r>
            <a:r>
              <a:rPr lang="en-US" b="1" dirty="0">
                <a:highlight>
                  <a:srgbClr val="FFFF00"/>
                </a:highlight>
              </a:rPr>
              <a:t> target </a:t>
            </a:r>
            <a:r>
              <a:rPr lang="en-US" b="1" dirty="0" err="1">
                <a:highlight>
                  <a:srgbClr val="FFFF00"/>
                </a:highlight>
              </a:rPr>
              <a:t>usulan</a:t>
            </a:r>
            <a:r>
              <a:rPr lang="en-US" b="1" dirty="0">
                <a:highlight>
                  <a:srgbClr val="FFFF00"/>
                </a:highlight>
              </a:rPr>
              <a:t> &lt;= 34.8%, </a:t>
            </a:r>
            <a:r>
              <a:rPr lang="en-US" b="1" dirty="0" err="1">
                <a:highlight>
                  <a:srgbClr val="FFFF00"/>
                </a:highlight>
              </a:rPr>
              <a:t>kenapa</a:t>
            </a:r>
            <a:r>
              <a:rPr lang="en-US" b="1" dirty="0">
                <a:highlight>
                  <a:srgbClr val="FFFF00"/>
                </a:highlight>
              </a:rPr>
              <a:t> gak &lt;= 20%?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awal bagian konteks bisnis.
Narasi: Bagian pertama menjelaskan mengapa IPL penting, risiko apa yang muncul ketika tagihan tidak terbayar, dan bagaimana masalah tersebut dirumuskan menjadi pertanyaan analisis.
Transisi: Kita lihat dulu peran IPL dan rantai risikonya.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rantai antara masalah, dugaan penyebab, dampak finansial, dan keputusan.
Narasi: IPL dibayar pemilik unit setiap bulan untuk membiayai keamanan, kebersihan, dan perawatan fasilitas umum. Brief memperkirakan porsi tagihan yang tidak dibayar sudah lebih dari seperempat. Brief juga menyebut beberapa dugaan penyebab: unit yang dibeli sebagai investasi dan dibiarkan kosong, pemilik yang tinggal jauh, kontak yang tidak lengkap, metode pembayaran yang tidak seragam, serta indikasi kesalahan input meter dan duplikasi tagihan.
Cara membaca: alur dari kiri ke kanan adalah logika analisis kita. Masalah diukur, dugaan penyebab diuji, dampaknya dihitung dalam rupiah, lalu diterjemahkan menjadi keputusan.
Keterbatasan: data tagihan saja belum mengukur defisit kas, subsidi aktual, atau biaya operasional. Karena itu kami menyebutnya risiko cashflow, bukan defisit kas yang sudah terukur.
Transisi: Dari konteks ini, berikut rumusan masalah dan tujuan analisisnya.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menyamakan rumusan masalah dan definisi metrik sebelum melihat angka.
Narasi: Pertanyaan utama analisis ini adalah bagaimana menurunkan NPI dalam dua kuartal melalui tindakan yang dapat dijalankan tim Collection, Finance, dan IT/ERP. Pertanyaan itu dipecah menjadi empat tujuan sesuai brief: menemukan segmen penyumbang tunggakan, mengestimasi nilai yang tertahan, merumuskan standar metode bayar, dan mengevaluasi kualitas data billing.
Definisi NPI perlu disepakati sejak awal. NPI rate dihitung dari jumlah invoice utama berstatus Unpaid atau Overdue dibagi jumlah invoice utama. Statusnya adalah status pada tanggal snapshot, karena data tidak menyimpan riwayat perubahan status. Salinan tagihan ganda tidak dihitung.
Pertanyaan yang mungkin muncul: Mengapa Unpaid dan Overdue digabung? Jawaban: sesuai definisi brief, dan pada data seluruh invoice Unpaid juga sudah melewati jatuh tempo per tanggal snapshot, sehingga keduanya tidak dapat dibedakan berdasarkan jatuh tempo.
Transisi: Selanjutnya, data apa yang kami pakai dan bagaimana kualitasnya.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bagian data dan metodologi.
Narasi: Bagian ini menjawab apakah angka yang akan kita bahas dapat dipercaya. Saya akan menunjukkan cakupan data, cara kami menetapkan unit analisis, dan temuan kualitas data yang paling berpengaruh.
Transisi: Mulai dari cakupan datanya.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cakupan data dan struktur relasinya.
Narasi: Data mencakup lima township, 111 cluster, dan 28.881 unit. Tabel billing awalnya berisi 807.427 baris. Setelah 38.449 salinan tagihan yang terbit dua kali ditandai dan dikeluarkan, tersisa 768.978 invoice utama yang menjadi dasar seluruh perhitungan NPI.
Cara membaca diagram: cluster memiliki banyak unit, unit memiliki banyak tagihan bulanan, dan satu tagihan dapat memiliki nol atau beberapa aksi penagihan serta sengketa. Karena relasinya satu ke banyak, aksi dan sengketa selalu kami ringkas ke tingkat invoice sebelum digabung, supaya nominal tidak terhitung ganda.
Asumsi: tanggal snapshot 27 Januari 2025 diambil dari tanggal kejadian terakhir yang tercatat pada data, yaitu tanggal pembayaran terakhir. Ini perlu dikonfirmasi dengan log ekstraksi resmi, karena umur tunggakan dihitung terhadap tanggal tersebut.
Pertanyaan yang mungkin muncul: Apakah database diubah selama analisis? Jawaban: tidak. Database hanya dibaca satu kali, lalu seluruh analisis dijalankan pada salinan snapshot CSV.
Transisi: Berikut alur metodologi yang kami jalankan.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bagaimana angka dihasilkan tanpa masuk ke detail teknis.
Narasi: Analisis berjalan dalam tujuh tahap. Data dibaca sekali sebagai snapshot. Kualitas data diperiksa: relasi antartabel, data kosong, duplikasi, dan anomali. Pada tahap cleaning, prinsipnya adalah menandai, bukan menghapus, sehingga setiap angka dapat diaudit. Hipotesis diuji bukan hanya dengan p-value, tetapi dengan selisih poin persentase, interval kepercayaan 95 persen yang dihitung per unit, dan ukuran efek. Lalu kami mengendalikan faktor pengganggu, menyusun analisis untuk tiap stakeholder, dan terakhir menyimulasikan dampak intervensi.
Ada tiga prinsip pembacaan. Pertama, seluruh hasil adalah asosiasi. Kedua, satu unit memiliki banyak invoice bulanan sehingga observasi tidak independen; karena itu interval kepercayaan dihitung dengan mengambil ulang unit, bukan invoice. Ketiga, status pembayaran adalah status per snapshot, sehingga pola waktu dibaca per cohort penerbitan.
Pertanyaan yang mungkin muncul: Mengapa tidak cukup dengan p-value? Jawaban: dengan 768 ribu invoice, selisih yang sangat kecil pun akan signifikan. Yang menentukan prioritas bisnis adalah besarnya selisih dan nominalnya.
Transisi: Sekarang temuan kualitas data yang paling memengaruhi angka.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temuan kualitas data yang paling berpengaruh dan cara penanganannya.
Narasi: Saya membedakan lima jenis temuan. Pertama, duplikasi bisnis: 38.449 invoice terbit dua kali untuk unit dan bulan yang sama pada Juni sampai September 2023. Nominal, pemakaian air, tarif, dan dendanya identik, sehingga salah satunya adalah salinan. Kedua, kesalahan input: 3.824 pemakaian air negatif dan 11.236 tanggal bayar yang lebih awal dari periode tagihan, bahkan sebelum serah terima unit. Ketiga, anomali yang masih perlu dicek: 3.789 pemakaian air di atas 97,8 meter kubik, seluruhnya input Manual. Keempat, data tidak lengkap: 17,24 persen unit tidak memiliki nomor kontak. Kelima, inkonsistensi penulisan metode pembayaran.
Ada juga data kosong yang wajar, misalnya tanggal bayar yang kosong karena invoice memang belum dibayar. Ini tidak kami isi.
Keterbatasan: batas 97,8 meter kubik kami turunkan dari data, karena tidak ada satu pun tagihan antara 97,8 dan 504 meter kubik dan 97,8 adalah pembacaan tertinggi meter Otomatis. Namun ini batas screening. Unit komersial bisa saja memakai air besar, sehingga Estate Ops perlu memvalidasinya dengan bukti meter.
Pertanyaan yang mungkin muncul: Apakah data anomali dihapus? Jawaban: tidak. Nilai aslinya tetap disimpan dan ditandai, sehingga dapat diaudit dan dikoreksi setelah ada bukti.
Transisi: Dampak terbesar terhadap baseline datang dari duplikasi tagihan.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mengapa baseline turun dari 36,96 persen menjadi 35,44 persen.
Narasi: Pada Juni sampai September 2023, sistem menerbitkan tagihan dua kali untuk unit dan bulan yang sama. Buktinya kuat: setiap pasangan berisi tepat dua invoice, nominal dan pemakaian airnya identik, dan satu di antaranya selalu bernomor pola 9xxxx. Kami juga memeriksa apakah ada pembayaran yang hanya tercatat pada salinan; jawabannya tidak ada. Jadi memilih invoice non-9xxxx sebagai invoice utama tidak menghilangkan catatan pembayaran.
Cara membaca grafik: sebelum aturan duplikasi, NPI 36,96 persen. Setelah salinan dikeluarkan, NPI 35,44 persen. Selisih 1,52 poin adalah dampak aturan data, bukan dampak program.
Implikasi finansial: 25.881 salinan berstatus NPI dengan nominal bruto Rp21,76 miliar, yaitu nominal yang tercatat ganda dan tidak mewakili kewajiban tambahan. Selain itu ada 12.568 pasangan yang keduanya berstatus Paid, senilai sekitar Rp11,07 miliar. Ini indikasi pembayaran ganda yang harus dicocokkan Finance dengan mutasi bank sebelum diputuskan pengembalian dana atau kreditnya.
Pertanyaan yang mungkin muncul: Apakah salinan dihapus dari sistem? Jawaban: tidak. Salinan hanya ditandai dan dikeluarkan dari perhitungan; barisnya tetap ada untuk audit.
Transisi: Dengan basis data yang sudah dibersihkan, berikut besar masalah NPI.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bagian besar masalah.
Narasi: Bagian ini menjawab pertanyaan pertama manajemen: seberapa besar masalah NPI dan bagaimana polanya.
Transisi: Kita mulai dari baseline.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menetapkan baseline dan membedakan metrik jumlah dengan metrik nominal.
Narasi: Baseline NPI adalah 35,44 persen, yaitu 272.545 dari 768.978 invoice utama. Ini metrik berdasarkan jumlah invoice. Jika diukur berdasarkan nilai rupiah, NPI sebesar 35,55 persen. Keduanya mirip tetapi tidak sama, dan tidak boleh dipertukarkan. Sebagai pembanding, sebelum salinan tagihan ganda dikeluarkan NPI tercatat 36,96 persen.
Untuk nominal, kami menyajikannya berlapis. Nominal bruto, yaitu total tagihan semua invoice NPI sebagaimana tercatat, adalah Rp224,64 miliar. Sebesar Rp48,30 miliar di antaranya adalah komponen air pada invoice yang pemakaian airnya negatif atau di atas batas wajar, sehingga masih perlu divalidasi. Setelah komponen itu dipisahkan, nominal analisis menjadi Rp176,34 miliar. Komponen IPL dan denda pada invoice beranomali tetap dihitung karena tidak dipengaruhi kesalahan meter.
Hal terpenting: nominal ini adalah tagihan bermasalah. Ini bukan kerugian permanen, dan juga bukan kas yang pasti dapat ditagih.
Pertanyaan yang mungkin muncul: Mengapa tidak memakai Rp224,64 miliar saja? Jawaban: angka bruto tetap dilaporkan, tetapi Rp48,30 miliar komponen air berasal dari pembacaan meter yang belum tervalidasi. Memakai angka analisis membuat prioritas tidak terdistorsi oleh kemungkinan salah input.
Transisi: Berikut bagaimana pola NPI per cohort penerbitan.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pola NPI dari waktu ke waktu dengan definisi yang tepat.
Narasi: Grafik atas menunjukkan NPI per cohort penerbitan. Artinya: dari invoice yang terbit pada bulan tertentu, berapa persen yang masih berstatus NPI pada 27 Januari 2025. Ini bukan NPI yang tercatat tepat pada bulan tersebut, karena data tidak menyimpan riwayat status.
Cohort Juli 2022 berada di sekitar 20 persen, lalu naik dan sejak 2023 bertahan di kisaran 35 sampai 38 persen. Rata-rata enam cohort matang pertama 30,14 persen, sedangkan enam cohort matang terakhir 37,24 persen.
Cara membaca kematangan: pada data, pembayaran paling terlambat terjadi 22 hari setelah jatuh tempo. Cohort yang belum melewati batas itu statusnya masih bisa berubah. Hanya cohort Desember 2024 yang belum matang, sehingga tidak ditampilkan pada garis dan tidak dibandingkan langsung.
Grafik bawah menunjukkan nominal. Walaupun persentasenya stabil, nominal NPI per cohort naik dari sekitar Rp2,4 miliar menjadi rata-rata Rp6,9 miliar pada 12 cohort matang terakhir, karena jumlah invoice per bulan bertambah dari 19.882 menjadi 28.881.
Implikasi: persentase yang stabil tidak berarti masalahnya stabil; rupiah yang tertahan setiap bulan terus membesar.
Transisi: Pertanyaan berikutnya adalah karakteristik apa yang paling berkaitan dengan NPI.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bagian faktor risiko.
Narasi: Bagian ini adalah inti analisis. Kami menguji dugaan penyebab satu per satu, lalu memeriksa apakah hubungannya tetap ada setelah faktor lain disamakan.
Transisi: Mulai dari perbandingan NPI antarkelompok.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hipotesis dengan selisih NPI terbesar dan kekuatan buktinya.
Narasi: Grafik membandingkan NPI kelompok yang diduga berisiko, berwarna navy, dengan kelompok pembanding, berwarna abu-abu. Tiga selisih terbesar adalah unit vacant, 58,43 persen dibandingkan 28,11 persen pada unit dihuni, selisih sekitar 30 poin. Lalu tagihan tanpa autodebit, 39,71 persen dibandingkan 9,93 persen. Ketiga, pemilik luar kota atau luar negeri, 49,93 persen dibandingkan 27,88 persen.
Cara membaca tabel: kolom selisih adalah perbedaan dalam poin persentase. CI 95 persen adalah rentang ketidakpastian yang dihitung dengan mengambil ulang unit, sehingga invoice berulang dari unit yang sama ikut diperhitungkan. Semua rentang tidak mencakup nol. Kolom V adalah Cramér's V: di bawah 0,1 sangat lemah, 0,1 sampai 0,3 lemah. Tidak ada efek yang kuat secara statistik; yang membuat temuan ini penting adalah selisih poinnya yang besar dan relevan bagi bisnis.
Keterbatasan: ini masih asosiasi mentah. Beberapa faktor saling tumpang tindih, misalnya pemilik luar negeri lebih sering memiliki unit vacant. Karena itu slide berikutnya menguji selisih setelah faktor lain dikendalikan.
Pertanyaan yang mungkin muncul: Jika semua signifikan, mengapa tidak semuanya diprioritaskan? Jawaban: dengan data sebesar ini, selisih kecil pun signifikan. Kami memprioritaskan berdasarkan besar selisih, nominal, dan hasil setelah pengendalian.
Transisi: Mari lihat apa yang tersisa setelah faktor lain disamakan.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memisahkan faktor yang berdiri sendiri dari faktor yang hanya mencerminkan komposisi pemilik.
Narasi: Selisih awal dapat menyesatkan karena faktor-faktor saling berkaitan. Misalnya, unit tanpa kontak lebih sering vacant dan dimiliki pemilik yang jauh. Untuk memisahkannya, kami menghitung selisih NPI di dalam kelompok yang faktor lainnya sama, lalu merata-ratakannya dengan bobot jumlah invoice. Kami menyebutnya selisih terkendali.
Cara membaca: batang abu-abu adalah selisih awal, batang emas adalah selisih setelah dikendalikan. Tanpa autodebit turun dari 29,78 menjadi 26,59 poin, jadi sebagian besar tetap ada. Vacant turun dari 30,32 menjadi 23,28 poin. Cluster New Phase hampir tidak berubah, 7,23 menjadi 7,00 poin. Pemilik luar kota atau luar negeri turun dari 22,04 menjadi 10,14 poin karena sebagian besar selisihnya dijelaskan oleh status vacant.
Sebaliknya, kontak belum terverifikasi atau kosong turun dari 10,05 menjadi 0,24 poin, kanal cetak fisik menjadi minus 0,02, dan Regional Hub menjadi 0,34 poin. Selisih awal ketiganya terutama mencerminkan siapa pemiliknya.
Catatan angka: selisih awal kontak di sini 10,05 poin karena kelompoknya digabung antara kosong dan belum terverifikasi, berbeda dengan uji H3 yang membandingkan tanpa nomor dengan terverifikasi.
Keterbatasan: pengendalian hanya mencakup variabel yang tersedia. Faktor yang tidak tercatat, seperti kemampuan bayar atau kepuasan layanan, masih bisa berpengaruh. Ini tetap asosiasi.
Pertanyaan yang mungkin muncul: Apakah berarti verifikasi kontak tidak perlu? Jawaban: tetap perlu, karena Collection tidak bisa menagih pemilik yang tidak dapat dihubungi. Hanya saja, manfaatnya sebaiknya diukur sebagai peningkatan keterjangkauan, bukan penurunan NPI.
Transisi: Faktor-faktor ini dapat digabung menjadi skor risiko sederhana.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menerjemahkan faktor risiko menjadi alat prioritas yang sederhana.
Narasi: Kami menggabungkan empat faktor yang tetap kuat setelah pengendalian, yaitu vacant, pemilik luar kota atau luar negeri, tanpa autodebit, dan cluster New Phase, menjadi skor 0 sampai 4. Setiap faktor diberi bobot sama agar mudah dijelaskan kepada petugas.
Cara membaca: grafik kiri menunjukkan NPI naik bertahap dari 4,93 persen pada skor 0 menjadi 67,10 persen pada skor 4. Grafik tengah menunjukkan nominal: skor 2 justru menyumbang nominal terbesar, Rp62,31 miliar, karena jumlah invoicenya banyak. Tabel kanan menunjukkan pola yang hampir sama pada cohort 2022 sampai 2023 dan cohort 2024, sehingga skor ini konsisten antarperiode.
Implikasi: skor tinggi dipakai untuk menentukan urutan penanganan. Skor 3 dan 4 hanya 24,1 persen invoice tetapi memegang 40,1 persen nominal, atau Rp70,7 miliar. Invoice skor rendah tetap perlu ditangani lewat program massal seperti autodebit.
Keterbatasan: skor ini heuristik dengan bobot sama, bukan model prediktif yang divalidasi. Bobot dapat disempurnakan setelah hasil pilot tersedia.
Transisi: Skor ini juga menunjukkan bahwa risiko tertinggi tidak selalu sama dengan nominal terbesar.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membedakan risk rate, financial exposure, dan prioritas operasional.
Narasi: Grafik kiri adalah risk rate, yaitu persentase invoice NPI dalam suatu kelompok. Grafik kanan adalah financial exposure, yaitu nominal NPI kelompok tersebut. Keduanya diurutkan berdasarkan nominal.
Perhatikan perbedaannya. Unit vacant memiliki risk rate tertinggi, 58,43 persen, tetapi nominalnya Rp66,10 miliar atau 37,5 persen. Unit dihuni justru menyumbang Rp110,24 miliar karena jumlah invoicenya sekitar tiga kali lebih banyak. Tagihan tanpa autodebit memiliki risk rate sedang, 39,71 persen, tetapi nominalnya Rp169,28 miliar atau 96 persen, karena 85,7 persen invoice belum memakai autodebit. Sebaliknya, invoice yang disengketakan berisiko tinggi tetapi nominalnya hanya Rp4,21 miliar.
Jadi kami memakai tiga konsep. Risk rate menunjukkan seberapa berisiko. Financial exposure menunjukkan seberapa besar uangnya. Operational priority menggabungkan keduanya dengan keterjangkauan kontak dan kapasitas tim.
Peringatan: kelompok-kelompok ini saling tumpang tindih. Satu invoice bisa sekaligus vacant, milik pemilik jauh, dan tanpa autodebit. Karena itu nominal antarhipotesis tidak boleh dijumlahkan.
Transisi: Sebelum ke Collection, saya sampaikan juga hipotesis yang tidak didukung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menyajikan hasil yang tidak mendukung hipotesis, karena hasil ini sama pentingnya untuk keputusan.
Narasi: Pertama, jarak ke jatuh tempo tidak membedakan NPI: 35,46 persen dibandingkan 35,43 persen, dengan p-value 0,776. Mengubah tanggal jatuh tempo dalam rentang 32 sampai 45 hari tidak perlu menjadi prioritas.
Kedua, input meter Manual sekilas justru memiliki NPI lebih rendah. Penyebabnya, meter Otomatis hanya dipasang di cluster New Phase. Di dalam New Phase, NPI Manual dan Otomatis hampir sama, 40,0 dan 40,1 persen. Jadi tidak ada bukti bahwa input Manual meningkatkan NPI, walaupun kesalahan meter tetap memengaruhi nominal dan memicu sengketa.
Ketiga, tunggakan tidak terkonsentrasi di sedikit cluster. Lima puluh persen nilai tersebar di 40 dari 111 cluster. Namun di level unit lebih terkonsentrasi: 6.771 unit memegang 50 persen nilai.
Keempat, efektivitas jenis aksi Collection belum dapat diuji. Semua invoice yang ditagih masih Overdue pada snapshot, sehingga tidak ada pembanding yang lunas.
Kelima, invoice yang disengketakan memang lebih sering NPI, tetapi efeknya sangat lemah dan hubungannya bisa dua arah: sengketa dapat diajukan karena invoice sudah bermasalah.
Empat hipotesis lain tidak dapat diuji karena datanya tidak tersedia, termasuk pengingat yang hubungannya terbalik: pengingat dikirim karena tagihan belum dibayar.
Transisi: Sekarang kita lihat implikasinya bagi Collection dan Finance.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bagian Collection dan Finance.
Narasi: Bagian ini menerjemahkan temuan menjadi pekerjaan: tunggakan mana yang masih realistis ditagih, unit mana yang ditangani lebih dahulu, dan apa yang perlu direkonsiliasi Finance.
Transisi: Mulai dari umur tunggakan.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umur tunggakan dan implikasinya bagi perencanaan kas.
Narasi: Umur tunggakan dihitung dari tanggal jatuh tempo sampai tanggal snapshot 27 Januari 2025. Grafik menampilkan dua lapisan: abu-abu adalah nominal bruto, navy adalah nominal analisis setelah komponen air yang perlu validasi dipisahkan.
Hasilnya, 88 persen nilai NPI analisis sudah melewati 90 hari, 76,1 persen melewati 180 hari, dan Rp93,5 miliar atau 53 persen berumur lebih dari satu tahun. Tidak ada invoice NPI yang belum jatuh tempo pada snapshot.
Interpretasi: pada data, pembayaran paling terlambat terjadi 22 hari setelah jatuh tempo; tidak teramati satu pun tunggakan yang dilunasi setelah itu. Artinya, pemulihan tunggakan lama tidak bisa dimasukkan ke perencanaan cashflow sebagai angka pasti. Tunggakan lama perlu program pemulihan tersendiri, sedangkan target dua kuartal lebih realistis bila berfokus pada pencegahan NPI baru.
Keterbatasan: umur dihitung terhadap tanggal snapshot yang masih berupa asumsi. Jika tanggal ekstraksi resmi berbeda, kategori umur akan bergeser. Tingkat pemulihan per umur dan kebijakan penghapusan piutang perlu ditetapkan bersama Finance.
Pertanyaan yang mungkin muncul: Berapa yang akan hilang? Jawaban: belum dapat dipastikan dari data ini, karena tidak ada data penghapusan piutang maupun realisasi kas.
Transisi: Dari sisi pekerjaan Collection, berikut daftar kerja yang kami susun.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memberikan daftar kerja Collection yang dapat langsung dipakai.
Narasi: Tunggakan lebih terkonsentrasi di level unit daripada cluster. Sebanyak 6.771 unit, atau 23,4 persen dari seluruh unit, memegang 50 persen nilai NPI. Unit-unit ini kami bagi berdasarkan keterjangkauan kontak, sehingga setiap unit hanya masuk ke satu tier.
Tier 1 berisi 3.743 unit prioritas dengan kontak terverifikasi, senilai Rp46,7 miliar; mereka dapat langsung ditagih. Tier 2 berisi 3.028 unit prioritas yang kontaknya kosong atau belum terverifikasi, senilai Rp41,5 miliar; CS perlu memverifikasi kontak terlebih dahulu. Tier 3 berisi 18.076 unit lain yang memiliki NPI dan belum autodebit, senilai Rp75,5 miliar; ini sasaran kampanye autodebit. Tier 4 adalah pemantauan rutin.
Temuan penting: hampir seluruh unit prioritas sudah pernah ditagih, dan median umur tunggakan terlamanya sekitar 835 sampai 841 hari. Jadi masalah unit prioritas adalah tunggakan lama, bukan sekadar belum ditagih. Secara keseluruhan, Rp121,2 miliar atau 69 persen nilai NPI belum pernah ditagih, termasuk Rp49,7 miliar berstatus Unpaid yang tidak pernah muncul di log aksi.
Keterbatasan: angka Unpaid 0 persen kemungkinan berasal dari aturan pencatatan, yaitu aksi hanya dicatat untuk status Overdue. SOP ini perlu dikonfirmasi. Prioritas juga tidak boleh ditentukan oleh persentase NPI saja; nominal, umur tunggakan, status sengketa, dan kontak ikut dipertimbangkan.
Transisi: Bagaimana dengan efektivitas penagihan yang selama ini berjalan?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apa yang dapat dan belum dapat disimpulkan tentang penagihan.
Narasi: Kami memeriksa invoice Overdue, lalu melihat apakah invoice unit yang sama pada bulan berikutnya dibayar. Urutan waktu dijaga: hanya aksi yang terjadi sebelum periode tagihan berikutnya yang dipakai.
Grafik kiri: invoice bulan depan dari unit yang ditagih tetap tidak dibayar 72,4 persen, hampir sama dengan yang tidak ditagih, 71,2 persen. Jadi secara umum, ada atau tidaknya aksi belum menunjukkan hubungan dengan pembayaran berikutnya.
Grafik kanan: perbedaan baru terlihat menurut respons pemilik. Pemilik dengan respons terakhir Lunas Setelah Kontak membayar seluruh invoice bulan berikutnya. Janji Bayar 61,5 persen tidak dibayar, sedangkan Tidak Respon 83,1 persen dan Sengketa 84,2 persen.
Interpretasi: yang lebih menentukan adalah apakah pemilik berhasil diajak berkomunikasi sampai berkomitmen. Ini mendukung kanal yang dapat direspons dan tindak lanjut khusus untuk Janji Bayar.
Keterbatasan: ini asosiasi. Pemilik yang mau merespons kemungkinan memang lebih disiplin. Selain itu, respons Lunas Setelah Kontak tidak selalu sinkron dengan billing; ada 5.580 respons seperti itu pada invoice yang belum Paid. Karena itu collection rate harus diukur dari bukti pembayaran.
Transisi: Selanjutnya, apa yang perlu dibereskan Finance.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pekerjaan Finance yang menentukan akurasi angka.
Narasi: Pertama, metode pembayaran. Sembilan variasi penulisan sebenarnya hanya empat kanal: Virtual Account BCA 44,90 persen, Tunai 25,02 persen, Kartu Kredit 15,04 persen, dan Tokopedia 15,04 persen dari invoice utama berstatus Paid. Kami mengusulkan empat kode baku sebagai master data dengan input pilihan, bukan teks bebas.
Kedua, tiga daftar rekonsiliasi. Ada 3.795 invoice NPI yang sebenarnya sudah dibatalkan penuh melalui sengketa senilai Rp11,94 miliar; statusnya belum diperbarui. Ada 5.953 invoice Paid yang juga dibatalkan penuh senilai Rp21,78 miliar, yang mungkin menimbulkan kewajiban pengembalian dana atau kredit. Dan 12.568 pasangan tagihan ganda yang keduanya Paid, sekitar Rp11,07 miliar.
Ketiga, nominal koreksi sengketa tidak otomatis mengurangi NPI. Dari Rp33,72 miliar koreksi pada invoice utama, Rp21,78 miliar justru terjadi pada invoice yang sudah Paid.
Terakhir, adopsi autodebit masih rendah, hanya 14,3 persen unit, dan paling rendah pada pemilik luar negeri serta unit vacant, yaitu segmen paling berisiko.
Pertanyaan yang mungkin muncul: Apakah daftar Paid + Paid berarti warga pasti membayar dua kali? Jawaban: belum pasti. Ini indikasi yang harus dicocokkan dengan mutasi bank sebelum diputuskan.
Transisi: Dengan pemahaman ini, kita masuk ke simulasi intervensi.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bagian simulasi.
Narasi: Bagian ini menjawab berapa NPI baru yang berpotensi dicegah dengan skenario tertentu. Angka di bagian ini adalah simulasi bersyarat, bukan forecast kas.
Transisi: Mulai dari periode dasar simulasi.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menetapkan titik awal simulasi.
Narasi: Simulasi memakai enam cohort matang terakhir, Juni sampai November 2024, sebagai periode dasar. Rata-rata ada 28.548 invoice per bulan dengan NPI 37,24 persen. Nilai tagihan analisis yang terbit sekitar Rp18,73 miliar per bulan, dan sekitar Rp7,00 miliar di antaranya masih berstatus NPI pada snapshot.
Cara membaca grafik: jika pola ini tetap selama enam bulan, nominal tagihan baru yang menjadi NPI mencapai sekitar Rp42,0 miliar. Ini ilustrasi linear sederhana untuk menunjukkan skala, bukan forecast kas.
Catatan rekonsiliasi angka: angka Rp18,73 miliar, Rp7,00 miliar, dan Rp42,0 miliar dihitung dari kolom nilai tagihan dan nilai NPI analisis pada periode dasar notebook. Versi analisis sebelumnya yang memakai koreksi air berbeda menghasilkan Rp18,74 miliar dan Rp7,01 miliar; selisihnya hanya pembulatan dari perbedaan metode koreksi air.
Implikasi: karena tunggakan lama sulit dipulihkan, setiap rupiah tagihan baru yang berhasil dicegah menjadi NPI lebih bernilai untuk cashflow dua kuartal ke depan.
Transisi: Berikut skenario intervensi autodebit.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hasil simulasi autodebit beserta asumsinya.
Narasi: Populasi sasaran adalah unit, bukan invoice historis. Ada 24.754 unit yang tidak autodebit pada bulan tagihan terakhirnya. Skenario mengasumsikan 25 persen di antaranya, atau 6.188 unit, beralih ke autodebit, sehingga adopsi unit naik dari 14,3 persen menjadi 35,7 persen.
Besar efek yang dipakai adalah selisih terkendali, 26,59 poin, bukan selisih mentah 29,78 poin. Lalu ada tiga tingkat keberhasilan: konservatif 25 persen, dasar 50 persen, dan optimistis 100 persen dari efek tersebut. Skenario optimistis adalah batas atas.
Hasilnya, NPI tagihan baru turun dari 37,24 persen menjadi 36,01 persen pada skenario konservatif, 34,78 persen pada skenario dasar, dan 32,32 persen pada skenario optimistis. Nominal NPI baru yang berpotensi dicegah sekitar Rp0,23, Rp0,46, dan Rp0,93 miliar per bulan.
Batas estimasi: angka rupiah bukan kas yang pasti masuk. Biaya insentif, biaya kanal, dan kapasitas tim belum tersedia, jadi kami tidak mengklaim ROI. Pemilik yang memilih autodebit mungkin memang lebih disiplin, sehingga efek sebenarnya harus dibuktikan lewat pilot.
Pertanyaan yang mungkin muncul: Bagaimana jika ingin mencapai NPI di bawah 30 persen? Jawaban: untuk kembali ke level awal 30,14 persen hanya lewat autodebit, dibutuhkan sekitar 72 persen unit eligible beralih pada skenario dasar. Itu tidak realistis dalam dua kuartal.
Transisi: Bagaimana dengan tindakan lain seperti portal dan verifikasi kontak?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membandingkan intervensi secara adil dan tanpa hitung ganda.
Narasi: Ketiga intervensi dihitung pada periode dasar yang sama, dengan tingkat keberhasilan dasar 50 persen, dan memakai efek terkendali. Dengan cara ini, asosiasi yang sama tidak dihitung dua kali oleh beberapa tindakan.
Autodebit memberikan penurunan sekitar 2,46 poin dan mencegah sekitar Rp462 juta NPI baru per bulan. Memindahkan separuh tagihan cetak fisik ke portal memberi penurunan nol, karena efek kanal hilang setelah dikendalikan. Verifikasi separuh kontak yang belum terverifikasi memberi penurunan sekitar 0,02 poin atau Rp3,5 juta per bulan. Gabungannya sekitar 2,48 poin dan Rp466 juta per bulan.
Interpretasi: portal dan verifikasi kontak tetap bermanfaat, misalnya untuk efisiensi biaya cetak dan agar Collection dapat menjangkau pemilik. Namun kita tidak boleh menjanjikan keduanya akan menurunkan NPI.
Angka 72 persen di kiri bawah menunjukkan mengapa target di bawah 30 persen tidak realistis jika hanya mengandalkan autodebit.
Keterbatasan: gabungan dihitung sebagai penjumlahan efek terkendali, yang merupakan pendekatan. Biaya program belum dimasukkan.
Transisi: Dari sini kita masuk ke rekomendasi.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bagian rekomendasi.
Narasi: Bagian terakhir menerjemahkan seluruh temuan menjadi tindakan per stakeholder, roadmap dua kuartal, KPI, dan keputusan yang kami minta.
Transisi: Mulai dari rekomendasi per stakeholder.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menetapkan peran setiap stakeholder.
Narasi: Head of Township Management menyetujui pilot dengan grup kontrol, artinya sebagian unit sasaran sengaja tidak diberi program agar dampaknya dapat diukur. Target interim ditetapkan setelah hasil pilot terlihat.
Finance menetapkan empat kode metode bayar sebagai master data, menuntaskan rekonsiliasi, dan memisahkan tiga angka: NPI bruto, nominal yang perlu divalidasi, dan kas yang benar-benar diterima.
Collection memakai daftar tier yang mempertimbangkan risiko, nominal, dan kontak; menindaklanjuti janji bayar; dan mengukur collection rate 30, 60, dan 90 hari dari bukti pembayaran, bukan dari respons petugas.
CS memverifikasi kontak unit Tier 2 terlebih dahulu dan mengukur keberhasilannya sebagai peningkatan keterjangkauan.
IT/ERP menerapkan kontrol satu invoice utama per unit per bulan, menyimpan riwayat status dan tanggal snapshot, membuat input metode bayar berbasis pilihan, dan menambahkan validasi meter.
Estate Operations menginvestigasi anomali air dengan bukti meter, tanpa mengganti nilai secara otomatis, dan mendokumentasikan hasilnya.
Transisi: Bagaimana urutan waktunya dalam dua kuartal?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memberikan urutan pelaksanaan yang realistis.
Narasi: Bulan pertama adalah fondasi. Manajemen menyetujui pilot dan grup kontrol, tanggal snapshot dan baseline dikonfirmasi, Finance menuntaskan rekonsiliasi yang paling kritis, dan daftar kerja disiapkan tanpa data pribadi.
Kuartal pertama adalah pilot. Program autodebit dijalankan pada sebagian unit eligible, Collection menagih Tier 1, CS memverifikasi kontak Tier 2, dan IT/ERP memasang kontrol invoice ganda serta validasi meter.
Kuartal kedua adalah evaluasi dan perluasan. Hasil pilot dibandingkan dengan grup kontrol. Program yang terbukti efektif diperluas, program pemulihan tunggakan lama dijalankan, dan target resmi ditetapkan berdasarkan hasil nyata.
Pertanyaan yang mungkin muncul: Mengapa tidak langsung diluncurkan penuh? Jawaban: karena efek autodebit masih asosiasi. Pilot dengan grup kontrol mencegah kita membiayai program besar yang dampaknya belum terbukti.
Transisi: Untuk memantau roadmap ini, berikut KPI yang kami usulkan.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menyepakati alat ukur keberhasilan.
Narasi: KPI dibagi menjadi empat jenis. KPI bisnis adalah NPI cohort matang untuk tagihan baru, dengan baseline 37,24 persen dan target usulan 34,8 persen, serta nominal NPI baru per bulan sekitar Rp7,00 miliar. KPI finansial adalah kas yang benar-benar tertagih; baseline-nya belum tersedia karena data realisasi kas tidak ada di database ini, sehingga Finance perlu menetapkannya.
Indikator awal adalah adopsi autodebit unit, dari 14,3 persen ke target 35,7 persen sesuai skenario, dan porsi unit dengan kontak terverifikasi yang saat ini 69,0 persen. Indikator ini bergerak lebih dulu sebelum NPI berubah.
KPI kualitas data adalah invoice ganda baru, metode bayar di luar kode master, dan anomali air yang sudah diverifikasi. Terakhir, jumlah item yang belum direkonsiliasi.
Penting: baseline adalah temuan historis, sedangkan target adalah usulan yang disahkan setelah pilot. Jangan menampilkan target ini sebagai hasil yang dijamin.
Pertanyaan yang mungkin muncul: Mengapa NPI cohort, bukan NPI total? Jawaban: NPI total didominasi tunggakan lama yang sulit berubah. NPI cohort tagihan baru lebih sensitif terhadap program dua kuartal.
Transisi: Terakhir, keputusan yang kami minta hari ini.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menutup dengan keputusan yang jelas.
Narasi: Kami meminta persetujuan untuk satu paket pilot. Yang disetujui adalah pilot autodebit untuk unit yang belum autodebit dan penagihan terfokus untuk Tier 1 dan Tier 2, dengan grup kontrol. Head of Township Management menjadi sponsor, Finance dan Collection menjadi pelaksana, sementara CS, IT/ERP, dan Estate Ops mendukung.
Persiapan berlangsung pada bulan pertama dan pilot berjalan sepanjang kuartal pertama. KPI utamanya adalah NPI cohort tagihan baru, adopsi autodebit, kas tertagih aktual, dan biaya program. Evaluasi dilakukan dengan membandingkan unit pilot dengan grup kontrol pada akhir bulan kedua dan akhir kuartal kedua.
Jika pilot tidak menunjukkan perbaikan, kita tidak memperluasnya. Kita mengevaluasi desain insentif, menguji kanal komunikasi lain untuk segmen berisiko, tetap memprioritaskan rekonsiliasi data, dan mengkalibrasi ulang skor risiko.
Pertanyaan yang mungkin muncul: Berapa biaya pilot? Jawaban: biaya belum dapat dihitung dari data billing. Finance perlu menyusunnya, lalu membandingkannya dengan potensi NPI baru yang dicegah, sekitar Rp0,46 miliar per bulan pada skenario dasar.
Transisi: Terima kasih; saya membuka sesi diskusi.</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menutup presentasi dan membuka diskusi.
Narasi: Sebagai penutup, ada tiga pesan. Pertama, cegah NPI baru, karena tunggakan lama sulit dipulihkan. Kedua, rapikan data, karena duplikasi, anomali meter, dan status yang tidak sinkron memengaruhi angka dan kepercayaan warga. Ketiga, uji dampak lewat pilot terukur sebelum menetapkan target resmi.
Terima kasih. Saya persilakan Bapak dan Ibu untuk bertanya. Rincian teknis seperti daftar hipotesis lengkap, definisi metrik, metode statistik, dan asumsi simulasi tersedia di appendix.
Pertanyaan yang mungkin muncul: Apa satu tindakan terpenting? Jawaban: menyetujui pilot autodebit dengan grup kontrol, karena autodebit adalah satu-satunya tuas dengan dampak NPI berarti dalam simulasi, dan pilot memberi bukti sebelum investasi besar.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menandai bagian appendix.
Narasi: Appendix berisi rincian teknis yang mendukung slide utama. Bagian ini tidak perlu dipresentasikan seluruhnya, tetapi dapat dibuka saat ada pertanyaan.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menyediakan rincian seluruh hipotesis untuk rujukan.
Narasi: Tabel ini merangkum seluruh hipotesis yang diuji. Kolom selisih adalah poin persentase, CI 95 persen adalah interval kepercayaan bootstrap per unit, Cramér's V adalah besar efek, dan p-value sudah dikoreksi Holm karena banyak hipotesis diuji sekaligus. p-value yang sangat kecil ditulis kurang dari 0,001, bukan nol.
Status didukung data berarti batas bawah interval kepercayaan di atas nol dan selisihnya relevan secara praktis. Tanda bintang menandai hipotesis yang selisihnya hampir hilang setelah pengendalian. H18 adalah rekonsiliasi, H13 adalah metrik konsentrasi, dan H14 belum dapat diuji karena outcome konstan.
Pertanyaan yang mungkin muncul: Mengapa H17 berstatus efek sedang padahal Cramér's V sangat lemah? Jawaban: status mengikuti besar selisih poin, sedangkan Cramér's V menunjukkan kekuatan hubungannya lemah karena jumlah invoice yang disengketakan kecil. Karena itu kami membacanya sebagai asosiasi lemah yang dapat dua arah.</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menyediakan definisi baku agar angka dibaca dengan cara yang sama oleh semua tim.
Narasi: Dua definisi yang paling sering tertukar adalah NPI berdasarkan jumlah invoice dan NPI berdasarkan nominal. Keduanya berbeda dan harus selalu disebut jelas. Nominal NPI disajikan berlapis: bruto, komponen air yang perlu validasi, dan nominal analisis. NPI per cohort adalah status per snapshot untuk invoice yang terbit pada bulan tertentu, dan cohort dianggap matang jika jatuh tempo ditambah 22 hari sudah terlewati pada tanggal snapshot. Collection rate harus dihitung dari pembayaran menurut billing, bukan dari respons petugas.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metode statistik bagi audiens yang membutuhkan detail.
Narasi: Interval kepercayaan dihitung dengan bootstrap per unit, sehingga tidak terlalu optimistis walaupun satu unit memiliki banyak invoice. Cramér's V mengukur besar efek tanpa dipengaruhi jumlah data. Koreksi Holm dipakai karena banyak hipotesis diuji bersamaan. Selisih terkendali menghitung perbedaan NPI di dalam kelompok yang faktor lainnya sama.
Keterbatasan: semua metode ini tetap menghasilkan asosiasi. Pengendalian hanya mencakup faktor yang tersedia, sedangkan faktor seperti kemampuan bayar tidak tercatat. Model yang lebih lanjut, misalnya regresi logistik dengan standard error per unit, dapat menjadi pengembangan berikutnya.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memberikan rincian kualitas data untuk tim IT/ERP dan Finance.
Narasi: Temuan diurutkan menurut dampak nominal. Pemakaian air di atas batas wajar memiliki komponen air terbesar, Rp149,87 miliar pada semua status invoice. Salinan tagihan ganda dan pasangan Paid plus Paid juga berdampak nominal. Berdasarkan jumlah baris, temuan terbesar adalah Paid terlambat tanpa denda sebanyak 46.656, tetapi karena tidak ada satu pun invoice Paid yang memiliki denda, pola ini kemungkinan aturan sistem, misalnya denda dihapus saat pelunasan. Statusnya kebijakan yang perlu dikonfirmasi, bukan kesalahan.
Relasi antartabel bersih: tidak ada primary key ganda, foreign key tanpa pasangan, maupun unit_id yang tidak cocok.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mendokumentasikan seluruh asumsi simulasi.
Narasi: Simulasi memakai enam cohort matang terakhir sebagai periode dasar. Populasi sasarannya adalah unit yang belum autodebit pada bulan tagihan terakhir. Porsi unit beralih dan tingkat keberhasilan adalah parameter, sedangkan besar efeknya memakai selisih terkendali.
Catatan rekonsiliasi: nilai tagihan dan NPI per bulan, Rp18,73 miliar dan Rp7,00 miliar, dihitung dari kolom nilai tagihan dan nilai NPI analisis pada periode dasar notebook ini. Analisis versi sebelumnya yang memakai koreksi air dengan median unit menghasilkan Rp18,74 miliar dan Rp7,01 miliar. Selisihnya kecil dan berasal dari perbedaan metode koreksi air.
Yang belum termasuk adalah biaya program dan kas aktual. Karena itu kami tidak mengklaim ROI atau manfaat bersih.</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menyampaikan sumber dan keterbatasan secara terbuka.
Narasi: Semua angka berasal dari output notebook yang dijalankan pada lima snapshot CSV mentah. Keterbatasan utama: status hanya per snapshot, hubungan yang ditemukan adalah asosiasi, beberapa keputusan analitis belum disahkan pemilik proses, efektivitas Collection belum dapat diukur, dan nominal NPI bukan kas.
Data yang paling dibutuhkan berikutnya adalah tanggal ekstraksi resmi, riwayat status pembayaran, bukti pembayaran hasil aksi Collection, mutasi bank, biaya program, dan log meter air.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rtlCol="0"/>
          <a:lstStyle>
            <a:lvl1pPr marL="0" indent="0">
              <a:buNone/>
              <a:defRPr lang="en-US" sz="1100" b="1" kern="0" spc="200" dirty="0">
                <a:solidFill>
                  <a:schemeClr val="accent3"/>
                </a:solidFill>
              </a:defRPr>
            </a:lvl1pPr>
          </a:lstStyle>
          <a:p>
            <a:pPr marL="0" indent="0">
              <a:buNone/>
            </a:pP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rtlCol="0"/>
          <a:lstStyle>
            <a:lvl1pPr marL="0" indent="0" algn="l">
              <a:buNone/>
              <a:defRPr lang="en-US" sz="2600" b="1" dirty="0">
                <a:solidFill>
                  <a:schemeClr val="tx2"/>
                </a:solidFill>
              </a:defRPr>
            </a:lvl1pPr>
          </a:lstStyle>
          <a:p>
            <a:pPr marL="0" indent="0" algn="l">
              <a:buNone/>
            </a:pP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rtlCol="0"/>
          <a:lstStyle>
            <a:lvl1pPr marL="0" indent="0">
              <a:buNone/>
              <a:defRPr lang="en-US" sz="1000" dirty="0">
                <a:solidFill>
                  <a:schemeClr val="accent6"/>
                </a:solidFill>
              </a:defRPr>
            </a:lvl1pPr>
          </a:lstStyle>
          <a:p>
            <a:pPr marL="0" indent="0">
              <a:buNone/>
            </a:pP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MBATAS">
    <p:bg>
      <p:bgPr>
        <a:solidFill>
          <a:srgbClr val="13294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88920"/>
            <a:ext cx="694944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4069080"/>
            <a:ext cx="6583680" cy="109728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MPUL">
    <p:bg>
      <p:bgPr>
        <a:solidFill>
          <a:srgbClr val="1329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chart" Target="../charts/chart12.xml"/></Relationships>
</file>

<file path=ppt/slides/_rels/slide2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chart" Target="../charts/char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lustrasi kota mandiri" descr="/home/claude/deck2/img/cover.jpg"/>
          <p:cNvPicPr>
            <a:picLocks noChangeAspect="1"/>
          </p:cNvPicPr>
          <p:nvPr/>
        </p:nvPicPr>
        <p:blipFill>
          <a:blip r:embed="rId3"/>
          <a:stretch>
            <a:fillRect/>
          </a:stretch>
        </p:blipFill>
        <p:spPr>
          <a:xfrm>
            <a:off x="0" y="0"/>
            <a:ext cx="12191695" cy="6858000"/>
          </a:xfrm>
          <a:prstGeom prst="rect">
            <a:avLst/>
          </a:prstGeom>
        </p:spPr>
      </p:pic>
      <p:sp>
        <p:nvSpPr>
          <p:cNvPr id="3" name="panel judul"/>
          <p:cNvSpPr/>
          <p:nvPr/>
        </p:nvSpPr>
        <p:spPr>
          <a:xfrm>
            <a:off x="0" y="0"/>
            <a:ext cx="8138160" cy="6858000"/>
          </a:xfrm>
          <a:prstGeom prst="rect">
            <a:avLst/>
          </a:prstGeom>
          <a:solidFill>
            <a:srgbClr val="13294B">
              <a:alpha val="94000"/>
            </a:srgbClr>
          </a:solidFill>
          <a:ln/>
        </p:spPr>
        <p:txBody>
          <a:bodyPr/>
          <a:lstStyle/>
          <a:p>
            <a:endParaRPr lang="en-US"/>
          </a:p>
        </p:txBody>
      </p:sp>
      <p:sp>
        <p:nvSpPr>
          <p:cNvPr id="4" name="Text 1"/>
          <p:cNvSpPr txBox="1"/>
          <p:nvPr/>
        </p:nvSpPr>
        <p:spPr>
          <a:xfrm>
            <a:off x="731520" y="822960"/>
            <a:ext cx="694944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ESTATE MANAGEMENT · ANALISIS DATA TAGIHAN IPL</a:t>
            </a:r>
            <a:endParaRPr lang="en-US" sz="1300" dirty="0"/>
          </a:p>
        </p:txBody>
      </p:sp>
      <p:sp>
        <p:nvSpPr>
          <p:cNvPr id="5" name="Text 2"/>
          <p:cNvSpPr txBox="1"/>
          <p:nvPr/>
        </p:nvSpPr>
        <p:spPr>
          <a:xfrm>
            <a:off x="731520" y="1325880"/>
            <a:ext cx="6949440" cy="1783080"/>
          </a:xfrm>
          <a:prstGeom prst="rect">
            <a:avLst/>
          </a:prstGeom>
          <a:noFill/>
          <a:ln/>
        </p:spPr>
        <p:txBody>
          <a:bodyPr wrap="square" lIns="0" tIns="0" rIns="0" bIns="0" rtlCol="0" anchor="t"/>
          <a:lstStyle/>
          <a:p>
            <a:pPr marL="0" indent="0">
              <a:buNone/>
            </a:pPr>
            <a:r>
              <a:rPr lang="en-US" sz="3600" b="1" dirty="0">
                <a:solidFill>
                  <a:schemeClr val="bg1"/>
                </a:solidFill>
              </a:rPr>
              <a:t>Menyehatkan Cashflow Iuran Pemeliharaan Lingkungan (IPL) Sinarmas Land</a:t>
            </a:r>
            <a:endParaRPr lang="en-US" sz="3600" dirty="0"/>
          </a:p>
        </p:txBody>
      </p:sp>
      <p:sp>
        <p:nvSpPr>
          <p:cNvPr id="6" name="Text 3"/>
          <p:cNvSpPr txBox="1"/>
          <p:nvPr/>
        </p:nvSpPr>
        <p:spPr>
          <a:xfrm>
            <a:off x="731520" y="3200400"/>
            <a:ext cx="6766560" cy="822960"/>
          </a:xfrm>
          <a:prstGeom prst="rect">
            <a:avLst/>
          </a:prstGeom>
          <a:noFill/>
          <a:ln/>
        </p:spPr>
        <p:txBody>
          <a:bodyPr wrap="square" lIns="0" tIns="0" rIns="0" bIns="0" rtlCol="0" anchor="t"/>
          <a:lstStyle/>
          <a:p>
            <a:pPr marL="0" indent="0">
              <a:buNone/>
            </a:pPr>
            <a:r>
              <a:rPr lang="en-US" sz="2000" dirty="0">
                <a:solidFill>
                  <a:schemeClr val="accent2"/>
                </a:solidFill>
              </a:rPr>
              <a:t>Analisis Risiko NPI, Prioritas Collection, dan Strategi Pencegahan Tunggakan</a:t>
            </a:r>
            <a:endParaRPr lang="en-US" sz="2000" dirty="0"/>
          </a:p>
        </p:txBody>
      </p:sp>
      <p:sp>
        <p:nvSpPr>
          <p:cNvPr id="7" name="Text 4"/>
          <p:cNvSpPr txBox="1"/>
          <p:nvPr/>
        </p:nvSpPr>
        <p:spPr>
          <a:xfrm>
            <a:off x="731520" y="5074920"/>
            <a:ext cx="2194560" cy="274320"/>
          </a:xfrm>
          <a:prstGeom prst="rect">
            <a:avLst/>
          </a:prstGeom>
          <a:noFill/>
          <a:ln/>
        </p:spPr>
        <p:txBody>
          <a:bodyPr wrap="square" lIns="0" tIns="0" rIns="0" bIns="0" rtlCol="0" anchor="t"/>
          <a:lstStyle/>
          <a:p>
            <a:pPr marL="0" indent="0">
              <a:buNone/>
            </a:pPr>
            <a:r>
              <a:rPr lang="en-US" sz="1000" b="1" kern="0" spc="100" dirty="0">
                <a:solidFill>
                  <a:schemeClr val="accent2"/>
                </a:solidFill>
              </a:rPr>
              <a:t>DISUSUN OLEH</a:t>
            </a:r>
            <a:endParaRPr lang="en-US" sz="1000" dirty="0"/>
          </a:p>
        </p:txBody>
      </p:sp>
      <p:sp>
        <p:nvSpPr>
          <p:cNvPr id="8" name="Text 5"/>
          <p:cNvSpPr txBox="1"/>
          <p:nvPr/>
        </p:nvSpPr>
        <p:spPr>
          <a:xfrm>
            <a:off x="731520" y="5376672"/>
            <a:ext cx="2194560" cy="548640"/>
          </a:xfrm>
          <a:prstGeom prst="rect">
            <a:avLst/>
          </a:prstGeom>
          <a:noFill/>
          <a:ln/>
        </p:spPr>
        <p:txBody>
          <a:bodyPr wrap="square" lIns="0" tIns="0" rIns="0" bIns="0" rtlCol="0" anchor="t"/>
          <a:lstStyle/>
          <a:p>
            <a:pPr marL="0" indent="0">
              <a:buNone/>
            </a:pPr>
            <a:r>
              <a:rPr lang="en-US" sz="1300" dirty="0">
                <a:solidFill>
                  <a:schemeClr val="bg1"/>
                </a:solidFill>
              </a:rPr>
              <a:t>Astro Lihardo Aloysius</a:t>
            </a:r>
          </a:p>
          <a:p>
            <a:pPr marL="0" indent="0">
              <a:buNone/>
            </a:pPr>
            <a:r>
              <a:rPr lang="en-US" sz="1300" dirty="0">
                <a:solidFill>
                  <a:schemeClr val="bg1"/>
                </a:solidFill>
              </a:rPr>
              <a:t>Raffy Reyhan	 </a:t>
            </a:r>
            <a:endParaRPr lang="en-US" sz="1300" dirty="0"/>
          </a:p>
        </p:txBody>
      </p:sp>
      <p:sp>
        <p:nvSpPr>
          <p:cNvPr id="9" name="Text 6"/>
          <p:cNvSpPr txBox="1"/>
          <p:nvPr/>
        </p:nvSpPr>
        <p:spPr>
          <a:xfrm>
            <a:off x="3063240" y="5074920"/>
            <a:ext cx="2194560" cy="274320"/>
          </a:xfrm>
          <a:prstGeom prst="rect">
            <a:avLst/>
          </a:prstGeom>
          <a:noFill/>
          <a:ln/>
        </p:spPr>
        <p:txBody>
          <a:bodyPr wrap="square" lIns="0" tIns="0" rIns="0" bIns="0" rtlCol="0" anchor="t"/>
          <a:lstStyle/>
          <a:p>
            <a:pPr marL="0" indent="0">
              <a:buNone/>
            </a:pPr>
            <a:r>
              <a:rPr lang="en-US" sz="1000" b="1" kern="0" spc="100" dirty="0">
                <a:solidFill>
                  <a:schemeClr val="accent2"/>
                </a:solidFill>
              </a:rPr>
              <a:t>DATA</a:t>
            </a:r>
            <a:endParaRPr lang="en-US" sz="1000" dirty="0"/>
          </a:p>
        </p:txBody>
      </p:sp>
      <p:sp>
        <p:nvSpPr>
          <p:cNvPr id="10" name="Text 7"/>
          <p:cNvSpPr txBox="1"/>
          <p:nvPr/>
        </p:nvSpPr>
        <p:spPr>
          <a:xfrm>
            <a:off x="3063240" y="5376672"/>
            <a:ext cx="2194560" cy="548640"/>
          </a:xfrm>
          <a:prstGeom prst="rect">
            <a:avLst/>
          </a:prstGeom>
          <a:noFill/>
          <a:ln/>
        </p:spPr>
        <p:txBody>
          <a:bodyPr wrap="square" lIns="0" tIns="0" rIns="0" bIns="0" rtlCol="0" anchor="t"/>
          <a:lstStyle/>
          <a:p>
            <a:pPr marL="0" indent="0">
              <a:buNone/>
            </a:pPr>
            <a:r>
              <a:rPr lang="en-US" sz="1300" dirty="0">
                <a:solidFill>
                  <a:schemeClr val="bg1"/>
                </a:solidFill>
              </a:rPr>
              <a:t>Tagihan Jul 2022 – Des 2024</a:t>
            </a:r>
            <a:endParaRPr lang="en-US" sz="1300" dirty="0"/>
          </a:p>
        </p:txBody>
      </p:sp>
      <p:sp>
        <p:nvSpPr>
          <p:cNvPr id="11" name="Text 8"/>
          <p:cNvSpPr txBox="1"/>
          <p:nvPr/>
        </p:nvSpPr>
        <p:spPr>
          <a:xfrm>
            <a:off x="5394960" y="5074920"/>
            <a:ext cx="2194560" cy="274320"/>
          </a:xfrm>
          <a:prstGeom prst="rect">
            <a:avLst/>
          </a:prstGeom>
          <a:noFill/>
          <a:ln/>
        </p:spPr>
        <p:txBody>
          <a:bodyPr wrap="square" lIns="0" tIns="0" rIns="0" bIns="0" rtlCol="0" anchor="t"/>
          <a:lstStyle/>
          <a:p>
            <a:pPr marL="0" indent="0">
              <a:buNone/>
            </a:pPr>
            <a:r>
              <a:rPr lang="en-US" sz="1000" b="1" kern="0" spc="100" dirty="0">
                <a:solidFill>
                  <a:schemeClr val="accent2"/>
                </a:solidFill>
              </a:rPr>
              <a:t>UNTUK</a:t>
            </a:r>
            <a:endParaRPr lang="en-US" sz="1000" dirty="0"/>
          </a:p>
        </p:txBody>
      </p:sp>
      <p:sp>
        <p:nvSpPr>
          <p:cNvPr id="12" name="Text 9"/>
          <p:cNvSpPr txBox="1"/>
          <p:nvPr/>
        </p:nvSpPr>
        <p:spPr>
          <a:xfrm>
            <a:off x="5394960" y="5376672"/>
            <a:ext cx="2194560" cy="548640"/>
          </a:xfrm>
          <a:prstGeom prst="rect">
            <a:avLst/>
          </a:prstGeom>
          <a:noFill/>
          <a:ln/>
        </p:spPr>
        <p:txBody>
          <a:bodyPr wrap="square" lIns="0" tIns="0" rIns="0" bIns="0" rtlCol="0" anchor="t"/>
          <a:lstStyle/>
          <a:p>
            <a:pPr marL="0" indent="0">
              <a:buNone/>
            </a:pPr>
            <a:r>
              <a:rPr lang="en-US" sz="1300" dirty="0">
                <a:solidFill>
                  <a:schemeClr val="bg1"/>
                </a:solidFill>
              </a:rPr>
              <a:t>Head of Township Management &amp; tim terkait</a:t>
            </a:r>
            <a:endParaRPr lang="en-US" sz="1300" dirty="0"/>
          </a:p>
        </p:txBody>
      </p:sp>
      <p:sp>
        <p:nvSpPr>
          <p:cNvPr id="13" name="Text 10"/>
          <p:cNvSpPr txBox="1"/>
          <p:nvPr/>
        </p:nvSpPr>
        <p:spPr>
          <a:xfrm>
            <a:off x="8412480" y="6446520"/>
            <a:ext cx="3474720" cy="274320"/>
          </a:xfrm>
          <a:prstGeom prst="rect">
            <a:avLst/>
          </a:prstGeom>
          <a:noFill/>
          <a:ln/>
        </p:spPr>
        <p:txBody>
          <a:bodyPr wrap="square" lIns="0" tIns="0" rIns="0" bIns="0" rtlCol="0" anchor="t"/>
          <a:lstStyle/>
          <a:p>
            <a:pPr marL="0" indent="0" algn="r">
              <a:buNone/>
            </a:pPr>
            <a:r>
              <a:rPr lang="en-US" sz="1000" dirty="0">
                <a:solidFill>
                  <a:srgbClr val="C9D3E0"/>
                </a:solidFill>
              </a:rPr>
              <a:t>Ilustrasi kawasan terencana, bukan foto lokasi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AGENDA</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Alur presentasi: </a:t>
            </a:r>
            <a:r>
              <a:rPr lang="en-US" dirty="0" err="1"/>
              <a:t>M</a:t>
            </a:r>
            <a:r>
              <a:rPr lang="en-US" sz="2600" b="1" dirty="0" err="1">
                <a:solidFill>
                  <a:schemeClr val="tx2"/>
                </a:solidFill>
              </a:rPr>
              <a:t>asalah</a:t>
            </a:r>
            <a:r>
              <a:rPr lang="en-US" sz="2600" b="1" dirty="0">
                <a:solidFill>
                  <a:schemeClr val="tx2"/>
                </a:solidFill>
              </a:rPr>
              <a:t> -&gt; </a:t>
            </a:r>
            <a:r>
              <a:rPr lang="en-US" sz="2600" b="1" dirty="0" err="1">
                <a:solidFill>
                  <a:schemeClr val="tx2"/>
                </a:solidFill>
              </a:rPr>
              <a:t>keputusan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 </a:t>
            </a:r>
            <a:endParaRPr lang="en-US" sz="1000" dirty="0"/>
          </a:p>
        </p:txBody>
      </p:sp>
      <p:sp>
        <p:nvSpPr>
          <p:cNvPr id="5" name="pemisah agenda"/>
          <p:cNvSpPr/>
          <p:nvPr/>
        </p:nvSpPr>
        <p:spPr>
          <a:xfrm>
            <a:off x="548640" y="2240280"/>
            <a:ext cx="11064240" cy="0"/>
          </a:xfrm>
          <a:prstGeom prst="line">
            <a:avLst/>
          </a:prstGeom>
          <a:noFill/>
          <a:ln w="9525">
            <a:solidFill>
              <a:srgbClr val="DCE1E8"/>
            </a:solidFill>
            <a:prstDash val="solid"/>
          </a:ln>
        </p:spPr>
        <p:txBody>
          <a:bodyPr/>
          <a:lstStyle/>
          <a:p>
            <a:endParaRPr lang="en-US"/>
          </a:p>
        </p:txBody>
      </p:sp>
      <p:sp>
        <p:nvSpPr>
          <p:cNvPr id="6" name="Text 4"/>
          <p:cNvSpPr txBox="1"/>
          <p:nvPr/>
        </p:nvSpPr>
        <p:spPr>
          <a:xfrm>
            <a:off x="548640" y="1691640"/>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01</a:t>
            </a:r>
            <a:endParaRPr lang="en-US" sz="2200" dirty="0"/>
          </a:p>
        </p:txBody>
      </p:sp>
      <p:sp>
        <p:nvSpPr>
          <p:cNvPr id="7" name="Text 5"/>
          <p:cNvSpPr txBox="1"/>
          <p:nvPr/>
        </p:nvSpPr>
        <p:spPr>
          <a:xfrm>
            <a:off x="1463040" y="1691640"/>
            <a:ext cx="4572000" cy="457200"/>
          </a:xfrm>
          <a:prstGeom prst="rect">
            <a:avLst/>
          </a:prstGeom>
          <a:noFill/>
          <a:ln/>
        </p:spPr>
        <p:txBody>
          <a:bodyPr wrap="square" lIns="0" tIns="0" rIns="0" bIns="0" rtlCol="0" anchor="ctr"/>
          <a:lstStyle/>
          <a:p>
            <a:pPr marL="0" indent="0">
              <a:buNone/>
            </a:pPr>
            <a:r>
              <a:rPr lang="en-US" sz="1700" b="1" dirty="0">
                <a:solidFill>
                  <a:schemeClr val="tx2"/>
                </a:solidFill>
              </a:rPr>
              <a:t>Konteks &amp; masalah bisnis</a:t>
            </a:r>
            <a:endParaRPr lang="en-US" sz="1700" dirty="0"/>
          </a:p>
        </p:txBody>
      </p:sp>
      <p:sp>
        <p:nvSpPr>
          <p:cNvPr id="8" name="Text 6"/>
          <p:cNvSpPr txBox="1"/>
          <p:nvPr/>
        </p:nvSpPr>
        <p:spPr>
          <a:xfrm>
            <a:off x="6217920" y="1691640"/>
            <a:ext cx="5394960" cy="457200"/>
          </a:xfrm>
          <a:prstGeom prst="rect">
            <a:avLst/>
          </a:prstGeom>
          <a:noFill/>
          <a:ln/>
        </p:spPr>
        <p:txBody>
          <a:bodyPr wrap="square" lIns="0" tIns="0" rIns="0" bIns="0" rtlCol="0" anchor="ctr"/>
          <a:lstStyle/>
          <a:p>
            <a:pPr marL="0" indent="0">
              <a:buNone/>
            </a:pPr>
            <a:r>
              <a:rPr lang="en-US" sz="1400" dirty="0">
                <a:solidFill>
                  <a:schemeClr val="accent6"/>
                </a:solidFill>
              </a:rPr>
              <a:t>Peran IPL, risiko cashflow, dan problem statement</a:t>
            </a:r>
            <a:endParaRPr lang="en-US" sz="1400" dirty="0"/>
          </a:p>
        </p:txBody>
      </p:sp>
      <p:sp>
        <p:nvSpPr>
          <p:cNvPr id="9" name="pemisah agenda"/>
          <p:cNvSpPr/>
          <p:nvPr/>
        </p:nvSpPr>
        <p:spPr>
          <a:xfrm>
            <a:off x="548640" y="2852928"/>
            <a:ext cx="11064240" cy="0"/>
          </a:xfrm>
          <a:prstGeom prst="line">
            <a:avLst/>
          </a:prstGeom>
          <a:noFill/>
          <a:ln w="9525">
            <a:solidFill>
              <a:srgbClr val="DCE1E8"/>
            </a:solidFill>
            <a:prstDash val="solid"/>
          </a:ln>
        </p:spPr>
        <p:txBody>
          <a:bodyPr/>
          <a:lstStyle/>
          <a:p>
            <a:endParaRPr lang="en-US"/>
          </a:p>
        </p:txBody>
      </p:sp>
      <p:sp>
        <p:nvSpPr>
          <p:cNvPr id="10" name="Text 8"/>
          <p:cNvSpPr txBox="1"/>
          <p:nvPr/>
        </p:nvSpPr>
        <p:spPr>
          <a:xfrm>
            <a:off x="548640" y="2304288"/>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02</a:t>
            </a:r>
            <a:endParaRPr lang="en-US" sz="2200" dirty="0"/>
          </a:p>
        </p:txBody>
      </p:sp>
      <p:sp>
        <p:nvSpPr>
          <p:cNvPr id="11" name="Text 9"/>
          <p:cNvSpPr txBox="1"/>
          <p:nvPr/>
        </p:nvSpPr>
        <p:spPr>
          <a:xfrm>
            <a:off x="1463040" y="2304288"/>
            <a:ext cx="4572000" cy="457200"/>
          </a:xfrm>
          <a:prstGeom prst="rect">
            <a:avLst/>
          </a:prstGeom>
          <a:noFill/>
          <a:ln/>
        </p:spPr>
        <p:txBody>
          <a:bodyPr wrap="square" lIns="0" tIns="0" rIns="0" bIns="0" rtlCol="0" anchor="ctr"/>
          <a:lstStyle/>
          <a:p>
            <a:pPr marL="0" indent="0">
              <a:buNone/>
            </a:pPr>
            <a:r>
              <a:rPr lang="en-US" sz="1700" b="1" dirty="0">
                <a:solidFill>
                  <a:schemeClr val="tx2"/>
                </a:solidFill>
              </a:rPr>
              <a:t>Data, metodologi &amp; kualitas data</a:t>
            </a:r>
            <a:endParaRPr lang="en-US" sz="1700" dirty="0"/>
          </a:p>
        </p:txBody>
      </p:sp>
      <p:sp>
        <p:nvSpPr>
          <p:cNvPr id="12" name="Text 10"/>
          <p:cNvSpPr txBox="1"/>
          <p:nvPr/>
        </p:nvSpPr>
        <p:spPr>
          <a:xfrm>
            <a:off x="6217920" y="2304288"/>
            <a:ext cx="5394960" cy="457200"/>
          </a:xfrm>
          <a:prstGeom prst="rect">
            <a:avLst/>
          </a:prstGeom>
          <a:noFill/>
          <a:ln/>
        </p:spPr>
        <p:txBody>
          <a:bodyPr wrap="square" lIns="0" tIns="0" rIns="0" bIns="0" rtlCol="0" anchor="ctr"/>
          <a:lstStyle/>
          <a:p>
            <a:pPr marL="0" indent="0">
              <a:buNone/>
            </a:pPr>
            <a:r>
              <a:rPr lang="en-US" sz="1400" dirty="0">
                <a:solidFill>
                  <a:schemeClr val="accent6"/>
                </a:solidFill>
              </a:rPr>
              <a:t>Cakupan data, unit analisis, dan temuan kualitas data</a:t>
            </a:r>
            <a:endParaRPr lang="en-US" sz="1400" dirty="0"/>
          </a:p>
        </p:txBody>
      </p:sp>
      <p:sp>
        <p:nvSpPr>
          <p:cNvPr id="13" name="pemisah agenda"/>
          <p:cNvSpPr/>
          <p:nvPr/>
        </p:nvSpPr>
        <p:spPr>
          <a:xfrm>
            <a:off x="548640" y="3465576"/>
            <a:ext cx="11064240" cy="0"/>
          </a:xfrm>
          <a:prstGeom prst="line">
            <a:avLst/>
          </a:prstGeom>
          <a:noFill/>
          <a:ln w="9525">
            <a:solidFill>
              <a:srgbClr val="DCE1E8"/>
            </a:solidFill>
            <a:prstDash val="solid"/>
          </a:ln>
        </p:spPr>
        <p:txBody>
          <a:bodyPr/>
          <a:lstStyle/>
          <a:p>
            <a:endParaRPr lang="en-US"/>
          </a:p>
        </p:txBody>
      </p:sp>
      <p:sp>
        <p:nvSpPr>
          <p:cNvPr id="14" name="Text 12"/>
          <p:cNvSpPr txBox="1"/>
          <p:nvPr/>
        </p:nvSpPr>
        <p:spPr>
          <a:xfrm>
            <a:off x="548640" y="2916936"/>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03</a:t>
            </a:r>
            <a:endParaRPr lang="en-US" sz="2200" dirty="0"/>
          </a:p>
        </p:txBody>
      </p:sp>
      <p:sp>
        <p:nvSpPr>
          <p:cNvPr id="15" name="Text 13"/>
          <p:cNvSpPr txBox="1"/>
          <p:nvPr/>
        </p:nvSpPr>
        <p:spPr>
          <a:xfrm>
            <a:off x="1463040" y="2916936"/>
            <a:ext cx="4572000" cy="457200"/>
          </a:xfrm>
          <a:prstGeom prst="rect">
            <a:avLst/>
          </a:prstGeom>
          <a:noFill/>
          <a:ln/>
        </p:spPr>
        <p:txBody>
          <a:bodyPr wrap="square" lIns="0" tIns="0" rIns="0" bIns="0" rtlCol="0" anchor="ctr"/>
          <a:lstStyle/>
          <a:p>
            <a:pPr marL="0" indent="0">
              <a:buNone/>
            </a:pPr>
            <a:r>
              <a:rPr lang="en-US" sz="1700" b="1" dirty="0">
                <a:solidFill>
                  <a:schemeClr val="tx2"/>
                </a:solidFill>
              </a:rPr>
              <a:t>Besar masalah NPI</a:t>
            </a:r>
            <a:endParaRPr lang="en-US" sz="1700" dirty="0"/>
          </a:p>
        </p:txBody>
      </p:sp>
      <p:sp>
        <p:nvSpPr>
          <p:cNvPr id="16" name="Text 14"/>
          <p:cNvSpPr txBox="1"/>
          <p:nvPr/>
        </p:nvSpPr>
        <p:spPr>
          <a:xfrm>
            <a:off x="6217920" y="2916936"/>
            <a:ext cx="5394960" cy="457200"/>
          </a:xfrm>
          <a:prstGeom prst="rect">
            <a:avLst/>
          </a:prstGeom>
          <a:noFill/>
          <a:ln/>
        </p:spPr>
        <p:txBody>
          <a:bodyPr wrap="square" lIns="0" tIns="0" rIns="0" bIns="0" rtlCol="0" anchor="ctr"/>
          <a:lstStyle/>
          <a:p>
            <a:pPr marL="0" indent="0">
              <a:buNone/>
            </a:pPr>
            <a:r>
              <a:rPr lang="en-US" sz="1400" dirty="0">
                <a:solidFill>
                  <a:schemeClr val="accent6"/>
                </a:solidFill>
              </a:rPr>
              <a:t>Baseline jumlah dan nominal, pola per cohort</a:t>
            </a:r>
            <a:endParaRPr lang="en-US" sz="1400" dirty="0"/>
          </a:p>
        </p:txBody>
      </p:sp>
      <p:sp>
        <p:nvSpPr>
          <p:cNvPr id="17" name="pemisah agenda"/>
          <p:cNvSpPr/>
          <p:nvPr/>
        </p:nvSpPr>
        <p:spPr>
          <a:xfrm>
            <a:off x="548640" y="4078224"/>
            <a:ext cx="11064240" cy="0"/>
          </a:xfrm>
          <a:prstGeom prst="line">
            <a:avLst/>
          </a:prstGeom>
          <a:noFill/>
          <a:ln w="9525">
            <a:solidFill>
              <a:srgbClr val="DCE1E8"/>
            </a:solidFill>
            <a:prstDash val="solid"/>
          </a:ln>
        </p:spPr>
        <p:txBody>
          <a:bodyPr/>
          <a:lstStyle/>
          <a:p>
            <a:endParaRPr lang="en-US"/>
          </a:p>
        </p:txBody>
      </p:sp>
      <p:sp>
        <p:nvSpPr>
          <p:cNvPr id="18" name="Text 16"/>
          <p:cNvSpPr txBox="1"/>
          <p:nvPr/>
        </p:nvSpPr>
        <p:spPr>
          <a:xfrm>
            <a:off x="548640" y="3529584"/>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04</a:t>
            </a:r>
            <a:endParaRPr lang="en-US" sz="2200" dirty="0"/>
          </a:p>
        </p:txBody>
      </p:sp>
      <p:sp>
        <p:nvSpPr>
          <p:cNvPr id="19" name="Text 17"/>
          <p:cNvSpPr txBox="1"/>
          <p:nvPr/>
        </p:nvSpPr>
        <p:spPr>
          <a:xfrm>
            <a:off x="1463040" y="3529584"/>
            <a:ext cx="4572000" cy="457200"/>
          </a:xfrm>
          <a:prstGeom prst="rect">
            <a:avLst/>
          </a:prstGeom>
          <a:noFill/>
          <a:ln/>
        </p:spPr>
        <p:txBody>
          <a:bodyPr wrap="square" lIns="0" tIns="0" rIns="0" bIns="0" rtlCol="0" anchor="ctr"/>
          <a:lstStyle/>
          <a:p>
            <a:pPr marL="0" indent="0">
              <a:buNone/>
            </a:pPr>
            <a:r>
              <a:rPr lang="en-US" sz="1700" b="1" dirty="0">
                <a:solidFill>
                  <a:schemeClr val="tx2"/>
                </a:solidFill>
              </a:rPr>
              <a:t>Faktor risiko tunggakan</a:t>
            </a:r>
            <a:endParaRPr lang="en-US" sz="1700" dirty="0"/>
          </a:p>
        </p:txBody>
      </p:sp>
      <p:sp>
        <p:nvSpPr>
          <p:cNvPr id="20" name="Text 18"/>
          <p:cNvSpPr txBox="1"/>
          <p:nvPr/>
        </p:nvSpPr>
        <p:spPr>
          <a:xfrm>
            <a:off x="6217920" y="3529584"/>
            <a:ext cx="5394960" cy="457200"/>
          </a:xfrm>
          <a:prstGeom prst="rect">
            <a:avLst/>
          </a:prstGeom>
          <a:noFill/>
          <a:ln/>
        </p:spPr>
        <p:txBody>
          <a:bodyPr wrap="square" lIns="0" tIns="0" rIns="0" bIns="0" rtlCol="0" anchor="ctr"/>
          <a:lstStyle/>
          <a:p>
            <a:pPr marL="0" indent="0">
              <a:buNone/>
            </a:pPr>
            <a:r>
              <a:rPr lang="en-US" sz="1400" dirty="0">
                <a:solidFill>
                  <a:schemeClr val="accent6"/>
                </a:solidFill>
              </a:rPr>
              <a:t>Hasil uji hipotesis, pengendalian faktor, risiko vs nominal</a:t>
            </a:r>
            <a:endParaRPr lang="en-US" sz="1400" dirty="0"/>
          </a:p>
        </p:txBody>
      </p:sp>
      <p:sp>
        <p:nvSpPr>
          <p:cNvPr id="21" name="pemisah agenda"/>
          <p:cNvSpPr/>
          <p:nvPr/>
        </p:nvSpPr>
        <p:spPr>
          <a:xfrm>
            <a:off x="548640" y="4690872"/>
            <a:ext cx="11064240" cy="0"/>
          </a:xfrm>
          <a:prstGeom prst="line">
            <a:avLst/>
          </a:prstGeom>
          <a:noFill/>
          <a:ln w="9525">
            <a:solidFill>
              <a:srgbClr val="DCE1E8"/>
            </a:solidFill>
            <a:prstDash val="solid"/>
          </a:ln>
        </p:spPr>
        <p:txBody>
          <a:bodyPr/>
          <a:lstStyle/>
          <a:p>
            <a:endParaRPr lang="en-US"/>
          </a:p>
        </p:txBody>
      </p:sp>
      <p:sp>
        <p:nvSpPr>
          <p:cNvPr id="22" name="Text 20"/>
          <p:cNvSpPr txBox="1"/>
          <p:nvPr/>
        </p:nvSpPr>
        <p:spPr>
          <a:xfrm>
            <a:off x="548640" y="4142232"/>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05</a:t>
            </a:r>
            <a:endParaRPr lang="en-US" sz="2200" dirty="0"/>
          </a:p>
        </p:txBody>
      </p:sp>
      <p:sp>
        <p:nvSpPr>
          <p:cNvPr id="23" name="Text 21"/>
          <p:cNvSpPr txBox="1"/>
          <p:nvPr/>
        </p:nvSpPr>
        <p:spPr>
          <a:xfrm>
            <a:off x="1463040" y="4142232"/>
            <a:ext cx="4572000" cy="457200"/>
          </a:xfrm>
          <a:prstGeom prst="rect">
            <a:avLst/>
          </a:prstGeom>
          <a:noFill/>
          <a:ln/>
        </p:spPr>
        <p:txBody>
          <a:bodyPr wrap="square" lIns="0" tIns="0" rIns="0" bIns="0" rtlCol="0" anchor="ctr"/>
          <a:lstStyle/>
          <a:p>
            <a:pPr marL="0" indent="0">
              <a:buNone/>
            </a:pPr>
            <a:r>
              <a:rPr lang="en-US" sz="1700" b="1" dirty="0">
                <a:solidFill>
                  <a:schemeClr val="tx2"/>
                </a:solidFill>
              </a:rPr>
              <a:t>Aging &amp; prioritas Collection</a:t>
            </a:r>
            <a:endParaRPr lang="en-US" sz="1700" dirty="0"/>
          </a:p>
        </p:txBody>
      </p:sp>
      <p:sp>
        <p:nvSpPr>
          <p:cNvPr id="24" name="Text 22"/>
          <p:cNvSpPr txBox="1"/>
          <p:nvPr/>
        </p:nvSpPr>
        <p:spPr>
          <a:xfrm>
            <a:off x="6217920" y="4142232"/>
            <a:ext cx="5394960" cy="457200"/>
          </a:xfrm>
          <a:prstGeom prst="rect">
            <a:avLst/>
          </a:prstGeom>
          <a:noFill/>
          <a:ln/>
        </p:spPr>
        <p:txBody>
          <a:bodyPr wrap="square" lIns="0" tIns="0" rIns="0" bIns="0" rtlCol="0" anchor="ctr"/>
          <a:lstStyle/>
          <a:p>
            <a:pPr marL="0" indent="0">
              <a:buNone/>
            </a:pPr>
            <a:r>
              <a:rPr lang="en-US" sz="1400" dirty="0">
                <a:solidFill>
                  <a:schemeClr val="accent6"/>
                </a:solidFill>
              </a:rPr>
              <a:t>Umur tunggakan, daftar kerja unit, rekonsiliasi Finance</a:t>
            </a:r>
            <a:endParaRPr lang="en-US" sz="1400" dirty="0"/>
          </a:p>
        </p:txBody>
      </p:sp>
      <p:sp>
        <p:nvSpPr>
          <p:cNvPr id="25" name="pemisah agenda"/>
          <p:cNvSpPr/>
          <p:nvPr/>
        </p:nvSpPr>
        <p:spPr>
          <a:xfrm>
            <a:off x="548640" y="5303520"/>
            <a:ext cx="11064240" cy="0"/>
          </a:xfrm>
          <a:prstGeom prst="line">
            <a:avLst/>
          </a:prstGeom>
          <a:noFill/>
          <a:ln w="9525">
            <a:solidFill>
              <a:srgbClr val="DCE1E8"/>
            </a:solidFill>
            <a:prstDash val="solid"/>
          </a:ln>
        </p:spPr>
        <p:txBody>
          <a:bodyPr/>
          <a:lstStyle/>
          <a:p>
            <a:endParaRPr lang="en-US"/>
          </a:p>
        </p:txBody>
      </p:sp>
      <p:sp>
        <p:nvSpPr>
          <p:cNvPr id="26" name="Text 24"/>
          <p:cNvSpPr txBox="1"/>
          <p:nvPr/>
        </p:nvSpPr>
        <p:spPr>
          <a:xfrm>
            <a:off x="548640" y="4754880"/>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06</a:t>
            </a:r>
            <a:endParaRPr lang="en-US" sz="2200" dirty="0"/>
          </a:p>
        </p:txBody>
      </p:sp>
      <p:sp>
        <p:nvSpPr>
          <p:cNvPr id="27" name="Text 25"/>
          <p:cNvSpPr txBox="1"/>
          <p:nvPr/>
        </p:nvSpPr>
        <p:spPr>
          <a:xfrm>
            <a:off x="1463040" y="4754880"/>
            <a:ext cx="4572000" cy="457200"/>
          </a:xfrm>
          <a:prstGeom prst="rect">
            <a:avLst/>
          </a:prstGeom>
          <a:noFill/>
          <a:ln/>
        </p:spPr>
        <p:txBody>
          <a:bodyPr wrap="square" lIns="0" tIns="0" rIns="0" bIns="0" rtlCol="0" anchor="ctr"/>
          <a:lstStyle/>
          <a:p>
            <a:pPr marL="0" indent="0">
              <a:buNone/>
            </a:pPr>
            <a:r>
              <a:rPr lang="en-US" sz="1700" b="1" dirty="0">
                <a:solidFill>
                  <a:schemeClr val="tx2"/>
                </a:solidFill>
              </a:rPr>
              <a:t>Simulasi intervensi</a:t>
            </a:r>
            <a:endParaRPr lang="en-US" sz="1700" dirty="0"/>
          </a:p>
        </p:txBody>
      </p:sp>
      <p:sp>
        <p:nvSpPr>
          <p:cNvPr id="28" name="Text 26"/>
          <p:cNvSpPr txBox="1"/>
          <p:nvPr/>
        </p:nvSpPr>
        <p:spPr>
          <a:xfrm>
            <a:off x="6217920" y="4754880"/>
            <a:ext cx="5394960" cy="457200"/>
          </a:xfrm>
          <a:prstGeom prst="rect">
            <a:avLst/>
          </a:prstGeom>
          <a:noFill/>
          <a:ln/>
        </p:spPr>
        <p:txBody>
          <a:bodyPr wrap="square" lIns="0" tIns="0" rIns="0" bIns="0" rtlCol="0" anchor="ctr"/>
          <a:lstStyle/>
          <a:p>
            <a:pPr marL="0" indent="0">
              <a:buNone/>
            </a:pPr>
            <a:r>
              <a:rPr lang="en-US" sz="1400" dirty="0">
                <a:solidFill>
                  <a:schemeClr val="accent6"/>
                </a:solidFill>
              </a:rPr>
              <a:t>Skenario autodebit dan batas estimasinya</a:t>
            </a:r>
            <a:endParaRPr lang="en-US" sz="1400" dirty="0"/>
          </a:p>
        </p:txBody>
      </p:sp>
      <p:sp>
        <p:nvSpPr>
          <p:cNvPr id="29" name="pemisah agenda"/>
          <p:cNvSpPr/>
          <p:nvPr/>
        </p:nvSpPr>
        <p:spPr>
          <a:xfrm>
            <a:off x="548640" y="5916168"/>
            <a:ext cx="11064240" cy="0"/>
          </a:xfrm>
          <a:prstGeom prst="line">
            <a:avLst/>
          </a:prstGeom>
          <a:noFill/>
          <a:ln w="9525">
            <a:solidFill>
              <a:srgbClr val="DCE1E8"/>
            </a:solidFill>
            <a:prstDash val="solid"/>
          </a:ln>
        </p:spPr>
        <p:txBody>
          <a:bodyPr/>
          <a:lstStyle/>
          <a:p>
            <a:endParaRPr lang="en-US"/>
          </a:p>
        </p:txBody>
      </p:sp>
      <p:sp>
        <p:nvSpPr>
          <p:cNvPr id="30" name="Text 28"/>
          <p:cNvSpPr txBox="1"/>
          <p:nvPr/>
        </p:nvSpPr>
        <p:spPr>
          <a:xfrm>
            <a:off x="548640" y="5367528"/>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07</a:t>
            </a:r>
            <a:endParaRPr lang="en-US" sz="2200" dirty="0"/>
          </a:p>
        </p:txBody>
      </p:sp>
      <p:sp>
        <p:nvSpPr>
          <p:cNvPr id="31" name="Text 29"/>
          <p:cNvSpPr txBox="1"/>
          <p:nvPr/>
        </p:nvSpPr>
        <p:spPr>
          <a:xfrm>
            <a:off x="1463040" y="5367528"/>
            <a:ext cx="4572000" cy="457200"/>
          </a:xfrm>
          <a:prstGeom prst="rect">
            <a:avLst/>
          </a:prstGeom>
          <a:noFill/>
          <a:ln/>
        </p:spPr>
        <p:txBody>
          <a:bodyPr wrap="square" lIns="0" tIns="0" rIns="0" bIns="0" rtlCol="0" anchor="ctr"/>
          <a:lstStyle/>
          <a:p>
            <a:pPr marL="0" indent="0">
              <a:buNone/>
            </a:pPr>
            <a:r>
              <a:rPr lang="en-US" sz="1700" b="1" dirty="0">
                <a:solidFill>
                  <a:schemeClr val="tx2"/>
                </a:solidFill>
              </a:rPr>
              <a:t>Rekomendasi, roadmap &amp; keputusan</a:t>
            </a:r>
            <a:endParaRPr lang="en-US" sz="1700" dirty="0"/>
          </a:p>
        </p:txBody>
      </p:sp>
      <p:sp>
        <p:nvSpPr>
          <p:cNvPr id="32" name="Text 30"/>
          <p:cNvSpPr txBox="1"/>
          <p:nvPr/>
        </p:nvSpPr>
        <p:spPr>
          <a:xfrm>
            <a:off x="6217920" y="5367528"/>
            <a:ext cx="5394960" cy="457200"/>
          </a:xfrm>
          <a:prstGeom prst="rect">
            <a:avLst/>
          </a:prstGeom>
          <a:noFill/>
          <a:ln/>
        </p:spPr>
        <p:txBody>
          <a:bodyPr wrap="square" lIns="0" tIns="0" rIns="0" bIns="0" rtlCol="0" anchor="ctr"/>
          <a:lstStyle/>
          <a:p>
            <a:pPr marL="0" indent="0">
              <a:buNone/>
            </a:pPr>
            <a:r>
              <a:rPr lang="en-US" sz="1400" dirty="0">
                <a:solidFill>
                  <a:schemeClr val="accent6"/>
                </a:solidFill>
              </a:rPr>
              <a:t>Peran stakeholder, KPI, dan keputusan manajemen</a:t>
            </a:r>
            <a:endParaRPr lang="en-US" sz="1400" dirty="0"/>
          </a:p>
        </p:txBody>
      </p:sp>
      <p:sp>
        <p:nvSpPr>
          <p:cNvPr id="33"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EXECUTIVE SUMMARY</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Lebih dari sepertiga invoice belum terbayar; autodebit adalah tuas pencegahan yang paling layak diuji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penanda 1"/>
          <p:cNvSpPr txBox="1"/>
          <p:nvPr/>
        </p:nvSpPr>
        <p:spPr>
          <a:xfrm>
            <a:off x="548640" y="1755648"/>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 4"/>
          <p:cNvSpPr txBox="1"/>
          <p:nvPr/>
        </p:nvSpPr>
        <p:spPr>
          <a:xfrm>
            <a:off x="1097280" y="1645920"/>
            <a:ext cx="210312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MASALAH</a:t>
            </a:r>
            <a:endParaRPr lang="en-US" sz="1100" dirty="0"/>
          </a:p>
        </p:txBody>
      </p:sp>
      <p:sp>
        <p:nvSpPr>
          <p:cNvPr id="7" name="Text 5"/>
          <p:cNvSpPr txBox="1"/>
          <p:nvPr/>
        </p:nvSpPr>
        <p:spPr>
          <a:xfrm>
            <a:off x="1097280" y="1920240"/>
            <a:ext cx="2377440" cy="594360"/>
          </a:xfrm>
          <a:prstGeom prst="rect">
            <a:avLst/>
          </a:prstGeom>
          <a:noFill/>
          <a:ln/>
        </p:spPr>
        <p:txBody>
          <a:bodyPr wrap="square" lIns="0" tIns="0" rIns="0" bIns="0" rtlCol="0" anchor="ctr">
            <a:normAutofit/>
          </a:bodyPr>
          <a:lstStyle/>
          <a:p>
            <a:pPr marL="0" indent="0">
              <a:buNone/>
            </a:pPr>
            <a:r>
              <a:rPr lang="en-US" sz="2400" b="1" dirty="0">
                <a:solidFill>
                  <a:schemeClr val="tx2"/>
                </a:solidFill>
              </a:rPr>
              <a:t>35,44%</a:t>
            </a:r>
            <a:endParaRPr lang="en-US" sz="2400" dirty="0"/>
          </a:p>
        </p:txBody>
      </p:sp>
      <p:sp>
        <p:nvSpPr>
          <p:cNvPr id="8" name="Text 6"/>
          <p:cNvSpPr txBox="1"/>
          <p:nvPr/>
        </p:nvSpPr>
        <p:spPr>
          <a:xfrm>
            <a:off x="3611880" y="1691640"/>
            <a:ext cx="4343400" cy="960120"/>
          </a:xfrm>
          <a:prstGeom prst="rect">
            <a:avLst/>
          </a:prstGeom>
          <a:noFill/>
          <a:ln/>
        </p:spPr>
        <p:txBody>
          <a:bodyPr wrap="square" lIns="0" tIns="0" rIns="0" bIns="0" rtlCol="0" anchor="ctr"/>
          <a:lstStyle/>
          <a:p>
            <a:pPr marL="0" indent="0">
              <a:buNone/>
            </a:pPr>
            <a:r>
              <a:rPr lang="en-US" sz="1300" dirty="0">
                <a:solidFill>
                  <a:schemeClr val="tx1"/>
                </a:solidFill>
              </a:rPr>
              <a:t>invoice utama berstatus Unpaid/Overdue (272.545 dari 768.978); nominal NPI bruto Rp224,64 miliar, nominal analisis Rp176,34 miliar.</a:t>
            </a:r>
            <a:endParaRPr lang="en-US" sz="1300" dirty="0"/>
          </a:p>
        </p:txBody>
      </p:sp>
      <p:sp>
        <p:nvSpPr>
          <p:cNvPr id="9" name="pemisah"/>
          <p:cNvSpPr/>
          <p:nvPr/>
        </p:nvSpPr>
        <p:spPr>
          <a:xfrm>
            <a:off x="1097280" y="2651760"/>
            <a:ext cx="6858000" cy="0"/>
          </a:xfrm>
          <a:prstGeom prst="line">
            <a:avLst/>
          </a:prstGeom>
          <a:noFill/>
          <a:ln w="9525">
            <a:solidFill>
              <a:srgbClr val="DCE1E8"/>
            </a:solidFill>
            <a:prstDash val="solid"/>
          </a:ln>
        </p:spPr>
        <p:txBody>
          <a:bodyPr/>
          <a:lstStyle/>
          <a:p>
            <a:endParaRPr lang="en-US"/>
          </a:p>
        </p:txBody>
      </p:sp>
      <p:sp>
        <p:nvSpPr>
          <p:cNvPr id="10" name="penanda 2"/>
          <p:cNvSpPr txBox="1"/>
          <p:nvPr/>
        </p:nvSpPr>
        <p:spPr>
          <a:xfrm>
            <a:off x="548640" y="2871216"/>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1" name="Text 9"/>
          <p:cNvSpPr txBox="1"/>
          <p:nvPr/>
        </p:nvSpPr>
        <p:spPr>
          <a:xfrm>
            <a:off x="1097280" y="2761488"/>
            <a:ext cx="210312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TEMUAN UTAMA</a:t>
            </a:r>
            <a:endParaRPr lang="en-US" sz="1100" dirty="0"/>
          </a:p>
        </p:txBody>
      </p:sp>
      <p:sp>
        <p:nvSpPr>
          <p:cNvPr id="12" name="Text 10"/>
          <p:cNvSpPr txBox="1"/>
          <p:nvPr/>
        </p:nvSpPr>
        <p:spPr>
          <a:xfrm>
            <a:off x="1097280" y="3035808"/>
            <a:ext cx="2377440" cy="594360"/>
          </a:xfrm>
          <a:prstGeom prst="rect">
            <a:avLst/>
          </a:prstGeom>
          <a:noFill/>
          <a:ln/>
        </p:spPr>
        <p:txBody>
          <a:bodyPr wrap="square" lIns="0" tIns="0" rIns="0" bIns="0" rtlCol="0" anchor="ctr">
            <a:normAutofit/>
          </a:bodyPr>
          <a:lstStyle/>
          <a:p>
            <a:pPr marL="0" indent="0">
              <a:buNone/>
            </a:pPr>
            <a:r>
              <a:rPr lang="en-US" sz="2400" b="1" dirty="0">
                <a:solidFill>
                  <a:schemeClr val="tx2"/>
                </a:solidFill>
              </a:rPr>
              <a:t>39,71% vs 9,93%</a:t>
            </a:r>
            <a:endParaRPr lang="en-US" sz="2400" dirty="0"/>
          </a:p>
        </p:txBody>
      </p:sp>
      <p:sp>
        <p:nvSpPr>
          <p:cNvPr id="13" name="Text 11"/>
          <p:cNvSpPr txBox="1"/>
          <p:nvPr/>
        </p:nvSpPr>
        <p:spPr>
          <a:xfrm>
            <a:off x="3611880" y="2807208"/>
            <a:ext cx="4343400" cy="960120"/>
          </a:xfrm>
          <a:prstGeom prst="rect">
            <a:avLst/>
          </a:prstGeom>
          <a:noFill/>
          <a:ln/>
        </p:spPr>
        <p:txBody>
          <a:bodyPr wrap="square" lIns="0" tIns="0" rIns="0" bIns="0" rtlCol="0" anchor="ctr"/>
          <a:lstStyle/>
          <a:p>
            <a:pPr marL="0" indent="0">
              <a:buNone/>
            </a:pPr>
            <a:r>
              <a:rPr lang="en-US" sz="1300" dirty="0">
                <a:solidFill>
                  <a:schemeClr val="tx1"/>
                </a:solidFill>
              </a:rPr>
              <a:t>NPI tanpa vs dengan autodebit. Vacant (58,43% vs 28,11%) dan pemilik luar kota/negeri juga berisiko tinggi.</a:t>
            </a:r>
            <a:endParaRPr lang="en-US" sz="1300" dirty="0"/>
          </a:p>
        </p:txBody>
      </p:sp>
      <p:sp>
        <p:nvSpPr>
          <p:cNvPr id="14" name="pemisah"/>
          <p:cNvSpPr/>
          <p:nvPr/>
        </p:nvSpPr>
        <p:spPr>
          <a:xfrm>
            <a:off x="1097280" y="3767328"/>
            <a:ext cx="6858000" cy="0"/>
          </a:xfrm>
          <a:prstGeom prst="line">
            <a:avLst/>
          </a:prstGeom>
          <a:noFill/>
          <a:ln w="9525">
            <a:solidFill>
              <a:srgbClr val="DCE1E8"/>
            </a:solidFill>
            <a:prstDash val="solid"/>
          </a:ln>
        </p:spPr>
        <p:txBody>
          <a:bodyPr/>
          <a:lstStyle/>
          <a:p>
            <a:endParaRPr lang="en-US"/>
          </a:p>
        </p:txBody>
      </p:sp>
      <p:sp>
        <p:nvSpPr>
          <p:cNvPr id="15" name="penanda 3"/>
          <p:cNvSpPr txBox="1"/>
          <p:nvPr/>
        </p:nvSpPr>
        <p:spPr>
          <a:xfrm>
            <a:off x="548640" y="3986784"/>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6" name="Text 14"/>
          <p:cNvSpPr txBox="1"/>
          <p:nvPr/>
        </p:nvSpPr>
        <p:spPr>
          <a:xfrm>
            <a:off x="1097280" y="3877056"/>
            <a:ext cx="210312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SETELAH DIKENDALIKAN</a:t>
            </a:r>
            <a:endParaRPr lang="en-US" sz="1100" dirty="0"/>
          </a:p>
        </p:txBody>
      </p:sp>
      <p:sp>
        <p:nvSpPr>
          <p:cNvPr id="17" name="Text 15"/>
          <p:cNvSpPr txBox="1"/>
          <p:nvPr/>
        </p:nvSpPr>
        <p:spPr>
          <a:xfrm>
            <a:off x="1097280" y="4151376"/>
            <a:ext cx="2377440" cy="594360"/>
          </a:xfrm>
          <a:prstGeom prst="rect">
            <a:avLst/>
          </a:prstGeom>
          <a:noFill/>
          <a:ln/>
        </p:spPr>
        <p:txBody>
          <a:bodyPr wrap="square" lIns="0" tIns="0" rIns="0" bIns="0" rtlCol="0" anchor="ctr">
            <a:normAutofit/>
          </a:bodyPr>
          <a:lstStyle/>
          <a:p>
            <a:pPr marL="0" indent="0">
              <a:buNone/>
            </a:pPr>
            <a:r>
              <a:rPr lang="en-US" sz="2400" b="1" dirty="0">
                <a:solidFill>
                  <a:schemeClr val="tx2"/>
                </a:solidFill>
              </a:rPr>
              <a:t>+26,59 poin</a:t>
            </a:r>
            <a:endParaRPr lang="en-US" sz="2400" dirty="0"/>
          </a:p>
        </p:txBody>
      </p:sp>
      <p:sp>
        <p:nvSpPr>
          <p:cNvPr id="18" name="Text 16"/>
          <p:cNvSpPr txBox="1"/>
          <p:nvPr/>
        </p:nvSpPr>
        <p:spPr>
          <a:xfrm>
            <a:off x="3611880" y="3922776"/>
            <a:ext cx="4343400" cy="960120"/>
          </a:xfrm>
          <a:prstGeom prst="rect">
            <a:avLst/>
          </a:prstGeom>
          <a:noFill/>
          <a:ln/>
        </p:spPr>
        <p:txBody>
          <a:bodyPr wrap="square" lIns="0" tIns="0" rIns="0" bIns="0" rtlCol="0" anchor="ctr"/>
          <a:lstStyle/>
          <a:p>
            <a:pPr marL="0" indent="0">
              <a:buNone/>
            </a:pPr>
            <a:r>
              <a:rPr lang="en-US" sz="1300" dirty="0">
                <a:solidFill>
                  <a:schemeClr val="tx1"/>
                </a:solidFill>
              </a:rPr>
              <a:t>selisih autodebit tetap besar; vacant +23,28; domisili +10,14; New Phase +7,00. Kontak dan kanal tagihan hampir 0.</a:t>
            </a:r>
            <a:endParaRPr lang="en-US" sz="1300" dirty="0"/>
          </a:p>
        </p:txBody>
      </p:sp>
      <p:sp>
        <p:nvSpPr>
          <p:cNvPr id="19" name="pemisah"/>
          <p:cNvSpPr/>
          <p:nvPr/>
        </p:nvSpPr>
        <p:spPr>
          <a:xfrm>
            <a:off x="1097280" y="4882896"/>
            <a:ext cx="6858000" cy="0"/>
          </a:xfrm>
          <a:prstGeom prst="line">
            <a:avLst/>
          </a:prstGeom>
          <a:noFill/>
          <a:ln w="9525">
            <a:solidFill>
              <a:srgbClr val="DCE1E8"/>
            </a:solidFill>
            <a:prstDash val="solid"/>
          </a:ln>
        </p:spPr>
        <p:txBody>
          <a:bodyPr/>
          <a:lstStyle/>
          <a:p>
            <a:endParaRPr lang="en-US"/>
          </a:p>
        </p:txBody>
      </p:sp>
      <p:sp>
        <p:nvSpPr>
          <p:cNvPr id="20" name="penanda 4"/>
          <p:cNvSpPr txBox="1"/>
          <p:nvPr/>
        </p:nvSpPr>
        <p:spPr>
          <a:xfrm>
            <a:off x="548640" y="5102352"/>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9"/>
          <p:cNvSpPr txBox="1"/>
          <p:nvPr/>
        </p:nvSpPr>
        <p:spPr>
          <a:xfrm>
            <a:off x="1097280" y="4992624"/>
            <a:ext cx="210312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DAMPAK KEUANGAN</a:t>
            </a:r>
            <a:endParaRPr lang="en-US" sz="1100" dirty="0"/>
          </a:p>
        </p:txBody>
      </p:sp>
      <p:sp>
        <p:nvSpPr>
          <p:cNvPr id="22" name="Text 20"/>
          <p:cNvSpPr txBox="1"/>
          <p:nvPr/>
        </p:nvSpPr>
        <p:spPr>
          <a:xfrm>
            <a:off x="1097280" y="5266944"/>
            <a:ext cx="2377440" cy="594360"/>
          </a:xfrm>
          <a:prstGeom prst="rect">
            <a:avLst/>
          </a:prstGeom>
          <a:noFill/>
          <a:ln/>
        </p:spPr>
        <p:txBody>
          <a:bodyPr wrap="square" lIns="0" tIns="0" rIns="0" bIns="0" rtlCol="0" anchor="ctr">
            <a:normAutofit/>
          </a:bodyPr>
          <a:lstStyle/>
          <a:p>
            <a:pPr marL="0" indent="0">
              <a:buNone/>
            </a:pPr>
            <a:r>
              <a:rPr lang="en-US" sz="2400" b="1" dirty="0">
                <a:solidFill>
                  <a:schemeClr val="tx2"/>
                </a:solidFill>
              </a:rPr>
              <a:t>88%</a:t>
            </a:r>
            <a:endParaRPr lang="en-US" sz="2400" dirty="0"/>
          </a:p>
        </p:txBody>
      </p:sp>
      <p:sp>
        <p:nvSpPr>
          <p:cNvPr id="23" name="Text 21"/>
          <p:cNvSpPr txBox="1"/>
          <p:nvPr/>
        </p:nvSpPr>
        <p:spPr>
          <a:xfrm>
            <a:off x="3611880" y="5038344"/>
            <a:ext cx="4343400" cy="960120"/>
          </a:xfrm>
          <a:prstGeom prst="rect">
            <a:avLst/>
          </a:prstGeom>
          <a:noFill/>
          <a:ln/>
        </p:spPr>
        <p:txBody>
          <a:bodyPr wrap="square" lIns="0" tIns="0" rIns="0" bIns="0" rtlCol="0" anchor="ctr"/>
          <a:lstStyle/>
          <a:p>
            <a:pPr marL="0" indent="0">
              <a:buNone/>
            </a:pPr>
            <a:r>
              <a:rPr lang="en-US" sz="1300" dirty="0">
                <a:solidFill>
                  <a:schemeClr val="tx1"/>
                </a:solidFill>
              </a:rPr>
              <a:t>nilai NPI analisis telah melewati 90 hari; tagihan baru menjadi NPI sekitar Rp7,0 miliar per bulan (Jun–Nov 2024).</a:t>
            </a:r>
            <a:endParaRPr lang="en-US" sz="1300" dirty="0"/>
          </a:p>
        </p:txBody>
      </p:sp>
      <p:sp>
        <p:nvSpPr>
          <p:cNvPr id="24" name="panel keputusan"/>
          <p:cNvSpPr/>
          <p:nvPr/>
        </p:nvSpPr>
        <p:spPr>
          <a:xfrm>
            <a:off x="8229600" y="1645920"/>
            <a:ext cx="3410712" cy="4526280"/>
          </a:xfrm>
          <a:prstGeom prst="roundRect">
            <a:avLst>
              <a:gd name="adj" fmla="val 2145"/>
            </a:avLst>
          </a:prstGeom>
          <a:solidFill>
            <a:schemeClr val="tx2"/>
          </a:solidFill>
          <a:ln/>
        </p:spPr>
        <p:txBody>
          <a:bodyPr/>
          <a:lstStyle/>
          <a:p>
            <a:endParaRPr lang="en-US"/>
          </a:p>
        </p:txBody>
      </p:sp>
      <p:sp>
        <p:nvSpPr>
          <p:cNvPr id="25" name="Text 23"/>
          <p:cNvSpPr txBox="1"/>
          <p:nvPr/>
        </p:nvSpPr>
        <p:spPr>
          <a:xfrm>
            <a:off x="8503920" y="1874520"/>
            <a:ext cx="292608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KEPUTUSAN YANG DIMINTA</a:t>
            </a:r>
            <a:endParaRPr lang="en-US" sz="1100" dirty="0"/>
          </a:p>
        </p:txBody>
      </p:sp>
      <p:sp>
        <p:nvSpPr>
          <p:cNvPr id="26" name="Text 24"/>
          <p:cNvSpPr txBox="1"/>
          <p:nvPr/>
        </p:nvSpPr>
        <p:spPr>
          <a:xfrm>
            <a:off x="8503920" y="2240280"/>
            <a:ext cx="2880360" cy="1600200"/>
          </a:xfrm>
          <a:prstGeom prst="rect">
            <a:avLst/>
          </a:prstGeom>
          <a:noFill/>
          <a:ln/>
        </p:spPr>
        <p:txBody>
          <a:bodyPr wrap="square" lIns="0" tIns="0" rIns="0" bIns="0" rtlCol="0" anchor="t"/>
          <a:lstStyle/>
          <a:p>
            <a:pPr marL="0" indent="0">
              <a:buNone/>
            </a:pPr>
            <a:r>
              <a:rPr lang="en-US" sz="1500" b="1" dirty="0">
                <a:solidFill>
                  <a:schemeClr val="bg1"/>
                </a:solidFill>
              </a:rPr>
              <a:t>Setujui pilot autodebit dan penagihan terfokus dengan grup kontrol, serta rekonsiliasi Finance dan perbaikan billing.</a:t>
            </a:r>
            <a:endParaRPr lang="en-US" sz="1500" dirty="0"/>
          </a:p>
        </p:txBody>
      </p:sp>
      <p:sp>
        <p:nvSpPr>
          <p:cNvPr id="27" name="Text 25"/>
          <p:cNvSpPr txBox="1"/>
          <p:nvPr/>
        </p:nvSpPr>
        <p:spPr>
          <a:xfrm>
            <a:off x="8503920" y="3931920"/>
            <a:ext cx="2926080" cy="731520"/>
          </a:xfrm>
          <a:prstGeom prst="rect">
            <a:avLst/>
          </a:prstGeom>
          <a:noFill/>
          <a:ln/>
        </p:spPr>
        <p:txBody>
          <a:bodyPr wrap="square" lIns="0" tIns="0" rIns="0" bIns="0" rtlCol="0" anchor="ctr"/>
          <a:lstStyle/>
          <a:p>
            <a:pPr marL="0" indent="0">
              <a:buNone/>
            </a:pPr>
            <a:r>
              <a:rPr lang="en-US" sz="4000" b="1" dirty="0">
                <a:solidFill>
                  <a:schemeClr val="accent2"/>
                </a:solidFill>
              </a:rPr>
              <a:t>≤ 34,8%</a:t>
            </a:r>
            <a:endParaRPr lang="en-US" sz="4000" dirty="0"/>
          </a:p>
        </p:txBody>
      </p:sp>
      <p:sp>
        <p:nvSpPr>
          <p:cNvPr id="28" name="Text 26"/>
          <p:cNvSpPr txBox="1"/>
          <p:nvPr/>
        </p:nvSpPr>
        <p:spPr>
          <a:xfrm>
            <a:off x="8503920" y="4709160"/>
            <a:ext cx="2880360" cy="1188720"/>
          </a:xfrm>
          <a:prstGeom prst="rect">
            <a:avLst/>
          </a:prstGeom>
          <a:noFill/>
          <a:ln/>
        </p:spPr>
        <p:txBody>
          <a:bodyPr wrap="square" lIns="0" tIns="0" rIns="0" bIns="0" rtlCol="0" anchor="t"/>
          <a:lstStyle/>
          <a:p>
            <a:pPr marL="0" indent="0">
              <a:buNone/>
            </a:pPr>
            <a:r>
              <a:rPr lang="en-US" sz="1200" dirty="0">
                <a:solidFill>
                  <a:srgbClr val="DCE3EE"/>
                </a:solidFill>
              </a:rPr>
              <a:t>target USULAN NPI tagihan baru dalam 2 kuartal (baseline 37,24%), disahkan setelah hasil pilot</a:t>
            </a:r>
            <a:endParaRPr lang="en-US" sz="1200" dirty="0"/>
          </a:p>
        </p:txBody>
      </p:sp>
      <p:sp>
        <p:nvSpPr>
          <p:cNvPr id="29"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lustrasi kawasan" descr="/home/claude/deck2/img/div0.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01</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Konteks &amp; masalah bisnis</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Mengapa tagihan IPL yang tidak terbayar menjadi risiko cashflow kawasan</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KONTEKS BISNIS</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IPL membiayai operasional kawasan; tunggakan menjadi risiko cashflow</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alur Masalah"/>
          <p:cNvSpPr/>
          <p:nvPr/>
        </p:nvSpPr>
        <p:spPr>
          <a:xfrm>
            <a:off x="548640" y="1691640"/>
            <a:ext cx="2560320" cy="2331720"/>
          </a:xfrm>
          <a:prstGeom prst="roundRect">
            <a:avLst>
              <a:gd name="adj" fmla="val 3137"/>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penanda 1"/>
          <p:cNvSpPr txBox="1"/>
          <p:nvPr/>
        </p:nvSpPr>
        <p:spPr>
          <a:xfrm>
            <a:off x="777240" y="1892808"/>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1280160" y="1892808"/>
            <a:ext cx="1737360" cy="384048"/>
          </a:xfrm>
          <a:prstGeom prst="rect">
            <a:avLst/>
          </a:prstGeom>
          <a:noFill/>
          <a:ln/>
        </p:spPr>
        <p:txBody>
          <a:bodyPr wrap="square" lIns="0" tIns="0" rIns="0" bIns="0" rtlCol="0" anchor="ctr"/>
          <a:lstStyle/>
          <a:p>
            <a:pPr marL="0" indent="0">
              <a:buNone/>
            </a:pPr>
            <a:r>
              <a:rPr lang="en-US" sz="1600" b="1" dirty="0">
                <a:solidFill>
                  <a:schemeClr val="tx2"/>
                </a:solidFill>
              </a:rPr>
              <a:t>Masalah</a:t>
            </a:r>
            <a:endParaRPr lang="en-US" sz="1600" dirty="0"/>
          </a:p>
        </p:txBody>
      </p:sp>
      <p:sp>
        <p:nvSpPr>
          <p:cNvPr id="8" name="Text 6"/>
          <p:cNvSpPr txBox="1"/>
          <p:nvPr/>
        </p:nvSpPr>
        <p:spPr>
          <a:xfrm>
            <a:off x="777240" y="2468880"/>
            <a:ext cx="2148840" cy="1463040"/>
          </a:xfrm>
          <a:prstGeom prst="rect">
            <a:avLst/>
          </a:prstGeom>
          <a:noFill/>
          <a:ln/>
        </p:spPr>
        <p:txBody>
          <a:bodyPr wrap="square" lIns="0" tIns="0" rIns="0" bIns="0" rtlCol="0" anchor="t"/>
          <a:lstStyle/>
          <a:p>
            <a:pPr marL="0" indent="0">
              <a:buNone/>
            </a:pPr>
            <a:r>
              <a:rPr lang="en-US" sz="1400" dirty="0">
                <a:solidFill>
                  <a:schemeClr val="tx1"/>
                </a:solidFill>
              </a:rPr>
              <a:t>NPI (Unpaid + Overdue) diperkirakan brief &gt; 25% tagihan</a:t>
            </a:r>
            <a:endParaRPr lang="en-US" sz="1400" dirty="0"/>
          </a:p>
        </p:txBody>
      </p:sp>
      <p:sp>
        <p:nvSpPr>
          <p:cNvPr id="9" name="panah"/>
          <p:cNvSpPr/>
          <p:nvPr/>
        </p:nvSpPr>
        <p:spPr>
          <a:xfrm>
            <a:off x="3136392" y="2697480"/>
            <a:ext cx="219456" cy="292608"/>
          </a:xfrm>
          <a:prstGeom prst="rightArrow">
            <a:avLst/>
          </a:prstGeom>
          <a:solidFill>
            <a:schemeClr val="accent2"/>
          </a:solidFill>
          <a:ln/>
        </p:spPr>
        <p:txBody>
          <a:bodyPr/>
          <a:lstStyle/>
          <a:p>
            <a:endParaRPr lang="en-US"/>
          </a:p>
        </p:txBody>
      </p:sp>
      <p:sp>
        <p:nvSpPr>
          <p:cNvPr id="10" name="alur Dugaan penyebab"/>
          <p:cNvSpPr/>
          <p:nvPr/>
        </p:nvSpPr>
        <p:spPr>
          <a:xfrm>
            <a:off x="3383280" y="1691640"/>
            <a:ext cx="2560320" cy="2331720"/>
          </a:xfrm>
          <a:prstGeom prst="roundRect">
            <a:avLst>
              <a:gd name="adj" fmla="val 3137"/>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1" name="penanda 2"/>
          <p:cNvSpPr txBox="1"/>
          <p:nvPr/>
        </p:nvSpPr>
        <p:spPr>
          <a:xfrm>
            <a:off x="3611880" y="1892808"/>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10"/>
          <p:cNvSpPr txBox="1"/>
          <p:nvPr/>
        </p:nvSpPr>
        <p:spPr>
          <a:xfrm>
            <a:off x="4114800" y="1892808"/>
            <a:ext cx="1737360" cy="384048"/>
          </a:xfrm>
          <a:prstGeom prst="rect">
            <a:avLst/>
          </a:prstGeom>
          <a:noFill/>
          <a:ln/>
        </p:spPr>
        <p:txBody>
          <a:bodyPr wrap="square" lIns="0" tIns="0" rIns="0" bIns="0" rtlCol="0" anchor="ctr"/>
          <a:lstStyle/>
          <a:p>
            <a:pPr marL="0" indent="0">
              <a:buNone/>
            </a:pPr>
            <a:r>
              <a:rPr lang="en-US" sz="1600" b="1" dirty="0">
                <a:solidFill>
                  <a:schemeClr val="tx2"/>
                </a:solidFill>
              </a:rPr>
              <a:t>Dugaan penyebab</a:t>
            </a:r>
            <a:endParaRPr lang="en-US" sz="1600" dirty="0"/>
          </a:p>
        </p:txBody>
      </p:sp>
      <p:sp>
        <p:nvSpPr>
          <p:cNvPr id="13" name="Text 11"/>
          <p:cNvSpPr txBox="1"/>
          <p:nvPr/>
        </p:nvSpPr>
        <p:spPr>
          <a:xfrm>
            <a:off x="3611880" y="2468880"/>
            <a:ext cx="2148840" cy="1463040"/>
          </a:xfrm>
          <a:prstGeom prst="rect">
            <a:avLst/>
          </a:prstGeom>
          <a:noFill/>
          <a:ln/>
        </p:spPr>
        <p:txBody>
          <a:bodyPr wrap="square" lIns="0" tIns="0" rIns="0" bIns="0" rtlCol="0" anchor="t"/>
          <a:lstStyle/>
          <a:p>
            <a:pPr marL="0" indent="0">
              <a:buNone/>
            </a:pPr>
            <a:r>
              <a:rPr lang="en-US" sz="1400" dirty="0">
                <a:solidFill>
                  <a:schemeClr val="tx1"/>
                </a:solidFill>
              </a:rPr>
              <a:t>Unit vacant, pemilik jauh, kontak tidak lengkap, autodebit rendah, kualitas billing</a:t>
            </a:r>
            <a:endParaRPr lang="en-US" sz="1400" dirty="0"/>
          </a:p>
        </p:txBody>
      </p:sp>
      <p:sp>
        <p:nvSpPr>
          <p:cNvPr id="14" name="panah"/>
          <p:cNvSpPr/>
          <p:nvPr/>
        </p:nvSpPr>
        <p:spPr>
          <a:xfrm>
            <a:off x="5971032" y="2697480"/>
            <a:ext cx="219456" cy="292608"/>
          </a:xfrm>
          <a:prstGeom prst="rightArrow">
            <a:avLst/>
          </a:prstGeom>
          <a:solidFill>
            <a:schemeClr val="accent2"/>
          </a:solidFill>
          <a:ln/>
        </p:spPr>
        <p:txBody>
          <a:bodyPr/>
          <a:lstStyle/>
          <a:p>
            <a:endParaRPr lang="en-US"/>
          </a:p>
        </p:txBody>
      </p:sp>
      <p:sp>
        <p:nvSpPr>
          <p:cNvPr id="15" name="alur Dampak finansial"/>
          <p:cNvSpPr/>
          <p:nvPr/>
        </p:nvSpPr>
        <p:spPr>
          <a:xfrm>
            <a:off x="6217920" y="1691640"/>
            <a:ext cx="2560320" cy="2331720"/>
          </a:xfrm>
          <a:prstGeom prst="roundRect">
            <a:avLst>
              <a:gd name="adj" fmla="val 3137"/>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6" name="penanda 3"/>
          <p:cNvSpPr txBox="1"/>
          <p:nvPr/>
        </p:nvSpPr>
        <p:spPr>
          <a:xfrm>
            <a:off x="6446520" y="1892808"/>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6949440" y="1892808"/>
            <a:ext cx="1737360" cy="384048"/>
          </a:xfrm>
          <a:prstGeom prst="rect">
            <a:avLst/>
          </a:prstGeom>
          <a:noFill/>
          <a:ln/>
        </p:spPr>
        <p:txBody>
          <a:bodyPr wrap="square" lIns="0" tIns="0" rIns="0" bIns="0" rtlCol="0" anchor="ctr"/>
          <a:lstStyle/>
          <a:p>
            <a:pPr marL="0" indent="0">
              <a:buNone/>
            </a:pPr>
            <a:r>
              <a:rPr lang="en-US" sz="1600" b="1" dirty="0">
                <a:solidFill>
                  <a:schemeClr val="tx2"/>
                </a:solidFill>
              </a:rPr>
              <a:t>Dampak finansial</a:t>
            </a:r>
            <a:endParaRPr lang="en-US" sz="1600" dirty="0"/>
          </a:p>
        </p:txBody>
      </p:sp>
      <p:sp>
        <p:nvSpPr>
          <p:cNvPr id="18" name="Text 16"/>
          <p:cNvSpPr txBox="1"/>
          <p:nvPr/>
        </p:nvSpPr>
        <p:spPr>
          <a:xfrm>
            <a:off x="6446520" y="2468880"/>
            <a:ext cx="2148840" cy="1463040"/>
          </a:xfrm>
          <a:prstGeom prst="rect">
            <a:avLst/>
          </a:prstGeom>
          <a:noFill/>
          <a:ln/>
        </p:spPr>
        <p:txBody>
          <a:bodyPr wrap="square" lIns="0" tIns="0" rIns="0" bIns="0" rtlCol="0" anchor="t"/>
          <a:lstStyle/>
          <a:p>
            <a:pPr marL="0" indent="0">
              <a:buNone/>
            </a:pPr>
            <a:r>
              <a:rPr lang="en-US" sz="1400" dirty="0">
                <a:solidFill>
                  <a:schemeClr val="tx1"/>
                </a:solidFill>
              </a:rPr>
              <a:t>Kas operasional tertahan; ketergantungan pada subsidi induk berisiko meningkat</a:t>
            </a:r>
            <a:endParaRPr lang="en-US" sz="1400" dirty="0"/>
          </a:p>
        </p:txBody>
      </p:sp>
      <p:sp>
        <p:nvSpPr>
          <p:cNvPr id="19" name="panah"/>
          <p:cNvSpPr/>
          <p:nvPr/>
        </p:nvSpPr>
        <p:spPr>
          <a:xfrm>
            <a:off x="8805672" y="2697480"/>
            <a:ext cx="219456" cy="292608"/>
          </a:xfrm>
          <a:prstGeom prst="rightArrow">
            <a:avLst/>
          </a:prstGeom>
          <a:solidFill>
            <a:schemeClr val="accent2"/>
          </a:solidFill>
          <a:ln/>
        </p:spPr>
        <p:txBody>
          <a:bodyPr/>
          <a:lstStyle/>
          <a:p>
            <a:endParaRPr lang="en-US"/>
          </a:p>
        </p:txBody>
      </p:sp>
      <p:sp>
        <p:nvSpPr>
          <p:cNvPr id="20" name="alur Keputusan"/>
          <p:cNvSpPr/>
          <p:nvPr/>
        </p:nvSpPr>
        <p:spPr>
          <a:xfrm>
            <a:off x="9052560" y="1691640"/>
            <a:ext cx="2560320" cy="2331720"/>
          </a:xfrm>
          <a:prstGeom prst="roundRect">
            <a:avLst>
              <a:gd name="adj" fmla="val 3137"/>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1" name="penanda 4"/>
          <p:cNvSpPr txBox="1"/>
          <p:nvPr/>
        </p:nvSpPr>
        <p:spPr>
          <a:xfrm>
            <a:off x="9281160" y="1892808"/>
            <a:ext cx="384048" cy="384048"/>
          </a:xfrm>
          <a:prstGeom prst="ellipse">
            <a:avLst/>
          </a:prstGeom>
          <a:solidFill>
            <a:schemeClr val="accent3"/>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2" name="Text 20"/>
          <p:cNvSpPr txBox="1"/>
          <p:nvPr/>
        </p:nvSpPr>
        <p:spPr>
          <a:xfrm>
            <a:off x="9784080" y="1892808"/>
            <a:ext cx="1737360" cy="384048"/>
          </a:xfrm>
          <a:prstGeom prst="rect">
            <a:avLst/>
          </a:prstGeom>
          <a:noFill/>
          <a:ln/>
        </p:spPr>
        <p:txBody>
          <a:bodyPr wrap="square" lIns="0" tIns="0" rIns="0" bIns="0" rtlCol="0" anchor="ctr"/>
          <a:lstStyle/>
          <a:p>
            <a:pPr marL="0" indent="0">
              <a:buNone/>
            </a:pPr>
            <a:r>
              <a:rPr lang="en-US" sz="1600" b="1" dirty="0">
                <a:solidFill>
                  <a:schemeClr val="tx2"/>
                </a:solidFill>
              </a:rPr>
              <a:t>Keputusan</a:t>
            </a:r>
            <a:endParaRPr lang="en-US" sz="1600" dirty="0"/>
          </a:p>
        </p:txBody>
      </p:sp>
      <p:sp>
        <p:nvSpPr>
          <p:cNvPr id="23" name="Text 21"/>
          <p:cNvSpPr txBox="1"/>
          <p:nvPr/>
        </p:nvSpPr>
        <p:spPr>
          <a:xfrm>
            <a:off x="9281160" y="2468880"/>
            <a:ext cx="2148840" cy="1463040"/>
          </a:xfrm>
          <a:prstGeom prst="rect">
            <a:avLst/>
          </a:prstGeom>
          <a:noFill/>
          <a:ln/>
        </p:spPr>
        <p:txBody>
          <a:bodyPr wrap="square" lIns="0" tIns="0" rIns="0" bIns="0" rtlCol="0" anchor="t"/>
          <a:lstStyle/>
          <a:p>
            <a:pPr marL="0" indent="0">
              <a:buNone/>
            </a:pPr>
            <a:r>
              <a:rPr lang="en-US" sz="1400" dirty="0">
                <a:solidFill>
                  <a:schemeClr val="tx1"/>
                </a:solidFill>
              </a:rPr>
              <a:t>Fokus penagihan, program pencegahan, rekonsiliasi, dan perbaikan sistem</a:t>
            </a:r>
            <a:endParaRPr lang="en-US" sz="1400" dirty="0"/>
          </a:p>
        </p:txBody>
      </p:sp>
      <p:sp>
        <p:nvSpPr>
          <p:cNvPr id="24" name="fungsi IPL"/>
          <p:cNvSpPr/>
          <p:nvPr/>
        </p:nvSpPr>
        <p:spPr>
          <a:xfrm>
            <a:off x="548640" y="4297680"/>
            <a:ext cx="6949440" cy="1874520"/>
          </a:xfrm>
          <a:prstGeom prst="roundRect">
            <a:avLst>
              <a:gd name="adj" fmla="val 3902"/>
            </a:avLst>
          </a:prstGeom>
          <a:solidFill>
            <a:srgbClr val="F7F5F0"/>
          </a:solidFill>
          <a:ln w="9525">
            <a:solidFill>
              <a:srgbClr val="DCE1E8"/>
            </a:solidFill>
            <a:prstDash val="solid"/>
          </a:ln>
        </p:spPr>
        <p:txBody>
          <a:bodyPr/>
          <a:lstStyle/>
          <a:p>
            <a:endParaRPr lang="en-US"/>
          </a:p>
        </p:txBody>
      </p:sp>
      <p:sp>
        <p:nvSpPr>
          <p:cNvPr id="25" name="Text 23"/>
          <p:cNvSpPr txBox="1"/>
          <p:nvPr/>
        </p:nvSpPr>
        <p:spPr>
          <a:xfrm>
            <a:off x="822960" y="4498848"/>
            <a:ext cx="36576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IPL DIPAKAI UNTUK</a:t>
            </a:r>
            <a:endParaRPr lang="en-US" sz="1100" dirty="0"/>
          </a:p>
        </p:txBody>
      </p:sp>
      <p:sp>
        <p:nvSpPr>
          <p:cNvPr id="26" name="Text 24"/>
          <p:cNvSpPr txBox="1"/>
          <p:nvPr/>
        </p:nvSpPr>
        <p:spPr>
          <a:xfrm>
            <a:off x="822960" y="4937760"/>
            <a:ext cx="2011680" cy="822960"/>
          </a:xfrm>
          <a:prstGeom prst="rect">
            <a:avLst/>
          </a:prstGeom>
          <a:noFill/>
          <a:ln/>
        </p:spPr>
        <p:txBody>
          <a:bodyPr wrap="square" lIns="0" tIns="0" rIns="0" bIns="0" rtlCol="0" anchor="t"/>
          <a:lstStyle/>
          <a:p>
            <a:pPr marL="0" indent="0">
              <a:buNone/>
            </a:pPr>
            <a:r>
              <a:rPr lang="en-US" sz="1500" b="1" dirty="0">
                <a:solidFill>
                  <a:schemeClr val="tx2"/>
                </a:solidFill>
              </a:rPr>
              <a:t>Keamanan kawasan</a:t>
            </a:r>
            <a:endParaRPr lang="en-US" sz="1500" dirty="0"/>
          </a:p>
        </p:txBody>
      </p:sp>
      <p:sp>
        <p:nvSpPr>
          <p:cNvPr id="27" name="Text 25"/>
          <p:cNvSpPr txBox="1"/>
          <p:nvPr/>
        </p:nvSpPr>
        <p:spPr>
          <a:xfrm>
            <a:off x="3017520" y="4937760"/>
            <a:ext cx="2011680" cy="822960"/>
          </a:xfrm>
          <a:prstGeom prst="rect">
            <a:avLst/>
          </a:prstGeom>
          <a:noFill/>
          <a:ln/>
        </p:spPr>
        <p:txBody>
          <a:bodyPr wrap="square" lIns="0" tIns="0" rIns="0" bIns="0" rtlCol="0" anchor="t"/>
          <a:lstStyle/>
          <a:p>
            <a:pPr marL="0" indent="0">
              <a:buNone/>
            </a:pPr>
            <a:r>
              <a:rPr lang="en-US" sz="1500" b="1" dirty="0">
                <a:solidFill>
                  <a:schemeClr val="tx2"/>
                </a:solidFill>
              </a:rPr>
              <a:t>Kebersihan &amp; pengelolaan sampah</a:t>
            </a:r>
            <a:endParaRPr lang="en-US" sz="1500" dirty="0"/>
          </a:p>
        </p:txBody>
      </p:sp>
      <p:sp>
        <p:nvSpPr>
          <p:cNvPr id="28" name="Text 26"/>
          <p:cNvSpPr txBox="1"/>
          <p:nvPr/>
        </p:nvSpPr>
        <p:spPr>
          <a:xfrm>
            <a:off x="5212080" y="4937760"/>
            <a:ext cx="2011680" cy="822960"/>
          </a:xfrm>
          <a:prstGeom prst="rect">
            <a:avLst/>
          </a:prstGeom>
          <a:noFill/>
          <a:ln/>
        </p:spPr>
        <p:txBody>
          <a:bodyPr wrap="square" lIns="0" tIns="0" rIns="0" bIns="0" rtlCol="0" anchor="t"/>
          <a:lstStyle/>
          <a:p>
            <a:pPr marL="0" indent="0">
              <a:buNone/>
            </a:pPr>
            <a:r>
              <a:rPr lang="en-US" sz="1500" b="1" dirty="0">
                <a:solidFill>
                  <a:schemeClr val="tx2"/>
                </a:solidFill>
              </a:rPr>
              <a:t>Perawatan fasilitas umum</a:t>
            </a:r>
            <a:endParaRPr lang="en-US" sz="1500" dirty="0"/>
          </a:p>
        </p:txBody>
      </p:sp>
      <p:sp>
        <p:nvSpPr>
          <p:cNvPr id="29" name="catatan penyebab"/>
          <p:cNvSpPr/>
          <p:nvPr/>
        </p:nvSpPr>
        <p:spPr>
          <a:xfrm>
            <a:off x="7772400" y="4297680"/>
            <a:ext cx="3867912" cy="1874520"/>
          </a:xfrm>
          <a:prstGeom prst="roundRect">
            <a:avLst>
              <a:gd name="adj" fmla="val 3902"/>
            </a:avLst>
          </a:prstGeom>
          <a:solidFill>
            <a:schemeClr val="tx2"/>
          </a:solidFill>
          <a:ln/>
        </p:spPr>
        <p:txBody>
          <a:bodyPr/>
          <a:lstStyle/>
          <a:p>
            <a:endParaRPr lang="en-US"/>
          </a:p>
        </p:txBody>
      </p:sp>
      <p:sp>
        <p:nvSpPr>
          <p:cNvPr id="30" name="Text 28"/>
          <p:cNvSpPr txBox="1"/>
          <p:nvPr/>
        </p:nvSpPr>
        <p:spPr>
          <a:xfrm>
            <a:off x="8046720" y="4526280"/>
            <a:ext cx="3383280" cy="1463040"/>
          </a:xfrm>
          <a:prstGeom prst="rect">
            <a:avLst/>
          </a:prstGeom>
          <a:noFill/>
          <a:ln/>
        </p:spPr>
        <p:txBody>
          <a:bodyPr wrap="square" lIns="0" tIns="0" rIns="0" bIns="0" rtlCol="0" anchor="t"/>
          <a:lstStyle/>
          <a:p>
            <a:pPr marL="0" indent="0">
              <a:buNone/>
            </a:pPr>
            <a:r>
              <a:rPr lang="en-US" sz="1400" b="1" dirty="0">
                <a:solidFill>
                  <a:schemeClr val="accent2"/>
                </a:solidFill>
              </a:rPr>
              <a:t>Catatan penting: </a:t>
            </a:r>
            <a:r>
              <a:rPr lang="en-US" sz="1400" dirty="0">
                <a:solidFill>
                  <a:schemeClr val="bg1"/>
                </a:solidFill>
              </a:rPr>
              <a:t>kolom ‘dugaan penyebab’ adalah hipotesis. Penyebab baru disebut didukung data setelah diuji pada bagian 04.</a:t>
            </a:r>
            <a:endParaRPr lang="en-US" sz="1400" dirty="0"/>
          </a:p>
        </p:txBody>
      </p:sp>
      <p:sp>
        <p:nvSpPr>
          <p:cNvPr id="31"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PROBLEM STATEMENT &amp; TUJUAN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Pertanyaan utama: bagaimana menurunkan NPI dalam dua kuartal dengan tindakan yang dapat dijalankan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problem statement"/>
          <p:cNvSpPr/>
          <p:nvPr/>
        </p:nvSpPr>
        <p:spPr>
          <a:xfrm>
            <a:off x="548640" y="1645920"/>
            <a:ext cx="11091672" cy="1143000"/>
          </a:xfrm>
          <a:prstGeom prst="roundRect">
            <a:avLst>
              <a:gd name="adj" fmla="val 6400"/>
            </a:avLst>
          </a:prstGeom>
          <a:solidFill>
            <a:schemeClr val="tx2"/>
          </a:solidFill>
          <a:ln/>
        </p:spPr>
        <p:txBody>
          <a:bodyPr/>
          <a:lstStyle/>
          <a:p>
            <a:endParaRPr lang="en-US"/>
          </a:p>
        </p:txBody>
      </p:sp>
      <p:sp>
        <p:nvSpPr>
          <p:cNvPr id="6" name="Text 4"/>
          <p:cNvSpPr txBox="1"/>
          <p:nvPr/>
        </p:nvSpPr>
        <p:spPr>
          <a:xfrm>
            <a:off x="822960" y="1783080"/>
            <a:ext cx="10607040" cy="868680"/>
          </a:xfrm>
          <a:prstGeom prst="rect">
            <a:avLst/>
          </a:prstGeom>
          <a:noFill/>
          <a:ln/>
        </p:spPr>
        <p:txBody>
          <a:bodyPr wrap="square" lIns="0" tIns="0" rIns="0" bIns="0" rtlCol="0" anchor="ctr"/>
          <a:lstStyle/>
          <a:p>
            <a:pPr marL="0" indent="0">
              <a:buNone/>
            </a:pPr>
            <a:r>
              <a:rPr lang="en-US" sz="1500" b="1" dirty="0">
                <a:solidFill>
                  <a:schemeClr val="accent2"/>
                </a:solidFill>
              </a:rPr>
              <a:t>Problem statement SMART: </a:t>
            </a:r>
            <a:r>
              <a:rPr lang="en-US" sz="1500" dirty="0">
                <a:solidFill>
                  <a:schemeClr val="bg1"/>
                </a:solidFill>
              </a:rPr>
              <a:t>Bagaimana Head of Township Management dapat menurunkan NPI rate tagihan IPL di 5 township dari baseline saat ini ke level target dalam 2 kuartal ke depan, melalui tindakan yang dapat dijalankan Collection, Finance, dan IT/ERP?</a:t>
            </a:r>
            <a:endParaRPr lang="en-US" sz="1500" dirty="0"/>
          </a:p>
        </p:txBody>
      </p:sp>
      <p:sp>
        <p:nvSpPr>
          <p:cNvPr id="7" name="tujuan T1"/>
          <p:cNvSpPr/>
          <p:nvPr/>
        </p:nvSpPr>
        <p:spPr>
          <a:xfrm>
            <a:off x="548640" y="3063240"/>
            <a:ext cx="2606040" cy="2240280"/>
          </a:xfrm>
          <a:prstGeom prst="roundRect">
            <a:avLst>
              <a:gd name="adj" fmla="val 326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8" name="Text 6"/>
          <p:cNvSpPr txBox="1"/>
          <p:nvPr/>
        </p:nvSpPr>
        <p:spPr>
          <a:xfrm>
            <a:off x="777240" y="3246120"/>
            <a:ext cx="914400" cy="365760"/>
          </a:xfrm>
          <a:prstGeom prst="rect">
            <a:avLst/>
          </a:prstGeom>
          <a:noFill/>
          <a:ln/>
        </p:spPr>
        <p:txBody>
          <a:bodyPr wrap="square" lIns="0" tIns="0" rIns="0" bIns="0" rtlCol="0" anchor="t"/>
          <a:lstStyle/>
          <a:p>
            <a:pPr marL="0" indent="0">
              <a:buNone/>
            </a:pPr>
            <a:r>
              <a:rPr lang="en-US" sz="2000" b="1" dirty="0">
                <a:solidFill>
                  <a:schemeClr val="accent2"/>
                </a:solidFill>
              </a:rPr>
              <a:t>T1</a:t>
            </a:r>
            <a:endParaRPr lang="en-US" sz="2000" dirty="0"/>
          </a:p>
        </p:txBody>
      </p:sp>
      <p:sp>
        <p:nvSpPr>
          <p:cNvPr id="9" name="Text 7"/>
          <p:cNvSpPr txBox="1"/>
          <p:nvPr/>
        </p:nvSpPr>
        <p:spPr>
          <a:xfrm>
            <a:off x="777240" y="3657600"/>
            <a:ext cx="2194560" cy="594360"/>
          </a:xfrm>
          <a:prstGeom prst="rect">
            <a:avLst/>
          </a:prstGeom>
          <a:noFill/>
          <a:ln/>
        </p:spPr>
        <p:txBody>
          <a:bodyPr wrap="square" lIns="0" tIns="0" rIns="0" bIns="0" rtlCol="0" anchor="t"/>
          <a:lstStyle/>
          <a:p>
            <a:pPr marL="0" indent="0">
              <a:buNone/>
            </a:pPr>
            <a:r>
              <a:rPr lang="en-US" sz="1500" b="1" dirty="0">
                <a:solidFill>
                  <a:schemeClr val="tx2"/>
                </a:solidFill>
              </a:rPr>
              <a:t>Segmen penyumbang tunggakan</a:t>
            </a:r>
            <a:endParaRPr lang="en-US" sz="1500" dirty="0"/>
          </a:p>
        </p:txBody>
      </p:sp>
      <p:sp>
        <p:nvSpPr>
          <p:cNvPr id="10" name="Text 8"/>
          <p:cNvSpPr txBox="1"/>
          <p:nvPr/>
        </p:nvSpPr>
        <p:spPr>
          <a:xfrm>
            <a:off x="777240" y="4297680"/>
            <a:ext cx="2194560" cy="914400"/>
          </a:xfrm>
          <a:prstGeom prst="rect">
            <a:avLst/>
          </a:prstGeom>
          <a:noFill/>
          <a:ln/>
        </p:spPr>
        <p:txBody>
          <a:bodyPr wrap="square" lIns="0" tIns="0" rIns="0" bIns="0" rtlCol="0" anchor="t"/>
          <a:lstStyle/>
          <a:p>
            <a:pPr marL="0" indent="0">
              <a:buNone/>
            </a:pPr>
            <a:r>
              <a:rPr lang="en-US" sz="1300" dirty="0">
                <a:solidFill>
                  <a:schemeClr val="tx1"/>
                </a:solidFill>
              </a:rPr>
              <a:t>Karakteristik unit dan kawasan sebagai dasar prioritas Collection</a:t>
            </a:r>
            <a:endParaRPr lang="en-US" sz="1300" dirty="0"/>
          </a:p>
        </p:txBody>
      </p:sp>
      <p:sp>
        <p:nvSpPr>
          <p:cNvPr id="11" name="tujuan T2"/>
          <p:cNvSpPr/>
          <p:nvPr/>
        </p:nvSpPr>
        <p:spPr>
          <a:xfrm>
            <a:off x="3383280" y="3063240"/>
            <a:ext cx="2606040" cy="2240280"/>
          </a:xfrm>
          <a:prstGeom prst="roundRect">
            <a:avLst>
              <a:gd name="adj" fmla="val 326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3611880" y="3246120"/>
            <a:ext cx="914400" cy="365760"/>
          </a:xfrm>
          <a:prstGeom prst="rect">
            <a:avLst/>
          </a:prstGeom>
          <a:noFill/>
          <a:ln/>
        </p:spPr>
        <p:txBody>
          <a:bodyPr wrap="square" lIns="0" tIns="0" rIns="0" bIns="0" rtlCol="0" anchor="t"/>
          <a:lstStyle/>
          <a:p>
            <a:pPr marL="0" indent="0">
              <a:buNone/>
            </a:pPr>
            <a:r>
              <a:rPr lang="en-US" sz="2000" b="1" dirty="0">
                <a:solidFill>
                  <a:schemeClr val="accent2"/>
                </a:solidFill>
              </a:rPr>
              <a:t>T2</a:t>
            </a:r>
            <a:endParaRPr lang="en-US" sz="2000" dirty="0"/>
          </a:p>
        </p:txBody>
      </p:sp>
      <p:sp>
        <p:nvSpPr>
          <p:cNvPr id="13" name="Text 11"/>
          <p:cNvSpPr txBox="1"/>
          <p:nvPr/>
        </p:nvSpPr>
        <p:spPr>
          <a:xfrm>
            <a:off x="3611880" y="3657600"/>
            <a:ext cx="2194560" cy="594360"/>
          </a:xfrm>
          <a:prstGeom prst="rect">
            <a:avLst/>
          </a:prstGeom>
          <a:noFill/>
          <a:ln/>
        </p:spPr>
        <p:txBody>
          <a:bodyPr wrap="square" lIns="0" tIns="0" rIns="0" bIns="0" rtlCol="0" anchor="t"/>
          <a:lstStyle/>
          <a:p>
            <a:pPr marL="0" indent="0">
              <a:buNone/>
            </a:pPr>
            <a:r>
              <a:rPr lang="en-US" sz="1500" b="1" dirty="0">
                <a:solidFill>
                  <a:schemeClr val="tx2"/>
                </a:solidFill>
              </a:rPr>
              <a:t>Nilai yang tertahan</a:t>
            </a:r>
            <a:endParaRPr lang="en-US" sz="1500" dirty="0"/>
          </a:p>
        </p:txBody>
      </p:sp>
      <p:sp>
        <p:nvSpPr>
          <p:cNvPr id="14" name="Text 12"/>
          <p:cNvSpPr txBox="1"/>
          <p:nvPr/>
        </p:nvSpPr>
        <p:spPr>
          <a:xfrm>
            <a:off x="3611880" y="4297680"/>
            <a:ext cx="2194560" cy="914400"/>
          </a:xfrm>
          <a:prstGeom prst="rect">
            <a:avLst/>
          </a:prstGeom>
          <a:noFill/>
          <a:ln/>
        </p:spPr>
        <p:txBody>
          <a:bodyPr wrap="square" lIns="0" tIns="0" rIns="0" bIns="0" rtlCol="0" anchor="t"/>
          <a:lstStyle/>
          <a:p>
            <a:pPr marL="0" indent="0">
              <a:buNone/>
            </a:pPr>
            <a:r>
              <a:rPr lang="en-US" sz="1300" dirty="0">
                <a:solidFill>
                  <a:schemeClr val="tx1"/>
                </a:solidFill>
              </a:rPr>
              <a:t>Nominal NPI, umur tunggakan, dan risiko tunggakan berkepanjangan</a:t>
            </a:r>
            <a:endParaRPr lang="en-US" sz="1300" dirty="0"/>
          </a:p>
        </p:txBody>
      </p:sp>
      <p:sp>
        <p:nvSpPr>
          <p:cNvPr id="15" name="tujuan T3"/>
          <p:cNvSpPr/>
          <p:nvPr/>
        </p:nvSpPr>
        <p:spPr>
          <a:xfrm>
            <a:off x="6217920" y="3063240"/>
            <a:ext cx="2606040" cy="2240280"/>
          </a:xfrm>
          <a:prstGeom prst="roundRect">
            <a:avLst>
              <a:gd name="adj" fmla="val 326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6" name="Text 14"/>
          <p:cNvSpPr txBox="1"/>
          <p:nvPr/>
        </p:nvSpPr>
        <p:spPr>
          <a:xfrm>
            <a:off x="6446520" y="3246120"/>
            <a:ext cx="914400" cy="365760"/>
          </a:xfrm>
          <a:prstGeom prst="rect">
            <a:avLst/>
          </a:prstGeom>
          <a:noFill/>
          <a:ln/>
        </p:spPr>
        <p:txBody>
          <a:bodyPr wrap="square" lIns="0" tIns="0" rIns="0" bIns="0" rtlCol="0" anchor="t"/>
          <a:lstStyle/>
          <a:p>
            <a:pPr marL="0" indent="0">
              <a:buNone/>
            </a:pPr>
            <a:r>
              <a:rPr lang="en-US" sz="2000" b="1" dirty="0">
                <a:solidFill>
                  <a:schemeClr val="accent2"/>
                </a:solidFill>
              </a:rPr>
              <a:t>T3</a:t>
            </a:r>
            <a:endParaRPr lang="en-US" sz="2000" dirty="0"/>
          </a:p>
        </p:txBody>
      </p:sp>
      <p:sp>
        <p:nvSpPr>
          <p:cNvPr id="17" name="Text 15"/>
          <p:cNvSpPr txBox="1"/>
          <p:nvPr/>
        </p:nvSpPr>
        <p:spPr>
          <a:xfrm>
            <a:off x="6446520" y="3657600"/>
            <a:ext cx="2194560" cy="594360"/>
          </a:xfrm>
          <a:prstGeom prst="rect">
            <a:avLst/>
          </a:prstGeom>
          <a:noFill/>
          <a:ln/>
        </p:spPr>
        <p:txBody>
          <a:bodyPr wrap="square" lIns="0" tIns="0" rIns="0" bIns="0" rtlCol="0" anchor="t"/>
          <a:lstStyle/>
          <a:p>
            <a:pPr marL="0" indent="0">
              <a:buNone/>
            </a:pPr>
            <a:r>
              <a:rPr lang="en-US" sz="1500" b="1" dirty="0">
                <a:solidFill>
                  <a:schemeClr val="tx2"/>
                </a:solidFill>
              </a:rPr>
              <a:t>Standar metode bayar</a:t>
            </a:r>
            <a:endParaRPr lang="en-US" sz="1500" dirty="0"/>
          </a:p>
        </p:txBody>
      </p:sp>
      <p:sp>
        <p:nvSpPr>
          <p:cNvPr id="18" name="Text 16"/>
          <p:cNvSpPr txBox="1"/>
          <p:nvPr/>
        </p:nvSpPr>
        <p:spPr>
          <a:xfrm>
            <a:off x="6446520" y="4297680"/>
            <a:ext cx="2194560" cy="914400"/>
          </a:xfrm>
          <a:prstGeom prst="rect">
            <a:avLst/>
          </a:prstGeom>
          <a:noFill/>
          <a:ln/>
        </p:spPr>
        <p:txBody>
          <a:bodyPr wrap="square" lIns="0" tIns="0" rIns="0" bIns="0" rtlCol="0" anchor="t"/>
          <a:lstStyle/>
          <a:p>
            <a:pPr marL="0" indent="0">
              <a:buNone/>
            </a:pPr>
            <a:r>
              <a:rPr lang="en-US" sz="1300" dirty="0">
                <a:solidFill>
                  <a:schemeClr val="tx1"/>
                </a:solidFill>
              </a:rPr>
              <a:t>Skema pencatatan metode pembayaran untuk Finance</a:t>
            </a:r>
            <a:endParaRPr lang="en-US" sz="1300" dirty="0"/>
          </a:p>
        </p:txBody>
      </p:sp>
      <p:sp>
        <p:nvSpPr>
          <p:cNvPr id="19" name="tujuan T4"/>
          <p:cNvSpPr/>
          <p:nvPr/>
        </p:nvSpPr>
        <p:spPr>
          <a:xfrm>
            <a:off x="9052560" y="3063240"/>
            <a:ext cx="2606040" cy="2240280"/>
          </a:xfrm>
          <a:prstGeom prst="roundRect">
            <a:avLst>
              <a:gd name="adj" fmla="val 326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0" name="Text 18"/>
          <p:cNvSpPr txBox="1"/>
          <p:nvPr/>
        </p:nvSpPr>
        <p:spPr>
          <a:xfrm>
            <a:off x="9281160" y="3246120"/>
            <a:ext cx="914400" cy="365760"/>
          </a:xfrm>
          <a:prstGeom prst="rect">
            <a:avLst/>
          </a:prstGeom>
          <a:noFill/>
          <a:ln/>
        </p:spPr>
        <p:txBody>
          <a:bodyPr wrap="square" lIns="0" tIns="0" rIns="0" bIns="0" rtlCol="0" anchor="t"/>
          <a:lstStyle/>
          <a:p>
            <a:pPr marL="0" indent="0">
              <a:buNone/>
            </a:pPr>
            <a:r>
              <a:rPr lang="en-US" sz="2000" b="1" dirty="0">
                <a:solidFill>
                  <a:schemeClr val="accent2"/>
                </a:solidFill>
              </a:rPr>
              <a:t>T4</a:t>
            </a:r>
            <a:endParaRPr lang="en-US" sz="2000" dirty="0"/>
          </a:p>
        </p:txBody>
      </p:sp>
      <p:sp>
        <p:nvSpPr>
          <p:cNvPr id="21" name="Text 19"/>
          <p:cNvSpPr txBox="1"/>
          <p:nvPr/>
        </p:nvSpPr>
        <p:spPr>
          <a:xfrm>
            <a:off x="9281160" y="3657600"/>
            <a:ext cx="2194560" cy="594360"/>
          </a:xfrm>
          <a:prstGeom prst="rect">
            <a:avLst/>
          </a:prstGeom>
          <a:noFill/>
          <a:ln/>
        </p:spPr>
        <p:txBody>
          <a:bodyPr wrap="square" lIns="0" tIns="0" rIns="0" bIns="0" rtlCol="0" anchor="t"/>
          <a:lstStyle/>
          <a:p>
            <a:pPr marL="0" indent="0">
              <a:buNone/>
            </a:pPr>
            <a:r>
              <a:rPr lang="en-US" sz="1500" b="1" dirty="0">
                <a:solidFill>
                  <a:schemeClr val="tx2"/>
                </a:solidFill>
              </a:rPr>
              <a:t>Kualitas data billing</a:t>
            </a:r>
            <a:endParaRPr lang="en-US" sz="1500" dirty="0"/>
          </a:p>
        </p:txBody>
      </p:sp>
      <p:sp>
        <p:nvSpPr>
          <p:cNvPr id="22" name="Text 20"/>
          <p:cNvSpPr txBox="1"/>
          <p:nvPr/>
        </p:nvSpPr>
        <p:spPr>
          <a:xfrm>
            <a:off x="9281160" y="4297680"/>
            <a:ext cx="2194560" cy="914400"/>
          </a:xfrm>
          <a:prstGeom prst="rect">
            <a:avLst/>
          </a:prstGeom>
          <a:noFill/>
          <a:ln/>
        </p:spPr>
        <p:txBody>
          <a:bodyPr wrap="square" lIns="0" tIns="0" rIns="0" bIns="0" rtlCol="0" anchor="t"/>
          <a:lstStyle/>
          <a:p>
            <a:pPr marL="0" indent="0">
              <a:buNone/>
            </a:pPr>
            <a:r>
              <a:rPr lang="en-US" sz="1300" dirty="0">
                <a:solidFill>
                  <a:schemeClr val="tx1"/>
                </a:solidFill>
              </a:rPr>
              <a:t>Kelengkapan, konsistensi antartabel, dan kesalahan input untuk IT/ERP</a:t>
            </a:r>
            <a:endParaRPr lang="en-US" sz="1300" dirty="0"/>
          </a:p>
        </p:txBody>
      </p:sp>
      <p:sp>
        <p:nvSpPr>
          <p:cNvPr id="23" name="Text 21"/>
          <p:cNvSpPr txBox="1"/>
          <p:nvPr/>
        </p:nvSpPr>
        <p:spPr>
          <a:xfrm>
            <a:off x="548640" y="5532120"/>
            <a:ext cx="11064240" cy="640080"/>
          </a:xfrm>
          <a:prstGeom prst="rect">
            <a:avLst/>
          </a:prstGeom>
          <a:noFill/>
          <a:ln/>
        </p:spPr>
        <p:txBody>
          <a:bodyPr wrap="square" lIns="0" tIns="0" rIns="0" bIns="0" rtlCol="0" anchor="t"/>
          <a:lstStyle/>
          <a:p>
            <a:pPr marL="0" indent="0">
              <a:buNone/>
            </a:pPr>
            <a:r>
              <a:rPr lang="en-US" sz="1400" b="1" dirty="0">
                <a:solidFill>
                  <a:schemeClr val="tx2"/>
                </a:solidFill>
              </a:rPr>
              <a:t>Definisi NPI rate: </a:t>
            </a:r>
            <a:r>
              <a:rPr lang="en-US" sz="1400" dirty="0">
                <a:solidFill>
                  <a:schemeClr val="tx1"/>
                </a:solidFill>
              </a:rPr>
              <a:t>jumlah invoice utama berstatus Unpaid + Overdue ÷ jumlah invoice utama yang diterbitkan, dibaca per tanggal snapshot. Satu baris = satu invoice utama per unit per bulan.</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lustrasi kawasan" descr="/home/claude/deck2/img/div1.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02</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Data, metodologi &amp; kualitas data</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Cakupan data, unit analisis, dan temuan kualitas data yang memengaruhi angka</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DATA SCOPE</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Lima tabel billing dianalisis pada tingkat invoice utama per unit per bulan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kpi township"/>
          <p:cNvSpPr/>
          <p:nvPr/>
        </p:nvSpPr>
        <p:spPr>
          <a:xfrm>
            <a:off x="548640" y="1645920"/>
            <a:ext cx="2011680" cy="1188720"/>
          </a:xfrm>
          <a:prstGeom prst="roundRect">
            <a:avLst>
              <a:gd name="adj" fmla="val 6154"/>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810512"/>
            <a:ext cx="1554480" cy="570586"/>
          </a:xfrm>
          <a:prstGeom prst="rect">
            <a:avLst/>
          </a:prstGeom>
          <a:noFill/>
          <a:ln/>
        </p:spPr>
        <p:txBody>
          <a:bodyPr wrap="square" lIns="0" tIns="0" rIns="0" bIns="0" rtlCol="0" anchor="ctr">
            <a:normAutofit/>
          </a:bodyPr>
          <a:lstStyle/>
          <a:p>
            <a:pPr marL="0" indent="0">
              <a:buNone/>
            </a:pPr>
            <a:r>
              <a:rPr lang="en-US" sz="2800" b="1" dirty="0">
                <a:solidFill>
                  <a:schemeClr val="tx2"/>
                </a:solidFill>
              </a:rPr>
              <a:t>5</a:t>
            </a:r>
            <a:endParaRPr lang="en-US" sz="2800" dirty="0"/>
          </a:p>
        </p:txBody>
      </p:sp>
      <p:sp>
        <p:nvSpPr>
          <p:cNvPr id="7" name="Text 5"/>
          <p:cNvSpPr txBox="1"/>
          <p:nvPr/>
        </p:nvSpPr>
        <p:spPr>
          <a:xfrm>
            <a:off x="777240" y="2399386"/>
            <a:ext cx="1554480" cy="298094"/>
          </a:xfrm>
          <a:prstGeom prst="rect">
            <a:avLst/>
          </a:prstGeom>
          <a:noFill/>
          <a:ln/>
        </p:spPr>
        <p:txBody>
          <a:bodyPr wrap="square" lIns="0" tIns="0" rIns="0" bIns="0" rtlCol="0" anchor="t"/>
          <a:lstStyle/>
          <a:p>
            <a:pPr marL="0" indent="0">
              <a:buNone/>
            </a:pPr>
            <a:r>
              <a:rPr lang="en-US" sz="1200" dirty="0">
                <a:solidFill>
                  <a:schemeClr val="accent6"/>
                </a:solidFill>
              </a:rPr>
              <a:t>township</a:t>
            </a:r>
            <a:endParaRPr lang="en-US" sz="1200" dirty="0"/>
          </a:p>
        </p:txBody>
      </p:sp>
      <p:sp>
        <p:nvSpPr>
          <p:cNvPr id="8" name="kpi cluster"/>
          <p:cNvSpPr/>
          <p:nvPr/>
        </p:nvSpPr>
        <p:spPr>
          <a:xfrm>
            <a:off x="2788920" y="1645920"/>
            <a:ext cx="2011680" cy="1188720"/>
          </a:xfrm>
          <a:prstGeom prst="roundRect">
            <a:avLst>
              <a:gd name="adj" fmla="val 6154"/>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3017520" y="1810512"/>
            <a:ext cx="1554480" cy="570586"/>
          </a:xfrm>
          <a:prstGeom prst="rect">
            <a:avLst/>
          </a:prstGeom>
          <a:noFill/>
          <a:ln/>
        </p:spPr>
        <p:txBody>
          <a:bodyPr wrap="square" lIns="0" tIns="0" rIns="0" bIns="0" rtlCol="0" anchor="ctr">
            <a:normAutofit/>
          </a:bodyPr>
          <a:lstStyle/>
          <a:p>
            <a:pPr marL="0" indent="0">
              <a:buNone/>
            </a:pPr>
            <a:r>
              <a:rPr lang="en-US" sz="2800" b="1" dirty="0">
                <a:solidFill>
                  <a:schemeClr val="tx2"/>
                </a:solidFill>
              </a:rPr>
              <a:t>111</a:t>
            </a:r>
            <a:endParaRPr lang="en-US" sz="2800" dirty="0"/>
          </a:p>
        </p:txBody>
      </p:sp>
      <p:sp>
        <p:nvSpPr>
          <p:cNvPr id="10" name="Text 8"/>
          <p:cNvSpPr txBox="1"/>
          <p:nvPr/>
        </p:nvSpPr>
        <p:spPr>
          <a:xfrm>
            <a:off x="3017520" y="2399386"/>
            <a:ext cx="1554480" cy="298094"/>
          </a:xfrm>
          <a:prstGeom prst="rect">
            <a:avLst/>
          </a:prstGeom>
          <a:noFill/>
          <a:ln/>
        </p:spPr>
        <p:txBody>
          <a:bodyPr wrap="square" lIns="0" tIns="0" rIns="0" bIns="0" rtlCol="0" anchor="t"/>
          <a:lstStyle/>
          <a:p>
            <a:pPr marL="0" indent="0">
              <a:buNone/>
            </a:pPr>
            <a:r>
              <a:rPr lang="en-US" sz="1200" dirty="0">
                <a:solidFill>
                  <a:schemeClr val="accent6"/>
                </a:solidFill>
              </a:rPr>
              <a:t>cluster</a:t>
            </a:r>
            <a:endParaRPr lang="en-US" sz="1200" dirty="0"/>
          </a:p>
        </p:txBody>
      </p:sp>
      <p:sp>
        <p:nvSpPr>
          <p:cNvPr id="11" name="kpi unit"/>
          <p:cNvSpPr/>
          <p:nvPr/>
        </p:nvSpPr>
        <p:spPr>
          <a:xfrm>
            <a:off x="5029200" y="1645920"/>
            <a:ext cx="2011680" cy="1188720"/>
          </a:xfrm>
          <a:prstGeom prst="roundRect">
            <a:avLst>
              <a:gd name="adj" fmla="val 6154"/>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5257800" y="1810512"/>
            <a:ext cx="1554480" cy="570586"/>
          </a:xfrm>
          <a:prstGeom prst="rect">
            <a:avLst/>
          </a:prstGeom>
          <a:noFill/>
          <a:ln/>
        </p:spPr>
        <p:txBody>
          <a:bodyPr wrap="square" lIns="0" tIns="0" rIns="0" bIns="0" rtlCol="0" anchor="ctr">
            <a:normAutofit/>
          </a:bodyPr>
          <a:lstStyle/>
          <a:p>
            <a:pPr marL="0" indent="0">
              <a:buNone/>
            </a:pPr>
            <a:r>
              <a:rPr lang="en-US" sz="2800" b="1" dirty="0">
                <a:solidFill>
                  <a:schemeClr val="tx2"/>
                </a:solidFill>
              </a:rPr>
              <a:t>28.881</a:t>
            </a:r>
            <a:endParaRPr lang="en-US" sz="2800" dirty="0"/>
          </a:p>
        </p:txBody>
      </p:sp>
      <p:sp>
        <p:nvSpPr>
          <p:cNvPr id="13" name="Text 11"/>
          <p:cNvSpPr txBox="1"/>
          <p:nvPr/>
        </p:nvSpPr>
        <p:spPr>
          <a:xfrm>
            <a:off x="5257800" y="2399386"/>
            <a:ext cx="1554480" cy="298094"/>
          </a:xfrm>
          <a:prstGeom prst="rect">
            <a:avLst/>
          </a:prstGeom>
          <a:noFill/>
          <a:ln/>
        </p:spPr>
        <p:txBody>
          <a:bodyPr wrap="square" lIns="0" tIns="0" rIns="0" bIns="0" rtlCol="0" anchor="t"/>
          <a:lstStyle/>
          <a:p>
            <a:pPr marL="0" indent="0">
              <a:buNone/>
            </a:pPr>
            <a:r>
              <a:rPr lang="en-US" sz="1200" dirty="0">
                <a:solidFill>
                  <a:schemeClr val="accent6"/>
                </a:solidFill>
              </a:rPr>
              <a:t>unit</a:t>
            </a:r>
            <a:endParaRPr lang="en-US" sz="1200" dirty="0"/>
          </a:p>
        </p:txBody>
      </p:sp>
      <p:sp>
        <p:nvSpPr>
          <p:cNvPr id="14" name="kpi baris billing awal"/>
          <p:cNvSpPr/>
          <p:nvPr/>
        </p:nvSpPr>
        <p:spPr>
          <a:xfrm>
            <a:off x="7269480" y="1645920"/>
            <a:ext cx="2011680" cy="1188720"/>
          </a:xfrm>
          <a:prstGeom prst="roundRect">
            <a:avLst>
              <a:gd name="adj" fmla="val 6154"/>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7498080" y="1810512"/>
            <a:ext cx="1554480" cy="570586"/>
          </a:xfrm>
          <a:prstGeom prst="rect">
            <a:avLst/>
          </a:prstGeom>
          <a:noFill/>
          <a:ln/>
        </p:spPr>
        <p:txBody>
          <a:bodyPr wrap="square" lIns="0" tIns="0" rIns="0" bIns="0" rtlCol="0" anchor="ctr">
            <a:normAutofit/>
          </a:bodyPr>
          <a:lstStyle/>
          <a:p>
            <a:pPr marL="0" indent="0">
              <a:buNone/>
            </a:pPr>
            <a:r>
              <a:rPr lang="en-US" sz="2800" b="1" dirty="0">
                <a:solidFill>
                  <a:schemeClr val="tx2"/>
                </a:solidFill>
              </a:rPr>
              <a:t>807.427</a:t>
            </a:r>
            <a:endParaRPr lang="en-US" sz="2800" dirty="0"/>
          </a:p>
        </p:txBody>
      </p:sp>
      <p:sp>
        <p:nvSpPr>
          <p:cNvPr id="16" name="Text 14"/>
          <p:cNvSpPr txBox="1"/>
          <p:nvPr/>
        </p:nvSpPr>
        <p:spPr>
          <a:xfrm>
            <a:off x="7498080" y="2399386"/>
            <a:ext cx="1554480" cy="298094"/>
          </a:xfrm>
          <a:prstGeom prst="rect">
            <a:avLst/>
          </a:prstGeom>
          <a:noFill/>
          <a:ln/>
        </p:spPr>
        <p:txBody>
          <a:bodyPr wrap="square" lIns="0" tIns="0" rIns="0" bIns="0" rtlCol="0" anchor="t"/>
          <a:lstStyle/>
          <a:p>
            <a:pPr marL="0" indent="0">
              <a:buNone/>
            </a:pPr>
            <a:r>
              <a:rPr lang="en-US" sz="1200" dirty="0">
                <a:solidFill>
                  <a:schemeClr val="accent6"/>
                </a:solidFill>
              </a:rPr>
              <a:t>baris billing awal</a:t>
            </a:r>
            <a:endParaRPr lang="en-US" sz="1200" dirty="0"/>
          </a:p>
        </p:txBody>
      </p:sp>
      <p:sp>
        <p:nvSpPr>
          <p:cNvPr id="17" name="kpi invoice utama dianalisis"/>
          <p:cNvSpPr/>
          <p:nvPr/>
        </p:nvSpPr>
        <p:spPr>
          <a:xfrm>
            <a:off x="9509760" y="1645920"/>
            <a:ext cx="2011680" cy="1188720"/>
          </a:xfrm>
          <a:prstGeom prst="roundRect">
            <a:avLst>
              <a:gd name="adj" fmla="val 6154"/>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Text 16"/>
          <p:cNvSpPr txBox="1"/>
          <p:nvPr/>
        </p:nvSpPr>
        <p:spPr>
          <a:xfrm>
            <a:off x="9738360" y="1810512"/>
            <a:ext cx="1554480" cy="570586"/>
          </a:xfrm>
          <a:prstGeom prst="rect">
            <a:avLst/>
          </a:prstGeom>
          <a:noFill/>
          <a:ln/>
        </p:spPr>
        <p:txBody>
          <a:bodyPr wrap="square" lIns="0" tIns="0" rIns="0" bIns="0" rtlCol="0" anchor="ctr">
            <a:normAutofit/>
          </a:bodyPr>
          <a:lstStyle/>
          <a:p>
            <a:pPr marL="0" indent="0">
              <a:buNone/>
            </a:pPr>
            <a:r>
              <a:rPr lang="en-US" sz="2800" b="1" dirty="0">
                <a:solidFill>
                  <a:schemeClr val="accent3"/>
                </a:solidFill>
              </a:rPr>
              <a:t>768.978</a:t>
            </a:r>
            <a:endParaRPr lang="en-US" sz="2800" dirty="0"/>
          </a:p>
        </p:txBody>
      </p:sp>
      <p:sp>
        <p:nvSpPr>
          <p:cNvPr id="19" name="Text 17"/>
          <p:cNvSpPr txBox="1"/>
          <p:nvPr/>
        </p:nvSpPr>
        <p:spPr>
          <a:xfrm>
            <a:off x="9738360" y="2399386"/>
            <a:ext cx="1554480" cy="298094"/>
          </a:xfrm>
          <a:prstGeom prst="rect">
            <a:avLst/>
          </a:prstGeom>
          <a:noFill/>
          <a:ln/>
        </p:spPr>
        <p:txBody>
          <a:bodyPr wrap="square" lIns="0" tIns="0" rIns="0" bIns="0" rtlCol="0" anchor="t"/>
          <a:lstStyle/>
          <a:p>
            <a:pPr marL="0" indent="0">
              <a:buNone/>
            </a:pPr>
            <a:r>
              <a:rPr lang="en-US" sz="1200" dirty="0">
                <a:solidFill>
                  <a:schemeClr val="accent6"/>
                </a:solidFill>
              </a:rPr>
              <a:t>invoice utama dianalisis</a:t>
            </a:r>
            <a:endParaRPr lang="en-US" sz="1200" dirty="0"/>
          </a:p>
        </p:txBody>
      </p:sp>
      <p:sp>
        <p:nvSpPr>
          <p:cNvPr id="20" name="tabel sml_clusters"/>
          <p:cNvSpPr/>
          <p:nvPr/>
        </p:nvSpPr>
        <p:spPr>
          <a:xfrm>
            <a:off x="548640" y="3429000"/>
            <a:ext cx="1783080" cy="914400"/>
          </a:xfrm>
          <a:prstGeom prst="roundRect">
            <a:avLst>
              <a:gd name="adj" fmla="val 8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1" name="Text 19"/>
          <p:cNvSpPr txBox="1"/>
          <p:nvPr/>
        </p:nvSpPr>
        <p:spPr>
          <a:xfrm>
            <a:off x="658368" y="3538728"/>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sml_clusters</a:t>
            </a:r>
            <a:endParaRPr lang="en-US" sz="1200" dirty="0"/>
          </a:p>
        </p:txBody>
      </p:sp>
      <p:sp>
        <p:nvSpPr>
          <p:cNvPr id="22" name="Text 20"/>
          <p:cNvSpPr txBox="1"/>
          <p:nvPr/>
        </p:nvSpPr>
        <p:spPr>
          <a:xfrm>
            <a:off x="658368" y="3886200"/>
            <a:ext cx="1600200" cy="365760"/>
          </a:xfrm>
          <a:prstGeom prst="rect">
            <a:avLst/>
          </a:prstGeom>
          <a:noFill/>
          <a:ln/>
        </p:spPr>
        <p:txBody>
          <a:bodyPr wrap="square" lIns="0" tIns="0" rIns="0" bIns="0" rtlCol="0" anchor="t"/>
          <a:lstStyle/>
          <a:p>
            <a:pPr marL="0" indent="0">
              <a:buNone/>
            </a:pPr>
            <a:r>
              <a:rPr lang="en-US" sz="1100" dirty="0">
                <a:solidFill>
                  <a:schemeClr val="accent6"/>
                </a:solidFill>
              </a:rPr>
              <a:t>Dimensi kawasan</a:t>
            </a:r>
            <a:endParaRPr lang="en-US" sz="1100" dirty="0"/>
          </a:p>
        </p:txBody>
      </p:sp>
      <p:sp>
        <p:nvSpPr>
          <p:cNvPr id="23" name="tabel sml_units"/>
          <p:cNvSpPr/>
          <p:nvPr/>
        </p:nvSpPr>
        <p:spPr>
          <a:xfrm>
            <a:off x="2697480" y="3429000"/>
            <a:ext cx="1783080" cy="914400"/>
          </a:xfrm>
          <a:prstGeom prst="roundRect">
            <a:avLst>
              <a:gd name="adj" fmla="val 8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4" name="Text 22"/>
          <p:cNvSpPr txBox="1"/>
          <p:nvPr/>
        </p:nvSpPr>
        <p:spPr>
          <a:xfrm>
            <a:off x="2807208" y="3538728"/>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sml_units</a:t>
            </a:r>
            <a:endParaRPr lang="en-US" sz="1200" dirty="0"/>
          </a:p>
        </p:txBody>
      </p:sp>
      <p:sp>
        <p:nvSpPr>
          <p:cNvPr id="25" name="Text 23"/>
          <p:cNvSpPr txBox="1"/>
          <p:nvPr/>
        </p:nvSpPr>
        <p:spPr>
          <a:xfrm>
            <a:off x="2807208" y="3886200"/>
            <a:ext cx="1600200" cy="365760"/>
          </a:xfrm>
          <a:prstGeom prst="rect">
            <a:avLst/>
          </a:prstGeom>
          <a:noFill/>
          <a:ln/>
        </p:spPr>
        <p:txBody>
          <a:bodyPr wrap="square" lIns="0" tIns="0" rIns="0" bIns="0" rtlCol="0" anchor="t"/>
          <a:lstStyle/>
          <a:p>
            <a:pPr marL="0" indent="0">
              <a:buNone/>
            </a:pPr>
            <a:r>
              <a:rPr lang="en-US" sz="1100" dirty="0">
                <a:solidFill>
                  <a:schemeClr val="accent6"/>
                </a:solidFill>
              </a:rPr>
              <a:t>Dimensi unit &amp; pemilik</a:t>
            </a:r>
            <a:endParaRPr lang="en-US" sz="1100" dirty="0"/>
          </a:p>
        </p:txBody>
      </p:sp>
      <p:sp>
        <p:nvSpPr>
          <p:cNvPr id="26" name="tabel sml_ipl_billings"/>
          <p:cNvSpPr/>
          <p:nvPr/>
        </p:nvSpPr>
        <p:spPr>
          <a:xfrm>
            <a:off x="4846320" y="3429000"/>
            <a:ext cx="1783080" cy="914400"/>
          </a:xfrm>
          <a:prstGeom prst="roundRect">
            <a:avLst>
              <a:gd name="adj" fmla="val 8000"/>
            </a:avLst>
          </a:prstGeom>
          <a:solidFill>
            <a:srgbClr val="F3E7BF"/>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7" name="Text 25"/>
          <p:cNvSpPr txBox="1"/>
          <p:nvPr/>
        </p:nvSpPr>
        <p:spPr>
          <a:xfrm>
            <a:off x="4956048" y="3538728"/>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sml_ipl_billings</a:t>
            </a:r>
            <a:endParaRPr lang="en-US" sz="1200" dirty="0"/>
          </a:p>
        </p:txBody>
      </p:sp>
      <p:sp>
        <p:nvSpPr>
          <p:cNvPr id="28" name="Text 26"/>
          <p:cNvSpPr txBox="1"/>
          <p:nvPr/>
        </p:nvSpPr>
        <p:spPr>
          <a:xfrm>
            <a:off x="4956048" y="3886200"/>
            <a:ext cx="1600200" cy="365760"/>
          </a:xfrm>
          <a:prstGeom prst="rect">
            <a:avLst/>
          </a:prstGeom>
          <a:noFill/>
          <a:ln/>
        </p:spPr>
        <p:txBody>
          <a:bodyPr wrap="square" lIns="0" tIns="0" rIns="0" bIns="0" rtlCol="0" anchor="t"/>
          <a:lstStyle/>
          <a:p>
            <a:pPr marL="0" indent="0">
              <a:buNone/>
            </a:pPr>
            <a:r>
              <a:rPr lang="en-US" sz="1100" dirty="0">
                <a:solidFill>
                  <a:schemeClr val="accent6"/>
                </a:solidFill>
              </a:rPr>
              <a:t>Fakta tagihan bulanan</a:t>
            </a:r>
            <a:endParaRPr lang="en-US" sz="1100" dirty="0"/>
          </a:p>
        </p:txBody>
      </p:sp>
      <p:sp>
        <p:nvSpPr>
          <p:cNvPr id="29" name="tabel sml_collection_actions"/>
          <p:cNvSpPr/>
          <p:nvPr/>
        </p:nvSpPr>
        <p:spPr>
          <a:xfrm>
            <a:off x="3749040" y="5120640"/>
            <a:ext cx="1783080" cy="914400"/>
          </a:xfrm>
          <a:prstGeom prst="roundRect">
            <a:avLst>
              <a:gd name="adj" fmla="val 8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30" name="Text 28"/>
          <p:cNvSpPr txBox="1"/>
          <p:nvPr/>
        </p:nvSpPr>
        <p:spPr>
          <a:xfrm>
            <a:off x="3858768" y="5230368"/>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sml_collection_actions</a:t>
            </a:r>
            <a:endParaRPr lang="en-US" sz="1200" dirty="0"/>
          </a:p>
        </p:txBody>
      </p:sp>
      <p:sp>
        <p:nvSpPr>
          <p:cNvPr id="31" name="Text 29"/>
          <p:cNvSpPr txBox="1"/>
          <p:nvPr/>
        </p:nvSpPr>
        <p:spPr>
          <a:xfrm>
            <a:off x="3858768" y="5577840"/>
            <a:ext cx="1600200" cy="365760"/>
          </a:xfrm>
          <a:prstGeom prst="rect">
            <a:avLst/>
          </a:prstGeom>
          <a:noFill/>
          <a:ln/>
        </p:spPr>
        <p:txBody>
          <a:bodyPr wrap="square" lIns="0" tIns="0" rIns="0" bIns="0" rtlCol="0" anchor="t"/>
          <a:lstStyle/>
          <a:p>
            <a:pPr marL="0" indent="0">
              <a:buNone/>
            </a:pPr>
            <a:r>
              <a:rPr lang="en-US" sz="1100" dirty="0">
                <a:solidFill>
                  <a:schemeClr val="accent6"/>
                </a:solidFill>
              </a:rPr>
              <a:t>Aksi penagihan</a:t>
            </a:r>
            <a:endParaRPr lang="en-US" sz="1100" dirty="0"/>
          </a:p>
        </p:txBody>
      </p:sp>
      <p:sp>
        <p:nvSpPr>
          <p:cNvPr id="32" name="tabel sml_payment_disputes"/>
          <p:cNvSpPr/>
          <p:nvPr/>
        </p:nvSpPr>
        <p:spPr>
          <a:xfrm>
            <a:off x="5806440" y="5120640"/>
            <a:ext cx="1783080" cy="914400"/>
          </a:xfrm>
          <a:prstGeom prst="roundRect">
            <a:avLst>
              <a:gd name="adj" fmla="val 8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33" name="Text 31"/>
          <p:cNvSpPr txBox="1"/>
          <p:nvPr/>
        </p:nvSpPr>
        <p:spPr>
          <a:xfrm>
            <a:off x="5916168" y="5230368"/>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sml_payment_disputes</a:t>
            </a:r>
            <a:endParaRPr lang="en-US" sz="1200" dirty="0"/>
          </a:p>
        </p:txBody>
      </p:sp>
      <p:sp>
        <p:nvSpPr>
          <p:cNvPr id="34" name="Text 32"/>
          <p:cNvSpPr txBox="1"/>
          <p:nvPr/>
        </p:nvSpPr>
        <p:spPr>
          <a:xfrm>
            <a:off x="5916168" y="5577840"/>
            <a:ext cx="1600200" cy="365760"/>
          </a:xfrm>
          <a:prstGeom prst="rect">
            <a:avLst/>
          </a:prstGeom>
          <a:noFill/>
          <a:ln/>
        </p:spPr>
        <p:txBody>
          <a:bodyPr wrap="square" lIns="0" tIns="0" rIns="0" bIns="0" rtlCol="0" anchor="t"/>
          <a:lstStyle/>
          <a:p>
            <a:pPr marL="0" indent="0">
              <a:buNone/>
            </a:pPr>
            <a:r>
              <a:rPr lang="en-US" sz="1100" dirty="0">
                <a:solidFill>
                  <a:schemeClr val="accent6"/>
                </a:solidFill>
              </a:rPr>
              <a:t>Sengketa tagihan</a:t>
            </a:r>
            <a:endParaRPr lang="en-US" sz="1100" dirty="0"/>
          </a:p>
        </p:txBody>
      </p:sp>
      <p:sp>
        <p:nvSpPr>
          <p:cNvPr id="35" name="relasi"/>
          <p:cNvSpPr/>
          <p:nvPr/>
        </p:nvSpPr>
        <p:spPr>
          <a:xfrm>
            <a:off x="2331720" y="3886200"/>
            <a:ext cx="365760" cy="0"/>
          </a:xfrm>
          <a:prstGeom prst="line">
            <a:avLst/>
          </a:prstGeom>
          <a:noFill/>
          <a:ln w="15875">
            <a:solidFill>
              <a:srgbClr val="7B8494"/>
            </a:solidFill>
            <a:prstDash val="solid"/>
            <a:tailEnd type="triangle"/>
          </a:ln>
        </p:spPr>
        <p:txBody>
          <a:bodyPr/>
          <a:lstStyle/>
          <a:p>
            <a:endParaRPr lang="en-US"/>
          </a:p>
        </p:txBody>
      </p:sp>
      <p:sp>
        <p:nvSpPr>
          <p:cNvPr id="36" name="relasi"/>
          <p:cNvSpPr/>
          <p:nvPr/>
        </p:nvSpPr>
        <p:spPr>
          <a:xfrm>
            <a:off x="4480560" y="3886200"/>
            <a:ext cx="365760" cy="0"/>
          </a:xfrm>
          <a:prstGeom prst="line">
            <a:avLst/>
          </a:prstGeom>
          <a:noFill/>
          <a:ln w="15875">
            <a:solidFill>
              <a:srgbClr val="7B8494"/>
            </a:solidFill>
            <a:prstDash val="solid"/>
            <a:tailEnd type="triangle"/>
          </a:ln>
        </p:spPr>
        <p:txBody>
          <a:bodyPr/>
          <a:lstStyle/>
          <a:p>
            <a:endParaRPr lang="en-US"/>
          </a:p>
        </p:txBody>
      </p:sp>
      <p:sp>
        <p:nvSpPr>
          <p:cNvPr id="37" name="relasi"/>
          <p:cNvSpPr/>
          <p:nvPr/>
        </p:nvSpPr>
        <p:spPr>
          <a:xfrm flipH="1">
            <a:off x="4640580" y="4343400"/>
            <a:ext cx="1097280" cy="777240"/>
          </a:xfrm>
          <a:prstGeom prst="line">
            <a:avLst/>
          </a:prstGeom>
          <a:noFill/>
          <a:ln w="15875">
            <a:solidFill>
              <a:srgbClr val="7B8494"/>
            </a:solidFill>
            <a:prstDash val="solid"/>
            <a:tailEnd type="triangle"/>
          </a:ln>
        </p:spPr>
        <p:txBody>
          <a:bodyPr/>
          <a:lstStyle/>
          <a:p>
            <a:endParaRPr lang="en-US"/>
          </a:p>
        </p:txBody>
      </p:sp>
      <p:sp>
        <p:nvSpPr>
          <p:cNvPr id="38" name="relasi"/>
          <p:cNvSpPr/>
          <p:nvPr/>
        </p:nvSpPr>
        <p:spPr>
          <a:xfrm>
            <a:off x="5737860" y="4343400"/>
            <a:ext cx="960120" cy="777240"/>
          </a:xfrm>
          <a:prstGeom prst="line">
            <a:avLst/>
          </a:prstGeom>
          <a:noFill/>
          <a:ln w="15875">
            <a:solidFill>
              <a:srgbClr val="7B8494"/>
            </a:solidFill>
            <a:prstDash val="solid"/>
            <a:tailEnd type="triangle"/>
          </a:ln>
        </p:spPr>
        <p:txBody>
          <a:bodyPr/>
          <a:lstStyle/>
          <a:p>
            <a:endParaRPr lang="en-US"/>
          </a:p>
        </p:txBody>
      </p:sp>
      <p:sp>
        <p:nvSpPr>
          <p:cNvPr id="39" name="Text 37"/>
          <p:cNvSpPr txBox="1"/>
          <p:nvPr/>
        </p:nvSpPr>
        <p:spPr>
          <a:xfrm>
            <a:off x="2304288" y="3611880"/>
            <a:ext cx="457200" cy="228600"/>
          </a:xfrm>
          <a:prstGeom prst="rect">
            <a:avLst/>
          </a:prstGeom>
          <a:noFill/>
          <a:ln/>
        </p:spPr>
        <p:txBody>
          <a:bodyPr wrap="square" lIns="0" tIns="0" rIns="0" bIns="0" rtlCol="0" anchor="t"/>
          <a:lstStyle/>
          <a:p>
            <a:pPr marL="0" indent="0">
              <a:buNone/>
            </a:pPr>
            <a:r>
              <a:rPr lang="en-US" sz="1000" dirty="0">
                <a:solidFill>
                  <a:schemeClr val="accent6"/>
                </a:solidFill>
              </a:rPr>
              <a:t>1 : N</a:t>
            </a:r>
            <a:endParaRPr lang="en-US" sz="1000" dirty="0"/>
          </a:p>
        </p:txBody>
      </p:sp>
      <p:sp>
        <p:nvSpPr>
          <p:cNvPr id="40" name="Text 38"/>
          <p:cNvSpPr txBox="1"/>
          <p:nvPr/>
        </p:nvSpPr>
        <p:spPr>
          <a:xfrm>
            <a:off x="4453128" y="3611880"/>
            <a:ext cx="457200" cy="228600"/>
          </a:xfrm>
          <a:prstGeom prst="rect">
            <a:avLst/>
          </a:prstGeom>
          <a:noFill/>
          <a:ln/>
        </p:spPr>
        <p:txBody>
          <a:bodyPr wrap="square" lIns="0" tIns="0" rIns="0" bIns="0" rtlCol="0" anchor="t"/>
          <a:lstStyle/>
          <a:p>
            <a:pPr marL="0" indent="0">
              <a:buNone/>
            </a:pPr>
            <a:r>
              <a:rPr lang="en-US" sz="1000" dirty="0">
                <a:solidFill>
                  <a:schemeClr val="accent6"/>
                </a:solidFill>
              </a:rPr>
              <a:t>1 : N</a:t>
            </a:r>
            <a:endParaRPr lang="en-US" sz="1000" dirty="0"/>
          </a:p>
        </p:txBody>
      </p:sp>
      <p:sp>
        <p:nvSpPr>
          <p:cNvPr id="41" name="Text 39"/>
          <p:cNvSpPr txBox="1"/>
          <p:nvPr/>
        </p:nvSpPr>
        <p:spPr>
          <a:xfrm>
            <a:off x="4434840" y="4526280"/>
            <a:ext cx="731520" cy="228600"/>
          </a:xfrm>
          <a:prstGeom prst="rect">
            <a:avLst/>
          </a:prstGeom>
          <a:noFill/>
          <a:ln/>
        </p:spPr>
        <p:txBody>
          <a:bodyPr wrap="square" lIns="0" tIns="0" rIns="0" bIns="0" rtlCol="0" anchor="t"/>
          <a:lstStyle/>
          <a:p>
            <a:pPr marL="0" indent="0">
              <a:buNone/>
            </a:pPr>
            <a:r>
              <a:rPr lang="en-US" sz="1000" dirty="0">
                <a:solidFill>
                  <a:schemeClr val="accent6"/>
                </a:solidFill>
              </a:rPr>
              <a:t>1 : 0..N</a:t>
            </a:r>
            <a:endParaRPr lang="en-US" sz="1000" dirty="0"/>
          </a:p>
        </p:txBody>
      </p:sp>
      <p:sp>
        <p:nvSpPr>
          <p:cNvPr id="42" name="Text 40"/>
          <p:cNvSpPr txBox="1"/>
          <p:nvPr/>
        </p:nvSpPr>
        <p:spPr>
          <a:xfrm>
            <a:off x="6355080" y="4526280"/>
            <a:ext cx="731520" cy="228600"/>
          </a:xfrm>
          <a:prstGeom prst="rect">
            <a:avLst/>
          </a:prstGeom>
          <a:noFill/>
          <a:ln/>
        </p:spPr>
        <p:txBody>
          <a:bodyPr wrap="square" lIns="0" tIns="0" rIns="0" bIns="0" rtlCol="0" anchor="t"/>
          <a:lstStyle/>
          <a:p>
            <a:pPr marL="0" indent="0">
              <a:buNone/>
            </a:pPr>
            <a:r>
              <a:rPr lang="en-US" sz="1000" dirty="0">
                <a:solidFill>
                  <a:schemeClr val="accent6"/>
                </a:solidFill>
              </a:rPr>
              <a:t>1 : 0..N</a:t>
            </a:r>
            <a:endParaRPr lang="en-US" sz="1000" dirty="0"/>
          </a:p>
        </p:txBody>
      </p:sp>
      <p:sp>
        <p:nvSpPr>
          <p:cNvPr id="43" name="catatan cakupan"/>
          <p:cNvSpPr/>
          <p:nvPr/>
        </p:nvSpPr>
        <p:spPr>
          <a:xfrm>
            <a:off x="7863840" y="3429000"/>
            <a:ext cx="3776472" cy="2560320"/>
          </a:xfrm>
          <a:prstGeom prst="roundRect">
            <a:avLst>
              <a:gd name="adj" fmla="val 2857"/>
            </a:avLst>
          </a:prstGeom>
          <a:solidFill>
            <a:srgbClr val="F7F5F0"/>
          </a:solidFill>
          <a:ln w="9525">
            <a:solidFill>
              <a:srgbClr val="DCE1E8"/>
            </a:solidFill>
            <a:prstDash val="solid"/>
          </a:ln>
        </p:spPr>
        <p:txBody>
          <a:bodyPr/>
          <a:lstStyle/>
          <a:p>
            <a:endParaRPr lang="en-US"/>
          </a:p>
        </p:txBody>
      </p:sp>
      <p:sp>
        <p:nvSpPr>
          <p:cNvPr id="44" name="Text 42"/>
          <p:cNvSpPr txBox="1"/>
          <p:nvPr/>
        </p:nvSpPr>
        <p:spPr>
          <a:xfrm>
            <a:off x="8092440" y="3611880"/>
            <a:ext cx="36576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CATATAN CAKUPAN</a:t>
            </a:r>
            <a:endParaRPr lang="en-US" sz="1100" dirty="0"/>
          </a:p>
        </p:txBody>
      </p:sp>
      <p:sp>
        <p:nvSpPr>
          <p:cNvPr id="45" name="Text 43"/>
          <p:cNvSpPr txBox="1"/>
          <p:nvPr/>
        </p:nvSpPr>
        <p:spPr>
          <a:xfrm>
            <a:off x="8092440" y="3977640"/>
            <a:ext cx="3383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Periode penerbitan Juli 2022 – Desember 2024 (30 bulan).</a:t>
            </a:r>
            <a:endParaRPr lang="en-US" sz="1300" dirty="0"/>
          </a:p>
          <a:p>
            <a:pPr marL="342900" indent="-342900">
              <a:spcAft>
                <a:spcPts val="600"/>
              </a:spcAft>
              <a:buSzPct val="100000"/>
              <a:buChar char="•"/>
            </a:pPr>
            <a:r>
              <a:rPr lang="en-US" sz="1300" dirty="0">
                <a:solidFill>
                  <a:schemeClr val="tx1"/>
                </a:solidFill>
              </a:rPr>
              <a:t>Status per 27 Januari 2025 = kejadian terakhir pada data; perlu dikonfirmasi log ekstraksi.</a:t>
            </a:r>
            <a:endParaRPr lang="en-US" sz="1300" dirty="0"/>
          </a:p>
          <a:p>
            <a:pPr marL="342900" indent="-342900">
              <a:spcAft>
                <a:spcPts val="600"/>
              </a:spcAft>
              <a:buSzPct val="100000"/>
              <a:buChar char="•"/>
            </a:pPr>
            <a:r>
              <a:rPr lang="en-US" sz="1300" dirty="0">
                <a:solidFill>
                  <a:schemeClr val="tx1"/>
                </a:solidFill>
              </a:rPr>
              <a:t>38.449 salinan tagihan ganda ditandai dan dikeluarkan dari perhitungan NPI.</a:t>
            </a:r>
            <a:endParaRPr lang="en-US" sz="1300" dirty="0"/>
          </a:p>
        </p:txBody>
      </p:sp>
      <p:sp>
        <p:nvSpPr>
          <p:cNvPr id="46"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METODOLOGI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err="1">
                <a:solidFill>
                  <a:schemeClr val="tx2"/>
                </a:solidFill>
              </a:rPr>
              <a:t>Setiap</a:t>
            </a:r>
            <a:r>
              <a:rPr lang="en-US" sz="2600" b="1" dirty="0">
                <a:solidFill>
                  <a:schemeClr val="tx2"/>
                </a:solidFill>
              </a:rPr>
              <a:t> data melewati tujuh tahap, </a:t>
            </a:r>
            <a:r>
              <a:rPr lang="en-US" sz="2600" b="1" dirty="0" err="1">
                <a:solidFill>
                  <a:schemeClr val="tx2"/>
                </a:solidFill>
              </a:rPr>
              <a:t>dari</a:t>
            </a:r>
            <a:r>
              <a:rPr lang="en-US" sz="2600" b="1" dirty="0">
                <a:solidFill>
                  <a:schemeClr val="tx2"/>
                </a:solidFill>
              </a:rPr>
              <a:t> snapshot data </a:t>
            </a:r>
            <a:r>
              <a:rPr lang="en-US" sz="2600" b="1" dirty="0" err="1">
                <a:solidFill>
                  <a:schemeClr val="tx2"/>
                </a:solidFill>
              </a:rPr>
              <a:t>sampai</a:t>
            </a:r>
            <a:r>
              <a:rPr lang="en-US" sz="2600" b="1" dirty="0">
                <a:solidFill>
                  <a:schemeClr val="tx2"/>
                </a:solidFill>
              </a:rPr>
              <a:t> simulasi keputusan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tahap Snapshot"/>
          <p:cNvSpPr/>
          <p:nvPr/>
        </p:nvSpPr>
        <p:spPr>
          <a:xfrm>
            <a:off x="548640" y="1783080"/>
            <a:ext cx="1463040" cy="23774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penanda 1"/>
          <p:cNvSpPr txBox="1"/>
          <p:nvPr/>
        </p:nvSpPr>
        <p:spPr>
          <a:xfrm>
            <a:off x="685800" y="1938528"/>
            <a:ext cx="365760" cy="36576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685800" y="2423160"/>
            <a:ext cx="1234440" cy="548640"/>
          </a:xfrm>
          <a:prstGeom prst="rect">
            <a:avLst/>
          </a:prstGeom>
          <a:noFill/>
          <a:ln/>
        </p:spPr>
        <p:txBody>
          <a:bodyPr wrap="square" lIns="0" tIns="0" rIns="0" bIns="0" rtlCol="0" anchor="t"/>
          <a:lstStyle/>
          <a:p>
            <a:pPr marL="0" indent="0">
              <a:buNone/>
            </a:pPr>
            <a:r>
              <a:rPr lang="en-US" sz="1400" b="1" dirty="0">
                <a:solidFill>
                  <a:schemeClr val="tx2"/>
                </a:solidFill>
              </a:rPr>
              <a:t>Snapshot</a:t>
            </a:r>
            <a:endParaRPr lang="en-US" sz="1400" dirty="0"/>
          </a:p>
        </p:txBody>
      </p:sp>
      <p:sp>
        <p:nvSpPr>
          <p:cNvPr id="8" name="Text 6"/>
          <p:cNvSpPr txBox="1"/>
          <p:nvPr/>
        </p:nvSpPr>
        <p:spPr>
          <a:xfrm>
            <a:off x="685800" y="2971800"/>
            <a:ext cx="1234440" cy="1097280"/>
          </a:xfrm>
          <a:prstGeom prst="rect">
            <a:avLst/>
          </a:prstGeom>
          <a:noFill/>
          <a:ln/>
        </p:spPr>
        <p:txBody>
          <a:bodyPr wrap="square" lIns="0" tIns="0" rIns="0" bIns="0" rtlCol="0" anchor="t"/>
          <a:lstStyle/>
          <a:p>
            <a:pPr marL="0" indent="0">
              <a:buNone/>
            </a:pPr>
            <a:r>
              <a:rPr lang="en-US" sz="1200" dirty="0">
                <a:solidFill>
                  <a:schemeClr val="tx1"/>
                </a:solidFill>
              </a:rPr>
              <a:t>Lima tabel dibaca sekali; database tidak diubah</a:t>
            </a:r>
            <a:endParaRPr lang="en-US" sz="1200" dirty="0"/>
          </a:p>
        </p:txBody>
      </p:sp>
      <p:sp>
        <p:nvSpPr>
          <p:cNvPr id="9" name="tahap Kualitas data"/>
          <p:cNvSpPr/>
          <p:nvPr/>
        </p:nvSpPr>
        <p:spPr>
          <a:xfrm>
            <a:off x="2167128" y="1783080"/>
            <a:ext cx="1463040" cy="23774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0" name="penanda 2"/>
          <p:cNvSpPr txBox="1"/>
          <p:nvPr/>
        </p:nvSpPr>
        <p:spPr>
          <a:xfrm>
            <a:off x="2304288" y="1938528"/>
            <a:ext cx="365760" cy="36576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 9"/>
          <p:cNvSpPr txBox="1"/>
          <p:nvPr/>
        </p:nvSpPr>
        <p:spPr>
          <a:xfrm>
            <a:off x="2304288" y="2423160"/>
            <a:ext cx="1234440" cy="548640"/>
          </a:xfrm>
          <a:prstGeom prst="rect">
            <a:avLst/>
          </a:prstGeom>
          <a:noFill/>
          <a:ln/>
        </p:spPr>
        <p:txBody>
          <a:bodyPr wrap="square" lIns="0" tIns="0" rIns="0" bIns="0" rtlCol="0" anchor="t"/>
          <a:lstStyle/>
          <a:p>
            <a:pPr marL="0" indent="0">
              <a:buNone/>
            </a:pPr>
            <a:r>
              <a:rPr lang="en-US" sz="1400" b="1" dirty="0">
                <a:solidFill>
                  <a:schemeClr val="tx2"/>
                </a:solidFill>
              </a:rPr>
              <a:t>Kualitas data</a:t>
            </a:r>
            <a:endParaRPr lang="en-US" sz="1400" dirty="0"/>
          </a:p>
        </p:txBody>
      </p:sp>
      <p:sp>
        <p:nvSpPr>
          <p:cNvPr id="12" name="Text 10"/>
          <p:cNvSpPr txBox="1"/>
          <p:nvPr/>
        </p:nvSpPr>
        <p:spPr>
          <a:xfrm>
            <a:off x="2304288" y="2971800"/>
            <a:ext cx="1234440" cy="1097280"/>
          </a:xfrm>
          <a:prstGeom prst="rect">
            <a:avLst/>
          </a:prstGeom>
          <a:noFill/>
          <a:ln/>
        </p:spPr>
        <p:txBody>
          <a:bodyPr wrap="square" lIns="0" tIns="0" rIns="0" bIns="0" rtlCol="0" anchor="t"/>
          <a:lstStyle/>
          <a:p>
            <a:pPr marL="0" indent="0">
              <a:buNone/>
            </a:pPr>
            <a:r>
              <a:rPr lang="en-US" sz="1200" dirty="0">
                <a:solidFill>
                  <a:schemeClr val="tx1"/>
                </a:solidFill>
              </a:rPr>
              <a:t>Relasi, missing value, duplikat, anomali</a:t>
            </a:r>
            <a:endParaRPr lang="en-US" sz="1200" dirty="0"/>
          </a:p>
        </p:txBody>
      </p:sp>
      <p:sp>
        <p:nvSpPr>
          <p:cNvPr id="13" name="tahap Cleaning"/>
          <p:cNvSpPr/>
          <p:nvPr/>
        </p:nvSpPr>
        <p:spPr>
          <a:xfrm>
            <a:off x="3785616" y="1783080"/>
            <a:ext cx="1463040" cy="23774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4" name="penanda 3"/>
          <p:cNvSpPr txBox="1"/>
          <p:nvPr/>
        </p:nvSpPr>
        <p:spPr>
          <a:xfrm>
            <a:off x="3922776" y="1938528"/>
            <a:ext cx="365760" cy="36576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Text 13"/>
          <p:cNvSpPr txBox="1"/>
          <p:nvPr/>
        </p:nvSpPr>
        <p:spPr>
          <a:xfrm>
            <a:off x="3922776" y="2423160"/>
            <a:ext cx="1234440" cy="548640"/>
          </a:xfrm>
          <a:prstGeom prst="rect">
            <a:avLst/>
          </a:prstGeom>
          <a:noFill/>
          <a:ln/>
        </p:spPr>
        <p:txBody>
          <a:bodyPr wrap="square" lIns="0" tIns="0" rIns="0" bIns="0" rtlCol="0" anchor="t"/>
          <a:lstStyle/>
          <a:p>
            <a:pPr marL="0" indent="0">
              <a:buNone/>
            </a:pPr>
            <a:r>
              <a:rPr lang="en-US" sz="1400" b="1" dirty="0">
                <a:solidFill>
                  <a:schemeClr val="tx2"/>
                </a:solidFill>
              </a:rPr>
              <a:t>Cleaning</a:t>
            </a:r>
            <a:endParaRPr lang="en-US" sz="1400" dirty="0"/>
          </a:p>
        </p:txBody>
      </p:sp>
      <p:sp>
        <p:nvSpPr>
          <p:cNvPr id="16" name="Text 14"/>
          <p:cNvSpPr txBox="1"/>
          <p:nvPr/>
        </p:nvSpPr>
        <p:spPr>
          <a:xfrm>
            <a:off x="3922776" y="2971800"/>
            <a:ext cx="1234440" cy="1097280"/>
          </a:xfrm>
          <a:prstGeom prst="rect">
            <a:avLst/>
          </a:prstGeom>
          <a:noFill/>
          <a:ln/>
        </p:spPr>
        <p:txBody>
          <a:bodyPr wrap="square" lIns="0" tIns="0" rIns="0" bIns="0" rtlCol="0" anchor="t"/>
          <a:lstStyle/>
          <a:p>
            <a:pPr marL="0" indent="0">
              <a:buNone/>
            </a:pPr>
            <a:r>
              <a:rPr lang="en-US" sz="1200" dirty="0">
                <a:solidFill>
                  <a:schemeClr val="tx1"/>
                </a:solidFill>
              </a:rPr>
              <a:t>Flag, bukan hapus; invoice utama per unit-bulan</a:t>
            </a:r>
            <a:endParaRPr lang="en-US" sz="1200" dirty="0"/>
          </a:p>
        </p:txBody>
      </p:sp>
      <p:sp>
        <p:nvSpPr>
          <p:cNvPr id="17" name="tahap Uji hipotesis"/>
          <p:cNvSpPr/>
          <p:nvPr/>
        </p:nvSpPr>
        <p:spPr>
          <a:xfrm>
            <a:off x="5404104" y="1783080"/>
            <a:ext cx="1463040" cy="23774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penanda 4"/>
          <p:cNvSpPr txBox="1"/>
          <p:nvPr/>
        </p:nvSpPr>
        <p:spPr>
          <a:xfrm>
            <a:off x="5541264" y="1938528"/>
            <a:ext cx="365760" cy="365760"/>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19" name="Text 17"/>
          <p:cNvSpPr txBox="1"/>
          <p:nvPr/>
        </p:nvSpPr>
        <p:spPr>
          <a:xfrm>
            <a:off x="5541264" y="2423160"/>
            <a:ext cx="1234440" cy="548640"/>
          </a:xfrm>
          <a:prstGeom prst="rect">
            <a:avLst/>
          </a:prstGeom>
          <a:noFill/>
          <a:ln/>
        </p:spPr>
        <p:txBody>
          <a:bodyPr wrap="square" lIns="0" tIns="0" rIns="0" bIns="0" rtlCol="0" anchor="t"/>
          <a:lstStyle/>
          <a:p>
            <a:pPr marL="0" indent="0">
              <a:buNone/>
            </a:pPr>
            <a:r>
              <a:rPr lang="en-US" sz="1400" b="1" dirty="0">
                <a:solidFill>
                  <a:schemeClr val="tx2"/>
                </a:solidFill>
              </a:rPr>
              <a:t>Uji hipotesis</a:t>
            </a:r>
            <a:endParaRPr lang="en-US" sz="1400" dirty="0"/>
          </a:p>
        </p:txBody>
      </p:sp>
      <p:sp>
        <p:nvSpPr>
          <p:cNvPr id="20" name="Text 18"/>
          <p:cNvSpPr txBox="1"/>
          <p:nvPr/>
        </p:nvSpPr>
        <p:spPr>
          <a:xfrm>
            <a:off x="5541264" y="2971800"/>
            <a:ext cx="1234440" cy="1097280"/>
          </a:xfrm>
          <a:prstGeom prst="rect">
            <a:avLst/>
          </a:prstGeom>
          <a:noFill/>
          <a:ln/>
        </p:spPr>
        <p:txBody>
          <a:bodyPr wrap="square" lIns="0" tIns="0" rIns="0" bIns="0" rtlCol="0" anchor="t"/>
          <a:lstStyle/>
          <a:p>
            <a:pPr marL="0" indent="0">
              <a:buNone/>
            </a:pPr>
            <a:r>
              <a:rPr lang="en-US" sz="1200" dirty="0">
                <a:solidFill>
                  <a:schemeClr val="tx1"/>
                </a:solidFill>
              </a:rPr>
              <a:t>Selisih poin, CI 95% per unit, Cramér's V, Holm</a:t>
            </a:r>
            <a:endParaRPr lang="en-US" sz="1200" dirty="0"/>
          </a:p>
        </p:txBody>
      </p:sp>
      <p:sp>
        <p:nvSpPr>
          <p:cNvPr id="21" name="tahap Pengendalian"/>
          <p:cNvSpPr/>
          <p:nvPr/>
        </p:nvSpPr>
        <p:spPr>
          <a:xfrm>
            <a:off x="7022592" y="1783080"/>
            <a:ext cx="1463040" cy="23774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2" name="penanda 5"/>
          <p:cNvSpPr txBox="1"/>
          <p:nvPr/>
        </p:nvSpPr>
        <p:spPr>
          <a:xfrm>
            <a:off x="7159752" y="1938528"/>
            <a:ext cx="365760" cy="365760"/>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5</a:t>
            </a:r>
            <a:endParaRPr lang="en-US" sz="1300" dirty="0"/>
          </a:p>
        </p:txBody>
      </p:sp>
      <p:sp>
        <p:nvSpPr>
          <p:cNvPr id="23" name="Text 21"/>
          <p:cNvSpPr txBox="1"/>
          <p:nvPr/>
        </p:nvSpPr>
        <p:spPr>
          <a:xfrm>
            <a:off x="7159752" y="2423160"/>
            <a:ext cx="1234440" cy="548640"/>
          </a:xfrm>
          <a:prstGeom prst="rect">
            <a:avLst/>
          </a:prstGeom>
          <a:noFill/>
          <a:ln/>
        </p:spPr>
        <p:txBody>
          <a:bodyPr wrap="square" lIns="0" tIns="0" rIns="0" bIns="0" rtlCol="0" anchor="t"/>
          <a:lstStyle/>
          <a:p>
            <a:pPr marL="0" indent="0">
              <a:buNone/>
            </a:pPr>
            <a:r>
              <a:rPr lang="en-US" sz="1400" b="1" dirty="0">
                <a:solidFill>
                  <a:schemeClr val="tx2"/>
                </a:solidFill>
              </a:rPr>
              <a:t>Pengendalian</a:t>
            </a:r>
            <a:endParaRPr lang="en-US" sz="1400" dirty="0"/>
          </a:p>
        </p:txBody>
      </p:sp>
      <p:sp>
        <p:nvSpPr>
          <p:cNvPr id="24" name="Text 22"/>
          <p:cNvSpPr txBox="1"/>
          <p:nvPr/>
        </p:nvSpPr>
        <p:spPr>
          <a:xfrm>
            <a:off x="7159752" y="2971800"/>
            <a:ext cx="1234440" cy="1097280"/>
          </a:xfrm>
          <a:prstGeom prst="rect">
            <a:avLst/>
          </a:prstGeom>
          <a:noFill/>
          <a:ln/>
        </p:spPr>
        <p:txBody>
          <a:bodyPr wrap="square" lIns="0" tIns="0" rIns="0" bIns="0" rtlCol="0" anchor="t"/>
          <a:lstStyle/>
          <a:p>
            <a:pPr marL="0" indent="0">
              <a:buNone/>
            </a:pPr>
            <a:r>
              <a:rPr lang="en-US" sz="1200" dirty="0">
                <a:solidFill>
                  <a:schemeClr val="tx1"/>
                </a:solidFill>
              </a:rPr>
              <a:t>Selisih dihitung dalam strata faktor lain</a:t>
            </a:r>
            <a:endParaRPr lang="en-US" sz="1200" dirty="0"/>
          </a:p>
        </p:txBody>
      </p:sp>
      <p:sp>
        <p:nvSpPr>
          <p:cNvPr id="25" name="tahap EDA stakeholder"/>
          <p:cNvSpPr/>
          <p:nvPr/>
        </p:nvSpPr>
        <p:spPr>
          <a:xfrm>
            <a:off x="8641080" y="1783080"/>
            <a:ext cx="1463040" cy="23774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6" name="penanda 6"/>
          <p:cNvSpPr txBox="1"/>
          <p:nvPr/>
        </p:nvSpPr>
        <p:spPr>
          <a:xfrm>
            <a:off x="8778240" y="1938528"/>
            <a:ext cx="365760" cy="365760"/>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6</a:t>
            </a:r>
            <a:endParaRPr lang="en-US" sz="1300" dirty="0"/>
          </a:p>
        </p:txBody>
      </p:sp>
      <p:sp>
        <p:nvSpPr>
          <p:cNvPr id="27" name="Text 25"/>
          <p:cNvSpPr txBox="1"/>
          <p:nvPr/>
        </p:nvSpPr>
        <p:spPr>
          <a:xfrm>
            <a:off x="8778240" y="2423160"/>
            <a:ext cx="1234440" cy="548640"/>
          </a:xfrm>
          <a:prstGeom prst="rect">
            <a:avLst/>
          </a:prstGeom>
          <a:noFill/>
          <a:ln/>
        </p:spPr>
        <p:txBody>
          <a:bodyPr wrap="square" lIns="0" tIns="0" rIns="0" bIns="0" rtlCol="0" anchor="t"/>
          <a:lstStyle/>
          <a:p>
            <a:pPr marL="0" indent="0">
              <a:buNone/>
            </a:pPr>
            <a:r>
              <a:rPr lang="en-US" sz="1400" b="1" dirty="0">
                <a:solidFill>
                  <a:schemeClr val="tx2"/>
                </a:solidFill>
              </a:rPr>
              <a:t>EDA stakeholder</a:t>
            </a:r>
            <a:endParaRPr lang="en-US" sz="1400" dirty="0"/>
          </a:p>
        </p:txBody>
      </p:sp>
      <p:sp>
        <p:nvSpPr>
          <p:cNvPr id="28" name="Text 26"/>
          <p:cNvSpPr txBox="1"/>
          <p:nvPr/>
        </p:nvSpPr>
        <p:spPr>
          <a:xfrm>
            <a:off x="8778240" y="2971800"/>
            <a:ext cx="1234440" cy="1097280"/>
          </a:xfrm>
          <a:prstGeom prst="rect">
            <a:avLst/>
          </a:prstGeom>
          <a:noFill/>
          <a:ln/>
        </p:spPr>
        <p:txBody>
          <a:bodyPr wrap="square" lIns="0" tIns="0" rIns="0" bIns="0" rtlCol="0" anchor="t"/>
          <a:lstStyle/>
          <a:p>
            <a:pPr marL="0" indent="0">
              <a:buNone/>
            </a:pPr>
            <a:r>
              <a:rPr lang="en-US" sz="1200" dirty="0">
                <a:solidFill>
                  <a:schemeClr val="tx1"/>
                </a:solidFill>
              </a:rPr>
              <a:t>Aging, daftar kerja, rekonsiliasi</a:t>
            </a:r>
            <a:endParaRPr lang="en-US" sz="1200" dirty="0"/>
          </a:p>
        </p:txBody>
      </p:sp>
      <p:sp>
        <p:nvSpPr>
          <p:cNvPr id="29" name="tahap Simulasi"/>
          <p:cNvSpPr/>
          <p:nvPr/>
        </p:nvSpPr>
        <p:spPr>
          <a:xfrm>
            <a:off x="10259568" y="1783080"/>
            <a:ext cx="1463040" cy="23774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30" name="penanda 7"/>
          <p:cNvSpPr txBox="1"/>
          <p:nvPr/>
        </p:nvSpPr>
        <p:spPr>
          <a:xfrm>
            <a:off x="10396728" y="1938528"/>
            <a:ext cx="365760" cy="365760"/>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7</a:t>
            </a:r>
            <a:endParaRPr lang="en-US" sz="1300" dirty="0"/>
          </a:p>
        </p:txBody>
      </p:sp>
      <p:sp>
        <p:nvSpPr>
          <p:cNvPr id="31" name="Text 29"/>
          <p:cNvSpPr txBox="1"/>
          <p:nvPr/>
        </p:nvSpPr>
        <p:spPr>
          <a:xfrm>
            <a:off x="10396728" y="2423160"/>
            <a:ext cx="1234440" cy="548640"/>
          </a:xfrm>
          <a:prstGeom prst="rect">
            <a:avLst/>
          </a:prstGeom>
          <a:noFill/>
          <a:ln/>
        </p:spPr>
        <p:txBody>
          <a:bodyPr wrap="square" lIns="0" tIns="0" rIns="0" bIns="0" rtlCol="0" anchor="t"/>
          <a:lstStyle/>
          <a:p>
            <a:pPr marL="0" indent="0">
              <a:buNone/>
            </a:pPr>
            <a:r>
              <a:rPr lang="en-US" sz="1400" b="1" dirty="0">
                <a:solidFill>
                  <a:schemeClr val="tx2"/>
                </a:solidFill>
              </a:rPr>
              <a:t>Simulasi</a:t>
            </a:r>
            <a:endParaRPr lang="en-US" sz="1400" dirty="0"/>
          </a:p>
        </p:txBody>
      </p:sp>
      <p:sp>
        <p:nvSpPr>
          <p:cNvPr id="32" name="Text 30"/>
          <p:cNvSpPr txBox="1"/>
          <p:nvPr/>
        </p:nvSpPr>
        <p:spPr>
          <a:xfrm>
            <a:off x="10396728" y="2971800"/>
            <a:ext cx="1234440" cy="1097280"/>
          </a:xfrm>
          <a:prstGeom prst="rect">
            <a:avLst/>
          </a:prstGeom>
          <a:noFill/>
          <a:ln/>
        </p:spPr>
        <p:txBody>
          <a:bodyPr wrap="square" lIns="0" tIns="0" rIns="0" bIns="0" rtlCol="0" anchor="t"/>
          <a:lstStyle/>
          <a:p>
            <a:pPr marL="0" indent="0">
              <a:buNone/>
            </a:pPr>
            <a:r>
              <a:rPr lang="en-US" sz="1200" dirty="0">
                <a:solidFill>
                  <a:schemeClr val="tx1"/>
                </a:solidFill>
              </a:rPr>
              <a:t>Skenario 25% / 50% / 100% keberhasilan</a:t>
            </a:r>
            <a:endParaRPr lang="en-US" sz="1200" dirty="0"/>
          </a:p>
        </p:txBody>
      </p:sp>
      <p:sp>
        <p:nvSpPr>
          <p:cNvPr id="33" name="prinsip pembacaan"/>
          <p:cNvSpPr/>
          <p:nvPr/>
        </p:nvSpPr>
        <p:spPr>
          <a:xfrm>
            <a:off x="548640" y="4434840"/>
            <a:ext cx="11091672" cy="1737360"/>
          </a:xfrm>
          <a:prstGeom prst="roundRect">
            <a:avLst>
              <a:gd name="adj" fmla="val 4211"/>
            </a:avLst>
          </a:prstGeom>
          <a:solidFill>
            <a:schemeClr val="tx2"/>
          </a:solidFill>
          <a:ln/>
        </p:spPr>
        <p:txBody>
          <a:bodyPr/>
          <a:lstStyle/>
          <a:p>
            <a:endParaRPr lang="en-US"/>
          </a:p>
        </p:txBody>
      </p:sp>
      <p:sp>
        <p:nvSpPr>
          <p:cNvPr id="34" name="Text 32"/>
          <p:cNvSpPr txBox="1"/>
          <p:nvPr/>
        </p:nvSpPr>
        <p:spPr>
          <a:xfrm>
            <a:off x="822960" y="4617720"/>
            <a:ext cx="457200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PRINSIP PEMBACAAN HASIL</a:t>
            </a:r>
            <a:endParaRPr lang="en-US" sz="1100" dirty="0"/>
          </a:p>
        </p:txBody>
      </p:sp>
      <p:sp>
        <p:nvSpPr>
          <p:cNvPr id="35" name="Text 33"/>
          <p:cNvSpPr txBox="1"/>
          <p:nvPr/>
        </p:nvSpPr>
        <p:spPr>
          <a:xfrm>
            <a:off x="822960" y="4983480"/>
            <a:ext cx="3383280" cy="320040"/>
          </a:xfrm>
          <a:prstGeom prst="rect">
            <a:avLst/>
          </a:prstGeom>
          <a:noFill/>
          <a:ln/>
        </p:spPr>
        <p:txBody>
          <a:bodyPr wrap="square" lIns="0" tIns="0" rIns="0" bIns="0" rtlCol="0" anchor="t"/>
          <a:lstStyle/>
          <a:p>
            <a:pPr marL="0" indent="0">
              <a:buNone/>
            </a:pPr>
            <a:r>
              <a:rPr lang="en-US" sz="1400" b="1" dirty="0">
                <a:solidFill>
                  <a:schemeClr val="bg1"/>
                </a:solidFill>
              </a:rPr>
              <a:t>Asosiasi, bukan sebab-akibat</a:t>
            </a:r>
            <a:endParaRPr lang="en-US" sz="1400" dirty="0"/>
          </a:p>
        </p:txBody>
      </p:sp>
      <p:sp>
        <p:nvSpPr>
          <p:cNvPr id="36" name="Text 34"/>
          <p:cNvSpPr txBox="1"/>
          <p:nvPr/>
        </p:nvSpPr>
        <p:spPr>
          <a:xfrm>
            <a:off x="822960" y="5349240"/>
            <a:ext cx="3383280" cy="685800"/>
          </a:xfrm>
          <a:prstGeom prst="rect">
            <a:avLst/>
          </a:prstGeom>
          <a:noFill/>
          <a:ln/>
        </p:spPr>
        <p:txBody>
          <a:bodyPr wrap="square" lIns="0" tIns="0" rIns="0" bIns="0" rtlCol="0" anchor="t"/>
          <a:lstStyle/>
          <a:p>
            <a:pPr marL="0" indent="0">
              <a:buNone/>
            </a:pPr>
            <a:r>
              <a:rPr lang="en-US" sz="1300" dirty="0">
                <a:solidFill>
                  <a:srgbClr val="DCE3EE"/>
                </a:solidFill>
              </a:rPr>
              <a:t>Data observasional; dampak program diuji lewat pilot.</a:t>
            </a:r>
            <a:endParaRPr lang="en-US" sz="1300" dirty="0"/>
          </a:p>
        </p:txBody>
      </p:sp>
      <p:sp>
        <p:nvSpPr>
          <p:cNvPr id="37" name="Text 35"/>
          <p:cNvSpPr txBox="1"/>
          <p:nvPr/>
        </p:nvSpPr>
        <p:spPr>
          <a:xfrm>
            <a:off x="4434840" y="4983480"/>
            <a:ext cx="3383280" cy="320040"/>
          </a:xfrm>
          <a:prstGeom prst="rect">
            <a:avLst/>
          </a:prstGeom>
          <a:noFill/>
          <a:ln/>
        </p:spPr>
        <p:txBody>
          <a:bodyPr wrap="square" lIns="0" tIns="0" rIns="0" bIns="0" rtlCol="0" anchor="t"/>
          <a:lstStyle/>
          <a:p>
            <a:pPr marL="0" indent="0">
              <a:buNone/>
            </a:pPr>
            <a:r>
              <a:rPr lang="en-US" sz="1400" b="1" dirty="0">
                <a:solidFill>
                  <a:schemeClr val="bg1"/>
                </a:solidFill>
              </a:rPr>
              <a:t>Invoice berulang per unit</a:t>
            </a:r>
            <a:endParaRPr lang="en-US" sz="1400" dirty="0"/>
          </a:p>
        </p:txBody>
      </p:sp>
      <p:sp>
        <p:nvSpPr>
          <p:cNvPr id="38" name="Text 36"/>
          <p:cNvSpPr txBox="1"/>
          <p:nvPr/>
        </p:nvSpPr>
        <p:spPr>
          <a:xfrm>
            <a:off x="4434840" y="5349240"/>
            <a:ext cx="3383280" cy="685800"/>
          </a:xfrm>
          <a:prstGeom prst="rect">
            <a:avLst/>
          </a:prstGeom>
          <a:noFill/>
          <a:ln/>
        </p:spPr>
        <p:txBody>
          <a:bodyPr wrap="square" lIns="0" tIns="0" rIns="0" bIns="0" rtlCol="0" anchor="t"/>
          <a:lstStyle/>
          <a:p>
            <a:pPr marL="0" indent="0">
              <a:buNone/>
            </a:pPr>
            <a:r>
              <a:rPr lang="en-US" sz="1300" dirty="0">
                <a:solidFill>
                  <a:srgbClr val="DCE3EE"/>
                </a:solidFill>
              </a:rPr>
              <a:t>CI dihitung dengan bootstrap per unit agar tidak terlalu optimistis.</a:t>
            </a:r>
            <a:endParaRPr lang="en-US" sz="1300" dirty="0"/>
          </a:p>
        </p:txBody>
      </p:sp>
      <p:sp>
        <p:nvSpPr>
          <p:cNvPr id="39" name="Text 37"/>
          <p:cNvSpPr txBox="1"/>
          <p:nvPr/>
        </p:nvSpPr>
        <p:spPr>
          <a:xfrm>
            <a:off x="8046720" y="4983480"/>
            <a:ext cx="3383280" cy="320040"/>
          </a:xfrm>
          <a:prstGeom prst="rect">
            <a:avLst/>
          </a:prstGeom>
          <a:noFill/>
          <a:ln/>
        </p:spPr>
        <p:txBody>
          <a:bodyPr wrap="square" lIns="0" tIns="0" rIns="0" bIns="0" rtlCol="0" anchor="t"/>
          <a:lstStyle/>
          <a:p>
            <a:pPr marL="0" indent="0">
              <a:buNone/>
            </a:pPr>
            <a:r>
              <a:rPr lang="en-US" sz="1400" b="1" dirty="0">
                <a:solidFill>
                  <a:schemeClr val="bg1"/>
                </a:solidFill>
              </a:rPr>
              <a:t>Status per snapshot</a:t>
            </a:r>
            <a:endParaRPr lang="en-US" sz="1400" dirty="0"/>
          </a:p>
        </p:txBody>
      </p:sp>
      <p:sp>
        <p:nvSpPr>
          <p:cNvPr id="40" name="Text 38"/>
          <p:cNvSpPr txBox="1"/>
          <p:nvPr/>
        </p:nvSpPr>
        <p:spPr>
          <a:xfrm>
            <a:off x="8046720" y="5349240"/>
            <a:ext cx="3383280" cy="685800"/>
          </a:xfrm>
          <a:prstGeom prst="rect">
            <a:avLst/>
          </a:prstGeom>
          <a:noFill/>
          <a:ln/>
        </p:spPr>
        <p:txBody>
          <a:bodyPr wrap="square" lIns="0" tIns="0" rIns="0" bIns="0" rtlCol="0" anchor="t"/>
          <a:lstStyle/>
          <a:p>
            <a:pPr marL="0" indent="0">
              <a:buNone/>
            </a:pPr>
            <a:r>
              <a:rPr lang="en-US" sz="1300" dirty="0">
                <a:solidFill>
                  <a:srgbClr val="DCE3EE"/>
                </a:solidFill>
              </a:rPr>
              <a:t>Pola waktu dibaca sebagai NPI per cohort penerbitan.</a:t>
            </a:r>
            <a:endParaRPr lang="en-US" sz="1300" dirty="0"/>
          </a:p>
        </p:txBody>
      </p:sp>
      <p:sp>
        <p:nvSpPr>
          <p:cNvPr id="41"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DATA QUALITY</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Enam temuan kualitas data memengaruhi akurasi NPI, rekonsiliasi Finance, dan prioritas Collection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11" name="tabel kualitas data"/>
          <p:cNvGraphicFramePr>
            <a:graphicFrameLocks noGrp="1"/>
          </p:cNvGraphicFramePr>
          <p:nvPr>
            <p:extLst>
              <p:ext uri="{D42A27DB-BD31-4B8C-83A1-F6EECF244321}">
                <p14:modId xmlns:p14="http://schemas.microsoft.com/office/powerpoint/2010/main" val="707802866"/>
              </p:ext>
            </p:extLst>
          </p:nvPr>
        </p:nvGraphicFramePr>
        <p:xfrm>
          <a:off x="548640" y="1645920"/>
          <a:ext cx="11091672" cy="3328416"/>
        </p:xfrm>
        <a:graphic>
          <a:graphicData uri="http://schemas.openxmlformats.org/drawingml/2006/table">
            <a:tbl>
              <a:tblPr/>
              <a:tblGrid>
                <a:gridCol w="32918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090672">
                  <a:extLst>
                    <a:ext uri="{9D8B030D-6E8A-4147-A177-3AD203B41FA5}">
                      <a16:colId xmlns:a16="http://schemas.microsoft.com/office/drawing/2014/main" val="20003"/>
                    </a:ext>
                  </a:extLst>
                </a:gridCol>
              </a:tblGrid>
              <a:tr h="475488">
                <a:tc>
                  <a:txBody>
                    <a:bodyPr/>
                    <a:lstStyle/>
                    <a:p>
                      <a:pPr marL="0" indent="0">
                        <a:buNone/>
                      </a:pPr>
                      <a:r>
                        <a:rPr lang="en-US" sz="1200" b="1" dirty="0">
                          <a:solidFill>
                            <a:schemeClr val="bg1"/>
                          </a:solidFill>
                        </a:rPr>
                        <a:t>Temuan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Jenis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Risiko terhadap analisis/operasi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Tindakan perbaikan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chemeClr val="tx1"/>
                          </a:solidFill>
                        </a:rPr>
                        <a:t>38.449 salinan tagihan terbit ganda (Jun–Sep 2023)</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Duplikasi bisnis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NPI naik 1,52 poin; warga ditagih dua kali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Flag &amp; keluarkan dari NPI; aturan 1 invoice per unit-bulan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dirty="0">
                          <a:solidFill>
                            <a:schemeClr val="tx1"/>
                          </a:solidFill>
                        </a:rPr>
                        <a:t>3.824 pemakaian air negatif</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Kesalahan input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Nilai tagihan air tidak dapat dipercaya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Flag; validasi input meter Manual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75488">
                <a:tc>
                  <a:txBody>
                    <a:bodyPr/>
                    <a:lstStyle/>
                    <a:p>
                      <a:pPr marL="0" indent="0">
                        <a:buNone/>
                      </a:pPr>
                      <a:r>
                        <a:rPr lang="en-US" sz="1200" dirty="0">
                          <a:solidFill>
                            <a:schemeClr val="tx1"/>
                          </a:solidFill>
                        </a:rPr>
                        <a:t>3.789 pemakaian air &gt; 97,8 m³ (seluruhnya Manual)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Anomali perlu cek</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Nominal tagihan membengkak; memicu sengketa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Pisahkan komponen air; verifikasi bukti meter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dirty="0">
                          <a:solidFill>
                            <a:schemeClr val="tx1"/>
                          </a:solidFill>
                        </a:rPr>
                        <a:t>11.236 tanggal bayar sebelum periode tagihan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Kesalahan input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Analisis keterlambatan terdistorsi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Flag; tidak dipakai menghitung keterlambatan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75488">
                <a:tc>
                  <a:txBody>
                    <a:bodyPr/>
                    <a:lstStyle/>
                    <a:p>
                      <a:pPr marL="0" indent="0">
                        <a:buNone/>
                      </a:pPr>
                      <a:r>
                        <a:rPr lang="en-US" sz="1200" dirty="0">
                          <a:solidFill>
                            <a:schemeClr val="tx1"/>
                          </a:solidFill>
                        </a:rPr>
                        <a:t>4.978 unit (17,24%) tanpa nomor kontak</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Data tidak lengkap</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Pemilik sulit dijangkau Collection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Verifikasi kontak; jangan imputasi nomor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dirty="0">
                          <a:solidFill>
                            <a:schemeClr val="tx1"/>
                          </a:solidFill>
                        </a:rPr>
                        <a:t>9 variasi penulisan metode bayar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Inkonsistensi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Rekonsiliasi Finance sulit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Standarkan menjadi 4 kode baku</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548640" y="5166360"/>
            <a:ext cx="11064240" cy="548640"/>
          </a:xfrm>
          <a:prstGeom prst="rect">
            <a:avLst/>
          </a:prstGeom>
          <a:noFill/>
          <a:ln/>
        </p:spPr>
        <p:txBody>
          <a:bodyPr wrap="square" lIns="0" tIns="0" rIns="0" bIns="0" rtlCol="0" anchor="t"/>
          <a:lstStyle/>
          <a:p>
            <a:pPr marL="0" indent="0">
              <a:buNone/>
            </a:pPr>
            <a:r>
              <a:rPr lang="en-US" sz="1300" b="1" dirty="0">
                <a:solidFill>
                  <a:schemeClr val="accent3"/>
                </a:solidFill>
              </a:rPr>
              <a:t>Kosong yang wajar: </a:t>
            </a:r>
            <a:r>
              <a:rPr lang="en-US" sz="1300" dirty="0">
                <a:solidFill>
                  <a:schemeClr val="tx1"/>
                </a:solidFill>
              </a:rPr>
              <a:t>298.426 tanggal &amp; metode bayar kosong hanya pada invoice belum dibayar, dan 2.722 nilai sengketa kosong hanya pada sengketa yang masih diproses. Keduanya sesuai alur bisnis dan tidak diimputasi.</a:t>
            </a:r>
            <a:endParaRPr lang="en-US" sz="1300" dirty="0"/>
          </a:p>
        </p:txBody>
      </p:sp>
      <p:sp>
        <p:nvSpPr>
          <p:cNvPr id="7" name="Text 4"/>
          <p:cNvSpPr txBox="1"/>
          <p:nvPr/>
        </p:nvSpPr>
        <p:spPr>
          <a:xfrm>
            <a:off x="548640" y="5760720"/>
            <a:ext cx="11064240" cy="502920"/>
          </a:xfrm>
          <a:prstGeom prst="rect">
            <a:avLst/>
          </a:prstGeom>
          <a:noFill/>
          <a:ln/>
        </p:spPr>
        <p:txBody>
          <a:bodyPr wrap="square" lIns="0" tIns="0" rIns="0" bIns="0" rtlCol="0" anchor="t"/>
          <a:lstStyle/>
          <a:p>
            <a:pPr marL="0" indent="0">
              <a:buNone/>
            </a:pPr>
            <a:r>
              <a:rPr lang="en-US" sz="1300" b="1" dirty="0">
                <a:solidFill>
                  <a:schemeClr val="accent4"/>
                </a:solidFill>
              </a:rPr>
              <a:t>Batas 97,8 m³ </a:t>
            </a:r>
            <a:r>
              <a:rPr lang="en-US" sz="1300" dirty="0">
                <a:solidFill>
                  <a:schemeClr val="tx1"/>
                </a:solidFill>
              </a:rPr>
              <a:t>adalah parameter screening dari celah data (tidak ada nilai antara 97,8 dan 504 m³); perlu divalidasi Estate Ops dan tarif resmi.</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REKONSILIASI DUPLIKASI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Mengeluarkan salinan tagihan ganda menurunkan baseline NPI 1,52 poin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duplikasi"/>
          <p:cNvGraphicFramePr/>
          <p:nvPr/>
        </p:nvGraphicFramePr>
        <p:xfrm>
          <a:off x="548640" y="164592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5394960"/>
            <a:ext cx="5120640" cy="320040"/>
          </a:xfrm>
          <a:prstGeom prst="rect">
            <a:avLst/>
          </a:prstGeom>
          <a:noFill/>
          <a:ln/>
        </p:spPr>
        <p:txBody>
          <a:bodyPr wrap="square" lIns="0" tIns="0" rIns="0" bIns="0" rtlCol="0" anchor="t"/>
          <a:lstStyle/>
          <a:p>
            <a:pPr marL="0" indent="0" algn="ctr">
              <a:buNone/>
            </a:pPr>
            <a:r>
              <a:rPr lang="en-US" sz="1300" dirty="0">
                <a:solidFill>
                  <a:schemeClr val="accent6"/>
                </a:solidFill>
              </a:rPr>
              <a:t>807.427 invoice → 768.978 invoice utama</a:t>
            </a:r>
            <a:endParaRPr lang="en-US" sz="1300" dirty="0"/>
          </a:p>
        </p:txBody>
      </p:sp>
      <p:sp>
        <p:nvSpPr>
          <p:cNvPr id="7" name="bukti 100%"/>
          <p:cNvSpPr/>
          <p:nvPr/>
        </p:nvSpPr>
        <p:spPr>
          <a:xfrm>
            <a:off x="6035040" y="1645920"/>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8" name="Text 5"/>
          <p:cNvSpPr txBox="1"/>
          <p:nvPr/>
        </p:nvSpPr>
        <p:spPr>
          <a:xfrm>
            <a:off x="6263640" y="1737360"/>
            <a:ext cx="1463040" cy="621792"/>
          </a:xfrm>
          <a:prstGeom prst="rect">
            <a:avLst/>
          </a:prstGeom>
          <a:noFill/>
          <a:ln/>
        </p:spPr>
        <p:txBody>
          <a:bodyPr wrap="square" lIns="0" tIns="0" rIns="0" bIns="0" rtlCol="0" anchor="ctr">
            <a:normAutofit/>
          </a:bodyPr>
          <a:lstStyle/>
          <a:p>
            <a:pPr marL="0" indent="0">
              <a:buNone/>
            </a:pPr>
            <a:r>
              <a:rPr lang="en-US" sz="2400" b="1" dirty="0">
                <a:solidFill>
                  <a:schemeClr val="tx2"/>
                </a:solidFill>
              </a:rPr>
              <a:t>100%</a:t>
            </a:r>
            <a:endParaRPr lang="en-US" sz="2400" dirty="0"/>
          </a:p>
        </p:txBody>
      </p:sp>
      <p:sp>
        <p:nvSpPr>
          <p:cNvPr id="9" name="Text 6"/>
          <p:cNvSpPr txBox="1"/>
          <p:nvPr/>
        </p:nvSpPr>
        <p:spPr>
          <a:xfrm>
            <a:off x="7772400" y="1737360"/>
            <a:ext cx="3703320" cy="621792"/>
          </a:xfrm>
          <a:prstGeom prst="rect">
            <a:avLst/>
          </a:prstGeom>
          <a:noFill/>
          <a:ln/>
        </p:spPr>
        <p:txBody>
          <a:bodyPr wrap="square" lIns="0" tIns="0" rIns="0" bIns="0" rtlCol="0" anchor="ctr"/>
          <a:lstStyle/>
          <a:p>
            <a:pPr marL="0" indent="0">
              <a:buNone/>
            </a:pPr>
            <a:r>
              <a:rPr lang="en-US" sz="1300" dirty="0">
                <a:solidFill>
                  <a:schemeClr val="tx1"/>
                </a:solidFill>
              </a:rPr>
              <a:t>pasangan berisi tepat 2 invoice dengan nominal, air, tarif, dan denda identik</a:t>
            </a:r>
            <a:endParaRPr lang="en-US" sz="1300" dirty="0"/>
          </a:p>
        </p:txBody>
      </p:sp>
      <p:sp>
        <p:nvSpPr>
          <p:cNvPr id="10" name="bukti 0"/>
          <p:cNvSpPr/>
          <p:nvPr/>
        </p:nvSpPr>
        <p:spPr>
          <a:xfrm>
            <a:off x="6035040" y="2578608"/>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1" name="Text 8"/>
          <p:cNvSpPr txBox="1"/>
          <p:nvPr/>
        </p:nvSpPr>
        <p:spPr>
          <a:xfrm>
            <a:off x="6263640" y="2670048"/>
            <a:ext cx="1463040" cy="621792"/>
          </a:xfrm>
          <a:prstGeom prst="rect">
            <a:avLst/>
          </a:prstGeom>
          <a:noFill/>
          <a:ln/>
        </p:spPr>
        <p:txBody>
          <a:bodyPr wrap="square" lIns="0" tIns="0" rIns="0" bIns="0" rtlCol="0" anchor="ctr">
            <a:normAutofit/>
          </a:bodyPr>
          <a:lstStyle/>
          <a:p>
            <a:pPr marL="0" indent="0">
              <a:buNone/>
            </a:pPr>
            <a:r>
              <a:rPr lang="en-US" sz="2400" b="1" dirty="0">
                <a:solidFill>
                  <a:schemeClr val="tx2"/>
                </a:solidFill>
              </a:rPr>
              <a:t>0</a:t>
            </a:r>
            <a:endParaRPr lang="en-US" sz="2400" dirty="0"/>
          </a:p>
        </p:txBody>
      </p:sp>
      <p:sp>
        <p:nvSpPr>
          <p:cNvPr id="12" name="Text 9"/>
          <p:cNvSpPr txBox="1"/>
          <p:nvPr/>
        </p:nvSpPr>
        <p:spPr>
          <a:xfrm>
            <a:off x="7772400" y="2670048"/>
            <a:ext cx="3703320" cy="621792"/>
          </a:xfrm>
          <a:prstGeom prst="rect">
            <a:avLst/>
          </a:prstGeom>
          <a:noFill/>
          <a:ln/>
        </p:spPr>
        <p:txBody>
          <a:bodyPr wrap="square" lIns="0" tIns="0" rIns="0" bIns="0" rtlCol="0" anchor="ctr"/>
          <a:lstStyle/>
          <a:p>
            <a:pPr marL="0" indent="0">
              <a:buNone/>
            </a:pPr>
            <a:r>
              <a:rPr lang="en-US" sz="1300" dirty="0">
                <a:solidFill>
                  <a:schemeClr val="tx1"/>
                </a:solidFill>
              </a:rPr>
              <a:t>pembayaran yang hanya tercatat pada salinan (pola 9xxxx)</a:t>
            </a:r>
            <a:endParaRPr lang="en-US" sz="1300" dirty="0"/>
          </a:p>
        </p:txBody>
      </p:sp>
      <p:sp>
        <p:nvSpPr>
          <p:cNvPr id="13" name="bukti 25.881"/>
          <p:cNvSpPr/>
          <p:nvPr/>
        </p:nvSpPr>
        <p:spPr>
          <a:xfrm>
            <a:off x="6035040" y="3511296"/>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4" name="Text 11"/>
          <p:cNvSpPr txBox="1"/>
          <p:nvPr/>
        </p:nvSpPr>
        <p:spPr>
          <a:xfrm>
            <a:off x="6263640" y="3602736"/>
            <a:ext cx="1463040" cy="621792"/>
          </a:xfrm>
          <a:prstGeom prst="rect">
            <a:avLst/>
          </a:prstGeom>
          <a:noFill/>
          <a:ln/>
        </p:spPr>
        <p:txBody>
          <a:bodyPr wrap="square" lIns="0" tIns="0" rIns="0" bIns="0" rtlCol="0" anchor="ctr">
            <a:normAutofit/>
          </a:bodyPr>
          <a:lstStyle/>
          <a:p>
            <a:pPr marL="0" indent="0">
              <a:buNone/>
            </a:pPr>
            <a:r>
              <a:rPr lang="en-US" sz="2400" b="1" dirty="0">
                <a:solidFill>
                  <a:schemeClr val="tx2"/>
                </a:solidFill>
              </a:rPr>
              <a:t>25.881</a:t>
            </a:r>
            <a:endParaRPr lang="en-US" sz="2400" dirty="0"/>
          </a:p>
        </p:txBody>
      </p:sp>
      <p:sp>
        <p:nvSpPr>
          <p:cNvPr id="15" name="Text 12"/>
          <p:cNvSpPr txBox="1"/>
          <p:nvPr/>
        </p:nvSpPr>
        <p:spPr>
          <a:xfrm>
            <a:off x="7772400" y="3602736"/>
            <a:ext cx="3703320" cy="621792"/>
          </a:xfrm>
          <a:prstGeom prst="rect">
            <a:avLst/>
          </a:prstGeom>
          <a:noFill/>
          <a:ln/>
        </p:spPr>
        <p:txBody>
          <a:bodyPr wrap="square" lIns="0" tIns="0" rIns="0" bIns="0" rtlCol="0" anchor="ctr"/>
          <a:lstStyle/>
          <a:p>
            <a:pPr marL="0" indent="0">
              <a:buNone/>
            </a:pPr>
            <a:r>
              <a:rPr lang="en-US" sz="1300" dirty="0">
                <a:solidFill>
                  <a:schemeClr val="tx1"/>
                </a:solidFill>
              </a:rPr>
              <a:t>salinan berstatus NPI, nominal bruto Rp21,76 miliar</a:t>
            </a:r>
            <a:endParaRPr lang="en-US" sz="1300" dirty="0"/>
          </a:p>
        </p:txBody>
      </p:sp>
      <p:sp>
        <p:nvSpPr>
          <p:cNvPr id="16" name="bukti 12.568"/>
          <p:cNvSpPr/>
          <p:nvPr/>
        </p:nvSpPr>
        <p:spPr>
          <a:xfrm>
            <a:off x="6035040" y="4443984"/>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7" name="Text 14"/>
          <p:cNvSpPr txBox="1"/>
          <p:nvPr/>
        </p:nvSpPr>
        <p:spPr>
          <a:xfrm>
            <a:off x="6263640" y="4535424"/>
            <a:ext cx="1463040" cy="621792"/>
          </a:xfrm>
          <a:prstGeom prst="rect">
            <a:avLst/>
          </a:prstGeom>
          <a:noFill/>
          <a:ln/>
        </p:spPr>
        <p:txBody>
          <a:bodyPr wrap="square" lIns="0" tIns="0" rIns="0" bIns="0" rtlCol="0" anchor="ctr">
            <a:normAutofit/>
          </a:bodyPr>
          <a:lstStyle/>
          <a:p>
            <a:pPr marL="0" indent="0">
              <a:buNone/>
            </a:pPr>
            <a:r>
              <a:rPr lang="en-US" sz="2400" b="1" dirty="0">
                <a:solidFill>
                  <a:schemeClr val="accent4"/>
                </a:solidFill>
              </a:rPr>
              <a:t>12.568</a:t>
            </a:r>
            <a:endParaRPr lang="en-US" sz="2400" dirty="0"/>
          </a:p>
        </p:txBody>
      </p:sp>
      <p:sp>
        <p:nvSpPr>
          <p:cNvPr id="18" name="Text 15"/>
          <p:cNvSpPr txBox="1"/>
          <p:nvPr/>
        </p:nvSpPr>
        <p:spPr>
          <a:xfrm>
            <a:off x="7772400" y="4535424"/>
            <a:ext cx="3703320" cy="621792"/>
          </a:xfrm>
          <a:prstGeom prst="rect">
            <a:avLst/>
          </a:prstGeom>
          <a:noFill/>
          <a:ln/>
        </p:spPr>
        <p:txBody>
          <a:bodyPr wrap="square" lIns="0" tIns="0" rIns="0" bIns="0" rtlCol="0" anchor="ctr"/>
          <a:lstStyle/>
          <a:p>
            <a:pPr marL="0" indent="0">
              <a:buNone/>
            </a:pPr>
            <a:r>
              <a:rPr lang="en-US" sz="1300" dirty="0">
                <a:solidFill>
                  <a:schemeClr val="tx1"/>
                </a:solidFill>
              </a:rPr>
              <a:t>pasangan Paid + Paid (Rp11,07 miliar): indikasi bayar ganda</a:t>
            </a:r>
            <a:endParaRPr lang="en-US" sz="1300" dirty="0"/>
          </a:p>
        </p:txBody>
      </p:sp>
      <p:sp>
        <p:nvSpPr>
          <p:cNvPr id="19" name="Text 16"/>
          <p:cNvSpPr txBox="1"/>
          <p:nvPr/>
        </p:nvSpPr>
        <p:spPr>
          <a:xfrm>
            <a:off x="6035040" y="5440680"/>
            <a:ext cx="5605272" cy="685800"/>
          </a:xfrm>
          <a:prstGeom prst="rect">
            <a:avLst/>
          </a:prstGeom>
          <a:noFill/>
          <a:ln/>
        </p:spPr>
        <p:txBody>
          <a:bodyPr wrap="square" lIns="0" tIns="0" rIns="0" bIns="0" rtlCol="0" anchor="t"/>
          <a:lstStyle/>
          <a:p>
            <a:pPr marL="0" indent="0">
              <a:buNone/>
            </a:pPr>
            <a:r>
              <a:rPr lang="en-US" sz="1300" b="1" dirty="0">
                <a:solidFill>
                  <a:schemeClr val="tx2"/>
                </a:solidFill>
              </a:rPr>
              <a:t>Bukan uji kausal: </a:t>
            </a:r>
            <a:r>
              <a:rPr lang="en-US" sz="1300" dirty="0">
                <a:solidFill>
                  <a:schemeClr val="tx1"/>
                </a:solidFill>
              </a:rPr>
              <a:t>H18 adalah rekonsiliasi sebelum/sesudah aturan data. Aturan invoice utama perlu disahkan IT/ERP dan Finance.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lustrasi kawasan" descr="/home/claude/deck2/img/div2.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03</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Besar masalah NPI</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Seberapa besar tagihan bermasalah, dari sisi jumlah invoice dan nominal rupiah</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BASELINE NPI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Lebih dari sepertiga invoice utama berstatus NPI; nominal analisisnya Rp176,34 miliar</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kpi NPI berdasarkan jumlah invoice (272.545 dari 768.978 invoice utama)"/>
          <p:cNvSpPr/>
          <p:nvPr/>
        </p:nvSpPr>
        <p:spPr>
          <a:xfrm>
            <a:off x="548640" y="1645920"/>
            <a:ext cx="3520440" cy="1508760"/>
          </a:xfrm>
          <a:prstGeom prst="roundRect">
            <a:avLst>
              <a:gd name="adj" fmla="val 484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810512"/>
            <a:ext cx="3063240" cy="724205"/>
          </a:xfrm>
          <a:prstGeom prst="rect">
            <a:avLst/>
          </a:prstGeom>
          <a:noFill/>
          <a:ln/>
        </p:spPr>
        <p:txBody>
          <a:bodyPr wrap="square" lIns="0" tIns="0" rIns="0" bIns="0" rtlCol="0" anchor="ctr">
            <a:normAutofit/>
          </a:bodyPr>
          <a:lstStyle/>
          <a:p>
            <a:pPr marL="0" indent="0">
              <a:buNone/>
            </a:pPr>
            <a:r>
              <a:rPr lang="en-US" sz="4000" b="1" dirty="0">
                <a:solidFill>
                  <a:schemeClr val="tx2"/>
                </a:solidFill>
              </a:rPr>
              <a:t>35,44%</a:t>
            </a:r>
            <a:endParaRPr lang="en-US" sz="4000" dirty="0"/>
          </a:p>
        </p:txBody>
      </p:sp>
      <p:sp>
        <p:nvSpPr>
          <p:cNvPr id="7" name="Text 5"/>
          <p:cNvSpPr txBox="1"/>
          <p:nvPr/>
        </p:nvSpPr>
        <p:spPr>
          <a:xfrm>
            <a:off x="777240" y="2553005"/>
            <a:ext cx="3063240" cy="464515"/>
          </a:xfrm>
          <a:prstGeom prst="rect">
            <a:avLst/>
          </a:prstGeom>
          <a:noFill/>
          <a:ln/>
        </p:spPr>
        <p:txBody>
          <a:bodyPr wrap="square" lIns="0" tIns="0" rIns="0" bIns="0" rtlCol="0" anchor="t"/>
          <a:lstStyle/>
          <a:p>
            <a:pPr marL="0" indent="0">
              <a:buNone/>
            </a:pPr>
            <a:r>
              <a:rPr lang="en-US" sz="1200" dirty="0">
                <a:solidFill>
                  <a:schemeClr val="accent6"/>
                </a:solidFill>
              </a:rPr>
              <a:t>NPI berdasarkan jumlah invoice (272.545 dari 768.978 invoice utama)</a:t>
            </a:r>
            <a:endParaRPr lang="en-US" sz="1200" dirty="0"/>
          </a:p>
        </p:txBody>
      </p:sp>
      <p:sp>
        <p:nvSpPr>
          <p:cNvPr id="8" name="kpi NPI berdasarkan nilai rupiah (nominal NPI ÷ nilai tagihan analisis)"/>
          <p:cNvSpPr/>
          <p:nvPr/>
        </p:nvSpPr>
        <p:spPr>
          <a:xfrm>
            <a:off x="4343400" y="1645920"/>
            <a:ext cx="3520440" cy="1508760"/>
          </a:xfrm>
          <a:prstGeom prst="roundRect">
            <a:avLst>
              <a:gd name="adj" fmla="val 484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4572000" y="1810512"/>
            <a:ext cx="3063240" cy="724205"/>
          </a:xfrm>
          <a:prstGeom prst="rect">
            <a:avLst/>
          </a:prstGeom>
          <a:noFill/>
          <a:ln/>
        </p:spPr>
        <p:txBody>
          <a:bodyPr wrap="square" lIns="0" tIns="0" rIns="0" bIns="0" rtlCol="0" anchor="ctr">
            <a:normAutofit/>
          </a:bodyPr>
          <a:lstStyle/>
          <a:p>
            <a:pPr marL="0" indent="0">
              <a:buNone/>
            </a:pPr>
            <a:r>
              <a:rPr lang="en-US" sz="4000" b="1" dirty="0">
                <a:solidFill>
                  <a:schemeClr val="tx2"/>
                </a:solidFill>
              </a:rPr>
              <a:t>35,55%</a:t>
            </a:r>
            <a:endParaRPr lang="en-US" sz="4000" dirty="0"/>
          </a:p>
        </p:txBody>
      </p:sp>
      <p:sp>
        <p:nvSpPr>
          <p:cNvPr id="10" name="Text 8"/>
          <p:cNvSpPr txBox="1"/>
          <p:nvPr/>
        </p:nvSpPr>
        <p:spPr>
          <a:xfrm>
            <a:off x="4572000" y="2553005"/>
            <a:ext cx="3063240" cy="464515"/>
          </a:xfrm>
          <a:prstGeom prst="rect">
            <a:avLst/>
          </a:prstGeom>
          <a:noFill/>
          <a:ln/>
        </p:spPr>
        <p:txBody>
          <a:bodyPr wrap="square" lIns="0" tIns="0" rIns="0" bIns="0" rtlCol="0" anchor="t"/>
          <a:lstStyle/>
          <a:p>
            <a:pPr marL="0" indent="0">
              <a:buNone/>
            </a:pPr>
            <a:r>
              <a:rPr lang="en-US" sz="1200" dirty="0">
                <a:solidFill>
                  <a:schemeClr val="accent6"/>
                </a:solidFill>
              </a:rPr>
              <a:t>NPI berdasarkan nilai rupiah (nominal NPI ÷ nilai tagihan analisis)</a:t>
            </a:r>
            <a:endParaRPr lang="en-US" sz="1200" dirty="0"/>
          </a:p>
        </p:txBody>
      </p:sp>
      <p:sp>
        <p:nvSpPr>
          <p:cNvPr id="11" name="kpi NPI sebelum salinan tagihan ganda dikeluarkan (807.427 invoice)"/>
          <p:cNvSpPr/>
          <p:nvPr/>
        </p:nvSpPr>
        <p:spPr>
          <a:xfrm>
            <a:off x="8138160" y="1645920"/>
            <a:ext cx="3502152" cy="1508760"/>
          </a:xfrm>
          <a:prstGeom prst="roundRect">
            <a:avLst>
              <a:gd name="adj" fmla="val 484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8366760" y="1810512"/>
            <a:ext cx="3044952" cy="724205"/>
          </a:xfrm>
          <a:prstGeom prst="rect">
            <a:avLst/>
          </a:prstGeom>
          <a:noFill/>
          <a:ln/>
        </p:spPr>
        <p:txBody>
          <a:bodyPr wrap="square" lIns="0" tIns="0" rIns="0" bIns="0" rtlCol="0" anchor="ctr">
            <a:normAutofit/>
          </a:bodyPr>
          <a:lstStyle/>
          <a:p>
            <a:pPr marL="0" indent="0">
              <a:buNone/>
            </a:pPr>
            <a:r>
              <a:rPr lang="en-US" sz="4000" b="1" dirty="0">
                <a:solidFill>
                  <a:schemeClr val="accent6"/>
                </a:solidFill>
              </a:rPr>
              <a:t>36,96%</a:t>
            </a:r>
            <a:endParaRPr lang="en-US" sz="4000" dirty="0"/>
          </a:p>
        </p:txBody>
      </p:sp>
      <p:sp>
        <p:nvSpPr>
          <p:cNvPr id="13" name="Text 11"/>
          <p:cNvSpPr txBox="1"/>
          <p:nvPr/>
        </p:nvSpPr>
        <p:spPr>
          <a:xfrm>
            <a:off x="8366760" y="2553005"/>
            <a:ext cx="3044952" cy="464515"/>
          </a:xfrm>
          <a:prstGeom prst="rect">
            <a:avLst/>
          </a:prstGeom>
          <a:noFill/>
          <a:ln/>
        </p:spPr>
        <p:txBody>
          <a:bodyPr wrap="square" lIns="0" tIns="0" rIns="0" bIns="0" rtlCol="0" anchor="t"/>
          <a:lstStyle/>
          <a:p>
            <a:pPr marL="0" indent="0">
              <a:buNone/>
            </a:pPr>
            <a:r>
              <a:rPr lang="en-US" sz="1200" dirty="0">
                <a:solidFill>
                  <a:schemeClr val="accent6"/>
                </a:solidFill>
              </a:rPr>
              <a:t>NPI sebelum salinan tagihan ganda dikeluarkan (807.427 invoice)</a:t>
            </a:r>
            <a:endParaRPr lang="en-US" sz="1200" dirty="0"/>
          </a:p>
        </p:txBody>
      </p:sp>
      <p:sp>
        <p:nvSpPr>
          <p:cNvPr id="14" name="lapisan Nominal NPI bruto"/>
          <p:cNvSpPr/>
          <p:nvPr/>
        </p:nvSpPr>
        <p:spPr>
          <a:xfrm>
            <a:off x="548640" y="3429000"/>
            <a:ext cx="3520440" cy="1828800"/>
          </a:xfrm>
          <a:prstGeom prst="roundRect">
            <a:avLst>
              <a:gd name="adj" fmla="val 4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777240" y="3611880"/>
            <a:ext cx="3108960" cy="274320"/>
          </a:xfrm>
          <a:prstGeom prst="rect">
            <a:avLst/>
          </a:prstGeom>
          <a:noFill/>
          <a:ln/>
        </p:spPr>
        <p:txBody>
          <a:bodyPr wrap="square" lIns="0" tIns="0" rIns="0" bIns="0" rtlCol="0" anchor="t"/>
          <a:lstStyle/>
          <a:p>
            <a:pPr marL="0" indent="0">
              <a:buNone/>
            </a:pPr>
            <a:r>
              <a:rPr lang="en-US" sz="1100" b="1" kern="0" spc="100" dirty="0">
                <a:solidFill>
                  <a:schemeClr val="tx2"/>
                </a:solidFill>
              </a:rPr>
              <a:t>NOMINAL NPI BRUTO</a:t>
            </a:r>
            <a:endParaRPr lang="en-US" sz="1100" dirty="0"/>
          </a:p>
        </p:txBody>
      </p:sp>
      <p:sp>
        <p:nvSpPr>
          <p:cNvPr id="16" name="Text 14"/>
          <p:cNvSpPr txBox="1"/>
          <p:nvPr/>
        </p:nvSpPr>
        <p:spPr>
          <a:xfrm>
            <a:off x="777240" y="3931920"/>
            <a:ext cx="3108960" cy="594360"/>
          </a:xfrm>
          <a:prstGeom prst="rect">
            <a:avLst/>
          </a:prstGeom>
          <a:noFill/>
          <a:ln/>
        </p:spPr>
        <p:txBody>
          <a:bodyPr wrap="square" lIns="0" tIns="0" rIns="0" bIns="0" rtlCol="0" anchor="ctr"/>
          <a:lstStyle/>
          <a:p>
            <a:pPr marL="0" indent="0">
              <a:buNone/>
            </a:pPr>
            <a:r>
              <a:rPr lang="en-US" sz="2800" b="1" dirty="0">
                <a:solidFill>
                  <a:schemeClr val="tx2"/>
                </a:solidFill>
              </a:rPr>
              <a:t>Rp224,64 M</a:t>
            </a:r>
            <a:endParaRPr lang="en-US" sz="2800" dirty="0"/>
          </a:p>
        </p:txBody>
      </p:sp>
      <p:sp>
        <p:nvSpPr>
          <p:cNvPr id="17" name="Text 15"/>
          <p:cNvSpPr txBox="1"/>
          <p:nvPr/>
        </p:nvSpPr>
        <p:spPr>
          <a:xfrm>
            <a:off x="777240" y="4572000"/>
            <a:ext cx="3108960" cy="594360"/>
          </a:xfrm>
          <a:prstGeom prst="rect">
            <a:avLst/>
          </a:prstGeom>
          <a:noFill/>
          <a:ln/>
        </p:spPr>
        <p:txBody>
          <a:bodyPr wrap="square" lIns="0" tIns="0" rIns="0" bIns="0" rtlCol="0" anchor="t"/>
          <a:lstStyle/>
          <a:p>
            <a:pPr marL="0" indent="0">
              <a:buNone/>
            </a:pPr>
            <a:r>
              <a:rPr lang="en-US" sz="1200" dirty="0">
                <a:solidFill>
                  <a:schemeClr val="accent6"/>
                </a:solidFill>
              </a:rPr>
              <a:t>total_amount seluruh invoice NPI sebagaimana tercatat</a:t>
            </a:r>
            <a:endParaRPr lang="en-US" sz="1200" dirty="0"/>
          </a:p>
        </p:txBody>
      </p:sp>
      <p:sp>
        <p:nvSpPr>
          <p:cNvPr id="18" name="lapisan Komponen air perlu validasi"/>
          <p:cNvSpPr/>
          <p:nvPr/>
        </p:nvSpPr>
        <p:spPr>
          <a:xfrm>
            <a:off x="4343400" y="3429000"/>
            <a:ext cx="3520440" cy="1828800"/>
          </a:xfrm>
          <a:prstGeom prst="roundRect">
            <a:avLst>
              <a:gd name="adj" fmla="val 4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9" name="Text 17"/>
          <p:cNvSpPr txBox="1"/>
          <p:nvPr/>
        </p:nvSpPr>
        <p:spPr>
          <a:xfrm>
            <a:off x="4572000" y="3611880"/>
            <a:ext cx="3108960" cy="274320"/>
          </a:xfrm>
          <a:prstGeom prst="rect">
            <a:avLst/>
          </a:prstGeom>
          <a:noFill/>
          <a:ln/>
        </p:spPr>
        <p:txBody>
          <a:bodyPr wrap="square" lIns="0" tIns="0" rIns="0" bIns="0" rtlCol="0" anchor="t"/>
          <a:lstStyle/>
          <a:p>
            <a:pPr marL="0" indent="0">
              <a:buNone/>
            </a:pPr>
            <a:r>
              <a:rPr lang="en-US" sz="1100" b="1" kern="0" spc="100" dirty="0">
                <a:solidFill>
                  <a:schemeClr val="accent5"/>
                </a:solidFill>
              </a:rPr>
              <a:t>KOMPONEN AIR PERLU VALIDASI</a:t>
            </a:r>
            <a:endParaRPr lang="en-US" sz="1100" dirty="0"/>
          </a:p>
        </p:txBody>
      </p:sp>
      <p:sp>
        <p:nvSpPr>
          <p:cNvPr id="20" name="Text 18"/>
          <p:cNvSpPr txBox="1"/>
          <p:nvPr/>
        </p:nvSpPr>
        <p:spPr>
          <a:xfrm>
            <a:off x="4572000" y="3931920"/>
            <a:ext cx="3108960" cy="594360"/>
          </a:xfrm>
          <a:prstGeom prst="rect">
            <a:avLst/>
          </a:prstGeom>
          <a:noFill/>
          <a:ln/>
        </p:spPr>
        <p:txBody>
          <a:bodyPr wrap="square" lIns="0" tIns="0" rIns="0" bIns="0" rtlCol="0" anchor="ctr"/>
          <a:lstStyle/>
          <a:p>
            <a:pPr marL="0" indent="0">
              <a:buNone/>
            </a:pPr>
            <a:r>
              <a:rPr lang="en-US" sz="2800" b="1" dirty="0">
                <a:solidFill>
                  <a:schemeClr val="tx2"/>
                </a:solidFill>
              </a:rPr>
              <a:t>− Rp48,30 M</a:t>
            </a:r>
            <a:endParaRPr lang="en-US" sz="2800" dirty="0"/>
          </a:p>
        </p:txBody>
      </p:sp>
      <p:sp>
        <p:nvSpPr>
          <p:cNvPr id="21" name="Text 19"/>
          <p:cNvSpPr txBox="1"/>
          <p:nvPr/>
        </p:nvSpPr>
        <p:spPr>
          <a:xfrm>
            <a:off x="4572000" y="4572000"/>
            <a:ext cx="3108960" cy="594360"/>
          </a:xfrm>
          <a:prstGeom prst="rect">
            <a:avLst/>
          </a:prstGeom>
          <a:noFill/>
          <a:ln/>
        </p:spPr>
        <p:txBody>
          <a:bodyPr wrap="square" lIns="0" tIns="0" rIns="0" bIns="0" rtlCol="0" anchor="t"/>
          <a:lstStyle/>
          <a:p>
            <a:pPr marL="0" indent="0">
              <a:buNone/>
            </a:pPr>
            <a:r>
              <a:rPr lang="en-US" sz="1200" dirty="0">
                <a:solidFill>
                  <a:schemeClr val="accent6"/>
                </a:solidFill>
              </a:rPr>
              <a:t>bagian air pada invoice NPI beranomali (negatif / &gt; 97,8 m³)</a:t>
            </a:r>
            <a:endParaRPr lang="en-US" sz="1200" dirty="0"/>
          </a:p>
        </p:txBody>
      </p:sp>
      <p:sp>
        <p:nvSpPr>
          <p:cNvPr id="22" name="lapisan Nominal NPI analisis"/>
          <p:cNvSpPr/>
          <p:nvPr/>
        </p:nvSpPr>
        <p:spPr>
          <a:xfrm>
            <a:off x="8138160" y="3429000"/>
            <a:ext cx="3520440" cy="1828800"/>
          </a:xfrm>
          <a:prstGeom prst="roundRect">
            <a:avLst>
              <a:gd name="adj" fmla="val 4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3" name="Text 21"/>
          <p:cNvSpPr txBox="1"/>
          <p:nvPr/>
        </p:nvSpPr>
        <p:spPr>
          <a:xfrm>
            <a:off x="8366760" y="3611880"/>
            <a:ext cx="310896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NOMINAL NPI ANALISIS</a:t>
            </a:r>
            <a:endParaRPr lang="en-US" sz="1100" dirty="0"/>
          </a:p>
        </p:txBody>
      </p:sp>
      <p:sp>
        <p:nvSpPr>
          <p:cNvPr id="24" name="Text 22"/>
          <p:cNvSpPr txBox="1"/>
          <p:nvPr/>
        </p:nvSpPr>
        <p:spPr>
          <a:xfrm>
            <a:off x="8366760" y="3931920"/>
            <a:ext cx="3108960" cy="594360"/>
          </a:xfrm>
          <a:prstGeom prst="rect">
            <a:avLst/>
          </a:prstGeom>
          <a:noFill/>
          <a:ln/>
        </p:spPr>
        <p:txBody>
          <a:bodyPr wrap="square" lIns="0" tIns="0" rIns="0" bIns="0" rtlCol="0" anchor="ctr"/>
          <a:lstStyle/>
          <a:p>
            <a:pPr marL="0" indent="0">
              <a:buNone/>
            </a:pPr>
            <a:r>
              <a:rPr lang="en-US" sz="2800" b="1" dirty="0">
                <a:solidFill>
                  <a:schemeClr val="tx2"/>
                </a:solidFill>
              </a:rPr>
              <a:t>Rp176,34 M</a:t>
            </a:r>
            <a:endParaRPr lang="en-US" sz="2800" dirty="0"/>
          </a:p>
        </p:txBody>
      </p:sp>
      <p:sp>
        <p:nvSpPr>
          <p:cNvPr id="25" name="Text 23"/>
          <p:cNvSpPr txBox="1"/>
          <p:nvPr/>
        </p:nvSpPr>
        <p:spPr>
          <a:xfrm>
            <a:off x="8366760" y="4572000"/>
            <a:ext cx="3108960" cy="594360"/>
          </a:xfrm>
          <a:prstGeom prst="rect">
            <a:avLst/>
          </a:prstGeom>
          <a:noFill/>
          <a:ln/>
        </p:spPr>
        <p:txBody>
          <a:bodyPr wrap="square" lIns="0" tIns="0" rIns="0" bIns="0" rtlCol="0" anchor="t"/>
          <a:lstStyle/>
          <a:p>
            <a:pPr marL="0" indent="0">
              <a:buNone/>
            </a:pPr>
            <a:r>
              <a:rPr lang="en-US" sz="1200" dirty="0">
                <a:solidFill>
                  <a:schemeClr val="accent6"/>
                </a:solidFill>
              </a:rPr>
              <a:t>bruto dikurangi komponen air tersebut; IPL dan denda tetap dihitung</a:t>
            </a:r>
            <a:endParaRPr lang="en-US" sz="1200" dirty="0"/>
          </a:p>
        </p:txBody>
      </p:sp>
      <p:sp>
        <p:nvSpPr>
          <p:cNvPr id="26" name="catatan nominal"/>
          <p:cNvSpPr/>
          <p:nvPr/>
        </p:nvSpPr>
        <p:spPr>
          <a:xfrm>
            <a:off x="548640" y="5486400"/>
            <a:ext cx="11091672" cy="731520"/>
          </a:xfrm>
          <a:prstGeom prst="roundRect">
            <a:avLst>
              <a:gd name="adj" fmla="val 10000"/>
            </a:avLst>
          </a:prstGeom>
          <a:solidFill>
            <a:schemeClr val="tx2"/>
          </a:solidFill>
          <a:ln/>
        </p:spPr>
        <p:txBody>
          <a:bodyPr/>
          <a:lstStyle/>
          <a:p>
            <a:endParaRPr lang="en-US"/>
          </a:p>
        </p:txBody>
      </p:sp>
      <p:sp>
        <p:nvSpPr>
          <p:cNvPr id="27" name="Text 25"/>
          <p:cNvSpPr txBox="1"/>
          <p:nvPr/>
        </p:nvSpPr>
        <p:spPr>
          <a:xfrm>
            <a:off x="822960" y="5559552"/>
            <a:ext cx="10607040" cy="585216"/>
          </a:xfrm>
          <a:prstGeom prst="rect">
            <a:avLst/>
          </a:prstGeom>
          <a:noFill/>
          <a:ln/>
        </p:spPr>
        <p:txBody>
          <a:bodyPr wrap="square" lIns="0" tIns="0" rIns="0" bIns="0" rtlCol="0" anchor="ctr"/>
          <a:lstStyle/>
          <a:p>
            <a:pPr marL="0" indent="0">
              <a:buNone/>
            </a:pPr>
            <a:r>
              <a:rPr lang="en-US" sz="1500" b="1" dirty="0">
                <a:solidFill>
                  <a:schemeClr val="bg1"/>
                </a:solidFill>
              </a:rPr>
              <a:t>Nominal NPI adalah tagihan berstatus bermasalah: bukan kerugian permanen dan bukan kas yang pasti tertagih.</a:t>
            </a:r>
            <a:endParaRPr lang="en-US" sz="1500" dirty="0"/>
          </a:p>
        </p:txBody>
      </p:sp>
      <p:sp>
        <p:nvSpPr>
          <p:cNvPr id="28"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POLA PER COHORT</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NPI cohort naik dari 20% pada Juli 2022 dan bertahan di kisaran 35–38% sejak 2023</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cohort"/>
          <p:cNvGraphicFramePr/>
          <p:nvPr/>
        </p:nvGraphicFramePr>
        <p:xfrm>
          <a:off x="548640" y="1600200"/>
          <a:ext cx="731520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nominal cohort"/>
          <p:cNvGraphicFramePr/>
          <p:nvPr/>
        </p:nvGraphicFramePr>
        <p:xfrm>
          <a:off x="548640" y="4023360"/>
          <a:ext cx="7315200"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7" name="panel key takeaway"/>
          <p:cNvSpPr/>
          <p:nvPr/>
        </p:nvSpPr>
        <p:spPr>
          <a:xfrm>
            <a:off x="8183880" y="1600200"/>
            <a:ext cx="3456432" cy="4617720"/>
          </a:xfrm>
          <a:prstGeom prst="roundRect">
            <a:avLst>
              <a:gd name="adj" fmla="val 2116"/>
            </a:avLst>
          </a:prstGeom>
          <a:solidFill>
            <a:schemeClr val="tx2"/>
          </a:solidFill>
          <a:ln/>
        </p:spPr>
        <p:txBody>
          <a:bodyPr/>
          <a:lstStyle/>
          <a:p>
            <a:endParaRPr lang="en-US"/>
          </a:p>
        </p:txBody>
      </p:sp>
      <p:sp>
        <p:nvSpPr>
          <p:cNvPr id="8" name="Text 4"/>
          <p:cNvSpPr txBox="1"/>
          <p:nvPr/>
        </p:nvSpPr>
        <p:spPr>
          <a:xfrm>
            <a:off x="8458200" y="1856232"/>
            <a:ext cx="290779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9" name="Text 5"/>
          <p:cNvSpPr txBox="1"/>
          <p:nvPr/>
        </p:nvSpPr>
        <p:spPr>
          <a:xfrm>
            <a:off x="8458200" y="2194560"/>
            <a:ext cx="2907792" cy="914400"/>
          </a:xfrm>
          <a:prstGeom prst="rect">
            <a:avLst/>
          </a:prstGeom>
          <a:noFill/>
          <a:ln/>
        </p:spPr>
        <p:txBody>
          <a:bodyPr wrap="square" lIns="0" tIns="0" rIns="0" bIns="0" rtlCol="0" anchor="t"/>
          <a:lstStyle/>
          <a:p>
            <a:pPr marL="0" indent="0">
              <a:buNone/>
            </a:pPr>
            <a:r>
              <a:rPr lang="en-US" sz="1700" b="1" dirty="0">
                <a:solidFill>
                  <a:schemeClr val="bg1"/>
                </a:solidFill>
              </a:rPr>
              <a:t>Rata-rata 6 cohort matang: 30,14% → 37,24%</a:t>
            </a:r>
            <a:endParaRPr lang="en-US" sz="1700" dirty="0"/>
          </a:p>
        </p:txBody>
      </p:sp>
      <p:sp>
        <p:nvSpPr>
          <p:cNvPr id="10" name="Text 6"/>
          <p:cNvSpPr txBox="1"/>
          <p:nvPr/>
        </p:nvSpPr>
        <p:spPr>
          <a:xfrm>
            <a:off x="8458200" y="3154680"/>
            <a:ext cx="2907792" cy="1920240"/>
          </a:xfrm>
          <a:prstGeom prst="rect">
            <a:avLst/>
          </a:prstGeom>
          <a:noFill/>
          <a:ln/>
        </p:spPr>
        <p:txBody>
          <a:bodyPr wrap="square" lIns="0" tIns="0" rIns="0" bIns="0" rtlCol="0" anchor="t"/>
          <a:lstStyle/>
          <a:p>
            <a:pPr marL="0" indent="0">
              <a:buNone/>
            </a:pPr>
            <a:r>
              <a:rPr lang="en-US" sz="1400" dirty="0">
                <a:solidFill>
                  <a:srgbClr val="DCE3EE"/>
                </a:solidFill>
              </a:rPr>
              <a:t>Cohort awal lebih rendah karena portofolio masih bergeser ke cluster New Phase. Nominal NPI per cohort naik dari Rp2,4 miliar menjadi rata-rata Rp6,9 miliar karena jumlah invoice bertambah (19.882 → 28.881 per bulan).</a:t>
            </a:r>
            <a:endParaRPr lang="en-US" sz="1400" dirty="0"/>
          </a:p>
        </p:txBody>
      </p:sp>
      <p:sp>
        <p:nvSpPr>
          <p:cNvPr id="11" name="Text 7"/>
          <p:cNvSpPr txBox="1"/>
          <p:nvPr/>
        </p:nvSpPr>
        <p:spPr>
          <a:xfrm>
            <a:off x="8458200" y="5166360"/>
            <a:ext cx="2907792" cy="868680"/>
          </a:xfrm>
          <a:prstGeom prst="rect">
            <a:avLst/>
          </a:prstGeom>
          <a:noFill/>
          <a:ln/>
        </p:spPr>
        <p:txBody>
          <a:bodyPr wrap="square" lIns="0" tIns="0" rIns="0" bIns="0" rtlCol="0" anchor="t"/>
          <a:lstStyle/>
          <a:p>
            <a:pPr marL="0" indent="0">
              <a:buNone/>
            </a:pPr>
            <a:r>
              <a:rPr lang="en-US" sz="1300" b="1" dirty="0">
                <a:solidFill>
                  <a:schemeClr val="accent2"/>
                </a:solidFill>
              </a:rPr>
              <a:t>Implikasi: </a:t>
            </a:r>
            <a:r>
              <a:rPr lang="en-US" sz="1300" dirty="0">
                <a:solidFill>
                  <a:schemeClr val="bg1"/>
                </a:solidFill>
              </a:rPr>
              <a:t>Cohort Des 2024 (36,78%) belum matang; jangan dibandingkan langsung.</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lustrasi kawasan" descr="/home/claude/deck2/img/div3.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04</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Faktor risiko tunggakan</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Karakteristik mana yang berkaitan dengan NPI, dan mana yang tetap kuat setelah dikendalikan</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HASIL UJI HIPOTESIS</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Vacant, tanpa autodebit, dan pemilik jauh memiliki selisih NPI terbesar</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hipotesis"/>
          <p:cNvGraphicFramePr/>
          <p:nvPr/>
        </p:nvGraphicFramePr>
        <p:xfrm>
          <a:off x="548640" y="1600200"/>
          <a:ext cx="6949440" cy="4617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tabel selisih"/>
          <p:cNvGraphicFramePr>
            <a:graphicFrameLocks noGrp="1"/>
          </p:cNvGraphicFramePr>
          <p:nvPr>
            <p:extLst>
              <p:ext uri="{D42A27DB-BD31-4B8C-83A1-F6EECF244321}">
                <p14:modId xmlns:p14="http://schemas.microsoft.com/office/powerpoint/2010/main" val="1579011935"/>
              </p:ext>
            </p:extLst>
          </p:nvPr>
        </p:nvGraphicFramePr>
        <p:xfrm>
          <a:off x="7726680" y="1645920"/>
          <a:ext cx="3913632" cy="3334512"/>
        </p:xfrm>
        <a:graphic>
          <a:graphicData uri="http://schemas.openxmlformats.org/drawingml/2006/table">
            <a:tbl>
              <a:tblPr/>
              <a:tblGrid>
                <a:gridCol w="14630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tblGrid>
              <a:tr h="365760">
                <a:tc>
                  <a:txBody>
                    <a:bodyPr/>
                    <a:lstStyle/>
                    <a:p>
                      <a:pPr marL="0" indent="0">
                        <a:buNone/>
                      </a:pPr>
                      <a:r>
                        <a:rPr lang="en-US" sz="1100" b="1" dirty="0">
                          <a:solidFill>
                            <a:schemeClr val="bg1"/>
                          </a:solidFill>
                        </a:rPr>
                        <a:t>Hipotesis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Selisih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CI 95%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V</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chemeClr val="tx1"/>
                          </a:solidFill>
                        </a:rPr>
                        <a:t>H1 Vacant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+30,32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29,92–30,72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0,27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chemeClr val="tx1"/>
                          </a:solidFill>
                        </a:rPr>
                        <a:t>H6 Tanpa 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+29,78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29,52–30,04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0,22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chemeClr val="tx1"/>
                          </a:solidFill>
                        </a:rPr>
                        <a:t>H2 Pemilik jauh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+22,05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21,61–22,52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0,22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chemeClr val="tx1"/>
                          </a:solidFill>
                        </a:rPr>
                        <a:t>H3 Tanpa nomor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+11,91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11,17–12,58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0,10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chemeClr val="tx1"/>
                          </a:solidFill>
                        </a:rPr>
                        <a:t>H7 Cetak fisik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+8,66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8,31–9,05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chemeClr val="tx1"/>
                          </a:solidFill>
                        </a:rPr>
                        <a:t>H11 New Phase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+7,24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6,75–7,70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0,07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365760">
                <a:tc>
                  <a:txBody>
                    <a:bodyPr/>
                    <a:lstStyle/>
                    <a:p>
                      <a:pPr marL="0" indent="0">
                        <a:buNone/>
                      </a:pPr>
                      <a:r>
                        <a:rPr lang="en-US" sz="1100" dirty="0">
                          <a:solidFill>
                            <a:schemeClr val="tx1"/>
                          </a:solidFill>
                        </a:rPr>
                        <a:t>H8 Tarif tinggi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+4,51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3,83–5,23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100" dirty="0">
                          <a:solidFill>
                            <a:schemeClr val="tx1"/>
                          </a:solidFill>
                        </a:rPr>
                        <a:t>H12 Regional Hub</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+3,03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2,51–3,49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0,03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bl>
          </a:graphicData>
        </a:graphic>
      </p:graphicFrame>
      <p:sp>
        <p:nvSpPr>
          <p:cNvPr id="7" name="Text 3"/>
          <p:cNvSpPr txBox="1"/>
          <p:nvPr/>
        </p:nvSpPr>
        <p:spPr>
          <a:xfrm>
            <a:off x="7726680" y="5074920"/>
            <a:ext cx="3913632" cy="1097280"/>
          </a:xfrm>
          <a:prstGeom prst="rect">
            <a:avLst/>
          </a:prstGeom>
          <a:noFill/>
          <a:ln/>
        </p:spPr>
        <p:txBody>
          <a:bodyPr wrap="square" lIns="0" tIns="0" rIns="0" bIns="0" rtlCol="0" anchor="t"/>
          <a:lstStyle/>
          <a:p>
            <a:pPr marL="0" indent="0">
              <a:buNone/>
            </a:pPr>
            <a:r>
              <a:rPr lang="en-US" sz="1200" dirty="0">
                <a:solidFill>
                  <a:schemeClr val="accent6"/>
                </a:solidFill>
              </a:rPr>
              <a:t>CI 95% = interval kepercayaan bootstrap per unit; V = Cramér's V (besar efek). Seluruh selisih signifikan setelah koreksi Holm, tetapi tetap berupa asosiasi.</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PENGENDALIAN FAKTOR PENGGANGGU</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Autodebit, status vacant, dan fase cluster tetap berkaitan dengan NPI setelah pengendalian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pengendalian"/>
          <p:cNvGraphicFramePr/>
          <p:nvPr/>
        </p:nvGraphicFramePr>
        <p:xfrm>
          <a:off x="548640" y="1600200"/>
          <a:ext cx="731520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6" name="panel key takeaway"/>
          <p:cNvSpPr/>
          <p:nvPr/>
        </p:nvSpPr>
        <p:spPr>
          <a:xfrm>
            <a:off x="8183880" y="1600200"/>
            <a:ext cx="3456432" cy="4617720"/>
          </a:xfrm>
          <a:prstGeom prst="roundRect">
            <a:avLst>
              <a:gd name="adj" fmla="val 2116"/>
            </a:avLst>
          </a:prstGeom>
          <a:solidFill>
            <a:schemeClr val="tx2"/>
          </a:solidFill>
          <a:ln/>
        </p:spPr>
        <p:txBody>
          <a:bodyPr/>
          <a:lstStyle/>
          <a:p>
            <a:endParaRPr lang="en-US"/>
          </a:p>
        </p:txBody>
      </p:sp>
      <p:sp>
        <p:nvSpPr>
          <p:cNvPr id="7" name="Text 4"/>
          <p:cNvSpPr txBox="1"/>
          <p:nvPr/>
        </p:nvSpPr>
        <p:spPr>
          <a:xfrm>
            <a:off x="8458200" y="1856232"/>
            <a:ext cx="290779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8" name="Text 5"/>
          <p:cNvSpPr txBox="1"/>
          <p:nvPr/>
        </p:nvSpPr>
        <p:spPr>
          <a:xfrm>
            <a:off x="8458200" y="2194560"/>
            <a:ext cx="2907792" cy="914400"/>
          </a:xfrm>
          <a:prstGeom prst="rect">
            <a:avLst/>
          </a:prstGeom>
          <a:noFill/>
          <a:ln/>
        </p:spPr>
        <p:txBody>
          <a:bodyPr wrap="square" lIns="0" tIns="0" rIns="0" bIns="0" rtlCol="0" anchor="t"/>
          <a:lstStyle/>
          <a:p>
            <a:pPr marL="0" indent="0">
              <a:buNone/>
            </a:pPr>
            <a:r>
              <a:rPr lang="en-US" sz="1700" b="1" dirty="0">
                <a:solidFill>
                  <a:schemeClr val="bg1"/>
                </a:solidFill>
              </a:rPr>
              <a:t>Tiga faktor tetap kuat; tiga faktor hampir hilang</a:t>
            </a:r>
            <a:endParaRPr lang="en-US" sz="1700" dirty="0"/>
          </a:p>
        </p:txBody>
      </p:sp>
      <p:sp>
        <p:nvSpPr>
          <p:cNvPr id="9" name="Text 6"/>
          <p:cNvSpPr txBox="1"/>
          <p:nvPr/>
        </p:nvSpPr>
        <p:spPr>
          <a:xfrm>
            <a:off x="8458200" y="3154680"/>
            <a:ext cx="2907792" cy="1920240"/>
          </a:xfrm>
          <a:prstGeom prst="rect">
            <a:avLst/>
          </a:prstGeom>
          <a:noFill/>
          <a:ln/>
        </p:spPr>
        <p:txBody>
          <a:bodyPr wrap="square" lIns="0" tIns="0" rIns="0" bIns="0" rtlCol="0" anchor="t"/>
          <a:lstStyle/>
          <a:p>
            <a:pPr marL="0" indent="0">
              <a:buNone/>
            </a:pPr>
            <a:r>
              <a:rPr lang="en-US" sz="1400" dirty="0">
                <a:solidFill>
                  <a:srgbClr val="DCE3EE"/>
                </a:solidFill>
              </a:rPr>
              <a:t>Selisih autodebit tersisa 89%, vacant 77%, New Phase 97%. Domisili tersisa 46% karena tumpang tindih dengan vacant. Kontak, kanal cetak fisik, dan Regional Hub turun mendekati 0.</a:t>
            </a:r>
            <a:endParaRPr lang="en-US" sz="1400" dirty="0"/>
          </a:p>
        </p:txBody>
      </p:sp>
      <p:sp>
        <p:nvSpPr>
          <p:cNvPr id="10" name="Text 7"/>
          <p:cNvSpPr txBox="1"/>
          <p:nvPr/>
        </p:nvSpPr>
        <p:spPr>
          <a:xfrm>
            <a:off x="8458200" y="5166360"/>
            <a:ext cx="2907792" cy="868680"/>
          </a:xfrm>
          <a:prstGeom prst="rect">
            <a:avLst/>
          </a:prstGeom>
          <a:noFill/>
          <a:ln/>
        </p:spPr>
        <p:txBody>
          <a:bodyPr wrap="square" lIns="0" tIns="0" rIns="0" bIns="0" rtlCol="0" anchor="t"/>
          <a:lstStyle/>
          <a:p>
            <a:pPr marL="0" indent="0">
              <a:buNone/>
            </a:pPr>
            <a:r>
              <a:rPr lang="en-US" sz="1300" b="1" dirty="0">
                <a:solidFill>
                  <a:schemeClr val="accent2"/>
                </a:solidFill>
              </a:rPr>
              <a:t>Implikasi: </a:t>
            </a:r>
            <a:r>
              <a:rPr lang="en-US" sz="1300" dirty="0">
                <a:solidFill>
                  <a:schemeClr val="bg1"/>
                </a:solidFill>
              </a:rPr>
              <a:t>Kontak dan kanal tetap penting untuk keterjangkauan, tetapi tidak dijanjikan menurunkan NPI.</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PROFIL RISIKO GABUNGAN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Semakin banyak faktor risiko, semakin tinggi NPI: dari 4,93% menjadi 67,10%</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skor npi"/>
          <p:cNvGraphicFramePr/>
          <p:nvPr/>
        </p:nvGraphicFramePr>
        <p:xfrm>
          <a:off x="548640" y="1600200"/>
          <a:ext cx="393192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skor nominal"/>
          <p:cNvGraphicFramePr/>
          <p:nvPr/>
        </p:nvGraphicFramePr>
        <p:xfrm>
          <a:off x="4617720" y="1600200"/>
          <a:ext cx="3931920" cy="35661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tabel konsistensi skor"/>
          <p:cNvGraphicFramePr>
            <a:graphicFrameLocks noGrp="1"/>
          </p:cNvGraphicFramePr>
          <p:nvPr>
            <p:extLst>
              <p:ext uri="{D42A27DB-BD31-4B8C-83A1-F6EECF244321}">
                <p14:modId xmlns:p14="http://schemas.microsoft.com/office/powerpoint/2010/main" val="1579011935"/>
              </p:ext>
            </p:extLst>
          </p:nvPr>
        </p:nvGraphicFramePr>
        <p:xfrm>
          <a:off x="8823960" y="1645920"/>
          <a:ext cx="2816352" cy="2176272"/>
        </p:xfrm>
        <a:graphic>
          <a:graphicData uri="http://schemas.openxmlformats.org/drawingml/2006/table">
            <a:tbl>
              <a:tblPr/>
              <a:tblGrid>
                <a:gridCol w="640080">
                  <a:extLst>
                    <a:ext uri="{9D8B030D-6E8A-4147-A177-3AD203B41FA5}">
                      <a16:colId xmlns:a16="http://schemas.microsoft.com/office/drawing/2014/main" val="20000"/>
                    </a:ext>
                  </a:extLst>
                </a:gridCol>
                <a:gridCol w="1133856">
                  <a:extLst>
                    <a:ext uri="{9D8B030D-6E8A-4147-A177-3AD203B41FA5}">
                      <a16:colId xmlns:a16="http://schemas.microsoft.com/office/drawing/2014/main" val="20001"/>
                    </a:ext>
                  </a:extLst>
                </a:gridCol>
                <a:gridCol w="1042416">
                  <a:extLst>
                    <a:ext uri="{9D8B030D-6E8A-4147-A177-3AD203B41FA5}">
                      <a16:colId xmlns:a16="http://schemas.microsoft.com/office/drawing/2014/main" val="20002"/>
                    </a:ext>
                  </a:extLst>
                </a:gridCol>
              </a:tblGrid>
              <a:tr h="347472">
                <a:tc>
                  <a:txBody>
                    <a:bodyPr/>
                    <a:lstStyle/>
                    <a:p>
                      <a:pPr marL="0" indent="0">
                        <a:buNone/>
                      </a:pPr>
                      <a:r>
                        <a:rPr lang="en-US" sz="1200" b="1" dirty="0">
                          <a:solidFill>
                            <a:schemeClr val="bg1"/>
                          </a:solidFill>
                        </a:rPr>
                        <a:t>Skor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Cohort 2022–2023</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Cohort 2024</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chemeClr val="tx1"/>
                          </a:solidFill>
                        </a:rPr>
                        <a:t>0</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4,8%</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5,0%</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chemeClr val="tx1"/>
                          </a:solidFill>
                        </a:rPr>
                        <a:t>1</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23,1%</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24,4%</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chemeClr val="tx1"/>
                          </a:solidFill>
                        </a:rPr>
                        <a:t>2</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36,9%</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38,2%</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chemeClr val="tx1"/>
                          </a:solidFill>
                        </a:rPr>
                        <a:t>3</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56,1%</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56,6%</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chemeClr val="tx1"/>
                          </a:solidFill>
                        </a:rPr>
                        <a:t>4</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66,1%</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68,0%</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3"/>
          <p:cNvSpPr txBox="1"/>
          <p:nvPr/>
        </p:nvSpPr>
        <p:spPr>
          <a:xfrm>
            <a:off x="8823960" y="3886200"/>
            <a:ext cx="2816352" cy="1188720"/>
          </a:xfrm>
          <a:prstGeom prst="rect">
            <a:avLst/>
          </a:prstGeom>
          <a:noFill/>
          <a:ln/>
        </p:spPr>
        <p:txBody>
          <a:bodyPr wrap="square" lIns="0" tIns="0" rIns="0" bIns="0" rtlCol="0" anchor="t"/>
          <a:lstStyle/>
          <a:p>
            <a:pPr marL="0" indent="0">
              <a:buNone/>
            </a:pPr>
            <a:r>
              <a:rPr lang="en-US" sz="1200" dirty="0">
                <a:solidFill>
                  <a:schemeClr val="accent6"/>
                </a:solidFill>
              </a:rPr>
              <a:t>Pola sama pada dua periode cohort matang → skor stabil, bukan kebetulan satu periode.</a:t>
            </a:r>
            <a:endParaRPr lang="en-US" sz="1200" dirty="0"/>
          </a:p>
        </p:txBody>
      </p:sp>
      <p:sp>
        <p:nvSpPr>
          <p:cNvPr id="9" name="catatan skor"/>
          <p:cNvSpPr/>
          <p:nvPr/>
        </p:nvSpPr>
        <p:spPr>
          <a:xfrm>
            <a:off x="548640" y="5349240"/>
            <a:ext cx="11091672" cy="868680"/>
          </a:xfrm>
          <a:prstGeom prst="roundRect">
            <a:avLst>
              <a:gd name="adj" fmla="val 8421"/>
            </a:avLst>
          </a:prstGeom>
          <a:solidFill>
            <a:schemeClr val="tx2"/>
          </a:solidFill>
          <a:ln/>
        </p:spPr>
        <p:txBody>
          <a:bodyPr/>
          <a:lstStyle/>
          <a:p>
            <a:endParaRPr lang="en-US"/>
          </a:p>
        </p:txBody>
      </p:sp>
      <p:sp>
        <p:nvSpPr>
          <p:cNvPr id="10" name="Text 5"/>
          <p:cNvSpPr txBox="1"/>
          <p:nvPr/>
        </p:nvSpPr>
        <p:spPr>
          <a:xfrm>
            <a:off x="822960" y="5440680"/>
            <a:ext cx="10607040" cy="685800"/>
          </a:xfrm>
          <a:prstGeom prst="rect">
            <a:avLst/>
          </a:prstGeom>
          <a:noFill/>
          <a:ln/>
        </p:spPr>
        <p:txBody>
          <a:bodyPr wrap="square" lIns="0" tIns="0" rIns="0" bIns="0" rtlCol="0" anchor="ctr"/>
          <a:lstStyle/>
          <a:p>
            <a:pPr marL="0" indent="0">
              <a:buNone/>
            </a:pPr>
            <a:r>
              <a:rPr lang="en-US" sz="1400" b="1" dirty="0">
                <a:solidFill>
                  <a:schemeClr val="accent2"/>
                </a:solidFill>
              </a:rPr>
              <a:t>Faktor skor (bobot sama): </a:t>
            </a:r>
            <a:r>
              <a:rPr lang="en-US" sz="1400" dirty="0">
                <a:solidFill>
                  <a:schemeClr val="bg1"/>
                </a:solidFill>
              </a:rPr>
              <a:t>vacant, pemilik luar kota/negeri, tanpa autodebit, cluster New Phase. Skor 3–4 = 24,1% invoice tetapi 40,1% nominal (Rp70,7 M). Skor ini heuristik, bukan model prediktif.</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RISK RATE VS FINANCIAL EXPOSURE</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Risiko tertinggi tidak selalu menyumbang nominal terbesar</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risk rate"/>
          <p:cNvGraphicFramePr/>
          <p:nvPr/>
        </p:nvGraphicFramePr>
        <p:xfrm>
          <a:off x="548640" y="1600200"/>
          <a:ext cx="4023360" cy="4023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exposure"/>
          <p:cNvGraphicFramePr/>
          <p:nvPr/>
        </p:nvGraphicFramePr>
        <p:xfrm>
          <a:off x="4663440" y="1600200"/>
          <a:ext cx="402336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7" name="panel key takeaway"/>
          <p:cNvSpPr/>
          <p:nvPr/>
        </p:nvSpPr>
        <p:spPr>
          <a:xfrm>
            <a:off x="8915400" y="1600200"/>
            <a:ext cx="2724912" cy="4617720"/>
          </a:xfrm>
          <a:prstGeom prst="roundRect">
            <a:avLst>
              <a:gd name="adj" fmla="val 2685"/>
            </a:avLst>
          </a:prstGeom>
          <a:solidFill>
            <a:schemeClr val="tx2"/>
          </a:solidFill>
          <a:ln/>
        </p:spPr>
        <p:txBody>
          <a:bodyPr/>
          <a:lstStyle/>
          <a:p>
            <a:endParaRPr lang="en-US"/>
          </a:p>
        </p:txBody>
      </p:sp>
      <p:sp>
        <p:nvSpPr>
          <p:cNvPr id="8" name="Text 4"/>
          <p:cNvSpPr txBox="1"/>
          <p:nvPr/>
        </p:nvSpPr>
        <p:spPr>
          <a:xfrm>
            <a:off x="9189720" y="1856232"/>
            <a:ext cx="217627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9" name="Text 5"/>
          <p:cNvSpPr txBox="1"/>
          <p:nvPr/>
        </p:nvSpPr>
        <p:spPr>
          <a:xfrm>
            <a:off x="9189720" y="2194560"/>
            <a:ext cx="2176272" cy="914400"/>
          </a:xfrm>
          <a:prstGeom prst="rect">
            <a:avLst/>
          </a:prstGeom>
          <a:noFill/>
          <a:ln/>
        </p:spPr>
        <p:txBody>
          <a:bodyPr wrap="square" lIns="0" tIns="0" rIns="0" bIns="0" rtlCol="0" anchor="t"/>
          <a:lstStyle/>
          <a:p>
            <a:pPr marL="0" indent="0">
              <a:buNone/>
            </a:pPr>
            <a:r>
              <a:rPr lang="en-US" sz="1700" b="1" dirty="0">
                <a:solidFill>
                  <a:schemeClr val="bg1"/>
                </a:solidFill>
              </a:rPr>
              <a:t>Tanpa autodebit: Rp169,28 M (96,0%)</a:t>
            </a:r>
            <a:endParaRPr lang="en-US" sz="1700" dirty="0"/>
          </a:p>
        </p:txBody>
      </p:sp>
      <p:sp>
        <p:nvSpPr>
          <p:cNvPr id="10" name="Text 6"/>
          <p:cNvSpPr txBox="1"/>
          <p:nvPr/>
        </p:nvSpPr>
        <p:spPr>
          <a:xfrm>
            <a:off x="9189720" y="3154680"/>
            <a:ext cx="2176272" cy="1920240"/>
          </a:xfrm>
          <a:prstGeom prst="rect">
            <a:avLst/>
          </a:prstGeom>
          <a:noFill/>
          <a:ln/>
        </p:spPr>
        <p:txBody>
          <a:bodyPr wrap="square" lIns="0" tIns="0" rIns="0" bIns="0" rtlCol="0" anchor="t"/>
          <a:lstStyle/>
          <a:p>
            <a:pPr marL="0" indent="0">
              <a:buNone/>
            </a:pPr>
            <a:r>
              <a:rPr lang="en-US" sz="1400" dirty="0">
                <a:solidFill>
                  <a:srgbClr val="DCE3EE"/>
                </a:solidFill>
              </a:rPr>
              <a:t>Vacant paling berisiko (58,43%) tetapi Rp66,10 M; unit dihuni justru Rp110,24 M. Sengketa berisiko tinggi tetapi hanya Rp4,21 M.</a:t>
            </a:r>
            <a:endParaRPr lang="en-US" sz="1400" dirty="0"/>
          </a:p>
        </p:txBody>
      </p:sp>
      <p:sp>
        <p:nvSpPr>
          <p:cNvPr id="11" name="Text 7"/>
          <p:cNvSpPr txBox="1"/>
          <p:nvPr/>
        </p:nvSpPr>
        <p:spPr>
          <a:xfrm>
            <a:off x="9189720" y="5166360"/>
            <a:ext cx="2176272" cy="868680"/>
          </a:xfrm>
          <a:prstGeom prst="rect">
            <a:avLst/>
          </a:prstGeom>
          <a:noFill/>
          <a:ln/>
        </p:spPr>
        <p:txBody>
          <a:bodyPr wrap="square" lIns="0" tIns="0" rIns="0" bIns="0" rtlCol="0" anchor="t"/>
          <a:lstStyle/>
          <a:p>
            <a:pPr marL="0" indent="0">
              <a:buNone/>
            </a:pPr>
            <a:r>
              <a:rPr lang="en-US" sz="1300" b="1" dirty="0">
                <a:solidFill>
                  <a:schemeClr val="accent2"/>
                </a:solidFill>
              </a:rPr>
              <a:t>Implikasi: </a:t>
            </a:r>
            <a:r>
              <a:rPr lang="en-US" sz="1300" dirty="0">
                <a:solidFill>
                  <a:schemeClr val="bg1"/>
                </a:solidFill>
              </a:rPr>
              <a:t>Prioritas = risiko + nominal + keterjangkauan + kapasitas tim.</a:t>
            </a:r>
            <a:endParaRPr lang="en-US" sz="1300" dirty="0"/>
          </a:p>
        </p:txBody>
      </p:sp>
      <p:sp>
        <p:nvSpPr>
          <p:cNvPr id="12" name="Text 8"/>
          <p:cNvSpPr txBox="1"/>
          <p:nvPr/>
        </p:nvSpPr>
        <p:spPr>
          <a:xfrm>
            <a:off x="548640" y="5715000"/>
            <a:ext cx="8138160" cy="502920"/>
          </a:xfrm>
          <a:prstGeom prst="rect">
            <a:avLst/>
          </a:prstGeom>
          <a:noFill/>
          <a:ln/>
        </p:spPr>
        <p:txBody>
          <a:bodyPr wrap="square" lIns="0" tIns="0" rIns="0" bIns="0" rtlCol="0" anchor="t"/>
          <a:lstStyle/>
          <a:p>
            <a:pPr marL="0" indent="0">
              <a:buNone/>
            </a:pPr>
            <a:r>
              <a:rPr lang="en-US" sz="1300" b="1" dirty="0">
                <a:solidFill>
                  <a:schemeClr val="accent4"/>
                </a:solidFill>
              </a:rPr>
              <a:t>Kelompok saling tumpang tindih: nominal antarhipotesis tidak boleh dijumlahkan menjadi total portofolio (Rp176,34 M).</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HASIL YANG TIDAK MENDUKUNG HIPOTESIS</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Tidak semua dugaan terbukti: lima hasil ini mencegah keputusan yang keliru</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hasil H9"/>
          <p:cNvSpPr/>
          <p:nvPr/>
        </p:nvSpPr>
        <p:spPr>
          <a:xfrm>
            <a:off x="548640" y="1645920"/>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label H9"/>
          <p:cNvSpPr txBox="1"/>
          <p:nvPr/>
        </p:nvSpPr>
        <p:spPr>
          <a:xfrm>
            <a:off x="777240" y="1901952"/>
            <a:ext cx="685800" cy="256032"/>
          </a:xfrm>
          <a:prstGeom prst="roundRect">
            <a:avLst>
              <a:gd name="adj" fmla="val 50000"/>
            </a:avLst>
          </a:prstGeom>
          <a:solidFill>
            <a:schemeClr val="accent6"/>
          </a:solidFill>
          <a:ln/>
        </p:spPr>
        <p:txBody>
          <a:bodyPr wrap="square" lIns="0" tIns="0" rIns="0" bIns="0" rtlCol="0" anchor="ctr"/>
          <a:lstStyle/>
          <a:p>
            <a:pPr marL="0" indent="0" algn="ctr">
              <a:buNone/>
            </a:pPr>
            <a:r>
              <a:rPr lang="en-US" sz="1000" b="1" kern="0" spc="100" dirty="0">
                <a:solidFill>
                  <a:schemeClr val="bg1"/>
                </a:solidFill>
              </a:rPr>
              <a:t>H9</a:t>
            </a:r>
            <a:endParaRPr lang="en-US" sz="1000" dirty="0"/>
          </a:p>
        </p:txBody>
      </p:sp>
      <p:sp>
        <p:nvSpPr>
          <p:cNvPr id="7" name="Text 5"/>
          <p:cNvSpPr txBox="1"/>
          <p:nvPr/>
        </p:nvSpPr>
        <p:spPr>
          <a:xfrm>
            <a:off x="1691640" y="1737360"/>
            <a:ext cx="2468880" cy="594360"/>
          </a:xfrm>
          <a:prstGeom prst="rect">
            <a:avLst/>
          </a:prstGeom>
          <a:noFill/>
          <a:ln/>
        </p:spPr>
        <p:txBody>
          <a:bodyPr wrap="square" lIns="0" tIns="0" rIns="0" bIns="0" rtlCol="0" anchor="ctr"/>
          <a:lstStyle/>
          <a:p>
            <a:pPr marL="0" indent="0">
              <a:buNone/>
            </a:pPr>
            <a:r>
              <a:rPr lang="en-US" sz="1500" b="1" dirty="0">
                <a:solidFill>
                  <a:schemeClr val="tx2"/>
                </a:solidFill>
              </a:rPr>
              <a:t>Jarak ke jatuh tempo</a:t>
            </a:r>
            <a:endParaRPr lang="en-US" sz="1500" dirty="0"/>
          </a:p>
        </p:txBody>
      </p:sp>
      <p:sp>
        <p:nvSpPr>
          <p:cNvPr id="8" name="Text 6"/>
          <p:cNvSpPr txBox="1"/>
          <p:nvPr/>
        </p:nvSpPr>
        <p:spPr>
          <a:xfrm>
            <a:off x="4206240" y="1737360"/>
            <a:ext cx="3566160" cy="594360"/>
          </a:xfrm>
          <a:prstGeom prst="rect">
            <a:avLst/>
          </a:prstGeom>
          <a:noFill/>
          <a:ln/>
        </p:spPr>
        <p:txBody>
          <a:bodyPr wrap="square" lIns="0" tIns="0" rIns="0" bIns="0" rtlCol="0" anchor="ctr"/>
          <a:lstStyle/>
          <a:p>
            <a:pPr marL="0" indent="0">
              <a:buNone/>
            </a:pPr>
            <a:r>
              <a:rPr lang="en-US" sz="1200" dirty="0">
                <a:solidFill>
                  <a:schemeClr val="tx1"/>
                </a:solidFill>
              </a:rPr>
              <a:t>35,46% vs 35,43%; +0,03 poin; p = 0,776</a:t>
            </a:r>
            <a:endParaRPr lang="en-US" sz="1200" dirty="0"/>
          </a:p>
        </p:txBody>
      </p:sp>
      <p:sp>
        <p:nvSpPr>
          <p:cNvPr id="9" name="Text 7"/>
          <p:cNvSpPr txBox="1"/>
          <p:nvPr/>
        </p:nvSpPr>
        <p:spPr>
          <a:xfrm>
            <a:off x="7909560" y="1737360"/>
            <a:ext cx="3566160" cy="594360"/>
          </a:xfrm>
          <a:prstGeom prst="rect">
            <a:avLst/>
          </a:prstGeom>
          <a:noFill/>
          <a:ln/>
        </p:spPr>
        <p:txBody>
          <a:bodyPr wrap="square" lIns="0" tIns="0" rIns="0" bIns="0" rtlCol="0" anchor="ctr"/>
          <a:lstStyle/>
          <a:p>
            <a:pPr marL="0" indent="0">
              <a:buNone/>
            </a:pPr>
            <a:r>
              <a:rPr lang="en-US" sz="1200" dirty="0">
                <a:solidFill>
                  <a:schemeClr val="tx1"/>
                </a:solidFill>
              </a:rPr>
              <a:t>Tidak didukung data. Mengubah jatuh tempo (32–45 hari) bukan prioritas.</a:t>
            </a:r>
            <a:endParaRPr lang="en-US" sz="1200" dirty="0"/>
          </a:p>
        </p:txBody>
      </p:sp>
      <p:sp>
        <p:nvSpPr>
          <p:cNvPr id="10" name="hasil H16"/>
          <p:cNvSpPr/>
          <p:nvPr/>
        </p:nvSpPr>
        <p:spPr>
          <a:xfrm>
            <a:off x="548640" y="2542032"/>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1" name="label H16"/>
          <p:cNvSpPr txBox="1"/>
          <p:nvPr/>
        </p:nvSpPr>
        <p:spPr>
          <a:xfrm>
            <a:off x="777240" y="2798064"/>
            <a:ext cx="685800" cy="256032"/>
          </a:xfrm>
          <a:prstGeom prst="roundRect">
            <a:avLst>
              <a:gd name="adj" fmla="val 50000"/>
            </a:avLst>
          </a:prstGeom>
          <a:solidFill>
            <a:schemeClr val="accent6"/>
          </a:solidFill>
          <a:ln/>
        </p:spPr>
        <p:txBody>
          <a:bodyPr wrap="square" lIns="0" tIns="0" rIns="0" bIns="0" rtlCol="0" anchor="ctr"/>
          <a:lstStyle/>
          <a:p>
            <a:pPr marL="0" indent="0" algn="ctr">
              <a:buNone/>
            </a:pPr>
            <a:r>
              <a:rPr lang="en-US" sz="1000" b="1" kern="0" spc="100" dirty="0">
                <a:solidFill>
                  <a:schemeClr val="bg1"/>
                </a:solidFill>
              </a:rPr>
              <a:t>H16</a:t>
            </a:r>
            <a:endParaRPr lang="en-US" sz="1000" dirty="0"/>
          </a:p>
        </p:txBody>
      </p:sp>
      <p:sp>
        <p:nvSpPr>
          <p:cNvPr id="12" name="Text 10"/>
          <p:cNvSpPr txBox="1"/>
          <p:nvPr/>
        </p:nvSpPr>
        <p:spPr>
          <a:xfrm>
            <a:off x="1691640" y="2633472"/>
            <a:ext cx="2468880" cy="594360"/>
          </a:xfrm>
          <a:prstGeom prst="rect">
            <a:avLst/>
          </a:prstGeom>
          <a:noFill/>
          <a:ln/>
        </p:spPr>
        <p:txBody>
          <a:bodyPr wrap="square" lIns="0" tIns="0" rIns="0" bIns="0" rtlCol="0" anchor="ctr"/>
          <a:lstStyle/>
          <a:p>
            <a:pPr marL="0" indent="0">
              <a:buNone/>
            </a:pPr>
            <a:r>
              <a:rPr lang="en-US" sz="1500" b="1" dirty="0">
                <a:solidFill>
                  <a:schemeClr val="tx2"/>
                </a:solidFill>
              </a:rPr>
              <a:t>Input meter Manual</a:t>
            </a:r>
            <a:endParaRPr lang="en-US" sz="1500" dirty="0"/>
          </a:p>
        </p:txBody>
      </p:sp>
      <p:sp>
        <p:nvSpPr>
          <p:cNvPr id="13" name="Text 11"/>
          <p:cNvSpPr txBox="1"/>
          <p:nvPr/>
        </p:nvSpPr>
        <p:spPr>
          <a:xfrm>
            <a:off x="4206240" y="2633472"/>
            <a:ext cx="3566160" cy="594360"/>
          </a:xfrm>
          <a:prstGeom prst="rect">
            <a:avLst/>
          </a:prstGeom>
          <a:noFill/>
          <a:ln/>
        </p:spPr>
        <p:txBody>
          <a:bodyPr wrap="square" lIns="0" tIns="0" rIns="0" bIns="0" rtlCol="0" anchor="ctr"/>
          <a:lstStyle/>
          <a:p>
            <a:pPr marL="0" indent="0">
              <a:buNone/>
            </a:pPr>
            <a:r>
              <a:rPr lang="en-US" sz="1200" dirty="0">
                <a:solidFill>
                  <a:schemeClr val="tx1"/>
                </a:solidFill>
              </a:rPr>
              <a:t>34,15% vs 40,13%; dalam New Phase 40,0% vs 40,1%</a:t>
            </a:r>
            <a:endParaRPr lang="en-US" sz="1200" dirty="0"/>
          </a:p>
        </p:txBody>
      </p:sp>
      <p:sp>
        <p:nvSpPr>
          <p:cNvPr id="14" name="Text 12"/>
          <p:cNvSpPr txBox="1"/>
          <p:nvPr/>
        </p:nvSpPr>
        <p:spPr>
          <a:xfrm>
            <a:off x="7909560" y="2633472"/>
            <a:ext cx="3566160" cy="594360"/>
          </a:xfrm>
          <a:prstGeom prst="rect">
            <a:avLst/>
          </a:prstGeom>
          <a:noFill/>
          <a:ln/>
        </p:spPr>
        <p:txBody>
          <a:bodyPr wrap="square" lIns="0" tIns="0" rIns="0" bIns="0" rtlCol="0" anchor="ctr"/>
          <a:lstStyle/>
          <a:p>
            <a:pPr marL="0" indent="0">
              <a:buNone/>
            </a:pPr>
            <a:r>
              <a:rPr lang="en-US" sz="1200" dirty="0">
                <a:solidFill>
                  <a:schemeClr val="tx1"/>
                </a:solidFill>
              </a:rPr>
              <a:t>Tidak didukung. Meter Manual tetap perlu divalidasi karena memengaruhi nominal dan sengketa.</a:t>
            </a:r>
            <a:endParaRPr lang="en-US" sz="1200" dirty="0"/>
          </a:p>
        </p:txBody>
      </p:sp>
      <p:sp>
        <p:nvSpPr>
          <p:cNvPr id="15" name="hasil H13"/>
          <p:cNvSpPr/>
          <p:nvPr/>
        </p:nvSpPr>
        <p:spPr>
          <a:xfrm>
            <a:off x="548640" y="3438144"/>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6" name="label H13"/>
          <p:cNvSpPr txBox="1"/>
          <p:nvPr/>
        </p:nvSpPr>
        <p:spPr>
          <a:xfrm>
            <a:off x="777240" y="3694176"/>
            <a:ext cx="685800" cy="256032"/>
          </a:xfrm>
          <a:prstGeom prst="roundRect">
            <a:avLst>
              <a:gd name="adj" fmla="val 50000"/>
            </a:avLst>
          </a:prstGeom>
          <a:solidFill>
            <a:schemeClr val="accent6"/>
          </a:solidFill>
          <a:ln/>
        </p:spPr>
        <p:txBody>
          <a:bodyPr wrap="square" lIns="0" tIns="0" rIns="0" bIns="0" rtlCol="0" anchor="ctr"/>
          <a:lstStyle/>
          <a:p>
            <a:pPr marL="0" indent="0" algn="ctr">
              <a:buNone/>
            </a:pPr>
            <a:r>
              <a:rPr lang="en-US" sz="1000" b="1" kern="0" spc="100" dirty="0">
                <a:solidFill>
                  <a:schemeClr val="bg1"/>
                </a:solidFill>
              </a:rPr>
              <a:t>H13</a:t>
            </a:r>
            <a:endParaRPr lang="en-US" sz="1000" dirty="0"/>
          </a:p>
        </p:txBody>
      </p:sp>
      <p:sp>
        <p:nvSpPr>
          <p:cNvPr id="17" name="Text 15"/>
          <p:cNvSpPr txBox="1"/>
          <p:nvPr/>
        </p:nvSpPr>
        <p:spPr>
          <a:xfrm>
            <a:off x="1691640" y="3529584"/>
            <a:ext cx="2468880" cy="594360"/>
          </a:xfrm>
          <a:prstGeom prst="rect">
            <a:avLst/>
          </a:prstGeom>
          <a:noFill/>
          <a:ln/>
        </p:spPr>
        <p:txBody>
          <a:bodyPr wrap="square" lIns="0" tIns="0" rIns="0" bIns="0" rtlCol="0" anchor="ctr"/>
          <a:lstStyle/>
          <a:p>
            <a:pPr marL="0" indent="0">
              <a:buNone/>
            </a:pPr>
            <a:r>
              <a:rPr lang="en-US" sz="1500" b="1" dirty="0">
                <a:solidFill>
                  <a:schemeClr val="tx2"/>
                </a:solidFill>
              </a:rPr>
              <a:t>Konsentrasi cluster</a:t>
            </a:r>
            <a:endParaRPr lang="en-US" sz="1500" dirty="0"/>
          </a:p>
        </p:txBody>
      </p:sp>
      <p:sp>
        <p:nvSpPr>
          <p:cNvPr id="18" name="Text 16"/>
          <p:cNvSpPr txBox="1"/>
          <p:nvPr/>
        </p:nvSpPr>
        <p:spPr>
          <a:xfrm>
            <a:off x="4206240" y="3529584"/>
            <a:ext cx="3566160" cy="594360"/>
          </a:xfrm>
          <a:prstGeom prst="rect">
            <a:avLst/>
          </a:prstGeom>
          <a:noFill/>
          <a:ln/>
        </p:spPr>
        <p:txBody>
          <a:bodyPr wrap="square" lIns="0" tIns="0" rIns="0" bIns="0" rtlCol="0" anchor="ctr"/>
          <a:lstStyle/>
          <a:p>
            <a:pPr marL="0" indent="0">
              <a:buNone/>
            </a:pPr>
            <a:r>
              <a:rPr lang="en-US" sz="1200" dirty="0">
                <a:solidFill>
                  <a:schemeClr val="tx1"/>
                </a:solidFill>
              </a:rPr>
              <a:t>50% nilai NPI tersebar di 40 dari 111 cluster; 20% cluster = 30,3%</a:t>
            </a:r>
            <a:endParaRPr lang="en-US" sz="1200" dirty="0"/>
          </a:p>
        </p:txBody>
      </p:sp>
      <p:sp>
        <p:nvSpPr>
          <p:cNvPr id="19" name="Text 17"/>
          <p:cNvSpPr txBox="1"/>
          <p:nvPr/>
        </p:nvSpPr>
        <p:spPr>
          <a:xfrm>
            <a:off x="7909560" y="3529584"/>
            <a:ext cx="3566160" cy="594360"/>
          </a:xfrm>
          <a:prstGeom prst="rect">
            <a:avLst/>
          </a:prstGeom>
          <a:noFill/>
          <a:ln/>
        </p:spPr>
        <p:txBody>
          <a:bodyPr wrap="square" lIns="0" tIns="0" rIns="0" bIns="0" rtlCol="0" anchor="ctr"/>
          <a:lstStyle/>
          <a:p>
            <a:pPr marL="0" indent="0">
              <a:buNone/>
            </a:pPr>
            <a:r>
              <a:rPr lang="en-US" sz="1200" dirty="0">
                <a:solidFill>
                  <a:schemeClr val="tx1"/>
                </a:solidFill>
              </a:rPr>
              <a:t>Tidak terkonsentrasi per cluster; per unit lebih terkonsentrasi (6.771 unit = 50%).</a:t>
            </a:r>
            <a:endParaRPr lang="en-US" sz="1200" dirty="0"/>
          </a:p>
        </p:txBody>
      </p:sp>
      <p:sp>
        <p:nvSpPr>
          <p:cNvPr id="20" name="hasil H14"/>
          <p:cNvSpPr/>
          <p:nvPr/>
        </p:nvSpPr>
        <p:spPr>
          <a:xfrm>
            <a:off x="548640" y="4334256"/>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1" name="label H14"/>
          <p:cNvSpPr txBox="1"/>
          <p:nvPr/>
        </p:nvSpPr>
        <p:spPr>
          <a:xfrm>
            <a:off x="777240" y="4590288"/>
            <a:ext cx="685800" cy="256032"/>
          </a:xfrm>
          <a:prstGeom prst="roundRect">
            <a:avLst>
              <a:gd name="adj" fmla="val 50000"/>
            </a:avLst>
          </a:prstGeom>
          <a:solidFill>
            <a:schemeClr val="accent5"/>
          </a:solidFill>
          <a:ln/>
        </p:spPr>
        <p:txBody>
          <a:bodyPr wrap="square" lIns="0" tIns="0" rIns="0" bIns="0" rtlCol="0" anchor="ctr"/>
          <a:lstStyle/>
          <a:p>
            <a:pPr marL="0" indent="0" algn="ctr">
              <a:buNone/>
            </a:pPr>
            <a:r>
              <a:rPr lang="en-US" sz="1000" b="1" kern="0" spc="100" dirty="0">
                <a:solidFill>
                  <a:schemeClr val="bg1"/>
                </a:solidFill>
              </a:rPr>
              <a:t>H14</a:t>
            </a:r>
            <a:endParaRPr lang="en-US" sz="1000" dirty="0"/>
          </a:p>
        </p:txBody>
      </p:sp>
      <p:sp>
        <p:nvSpPr>
          <p:cNvPr id="22" name="Text 20"/>
          <p:cNvSpPr txBox="1"/>
          <p:nvPr/>
        </p:nvSpPr>
        <p:spPr>
          <a:xfrm>
            <a:off x="1691640" y="4425696"/>
            <a:ext cx="2468880" cy="594360"/>
          </a:xfrm>
          <a:prstGeom prst="rect">
            <a:avLst/>
          </a:prstGeom>
          <a:noFill/>
          <a:ln/>
        </p:spPr>
        <p:txBody>
          <a:bodyPr wrap="square" lIns="0" tIns="0" rIns="0" bIns="0" rtlCol="0" anchor="ctr"/>
          <a:lstStyle/>
          <a:p>
            <a:pPr marL="0" indent="0">
              <a:buNone/>
            </a:pPr>
            <a:r>
              <a:rPr lang="en-US" sz="1500" b="1" dirty="0">
                <a:solidFill>
                  <a:schemeClr val="tx2"/>
                </a:solidFill>
              </a:rPr>
              <a:t>Jenis aksi Collection</a:t>
            </a:r>
            <a:endParaRPr lang="en-US" sz="1500" dirty="0"/>
          </a:p>
        </p:txBody>
      </p:sp>
      <p:sp>
        <p:nvSpPr>
          <p:cNvPr id="23" name="Text 21"/>
          <p:cNvSpPr txBox="1"/>
          <p:nvPr/>
        </p:nvSpPr>
        <p:spPr>
          <a:xfrm>
            <a:off x="4206240" y="4425696"/>
            <a:ext cx="3566160" cy="594360"/>
          </a:xfrm>
          <a:prstGeom prst="rect">
            <a:avLst/>
          </a:prstGeom>
          <a:noFill/>
          <a:ln/>
        </p:spPr>
        <p:txBody>
          <a:bodyPr wrap="square" lIns="0" tIns="0" rIns="0" bIns="0" rtlCol="0" anchor="ctr"/>
          <a:lstStyle/>
          <a:p>
            <a:pPr marL="0" indent="0">
              <a:buNone/>
            </a:pPr>
            <a:r>
              <a:rPr lang="en-US" sz="1200" dirty="0">
                <a:solidFill>
                  <a:schemeClr val="tx1"/>
                </a:solidFill>
              </a:rPr>
              <a:t>Seluruh 82.806 invoice yang ditagih masih Overdue; outcome konstan</a:t>
            </a:r>
            <a:endParaRPr lang="en-US" sz="1200" dirty="0"/>
          </a:p>
        </p:txBody>
      </p:sp>
      <p:sp>
        <p:nvSpPr>
          <p:cNvPr id="24" name="Text 22"/>
          <p:cNvSpPr txBox="1"/>
          <p:nvPr/>
        </p:nvSpPr>
        <p:spPr>
          <a:xfrm>
            <a:off x="7909560" y="4425696"/>
            <a:ext cx="3566160" cy="594360"/>
          </a:xfrm>
          <a:prstGeom prst="rect">
            <a:avLst/>
          </a:prstGeom>
          <a:noFill/>
          <a:ln/>
        </p:spPr>
        <p:txBody>
          <a:bodyPr wrap="square" lIns="0" tIns="0" rIns="0" bIns="0" rtlCol="0" anchor="ctr"/>
          <a:lstStyle/>
          <a:p>
            <a:pPr marL="0" indent="0">
              <a:buNone/>
            </a:pPr>
            <a:r>
              <a:rPr lang="en-US" sz="1200" dirty="0">
                <a:solidFill>
                  <a:schemeClr val="tx1"/>
                </a:solidFill>
              </a:rPr>
              <a:t>Belum dapat diuji; perlu bukti pembayaran hasil aksi.</a:t>
            </a:r>
            <a:endParaRPr lang="en-US" sz="1200" dirty="0"/>
          </a:p>
        </p:txBody>
      </p:sp>
      <p:sp>
        <p:nvSpPr>
          <p:cNvPr id="25" name="hasil H17"/>
          <p:cNvSpPr/>
          <p:nvPr/>
        </p:nvSpPr>
        <p:spPr>
          <a:xfrm>
            <a:off x="548640" y="5230368"/>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6" name="label H17"/>
          <p:cNvSpPr txBox="1"/>
          <p:nvPr/>
        </p:nvSpPr>
        <p:spPr>
          <a:xfrm>
            <a:off x="777240" y="5486400"/>
            <a:ext cx="685800" cy="256032"/>
          </a:xfrm>
          <a:prstGeom prst="roundRect">
            <a:avLst>
              <a:gd name="adj" fmla="val 50000"/>
            </a:avLst>
          </a:prstGeom>
          <a:solidFill>
            <a:schemeClr val="accent5"/>
          </a:solidFill>
          <a:ln/>
        </p:spPr>
        <p:txBody>
          <a:bodyPr wrap="square" lIns="0" tIns="0" rIns="0" bIns="0" rtlCol="0" anchor="ctr"/>
          <a:lstStyle/>
          <a:p>
            <a:pPr marL="0" indent="0" algn="ctr">
              <a:buNone/>
            </a:pPr>
            <a:r>
              <a:rPr lang="en-US" sz="1000" b="1" kern="0" spc="100" dirty="0">
                <a:solidFill>
                  <a:schemeClr val="bg1"/>
                </a:solidFill>
              </a:rPr>
              <a:t>H17</a:t>
            </a:r>
            <a:endParaRPr lang="en-US" sz="1000" dirty="0"/>
          </a:p>
        </p:txBody>
      </p:sp>
      <p:sp>
        <p:nvSpPr>
          <p:cNvPr id="27" name="Text 25"/>
          <p:cNvSpPr txBox="1"/>
          <p:nvPr/>
        </p:nvSpPr>
        <p:spPr>
          <a:xfrm>
            <a:off x="1691640" y="5321808"/>
            <a:ext cx="2468880" cy="594360"/>
          </a:xfrm>
          <a:prstGeom prst="rect">
            <a:avLst/>
          </a:prstGeom>
          <a:noFill/>
          <a:ln/>
        </p:spPr>
        <p:txBody>
          <a:bodyPr wrap="square" lIns="0" tIns="0" rIns="0" bIns="0" rtlCol="0" anchor="ctr"/>
          <a:lstStyle/>
          <a:p>
            <a:pPr marL="0" indent="0">
              <a:buNone/>
            </a:pPr>
            <a:r>
              <a:rPr lang="en-US" sz="1500" b="1" dirty="0">
                <a:solidFill>
                  <a:schemeClr val="tx2"/>
                </a:solidFill>
              </a:rPr>
              <a:t>Tagihan disengketakan</a:t>
            </a:r>
            <a:endParaRPr lang="en-US" sz="1500" dirty="0"/>
          </a:p>
        </p:txBody>
      </p:sp>
      <p:sp>
        <p:nvSpPr>
          <p:cNvPr id="28" name="Text 26"/>
          <p:cNvSpPr txBox="1"/>
          <p:nvPr/>
        </p:nvSpPr>
        <p:spPr>
          <a:xfrm>
            <a:off x="4206240" y="5321808"/>
            <a:ext cx="3566160" cy="594360"/>
          </a:xfrm>
          <a:prstGeom prst="rect">
            <a:avLst/>
          </a:prstGeom>
          <a:noFill/>
          <a:ln/>
        </p:spPr>
        <p:txBody>
          <a:bodyPr wrap="square" lIns="0" tIns="0" rIns="0" bIns="0" rtlCol="0" anchor="ctr"/>
          <a:lstStyle/>
          <a:p>
            <a:pPr marL="0" indent="0">
              <a:buNone/>
            </a:pPr>
            <a:r>
              <a:rPr lang="en-US" sz="1200" dirty="0">
                <a:solidFill>
                  <a:schemeClr val="tx1"/>
                </a:solidFill>
              </a:rPr>
              <a:t>42,76% vs 35,29%; Cramér's V 0,02</a:t>
            </a:r>
            <a:endParaRPr lang="en-US" sz="1200" dirty="0"/>
          </a:p>
        </p:txBody>
      </p:sp>
      <p:sp>
        <p:nvSpPr>
          <p:cNvPr id="29" name="Text 27"/>
          <p:cNvSpPr txBox="1"/>
          <p:nvPr/>
        </p:nvSpPr>
        <p:spPr>
          <a:xfrm>
            <a:off x="7909560" y="5321808"/>
            <a:ext cx="3566160" cy="594360"/>
          </a:xfrm>
          <a:prstGeom prst="rect">
            <a:avLst/>
          </a:prstGeom>
          <a:noFill/>
          <a:ln/>
        </p:spPr>
        <p:txBody>
          <a:bodyPr wrap="square" lIns="0" tIns="0" rIns="0" bIns="0" rtlCol="0" anchor="ctr"/>
          <a:lstStyle/>
          <a:p>
            <a:pPr marL="0" indent="0">
              <a:buNone/>
            </a:pPr>
            <a:r>
              <a:rPr lang="en-US" sz="1200" dirty="0">
                <a:solidFill>
                  <a:schemeClr val="tx1"/>
                </a:solidFill>
              </a:rPr>
              <a:t>Asosiasi sangat lemah dan dapat dua arah; bukan bukti kausal.</a:t>
            </a:r>
            <a:endParaRPr lang="en-US" sz="1200" dirty="0"/>
          </a:p>
        </p:txBody>
      </p:sp>
      <p:sp>
        <p:nvSpPr>
          <p:cNvPr id="30" name="Text 28"/>
          <p:cNvSpPr txBox="1"/>
          <p:nvPr/>
        </p:nvSpPr>
        <p:spPr>
          <a:xfrm>
            <a:off x="548640" y="6172200"/>
            <a:ext cx="11064240" cy="228600"/>
          </a:xfrm>
          <a:prstGeom prst="rect">
            <a:avLst/>
          </a:prstGeom>
          <a:noFill/>
          <a:ln/>
        </p:spPr>
        <p:txBody>
          <a:bodyPr wrap="square" lIns="0" tIns="0" rIns="0" bIns="0" rtlCol="0" anchor="t"/>
          <a:lstStyle/>
          <a:p>
            <a:pPr marL="0" indent="0">
              <a:buNone/>
            </a:pPr>
            <a:r>
              <a:rPr lang="en-US" sz="1100" dirty="0">
                <a:solidFill>
                  <a:schemeClr val="accent6"/>
                </a:solidFill>
              </a:rPr>
              <a:t>H4 (kondisi ekonomi), H5 (kepuasan layanan), H10 (pengingat, reverse causality), dan H15 (penampilan petugas) tidak dapat diuji dengan data yang tersedia.</a:t>
            </a:r>
            <a:endParaRPr lang="en-US" sz="1100" dirty="0"/>
          </a:p>
        </p:txBody>
      </p:sp>
      <p:sp>
        <p:nvSpPr>
          <p:cNvPr id="31"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lustrasi kawasan" descr="/home/claude/deck2/img/div4.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05</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dirty="0" err="1"/>
              <a:t>Durasi</a:t>
            </a:r>
            <a:r>
              <a:rPr lang="en-US" dirty="0"/>
              <a:t> </a:t>
            </a:r>
            <a:r>
              <a:rPr lang="en-US" dirty="0" err="1"/>
              <a:t>jatuh</a:t>
            </a:r>
            <a:r>
              <a:rPr lang="en-US" dirty="0"/>
              <a:t> tempo </a:t>
            </a:r>
            <a:r>
              <a:rPr lang="en-US" sz="4000" b="1" dirty="0">
                <a:solidFill>
                  <a:schemeClr val="bg1"/>
                </a:solidFill>
              </a:rPr>
              <a:t> &amp; prioritas Collection</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Umur tunggakan, daftar kerja unit, dan rekonsiliasi Finance</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ANALYSIS JATUH TEMPO</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88% nilai NPI sudah melewati 90 hari; Rp93,5 miliar berumur lebih dari satu tahun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aging"/>
          <p:cNvGraphicFramePr/>
          <p:nvPr/>
        </p:nvGraphicFramePr>
        <p:xfrm>
          <a:off x="548640" y="1600200"/>
          <a:ext cx="73152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5726875"/>
            <a:ext cx="7315200" cy="457200"/>
          </a:xfrm>
          <a:prstGeom prst="rect">
            <a:avLst/>
          </a:prstGeom>
          <a:noFill/>
          <a:ln/>
        </p:spPr>
        <p:txBody>
          <a:bodyPr wrap="square" lIns="0" tIns="0" rIns="0" bIns="0" rtlCol="0" anchor="t"/>
          <a:lstStyle/>
          <a:p>
            <a:pPr marL="0" indent="0">
              <a:buNone/>
            </a:pPr>
            <a:r>
              <a:rPr lang="en-US" sz="1100" dirty="0">
                <a:solidFill>
                  <a:schemeClr val="accent6"/>
                </a:solidFill>
              </a:rPr>
              <a:t>Jumlah invoice NPI: 0–30 hari 10.622 · 31–90 hari 21.443 · 91–180 hari 31.886 · 181–365 hari 61.778 · &gt; 365 hari 146.816</a:t>
            </a:r>
            <a:endParaRPr lang="en-US" sz="1100" dirty="0"/>
          </a:p>
        </p:txBody>
      </p:sp>
      <p:sp>
        <p:nvSpPr>
          <p:cNvPr id="7" name="panel key takeaway"/>
          <p:cNvSpPr/>
          <p:nvPr/>
        </p:nvSpPr>
        <p:spPr>
          <a:xfrm>
            <a:off x="8183880" y="1600200"/>
            <a:ext cx="3456432" cy="4617720"/>
          </a:xfrm>
          <a:prstGeom prst="roundRect">
            <a:avLst>
              <a:gd name="adj" fmla="val 2116"/>
            </a:avLst>
          </a:prstGeom>
          <a:solidFill>
            <a:schemeClr val="tx2"/>
          </a:solidFill>
          <a:ln/>
        </p:spPr>
        <p:txBody>
          <a:bodyPr/>
          <a:lstStyle/>
          <a:p>
            <a:endParaRPr lang="en-US"/>
          </a:p>
        </p:txBody>
      </p:sp>
      <p:sp>
        <p:nvSpPr>
          <p:cNvPr id="8" name="Text 5"/>
          <p:cNvSpPr txBox="1"/>
          <p:nvPr/>
        </p:nvSpPr>
        <p:spPr>
          <a:xfrm>
            <a:off x="8458200" y="1856232"/>
            <a:ext cx="290779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9" name="Text 6"/>
          <p:cNvSpPr txBox="1"/>
          <p:nvPr/>
        </p:nvSpPr>
        <p:spPr>
          <a:xfrm>
            <a:off x="8458200" y="2194560"/>
            <a:ext cx="2907792" cy="914400"/>
          </a:xfrm>
          <a:prstGeom prst="rect">
            <a:avLst/>
          </a:prstGeom>
          <a:noFill/>
          <a:ln/>
        </p:spPr>
        <p:txBody>
          <a:bodyPr wrap="square" lIns="0" tIns="0" rIns="0" bIns="0" rtlCol="0" anchor="t"/>
          <a:lstStyle/>
          <a:p>
            <a:pPr marL="0" indent="0">
              <a:buNone/>
            </a:pPr>
            <a:r>
              <a:rPr lang="en-US" sz="1700" b="1" dirty="0">
                <a:solidFill>
                  <a:schemeClr val="bg1"/>
                </a:solidFill>
              </a:rPr>
              <a:t>76,1% nilai NPI analisis berumur &gt; 180 hari</a:t>
            </a:r>
            <a:endParaRPr lang="en-US" sz="1700" dirty="0"/>
          </a:p>
        </p:txBody>
      </p:sp>
      <p:sp>
        <p:nvSpPr>
          <p:cNvPr id="10" name="Text 7"/>
          <p:cNvSpPr txBox="1"/>
          <p:nvPr/>
        </p:nvSpPr>
        <p:spPr>
          <a:xfrm>
            <a:off x="8458200" y="3154680"/>
            <a:ext cx="2907792" cy="1920240"/>
          </a:xfrm>
          <a:prstGeom prst="rect">
            <a:avLst/>
          </a:prstGeom>
          <a:noFill/>
          <a:ln/>
        </p:spPr>
        <p:txBody>
          <a:bodyPr wrap="square" lIns="0" tIns="0" rIns="0" bIns="0" rtlCol="0" anchor="t"/>
          <a:lstStyle/>
          <a:p>
            <a:pPr marL="0" indent="0">
              <a:buNone/>
            </a:pPr>
            <a:r>
              <a:rPr lang="en-US" sz="1400" dirty="0">
                <a:solidFill>
                  <a:srgbClr val="DCE3EE"/>
                </a:solidFill>
              </a:rPr>
              <a:t>Tidak ada invoice NPI yang belum jatuh tempo pada snapshot. Pada data, pembayaran paling terlambat terjadi 22 hari setelah jatuh tempo.</a:t>
            </a:r>
            <a:endParaRPr lang="en-US" sz="1400" dirty="0"/>
          </a:p>
        </p:txBody>
      </p:sp>
      <p:sp>
        <p:nvSpPr>
          <p:cNvPr id="11" name="Text 8"/>
          <p:cNvSpPr txBox="1"/>
          <p:nvPr/>
        </p:nvSpPr>
        <p:spPr>
          <a:xfrm>
            <a:off x="8458200" y="5166360"/>
            <a:ext cx="2907792" cy="868680"/>
          </a:xfrm>
          <a:prstGeom prst="rect">
            <a:avLst/>
          </a:prstGeom>
          <a:noFill/>
          <a:ln/>
        </p:spPr>
        <p:txBody>
          <a:bodyPr wrap="square" lIns="0" tIns="0" rIns="0" bIns="0" rtlCol="0" anchor="t"/>
          <a:lstStyle/>
          <a:p>
            <a:pPr marL="0" indent="0">
              <a:buNone/>
            </a:pPr>
            <a:r>
              <a:rPr lang="en-US" sz="1300" b="1" dirty="0">
                <a:solidFill>
                  <a:schemeClr val="accent2"/>
                </a:solidFill>
              </a:rPr>
              <a:t>Implikasi: </a:t>
            </a:r>
            <a:r>
              <a:rPr lang="en-US" sz="1300" dirty="0">
                <a:solidFill>
                  <a:schemeClr val="bg1"/>
                </a:solidFill>
              </a:rPr>
              <a:t>Pemulihan tunggakan lama tidak dapat diasumsikan dalam cashflow; fokus dua kuartal adalah pencegahan.</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dirty="0"/>
              <a:t>PRIORITAS TARGET DEPARTEMEN PENAGIHAN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6.771 unit memegang 50% nilai NPI; daftar kerja dibagi ke empat tier yang saling eksklusif</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24" name="tabel tier"/>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2834640"/>
        </p:xfrm>
        <a:graphic>
          <a:graphicData uri="http://schemas.openxmlformats.org/drawingml/2006/table">
            <a:tbl>
              <a:tblPr/>
              <a:tblGrid>
                <a:gridCol w="21031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566928">
                <a:tc>
                  <a:txBody>
                    <a:bodyPr/>
                    <a:lstStyle/>
                    <a:p>
                      <a:pPr marL="0" indent="0">
                        <a:buNone/>
                      </a:pPr>
                      <a:r>
                        <a:rPr lang="en-US" sz="1100" b="1" dirty="0">
                          <a:solidFill>
                            <a:schemeClr val="bg1"/>
                          </a:solidFill>
                        </a:rPr>
                        <a:t>Tier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Nilai NPI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Risiko dominan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Aksi Collection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Pemilik proses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KPI tindak lanjut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chemeClr val="tx1"/>
                          </a:solidFill>
                        </a:rPr>
                        <a:t>1 · Prioritas, kontak terverifikasi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3.743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Rp46,7 M (26,5%)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Tunggakan lama; median umur maks 835 hari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Tagih langsung via kanal digital; tindak lanjuti janji bayar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Collection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Collection rate 30/60/90 hari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00" dirty="0">
                          <a:solidFill>
                            <a:schemeClr val="tx1"/>
                          </a:solidFill>
                        </a:rPr>
                        <a:t>2 · Prioritas, verifikasi kontak dulu</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3.028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Rp41,5 M (23,5%)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Kontak kosong/belum terverifikasi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Verifikasi kontak, lalu tagih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CS → Collection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 kontak terverifikasi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566928">
                <a:tc>
                  <a:txBody>
                    <a:bodyPr/>
                    <a:lstStyle/>
                    <a:p>
                      <a:pPr marL="0" indent="0">
                        <a:buNone/>
                      </a:pPr>
                      <a:r>
                        <a:rPr lang="en-US" sz="1100" dirty="0">
                          <a:solidFill>
                            <a:schemeClr val="tx1"/>
                          </a:solidFill>
                        </a:rPr>
                        <a:t>3 · Kampanye 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18.076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Rp75,5 M (42,8%)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Tidak autodebit pada bulan terakhir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Tawarkan pendaftaran 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Finance &amp; Collection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Adopsi autodebit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00" dirty="0">
                          <a:solidFill>
                            <a:schemeClr val="tx1"/>
                          </a:solidFill>
                        </a:rPr>
                        <a:t>4 · Pemantauan rutin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4.034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Rp12,7 M (7,2%)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Risiko rendah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Pengingat standar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Collection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NPI tagihan baru</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bl>
          </a:graphicData>
        </a:graphic>
      </p:graphicFrame>
      <p:sp>
        <p:nvSpPr>
          <p:cNvPr id="6" name="kpi nilai NPI belum pernah ditagih (69%), termasuk Rp49,7 M Unpaid"/>
          <p:cNvSpPr/>
          <p:nvPr/>
        </p:nvSpPr>
        <p:spPr>
          <a:xfrm>
            <a:off x="548640" y="4709160"/>
            <a:ext cx="3520440"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7" name="Text 4"/>
          <p:cNvSpPr txBox="1"/>
          <p:nvPr/>
        </p:nvSpPr>
        <p:spPr>
          <a:xfrm>
            <a:off x="777240" y="4873752"/>
            <a:ext cx="3063240" cy="702259"/>
          </a:xfrm>
          <a:prstGeom prst="rect">
            <a:avLst/>
          </a:prstGeom>
          <a:noFill/>
          <a:ln/>
        </p:spPr>
        <p:txBody>
          <a:bodyPr wrap="square" lIns="0" tIns="0" rIns="0" bIns="0" rtlCol="0" anchor="ctr">
            <a:normAutofit/>
          </a:bodyPr>
          <a:lstStyle/>
          <a:p>
            <a:pPr marL="0" indent="0">
              <a:buNone/>
            </a:pPr>
            <a:r>
              <a:rPr lang="en-US" sz="3000" b="1" dirty="0">
                <a:solidFill>
                  <a:schemeClr val="accent4"/>
                </a:solidFill>
              </a:rPr>
              <a:t>Rp121,2 M</a:t>
            </a:r>
            <a:endParaRPr lang="en-US" sz="3000" dirty="0"/>
          </a:p>
        </p:txBody>
      </p:sp>
      <p:sp>
        <p:nvSpPr>
          <p:cNvPr id="8" name="Text 5"/>
          <p:cNvSpPr txBox="1"/>
          <p:nvPr/>
        </p:nvSpPr>
        <p:spPr>
          <a:xfrm>
            <a:off x="777240" y="5594299"/>
            <a:ext cx="3063240" cy="440741"/>
          </a:xfrm>
          <a:prstGeom prst="rect">
            <a:avLst/>
          </a:prstGeom>
          <a:noFill/>
          <a:ln/>
        </p:spPr>
        <p:txBody>
          <a:bodyPr wrap="square" lIns="0" tIns="0" rIns="0" bIns="0" rtlCol="0" anchor="t"/>
          <a:lstStyle/>
          <a:p>
            <a:pPr marL="0" indent="0">
              <a:buNone/>
            </a:pPr>
            <a:r>
              <a:rPr lang="en-US" sz="1200" dirty="0">
                <a:solidFill>
                  <a:schemeClr val="accent6"/>
                </a:solidFill>
              </a:rPr>
              <a:t>nilai NPI belum pernah ditagih (69%), termasuk Rp49,7 M Unpaid</a:t>
            </a:r>
            <a:endParaRPr lang="en-US" sz="1200" dirty="0"/>
          </a:p>
        </p:txBody>
      </p:sp>
      <p:sp>
        <p:nvSpPr>
          <p:cNvPr id="9" name="kpi invoice NPI yang pernah ditagih (Overdue 42,7%; Unpaid 0%)"/>
          <p:cNvSpPr/>
          <p:nvPr/>
        </p:nvSpPr>
        <p:spPr>
          <a:xfrm>
            <a:off x="4343400" y="4709160"/>
            <a:ext cx="3520440"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0" name="Text 7"/>
          <p:cNvSpPr txBox="1"/>
          <p:nvPr/>
        </p:nvSpPr>
        <p:spPr>
          <a:xfrm>
            <a:off x="4572000" y="4873752"/>
            <a:ext cx="3063240" cy="702259"/>
          </a:xfrm>
          <a:prstGeom prst="rect">
            <a:avLst/>
          </a:prstGeom>
          <a:noFill/>
          <a:ln/>
        </p:spPr>
        <p:txBody>
          <a:bodyPr wrap="square" lIns="0" tIns="0" rIns="0" bIns="0" rtlCol="0" anchor="ctr">
            <a:normAutofit/>
          </a:bodyPr>
          <a:lstStyle/>
          <a:p>
            <a:pPr marL="0" indent="0">
              <a:buNone/>
            </a:pPr>
            <a:r>
              <a:rPr lang="en-US" sz="3000" b="1" dirty="0">
                <a:solidFill>
                  <a:schemeClr val="tx2"/>
                </a:solidFill>
              </a:rPr>
              <a:t>30,4%</a:t>
            </a:r>
            <a:endParaRPr lang="en-US" sz="3000" dirty="0"/>
          </a:p>
        </p:txBody>
      </p:sp>
      <p:sp>
        <p:nvSpPr>
          <p:cNvPr id="11" name="Text 8"/>
          <p:cNvSpPr txBox="1"/>
          <p:nvPr/>
        </p:nvSpPr>
        <p:spPr>
          <a:xfrm>
            <a:off x="4572000" y="5594299"/>
            <a:ext cx="3063240" cy="440741"/>
          </a:xfrm>
          <a:prstGeom prst="rect">
            <a:avLst/>
          </a:prstGeom>
          <a:noFill/>
          <a:ln/>
        </p:spPr>
        <p:txBody>
          <a:bodyPr wrap="square" lIns="0" tIns="0" rIns="0" bIns="0" rtlCol="0" anchor="t"/>
          <a:lstStyle/>
          <a:p>
            <a:pPr marL="0" indent="0">
              <a:buNone/>
            </a:pPr>
            <a:r>
              <a:rPr lang="en-US" sz="1200" dirty="0">
                <a:solidFill>
                  <a:schemeClr val="accent6"/>
                </a:solidFill>
              </a:rPr>
              <a:t>invoice NPI yang pernah ditagih (Overdue 42,7%; Unpaid 0%)</a:t>
            </a:r>
            <a:endParaRPr lang="en-US" sz="1200" dirty="0"/>
          </a:p>
        </p:txBody>
      </p:sp>
      <p:sp>
        <p:nvSpPr>
          <p:cNvPr id="12" name="catatan prioritas"/>
          <p:cNvSpPr/>
          <p:nvPr/>
        </p:nvSpPr>
        <p:spPr>
          <a:xfrm>
            <a:off x="8138160" y="4709160"/>
            <a:ext cx="3502152" cy="1463040"/>
          </a:xfrm>
          <a:prstGeom prst="roundRect">
            <a:avLst>
              <a:gd name="adj" fmla="val 5000"/>
            </a:avLst>
          </a:prstGeom>
          <a:solidFill>
            <a:schemeClr val="tx2"/>
          </a:solidFill>
          <a:ln/>
        </p:spPr>
        <p:txBody>
          <a:bodyPr/>
          <a:lstStyle/>
          <a:p>
            <a:endParaRPr lang="en-US"/>
          </a:p>
        </p:txBody>
      </p:sp>
      <p:sp>
        <p:nvSpPr>
          <p:cNvPr id="13" name="Text 10"/>
          <p:cNvSpPr txBox="1"/>
          <p:nvPr/>
        </p:nvSpPr>
        <p:spPr>
          <a:xfrm>
            <a:off x="8366760" y="4846320"/>
            <a:ext cx="3063240" cy="1188720"/>
          </a:xfrm>
          <a:prstGeom prst="rect">
            <a:avLst/>
          </a:prstGeom>
          <a:noFill/>
          <a:ln/>
        </p:spPr>
        <p:txBody>
          <a:bodyPr wrap="square" lIns="0" tIns="0" rIns="0" bIns="0" rtlCol="0" anchor="ctr"/>
          <a:lstStyle/>
          <a:p>
            <a:pPr marL="0" indent="0">
              <a:buNone/>
            </a:pPr>
            <a:r>
              <a:rPr lang="en-US" sz="1300" dirty="0">
                <a:solidFill>
                  <a:schemeClr val="bg1"/>
                </a:solidFill>
              </a:rPr>
              <a:t>Nominal = milik unit sasaran, bukan estimasi pemulihan. Daftar disimpan tanpa nama dan nomor telepon pemilik.</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EFEKTIVITAS PENAGIHAN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Status bulan berikutnya lebih terkait dengan respons pemilik daripada ada atau tidaknya aksi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ditagih"/>
          <p:cNvGraphicFramePr/>
          <p:nvPr/>
        </p:nvGraphicFramePr>
        <p:xfrm>
          <a:off x="548640" y="1600200"/>
          <a:ext cx="3566160" cy="3931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respon"/>
          <p:cNvGraphicFramePr/>
          <p:nvPr/>
        </p:nvGraphicFramePr>
        <p:xfrm>
          <a:off x="4297680" y="1600200"/>
          <a:ext cx="374904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548640" y="5623560"/>
            <a:ext cx="7498080" cy="548640"/>
          </a:xfrm>
          <a:prstGeom prst="rect">
            <a:avLst/>
          </a:prstGeom>
          <a:noFill/>
          <a:ln/>
        </p:spPr>
        <p:txBody>
          <a:bodyPr wrap="square" lIns="0" tIns="0" rIns="0" bIns="0" rtlCol="0" anchor="t"/>
          <a:lstStyle/>
          <a:p>
            <a:pPr marL="0" indent="0">
              <a:buNone/>
            </a:pPr>
            <a:r>
              <a:rPr lang="en-US" sz="1100" dirty="0">
                <a:solidFill>
                  <a:schemeClr val="accent6"/>
                </a:solidFill>
              </a:rPr>
              <a:t>186.415 invoice Overdue yang memiliki invoice bulan berikutnya; hanya aksi sebelum periode tagihan berikutnya yang dipakai (109.115 dari 126.772 aksi).</a:t>
            </a:r>
            <a:endParaRPr lang="en-US" sz="1100" dirty="0"/>
          </a:p>
        </p:txBody>
      </p:sp>
      <p:sp>
        <p:nvSpPr>
          <p:cNvPr id="8" name="panel key takeaway"/>
          <p:cNvSpPr/>
          <p:nvPr/>
        </p:nvSpPr>
        <p:spPr>
          <a:xfrm>
            <a:off x="8275320" y="1600200"/>
            <a:ext cx="3364992" cy="4617720"/>
          </a:xfrm>
          <a:prstGeom prst="roundRect">
            <a:avLst>
              <a:gd name="adj" fmla="val 2174"/>
            </a:avLst>
          </a:prstGeom>
          <a:solidFill>
            <a:schemeClr val="tx2"/>
          </a:solidFill>
          <a:ln/>
        </p:spPr>
        <p:txBody>
          <a:bodyPr/>
          <a:lstStyle/>
          <a:p>
            <a:endParaRPr lang="en-US"/>
          </a:p>
        </p:txBody>
      </p:sp>
      <p:sp>
        <p:nvSpPr>
          <p:cNvPr id="9" name="Text 5"/>
          <p:cNvSpPr txBox="1"/>
          <p:nvPr/>
        </p:nvSpPr>
        <p:spPr>
          <a:xfrm>
            <a:off x="8549640" y="1856232"/>
            <a:ext cx="281635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10" name="Text 6"/>
          <p:cNvSpPr txBox="1"/>
          <p:nvPr/>
        </p:nvSpPr>
        <p:spPr>
          <a:xfrm>
            <a:off x="8549640" y="2194560"/>
            <a:ext cx="2816352" cy="914400"/>
          </a:xfrm>
          <a:prstGeom prst="rect">
            <a:avLst/>
          </a:prstGeom>
          <a:noFill/>
          <a:ln/>
        </p:spPr>
        <p:txBody>
          <a:bodyPr wrap="square" lIns="0" tIns="0" rIns="0" bIns="0" rtlCol="0" anchor="t"/>
          <a:lstStyle/>
          <a:p>
            <a:pPr marL="0" indent="0">
              <a:buNone/>
            </a:pPr>
            <a:r>
              <a:rPr lang="en-US" sz="1700" b="1" dirty="0">
                <a:solidFill>
                  <a:schemeClr val="bg1"/>
                </a:solidFill>
              </a:rPr>
              <a:t>Komitmen pemilik lebih menentukan daripada jumlah aksi</a:t>
            </a:r>
            <a:endParaRPr lang="en-US" sz="1700" dirty="0"/>
          </a:p>
        </p:txBody>
      </p:sp>
      <p:sp>
        <p:nvSpPr>
          <p:cNvPr id="11" name="Text 7"/>
          <p:cNvSpPr txBox="1"/>
          <p:nvPr/>
        </p:nvSpPr>
        <p:spPr>
          <a:xfrm>
            <a:off x="8549640" y="3154680"/>
            <a:ext cx="2816352" cy="1920240"/>
          </a:xfrm>
          <a:prstGeom prst="rect">
            <a:avLst/>
          </a:prstGeom>
          <a:noFill/>
          <a:ln/>
        </p:spPr>
        <p:txBody>
          <a:bodyPr wrap="square" lIns="0" tIns="0" rIns="0" bIns="0" rtlCol="0" anchor="t"/>
          <a:lstStyle/>
          <a:p>
            <a:pPr marL="0" indent="0">
              <a:buNone/>
            </a:pPr>
            <a:r>
              <a:rPr lang="en-US" sz="1400" dirty="0">
                <a:solidFill>
                  <a:srgbClr val="DCE3EE"/>
                </a:solidFill>
              </a:rPr>
              <a:t>Ditagih 72,4% vs tidak ditagih 71,2% hampir sama. Pemilik ‘Tidak Respon’ dan ‘Sengketa’ paling sering tidak membayar bulan berikutnya.</a:t>
            </a:r>
            <a:endParaRPr lang="en-US" sz="1400" dirty="0"/>
          </a:p>
        </p:txBody>
      </p:sp>
      <p:sp>
        <p:nvSpPr>
          <p:cNvPr id="12" name="Text 8"/>
          <p:cNvSpPr txBox="1"/>
          <p:nvPr/>
        </p:nvSpPr>
        <p:spPr>
          <a:xfrm>
            <a:off x="8549640" y="5166360"/>
            <a:ext cx="2816352" cy="868680"/>
          </a:xfrm>
          <a:prstGeom prst="rect">
            <a:avLst/>
          </a:prstGeom>
          <a:noFill/>
          <a:ln/>
        </p:spPr>
        <p:txBody>
          <a:bodyPr wrap="square" lIns="0" tIns="0" rIns="0" bIns="0" rtlCol="0" anchor="t"/>
          <a:lstStyle/>
          <a:p>
            <a:pPr marL="0" indent="0">
              <a:buNone/>
            </a:pPr>
            <a:r>
              <a:rPr lang="en-US" sz="1300" b="1" dirty="0">
                <a:solidFill>
                  <a:schemeClr val="accent2"/>
                </a:solidFill>
              </a:rPr>
              <a:t>Implikasi: </a:t>
            </a:r>
            <a:r>
              <a:rPr lang="en-US" sz="1300" dirty="0">
                <a:solidFill>
                  <a:schemeClr val="bg1"/>
                </a:solidFill>
              </a:rPr>
              <a:t>Ukur collection rate dari bukti bayar, bukan respons petugas.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REKONSILIASI FINANCE</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Empat kode metode bayar dan tiga daftar rekonsiliasi perlu dituntaskan sebelum target ditetapkan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metode"/>
          <p:cNvGraphicFramePr/>
          <p:nvPr/>
        </p:nvGraphicFramePr>
        <p:xfrm>
          <a:off x="548640" y="1600200"/>
          <a:ext cx="48463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4617720"/>
            <a:ext cx="4846320" cy="548640"/>
          </a:xfrm>
          <a:prstGeom prst="rect">
            <a:avLst/>
          </a:prstGeom>
          <a:noFill/>
          <a:ln/>
        </p:spPr>
        <p:txBody>
          <a:bodyPr wrap="square" lIns="0" tIns="0" rIns="0" bIns="0" rtlCol="0" anchor="t"/>
          <a:lstStyle/>
          <a:p>
            <a:pPr marL="0" indent="0">
              <a:buNone/>
            </a:pPr>
            <a:r>
              <a:rPr lang="en-US" sz="1300" dirty="0">
                <a:solidFill>
                  <a:schemeClr val="tx1"/>
                </a:solidFill>
              </a:rPr>
              <a:t>9 variasi penulisan → 4 kode baku: VA-BCA, CASH, CC, TOKPED. Label belum terpetakan: 0.</a:t>
            </a:r>
            <a:endParaRPr lang="en-US" sz="1300" dirty="0"/>
          </a:p>
        </p:txBody>
      </p:sp>
      <p:graphicFrame>
        <p:nvGraphicFramePr>
          <p:cNvPr id="26" name="tabel rekonsiliasi"/>
          <p:cNvGraphicFramePr>
            <a:graphicFrameLocks noGrp="1"/>
          </p:cNvGraphicFramePr>
          <p:nvPr>
            <p:extLst>
              <p:ext uri="{D42A27DB-BD31-4B8C-83A1-F6EECF244321}">
                <p14:modId xmlns:p14="http://schemas.microsoft.com/office/powerpoint/2010/main" val="1579011935"/>
              </p:ext>
            </p:extLst>
          </p:nvPr>
        </p:nvGraphicFramePr>
        <p:xfrm>
          <a:off x="5669280" y="1645920"/>
          <a:ext cx="5971032" cy="2267712"/>
        </p:xfrm>
        <a:graphic>
          <a:graphicData uri="http://schemas.openxmlformats.org/drawingml/2006/table">
            <a:tbl>
              <a:tblPr/>
              <a:tblGrid>
                <a:gridCol w="2240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901952">
                  <a:extLst>
                    <a:ext uri="{9D8B030D-6E8A-4147-A177-3AD203B41FA5}">
                      <a16:colId xmlns:a16="http://schemas.microsoft.com/office/drawing/2014/main" val="20003"/>
                    </a:ext>
                  </a:extLst>
                </a:gridCol>
              </a:tblGrid>
              <a:tr h="566928">
                <a:tc>
                  <a:txBody>
                    <a:bodyPr/>
                    <a:lstStyle/>
                    <a:p>
                      <a:pPr marL="0" indent="0">
                        <a:buNone/>
                      </a:pPr>
                      <a:r>
                        <a:rPr lang="en-US" sz="1100" b="1" dirty="0">
                          <a:solidFill>
                            <a:schemeClr val="bg1"/>
                          </a:solidFill>
                        </a:rPr>
                        <a:t>Daftar rekonsiliasi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Jumlah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Nominal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Tindak lanjut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chemeClr val="tx1"/>
                          </a:solidFill>
                        </a:rPr>
                        <a:t>Invoice NPI yang telah dibatalkan penuh via sengketa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3.795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Rp11,94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Tutup status NPI bila pembatalan disahkan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00" dirty="0">
                          <a:solidFill>
                            <a:schemeClr val="tx1"/>
                          </a:solidFill>
                        </a:rPr>
                        <a:t>Invoice Paid yang telah dibatalkan penuh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5.953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Rp21,78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Periksa kewajiban pengembalian dana/kredit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566928">
                <a:tc>
                  <a:txBody>
                    <a:bodyPr/>
                    <a:lstStyle/>
                    <a:p>
                      <a:pPr marL="0" indent="0">
                        <a:buNone/>
                      </a:pPr>
                      <a:r>
                        <a:rPr lang="en-US" sz="1100" dirty="0">
                          <a:solidFill>
                            <a:schemeClr val="tx1"/>
                          </a:solidFill>
                        </a:rPr>
                        <a:t>Pasangan tagihan ganda Paid + Paid</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12.568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Rp11,07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Cocokkan dengan mutasi bank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catatan sengketa"/>
          <p:cNvSpPr/>
          <p:nvPr/>
        </p:nvSpPr>
        <p:spPr>
          <a:xfrm>
            <a:off x="5669280" y="4069080"/>
            <a:ext cx="5971032" cy="2103120"/>
          </a:xfrm>
          <a:prstGeom prst="roundRect">
            <a:avLst>
              <a:gd name="adj" fmla="val 3478"/>
            </a:avLst>
          </a:prstGeom>
          <a:solidFill>
            <a:schemeClr val="tx2"/>
          </a:solidFill>
          <a:ln/>
        </p:spPr>
        <p:txBody>
          <a:bodyPr/>
          <a:lstStyle/>
          <a:p>
            <a:endParaRPr lang="en-US"/>
          </a:p>
        </p:txBody>
      </p:sp>
      <p:sp>
        <p:nvSpPr>
          <p:cNvPr id="9" name="Text 5"/>
          <p:cNvSpPr txBox="1"/>
          <p:nvPr/>
        </p:nvSpPr>
        <p:spPr>
          <a:xfrm>
            <a:off x="5943600" y="4251960"/>
            <a:ext cx="548640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KOREKSI SENGKETA ≠ PENGURANG NPI</a:t>
            </a:r>
            <a:endParaRPr lang="en-US" sz="1100" dirty="0"/>
          </a:p>
        </p:txBody>
      </p:sp>
      <p:sp>
        <p:nvSpPr>
          <p:cNvPr id="10" name="Text 6"/>
          <p:cNvSpPr txBox="1"/>
          <p:nvPr/>
        </p:nvSpPr>
        <p:spPr>
          <a:xfrm>
            <a:off x="5943600" y="4617720"/>
            <a:ext cx="5440680" cy="1417320"/>
          </a:xfrm>
          <a:prstGeom prst="rect">
            <a:avLst/>
          </a:prstGeom>
          <a:noFill/>
          <a:ln/>
        </p:spPr>
        <p:txBody>
          <a:bodyPr wrap="square" lIns="0" tIns="0" rIns="0" bIns="0" rtlCol="0" anchor="t"/>
          <a:lstStyle/>
          <a:p>
            <a:pPr marL="0" indent="0">
              <a:buNone/>
            </a:pPr>
            <a:r>
              <a:rPr lang="en-US" sz="1300" dirty="0">
                <a:solidFill>
                  <a:schemeClr val="bg1"/>
                </a:solidFill>
              </a:rPr>
              <a:t>Koreksi pada invoice utama Rp33,72 M tersebar pada invoice Paid (Rp21,78 M), Overdue (Rp9,25 M), dan Unpaid (Rp2,70 M). Nominal koreksi harus direkonsiliasi per invoice sebelum dipakai mengurangi NPI.</a:t>
            </a:r>
            <a:endParaRPr lang="en-US" sz="1300" dirty="0"/>
          </a:p>
        </p:txBody>
      </p:sp>
      <p:sp>
        <p:nvSpPr>
          <p:cNvPr id="11" name="Text 7"/>
          <p:cNvSpPr txBox="1"/>
          <p:nvPr/>
        </p:nvSpPr>
        <p:spPr>
          <a:xfrm>
            <a:off x="548640" y="5257800"/>
            <a:ext cx="4846320" cy="868680"/>
          </a:xfrm>
          <a:prstGeom prst="rect">
            <a:avLst/>
          </a:prstGeom>
          <a:noFill/>
          <a:ln/>
        </p:spPr>
        <p:txBody>
          <a:bodyPr wrap="square" lIns="0" tIns="0" rIns="0" bIns="0" rtlCol="0" anchor="t"/>
          <a:lstStyle/>
          <a:p>
            <a:pPr marL="0" indent="0">
              <a:buNone/>
            </a:pPr>
            <a:r>
              <a:rPr lang="en-US" sz="1300" b="1" dirty="0">
                <a:solidFill>
                  <a:schemeClr val="tx2"/>
                </a:solidFill>
              </a:rPr>
              <a:t>Autodebit masih rendah: </a:t>
            </a:r>
            <a:r>
              <a:rPr lang="en-US" sz="1300" dirty="0">
                <a:solidFill>
                  <a:schemeClr val="tx1"/>
                </a:solidFill>
              </a:rPr>
              <a:t>14,3% unit; Luar Negeri 4,0% dan unit vacant 9,4% (bulan terakhir).</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lustrasi kawasan" descr="/home/claude/deck2/img/div5.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06</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Simulasi intervensi</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Berapa NPI baru yang berpotensi dicegah, dan apa batas estimasinya</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PERIODE DASAR SIMULASI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Tanpa intervensi, sekitar Rp42,0 miliar tagihan baru berpotensi menjadi NPI dalam enam bulan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kpi invoice per bulan (rata-rata Jun–Nov 2024)"/>
          <p:cNvSpPr/>
          <p:nvPr/>
        </p:nvSpPr>
        <p:spPr>
          <a:xfrm>
            <a:off x="548640" y="1645920"/>
            <a:ext cx="2606040" cy="1554480"/>
          </a:xfrm>
          <a:prstGeom prst="roundRect">
            <a:avLst>
              <a:gd name="adj" fmla="val 470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810512"/>
            <a:ext cx="2148840" cy="746150"/>
          </a:xfrm>
          <a:prstGeom prst="rect">
            <a:avLst/>
          </a:prstGeom>
          <a:noFill/>
          <a:ln/>
        </p:spPr>
        <p:txBody>
          <a:bodyPr wrap="square" lIns="0" tIns="0" rIns="0" bIns="0" rtlCol="0" anchor="ctr">
            <a:normAutofit/>
          </a:bodyPr>
          <a:lstStyle/>
          <a:p>
            <a:pPr marL="0" indent="0">
              <a:buNone/>
            </a:pPr>
            <a:r>
              <a:rPr lang="en-US" sz="3000" b="1" dirty="0">
                <a:solidFill>
                  <a:schemeClr val="tx2"/>
                </a:solidFill>
              </a:rPr>
              <a:t>28.548</a:t>
            </a:r>
            <a:endParaRPr lang="en-US" sz="3000" dirty="0"/>
          </a:p>
        </p:txBody>
      </p:sp>
      <p:sp>
        <p:nvSpPr>
          <p:cNvPr id="7" name="Text 5"/>
          <p:cNvSpPr txBox="1"/>
          <p:nvPr/>
        </p:nvSpPr>
        <p:spPr>
          <a:xfrm>
            <a:off x="777240" y="2574950"/>
            <a:ext cx="2148840" cy="488290"/>
          </a:xfrm>
          <a:prstGeom prst="rect">
            <a:avLst/>
          </a:prstGeom>
          <a:noFill/>
          <a:ln/>
        </p:spPr>
        <p:txBody>
          <a:bodyPr wrap="square" lIns="0" tIns="0" rIns="0" bIns="0" rtlCol="0" anchor="t"/>
          <a:lstStyle/>
          <a:p>
            <a:pPr marL="0" indent="0">
              <a:buNone/>
            </a:pPr>
            <a:r>
              <a:rPr lang="en-US" sz="1200" dirty="0">
                <a:solidFill>
                  <a:schemeClr val="accent6"/>
                </a:solidFill>
              </a:rPr>
              <a:t>invoice per bulan (rata-rata Jun–Nov 2024)</a:t>
            </a:r>
            <a:endParaRPr lang="en-US" sz="1200" dirty="0"/>
          </a:p>
        </p:txBody>
      </p:sp>
      <p:sp>
        <p:nvSpPr>
          <p:cNvPr id="8" name="kpi NPI tagihan baru (6 cohort matang terakhir)"/>
          <p:cNvSpPr/>
          <p:nvPr/>
        </p:nvSpPr>
        <p:spPr>
          <a:xfrm>
            <a:off x="3383280" y="1645920"/>
            <a:ext cx="2606040" cy="1554480"/>
          </a:xfrm>
          <a:prstGeom prst="roundRect">
            <a:avLst>
              <a:gd name="adj" fmla="val 470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3611880" y="1810512"/>
            <a:ext cx="2148840" cy="746150"/>
          </a:xfrm>
          <a:prstGeom prst="rect">
            <a:avLst/>
          </a:prstGeom>
          <a:noFill/>
          <a:ln/>
        </p:spPr>
        <p:txBody>
          <a:bodyPr wrap="square" lIns="0" tIns="0" rIns="0" bIns="0" rtlCol="0" anchor="ctr">
            <a:normAutofit/>
          </a:bodyPr>
          <a:lstStyle/>
          <a:p>
            <a:pPr marL="0" indent="0">
              <a:buNone/>
            </a:pPr>
            <a:r>
              <a:rPr lang="en-US" sz="3000" b="1" dirty="0">
                <a:solidFill>
                  <a:schemeClr val="tx2"/>
                </a:solidFill>
              </a:rPr>
              <a:t>37,24%</a:t>
            </a:r>
            <a:endParaRPr lang="en-US" sz="3000" dirty="0"/>
          </a:p>
        </p:txBody>
      </p:sp>
      <p:sp>
        <p:nvSpPr>
          <p:cNvPr id="10" name="Text 8"/>
          <p:cNvSpPr txBox="1"/>
          <p:nvPr/>
        </p:nvSpPr>
        <p:spPr>
          <a:xfrm>
            <a:off x="3611880" y="2574950"/>
            <a:ext cx="2148840" cy="488290"/>
          </a:xfrm>
          <a:prstGeom prst="rect">
            <a:avLst/>
          </a:prstGeom>
          <a:noFill/>
          <a:ln/>
        </p:spPr>
        <p:txBody>
          <a:bodyPr wrap="square" lIns="0" tIns="0" rIns="0" bIns="0" rtlCol="0" anchor="t"/>
          <a:lstStyle/>
          <a:p>
            <a:pPr marL="0" indent="0">
              <a:buNone/>
            </a:pPr>
            <a:r>
              <a:rPr lang="en-US" sz="1200" dirty="0">
                <a:solidFill>
                  <a:schemeClr val="accent6"/>
                </a:solidFill>
              </a:rPr>
              <a:t>NPI tagihan baru (6 cohort matang terakhir)</a:t>
            </a:r>
            <a:endParaRPr lang="en-US" sz="1200" dirty="0"/>
          </a:p>
        </p:txBody>
      </p:sp>
      <p:sp>
        <p:nvSpPr>
          <p:cNvPr id="11" name="kpi nilai tagihan analisis yang terbit per bulan"/>
          <p:cNvSpPr/>
          <p:nvPr/>
        </p:nvSpPr>
        <p:spPr>
          <a:xfrm>
            <a:off x="6217920" y="1645920"/>
            <a:ext cx="2606040" cy="1554480"/>
          </a:xfrm>
          <a:prstGeom prst="roundRect">
            <a:avLst>
              <a:gd name="adj" fmla="val 470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6446520" y="1810512"/>
            <a:ext cx="2148840" cy="746150"/>
          </a:xfrm>
          <a:prstGeom prst="rect">
            <a:avLst/>
          </a:prstGeom>
          <a:noFill/>
          <a:ln/>
        </p:spPr>
        <p:txBody>
          <a:bodyPr wrap="square" lIns="0" tIns="0" rIns="0" bIns="0" rtlCol="0" anchor="ctr">
            <a:normAutofit/>
          </a:bodyPr>
          <a:lstStyle/>
          <a:p>
            <a:pPr marL="0" indent="0">
              <a:buNone/>
            </a:pPr>
            <a:r>
              <a:rPr lang="en-US" sz="3000" b="1" dirty="0">
                <a:solidFill>
                  <a:schemeClr val="tx2"/>
                </a:solidFill>
              </a:rPr>
              <a:t>Rp18,73 M</a:t>
            </a:r>
            <a:endParaRPr lang="en-US" sz="3000" dirty="0"/>
          </a:p>
        </p:txBody>
      </p:sp>
      <p:sp>
        <p:nvSpPr>
          <p:cNvPr id="13" name="Text 11"/>
          <p:cNvSpPr txBox="1"/>
          <p:nvPr/>
        </p:nvSpPr>
        <p:spPr>
          <a:xfrm>
            <a:off x="6446520" y="2574950"/>
            <a:ext cx="2148840" cy="488290"/>
          </a:xfrm>
          <a:prstGeom prst="rect">
            <a:avLst/>
          </a:prstGeom>
          <a:noFill/>
          <a:ln/>
        </p:spPr>
        <p:txBody>
          <a:bodyPr wrap="square" lIns="0" tIns="0" rIns="0" bIns="0" rtlCol="0" anchor="t"/>
          <a:lstStyle/>
          <a:p>
            <a:pPr marL="0" indent="0">
              <a:buNone/>
            </a:pPr>
            <a:r>
              <a:rPr lang="en-US" sz="1200" dirty="0">
                <a:solidFill>
                  <a:schemeClr val="accent6"/>
                </a:solidFill>
              </a:rPr>
              <a:t>nilai tagihan analisis yang terbit per bulan</a:t>
            </a:r>
            <a:endParaRPr lang="en-US" sz="1200" dirty="0"/>
          </a:p>
        </p:txBody>
      </p:sp>
      <p:sp>
        <p:nvSpPr>
          <p:cNvPr id="14" name="kpi nominal tagihan baru yang menjadi NPI per bulan"/>
          <p:cNvSpPr/>
          <p:nvPr/>
        </p:nvSpPr>
        <p:spPr>
          <a:xfrm>
            <a:off x="9052560" y="1645920"/>
            <a:ext cx="2587752" cy="1554480"/>
          </a:xfrm>
          <a:prstGeom prst="roundRect">
            <a:avLst>
              <a:gd name="adj" fmla="val 470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9281160" y="1810512"/>
            <a:ext cx="2130552" cy="746150"/>
          </a:xfrm>
          <a:prstGeom prst="rect">
            <a:avLst/>
          </a:prstGeom>
          <a:noFill/>
          <a:ln/>
        </p:spPr>
        <p:txBody>
          <a:bodyPr wrap="square" lIns="0" tIns="0" rIns="0" bIns="0" rtlCol="0" anchor="ctr">
            <a:normAutofit/>
          </a:bodyPr>
          <a:lstStyle/>
          <a:p>
            <a:pPr marL="0" indent="0">
              <a:buNone/>
            </a:pPr>
            <a:r>
              <a:rPr lang="en-US" sz="3000" b="1" dirty="0">
                <a:solidFill>
                  <a:schemeClr val="accent4"/>
                </a:solidFill>
              </a:rPr>
              <a:t>Rp7,00 M</a:t>
            </a:r>
            <a:endParaRPr lang="en-US" sz="3000" dirty="0"/>
          </a:p>
        </p:txBody>
      </p:sp>
      <p:sp>
        <p:nvSpPr>
          <p:cNvPr id="16" name="Text 14"/>
          <p:cNvSpPr txBox="1"/>
          <p:nvPr/>
        </p:nvSpPr>
        <p:spPr>
          <a:xfrm>
            <a:off x="9281160" y="2574950"/>
            <a:ext cx="2130552" cy="488290"/>
          </a:xfrm>
          <a:prstGeom prst="rect">
            <a:avLst/>
          </a:prstGeom>
          <a:noFill/>
          <a:ln/>
        </p:spPr>
        <p:txBody>
          <a:bodyPr wrap="square" lIns="0" tIns="0" rIns="0" bIns="0" rtlCol="0" anchor="t"/>
          <a:lstStyle/>
          <a:p>
            <a:pPr marL="0" indent="0">
              <a:buNone/>
            </a:pPr>
            <a:r>
              <a:rPr lang="en-US" sz="1200" dirty="0">
                <a:solidFill>
                  <a:schemeClr val="accent6"/>
                </a:solidFill>
              </a:rPr>
              <a:t>nominal tagihan baru yang menjadi NPI per bulan</a:t>
            </a:r>
            <a:endParaRPr lang="en-US" sz="1200" dirty="0"/>
          </a:p>
        </p:txBody>
      </p:sp>
      <p:graphicFrame>
        <p:nvGraphicFramePr>
          <p:cNvPr id="17" name="grafik kumulatif"/>
          <p:cNvGraphicFramePr/>
          <p:nvPr/>
        </p:nvGraphicFramePr>
        <p:xfrm>
          <a:off x="548640" y="3474720"/>
          <a:ext cx="694944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panel key takeaway"/>
          <p:cNvSpPr/>
          <p:nvPr/>
        </p:nvSpPr>
        <p:spPr>
          <a:xfrm>
            <a:off x="7772400" y="3474720"/>
            <a:ext cx="3867912" cy="2743200"/>
          </a:xfrm>
          <a:prstGeom prst="roundRect">
            <a:avLst>
              <a:gd name="adj" fmla="val 2667"/>
            </a:avLst>
          </a:prstGeom>
          <a:solidFill>
            <a:schemeClr val="tx2"/>
          </a:solidFill>
          <a:ln/>
        </p:spPr>
        <p:txBody>
          <a:bodyPr/>
          <a:lstStyle/>
          <a:p>
            <a:endParaRPr lang="en-US"/>
          </a:p>
        </p:txBody>
      </p:sp>
      <p:sp>
        <p:nvSpPr>
          <p:cNvPr id="19" name="Text 16"/>
          <p:cNvSpPr txBox="1"/>
          <p:nvPr/>
        </p:nvSpPr>
        <p:spPr>
          <a:xfrm>
            <a:off x="8046720" y="3730752"/>
            <a:ext cx="331927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20" name="Text 17"/>
          <p:cNvSpPr txBox="1"/>
          <p:nvPr/>
        </p:nvSpPr>
        <p:spPr>
          <a:xfrm>
            <a:off x="8046720" y="4069080"/>
            <a:ext cx="3319272" cy="914400"/>
          </a:xfrm>
          <a:prstGeom prst="rect">
            <a:avLst/>
          </a:prstGeom>
          <a:noFill/>
          <a:ln/>
        </p:spPr>
        <p:txBody>
          <a:bodyPr wrap="square" lIns="0" tIns="0" rIns="0" bIns="0" rtlCol="0" anchor="t"/>
          <a:lstStyle/>
          <a:p>
            <a:pPr marL="0" indent="0">
              <a:buNone/>
            </a:pPr>
            <a:r>
              <a:rPr lang="en-US" sz="1700" b="1" dirty="0">
                <a:solidFill>
                  <a:schemeClr val="bg1"/>
                </a:solidFill>
              </a:rPr>
              <a:t>Pencegahan lebih bernilai daripada mengejar tunggakan lama</a:t>
            </a:r>
            <a:endParaRPr lang="en-US" sz="1700" dirty="0"/>
          </a:p>
        </p:txBody>
      </p:sp>
      <p:sp>
        <p:nvSpPr>
          <p:cNvPr id="21" name="Text 18"/>
          <p:cNvSpPr txBox="1"/>
          <p:nvPr/>
        </p:nvSpPr>
        <p:spPr>
          <a:xfrm>
            <a:off x="8046720" y="5029200"/>
            <a:ext cx="3319272" cy="960120"/>
          </a:xfrm>
          <a:prstGeom prst="rect">
            <a:avLst/>
          </a:prstGeom>
          <a:noFill/>
          <a:ln/>
        </p:spPr>
        <p:txBody>
          <a:bodyPr wrap="square" lIns="0" tIns="0" rIns="0" bIns="0" rtlCol="0" anchor="t"/>
          <a:lstStyle/>
          <a:p>
            <a:pPr marL="0" indent="0">
              <a:buNone/>
            </a:pPr>
            <a:r>
              <a:rPr lang="en-US" sz="1400" dirty="0">
                <a:solidFill>
                  <a:srgbClr val="DCE3EE"/>
                </a:solidFill>
              </a:rPr>
              <a:t>Angka ini ilustrasi linear dari rata-rata periode dasar, bukan forecast kas.</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SKENARIO AUTODEBIT</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Skenario dasar: autodebit untuk 25% unit eligible menurunkan NPI tagihan baru ±2,46 poin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5" name="grafik skenario npi"/>
          <p:cNvGraphicFramePr/>
          <p:nvPr/>
        </p:nvGraphicFramePr>
        <p:xfrm>
          <a:off x="548640" y="1600200"/>
          <a:ext cx="393192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skenario nominal"/>
          <p:cNvGraphicFramePr/>
          <p:nvPr/>
        </p:nvGraphicFramePr>
        <p:xfrm>
          <a:off x="4617720" y="1600200"/>
          <a:ext cx="3291840" cy="32918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9" name="tabel asumsi skenario"/>
          <p:cNvGraphicFramePr>
            <a:graphicFrameLocks noGrp="1"/>
          </p:cNvGraphicFramePr>
          <p:nvPr>
            <p:extLst>
              <p:ext uri="{D42A27DB-BD31-4B8C-83A1-F6EECF244321}">
                <p14:modId xmlns:p14="http://schemas.microsoft.com/office/powerpoint/2010/main" val="1579011935"/>
              </p:ext>
            </p:extLst>
          </p:nvPr>
        </p:nvGraphicFramePr>
        <p:xfrm>
          <a:off x="8183880" y="1645920"/>
          <a:ext cx="3456432" cy="2328672"/>
        </p:xfrm>
        <a:graphic>
          <a:graphicData uri="http://schemas.openxmlformats.org/drawingml/2006/table">
            <a:tbl>
              <a:tblPr/>
              <a:tblGrid>
                <a:gridCol w="1828800">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tblGrid>
              <a:tr h="384048">
                <a:tc>
                  <a:txBody>
                    <a:bodyPr/>
                    <a:lstStyle/>
                    <a:p>
                      <a:pPr marL="0" indent="0">
                        <a:buNone/>
                      </a:pPr>
                      <a:r>
                        <a:rPr lang="en-US" sz="1100" b="1" dirty="0">
                          <a:solidFill>
                            <a:schemeClr val="bg1"/>
                          </a:solidFill>
                        </a:rPr>
                        <a:t>Asumsi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Nilai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chemeClr val="tx1"/>
                          </a:solidFill>
                        </a:rPr>
                        <a:t>Unit eligible (belum 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24.754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chemeClr val="tx1"/>
                          </a:solidFill>
                        </a:rPr>
                        <a:t>Unit diasumsikan beralih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25% = 6.188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chemeClr val="tx1"/>
                          </a:solidFill>
                        </a:rPr>
                        <a:t>Adopsi autodebit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14,3% → 35,7%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chemeClr val="tx1"/>
                          </a:solidFill>
                        </a:rPr>
                        <a:t>Efek yang dipakai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26,59 poin (terkendali)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chemeClr val="tx1"/>
                          </a:solidFill>
                        </a:rPr>
                        <a:t>Tingkat keberhasilan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25% / 50% / 100%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batas estimasi"/>
          <p:cNvSpPr/>
          <p:nvPr/>
        </p:nvSpPr>
        <p:spPr>
          <a:xfrm>
            <a:off x="548640" y="5074920"/>
            <a:ext cx="11091672" cy="1097280"/>
          </a:xfrm>
          <a:prstGeom prst="roundRect">
            <a:avLst>
              <a:gd name="adj" fmla="val 6667"/>
            </a:avLst>
          </a:prstGeom>
          <a:solidFill>
            <a:schemeClr val="tx2"/>
          </a:solidFill>
          <a:ln/>
        </p:spPr>
        <p:txBody>
          <a:bodyPr/>
          <a:lstStyle/>
          <a:p>
            <a:endParaRPr lang="en-US"/>
          </a:p>
        </p:txBody>
      </p:sp>
      <p:sp>
        <p:nvSpPr>
          <p:cNvPr id="9" name="Text 4"/>
          <p:cNvSpPr txBox="1"/>
          <p:nvPr/>
        </p:nvSpPr>
        <p:spPr>
          <a:xfrm>
            <a:off x="822960" y="5166360"/>
            <a:ext cx="10607040" cy="914400"/>
          </a:xfrm>
          <a:prstGeom prst="rect">
            <a:avLst/>
          </a:prstGeom>
          <a:noFill/>
          <a:ln/>
        </p:spPr>
        <p:txBody>
          <a:bodyPr wrap="square" lIns="0" tIns="0" rIns="0" bIns="0" rtlCol="0" anchor="ctr"/>
          <a:lstStyle/>
          <a:p>
            <a:pPr marL="0" indent="0">
              <a:buNone/>
            </a:pPr>
            <a:r>
              <a:rPr lang="en-US" sz="1400" b="1" dirty="0">
                <a:solidFill>
                  <a:schemeClr val="accent2"/>
                </a:solidFill>
              </a:rPr>
              <a:t>Batas estimasi: </a:t>
            </a:r>
            <a:r>
              <a:rPr lang="en-US" sz="1400" dirty="0">
                <a:solidFill>
                  <a:schemeClr val="bg1"/>
                </a:solidFill>
              </a:rPr>
              <a:t>bukan kas yang pasti masuk; belum dikurangi biaya insentif dan kapasitas tim; efek autodebit adalah asosiasi (self-selection). Target ≤ 34,8% berstatus USULAN dan disahkan </a:t>
            </a:r>
            <a:r>
              <a:rPr lang="en-US" sz="1400" dirty="0" err="1">
                <a:solidFill>
                  <a:schemeClr val="bg1"/>
                </a:solidFill>
              </a:rPr>
              <a:t>setelah</a:t>
            </a:r>
            <a:r>
              <a:rPr lang="en-US" sz="1400" dirty="0">
                <a:solidFill>
                  <a:schemeClr val="bg1"/>
                </a:solidFill>
              </a:rPr>
              <a:t> pilot project.</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PERBANDINGAN INTERVENSI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Portal dan verifikasi kontak hampir tidak menurunkan NPI setelah efeknya dikendalikan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30" name="tabel intervensi"/>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2834640"/>
        </p:xfrm>
        <a:graphic>
          <a:graphicData uri="http://schemas.openxmlformats.org/drawingml/2006/table">
            <a:tbl>
              <a:tblPr/>
              <a:tblGrid>
                <a:gridCol w="2514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901952">
                  <a:extLst>
                    <a:ext uri="{9D8B030D-6E8A-4147-A177-3AD203B41FA5}">
                      <a16:colId xmlns:a16="http://schemas.microsoft.com/office/drawing/2014/main" val="20006"/>
                    </a:ext>
                  </a:extLst>
                </a:gridCol>
              </a:tblGrid>
              <a:tr h="566928">
                <a:tc>
                  <a:txBody>
                    <a:bodyPr/>
                    <a:lstStyle/>
                    <a:p>
                      <a:pPr marL="0" indent="0">
                        <a:buNone/>
                      </a:pPr>
                      <a:r>
                        <a:rPr lang="en-US" sz="1100" b="1" dirty="0">
                          <a:solidFill>
                            <a:schemeClr val="bg1"/>
                          </a:solidFill>
                        </a:rPr>
                        <a:t>Intervensi (skenario dasar 50%)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Baseline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Porsi berubah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Efek awal → terkendali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Penurunan NPI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NPI baru dicegah/bulan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Keterbatasan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chemeClr val="tx1"/>
                          </a:solidFill>
                        </a:rPr>
                        <a:t>Autodebit untuk unit eligible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25%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29,78 → 26,59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−2,46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 Rp462 juta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Self-selection; biaya insentif belum ada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00" dirty="0">
                          <a:solidFill>
                            <a:schemeClr val="tx1"/>
                          </a:solidFill>
                        </a:rPr>
                        <a:t>Pindah 50% tagihan cetak fisik ke portal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37,24%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50% invoice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7,26 → 0,00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−0,00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Efek dijelaskan faktor lain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566928">
                <a:tc>
                  <a:txBody>
                    <a:bodyPr/>
                    <a:lstStyle/>
                    <a:p>
                      <a:pPr marL="0" indent="0">
                        <a:buNone/>
                      </a:pPr>
                      <a:r>
                        <a:rPr lang="en-US" sz="1100" dirty="0">
                          <a:solidFill>
                            <a:schemeClr val="tx1"/>
                          </a:solidFill>
                        </a:rPr>
                        <a:t>Verifikasi 50% kontak belum terverifikasi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50% invoice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10,05 → 0,24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−0,02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 Rp3,5 juta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Manfaat utama: keterjangkauan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00" b="1" dirty="0">
                          <a:solidFill>
                            <a:schemeClr val="tx1"/>
                          </a:solidFill>
                        </a:rPr>
                        <a:t>Gabungan ketiga tindakan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37,24%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b="1" dirty="0">
                          <a:solidFill>
                            <a:schemeClr val="tx1"/>
                          </a:solidFill>
                        </a:rPr>
                        <a:t>−2,48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b="1" dirty="0">
                          <a:solidFill>
                            <a:schemeClr val="tx1"/>
                          </a:solidFill>
                        </a:rPr>
                        <a:t>± Rp466 juta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Pendekatan; tanpa hitung ganda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bl>
          </a:graphicData>
        </a:graphic>
      </p:graphicFrame>
      <p:sp>
        <p:nvSpPr>
          <p:cNvPr id="6" name="kpi unit eligible harus beralih agar NPI tagihan baru kembali ke 30,14% (skenario dasar)"/>
          <p:cNvSpPr/>
          <p:nvPr/>
        </p:nvSpPr>
        <p:spPr>
          <a:xfrm>
            <a:off x="548640" y="4663440"/>
            <a:ext cx="3520440" cy="1508760"/>
          </a:xfrm>
          <a:prstGeom prst="roundRect">
            <a:avLst>
              <a:gd name="adj" fmla="val 484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7" name="Text 4"/>
          <p:cNvSpPr txBox="1"/>
          <p:nvPr/>
        </p:nvSpPr>
        <p:spPr>
          <a:xfrm>
            <a:off x="777240" y="4828032"/>
            <a:ext cx="3063240" cy="724205"/>
          </a:xfrm>
          <a:prstGeom prst="rect">
            <a:avLst/>
          </a:prstGeom>
          <a:noFill/>
          <a:ln/>
        </p:spPr>
        <p:txBody>
          <a:bodyPr wrap="square" lIns="0" tIns="0" rIns="0" bIns="0" rtlCol="0" anchor="ctr">
            <a:normAutofit/>
          </a:bodyPr>
          <a:lstStyle/>
          <a:p>
            <a:pPr marL="0" indent="0">
              <a:buNone/>
            </a:pPr>
            <a:r>
              <a:rPr lang="en-US" sz="3400" b="1" dirty="0">
                <a:solidFill>
                  <a:schemeClr val="accent4"/>
                </a:solidFill>
              </a:rPr>
              <a:t>72%</a:t>
            </a:r>
            <a:endParaRPr lang="en-US" sz="3400" dirty="0"/>
          </a:p>
        </p:txBody>
      </p:sp>
      <p:sp>
        <p:nvSpPr>
          <p:cNvPr id="8" name="Text 5"/>
          <p:cNvSpPr txBox="1"/>
          <p:nvPr/>
        </p:nvSpPr>
        <p:spPr>
          <a:xfrm>
            <a:off x="777240" y="5570525"/>
            <a:ext cx="3063240" cy="464515"/>
          </a:xfrm>
          <a:prstGeom prst="rect">
            <a:avLst/>
          </a:prstGeom>
          <a:noFill/>
          <a:ln/>
        </p:spPr>
        <p:txBody>
          <a:bodyPr wrap="square" lIns="0" tIns="0" rIns="0" bIns="0" rtlCol="0" anchor="t"/>
          <a:lstStyle/>
          <a:p>
            <a:pPr marL="0" indent="0">
              <a:buNone/>
            </a:pPr>
            <a:r>
              <a:rPr lang="en-US" sz="1200" dirty="0">
                <a:solidFill>
                  <a:schemeClr val="accent6"/>
                </a:solidFill>
              </a:rPr>
              <a:t>unit eligible harus beralih agar NPI tagihan baru kembali ke 30,14% (skenario dasar)</a:t>
            </a:r>
            <a:endParaRPr lang="en-US" sz="1200" dirty="0"/>
          </a:p>
        </p:txBody>
      </p:sp>
      <p:sp>
        <p:nvSpPr>
          <p:cNvPr id="9" name="pesan intervensi"/>
          <p:cNvSpPr/>
          <p:nvPr/>
        </p:nvSpPr>
        <p:spPr>
          <a:xfrm>
            <a:off x="4343400" y="4663440"/>
            <a:ext cx="7296912" cy="1508760"/>
          </a:xfrm>
          <a:prstGeom prst="roundRect">
            <a:avLst>
              <a:gd name="adj" fmla="val 4848"/>
            </a:avLst>
          </a:prstGeom>
          <a:solidFill>
            <a:schemeClr val="tx2"/>
          </a:solidFill>
          <a:ln/>
        </p:spPr>
        <p:txBody>
          <a:bodyPr/>
          <a:lstStyle/>
          <a:p>
            <a:endParaRPr lang="en-US"/>
          </a:p>
        </p:txBody>
      </p:sp>
      <p:sp>
        <p:nvSpPr>
          <p:cNvPr id="10" name="Text 7"/>
          <p:cNvSpPr txBox="1"/>
          <p:nvPr/>
        </p:nvSpPr>
        <p:spPr>
          <a:xfrm>
            <a:off x="4617720" y="4800600"/>
            <a:ext cx="6766560" cy="1234440"/>
          </a:xfrm>
          <a:prstGeom prst="rect">
            <a:avLst/>
          </a:prstGeom>
          <a:noFill/>
          <a:ln/>
        </p:spPr>
        <p:txBody>
          <a:bodyPr wrap="square" lIns="0" tIns="0" rIns="0" bIns="0" rtlCol="0" anchor="ctr"/>
          <a:lstStyle/>
          <a:p>
            <a:pPr marL="0" indent="0">
              <a:buNone/>
            </a:pPr>
            <a:r>
              <a:rPr lang="en-US" sz="1500" dirty="0">
                <a:solidFill>
                  <a:schemeClr val="bg1"/>
                </a:solidFill>
              </a:rPr>
              <a:t>Autodebit adalah satu-satunya tuas dengan dampak NPI yang berarti dalam simulasi. Portal dan verifikasi kontak tetap dijalankan untuk efisiensi dan keterjangkauan, tetapi tidak dijanjikan sebagai penurun NPI.</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lustrasi kawasan" descr="/home/claude/deck2/img/div6.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07</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Rekomendasi, roadmap &amp; keputusan</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Peran setiap stakeholder, rencana dua kuartal, KPI, dan keputusan yang diminta</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REKOMENDASI PER STAKEHOLDER</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Enam tim memiliki peran yang jelas; pilot dan rekonsiliasi berjalan lebih dahulu</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rekomendasi Head of Township Mgmt"/>
          <p:cNvSpPr/>
          <p:nvPr/>
        </p:nvSpPr>
        <p:spPr>
          <a:xfrm>
            <a:off x="548640" y="1645920"/>
            <a:ext cx="3547872"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penanda 1"/>
          <p:cNvSpPr txBox="1"/>
          <p:nvPr/>
        </p:nvSpPr>
        <p:spPr>
          <a:xfrm>
            <a:off x="777240" y="1874520"/>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7" name="Text 5"/>
          <p:cNvSpPr txBox="1"/>
          <p:nvPr/>
        </p:nvSpPr>
        <p:spPr>
          <a:xfrm>
            <a:off x="1280160" y="1874520"/>
            <a:ext cx="2651760" cy="384048"/>
          </a:xfrm>
          <a:prstGeom prst="rect">
            <a:avLst/>
          </a:prstGeom>
          <a:noFill/>
          <a:ln/>
        </p:spPr>
        <p:txBody>
          <a:bodyPr wrap="square" lIns="0" tIns="0" rIns="0" bIns="0" rtlCol="0" anchor="ctr"/>
          <a:lstStyle/>
          <a:p>
            <a:pPr marL="0" indent="0">
              <a:buNone/>
            </a:pPr>
            <a:r>
              <a:rPr lang="en-US" sz="1600" b="1" dirty="0">
                <a:solidFill>
                  <a:schemeClr val="tx2"/>
                </a:solidFill>
              </a:rPr>
              <a:t>Head of Township Mgmt</a:t>
            </a:r>
            <a:endParaRPr lang="en-US" sz="1600" dirty="0"/>
          </a:p>
        </p:txBody>
      </p:sp>
      <p:sp>
        <p:nvSpPr>
          <p:cNvPr id="8" name="Text 6"/>
          <p:cNvSpPr txBox="1"/>
          <p:nvPr/>
        </p:nvSpPr>
        <p:spPr>
          <a:xfrm>
            <a:off x="777240" y="2423160"/>
            <a:ext cx="3108960" cy="1234440"/>
          </a:xfrm>
          <a:prstGeom prst="rect">
            <a:avLst/>
          </a:prstGeom>
          <a:noFill/>
          <a:ln/>
        </p:spPr>
        <p:txBody>
          <a:bodyPr wrap="square" lIns="0" tIns="0" rIns="0" bIns="0" rtlCol="0" anchor="t"/>
          <a:lstStyle/>
          <a:p>
            <a:pPr marL="0" indent="0">
              <a:buNone/>
            </a:pPr>
            <a:r>
              <a:rPr lang="en-US" sz="1200" dirty="0">
                <a:solidFill>
                  <a:schemeClr val="tx1"/>
                </a:solidFill>
              </a:rPr>
              <a:t>Setujui pilot autodebit &amp; penagihan terfokus dengan grup kontrol; tetapkan target interim setelah pilot; pantau NPI, kas aktual, biaya, dan manfaat bersih.</a:t>
            </a:r>
            <a:endParaRPr lang="en-US" sz="1200" dirty="0"/>
          </a:p>
        </p:txBody>
      </p:sp>
      <p:sp>
        <p:nvSpPr>
          <p:cNvPr id="9" name="rekomendasi Finance"/>
          <p:cNvSpPr/>
          <p:nvPr/>
        </p:nvSpPr>
        <p:spPr>
          <a:xfrm>
            <a:off x="4297680" y="1645920"/>
            <a:ext cx="3547872"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0" name="penanda 2"/>
          <p:cNvSpPr txBox="1"/>
          <p:nvPr/>
        </p:nvSpPr>
        <p:spPr>
          <a:xfrm>
            <a:off x="4526280" y="1874520"/>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 9"/>
          <p:cNvSpPr txBox="1"/>
          <p:nvPr/>
        </p:nvSpPr>
        <p:spPr>
          <a:xfrm>
            <a:off x="5029200" y="1874520"/>
            <a:ext cx="2651760" cy="384048"/>
          </a:xfrm>
          <a:prstGeom prst="rect">
            <a:avLst/>
          </a:prstGeom>
          <a:noFill/>
          <a:ln/>
        </p:spPr>
        <p:txBody>
          <a:bodyPr wrap="square" lIns="0" tIns="0" rIns="0" bIns="0" rtlCol="0" anchor="ctr"/>
          <a:lstStyle/>
          <a:p>
            <a:pPr marL="0" indent="0">
              <a:buNone/>
            </a:pPr>
            <a:r>
              <a:rPr lang="en-US" sz="1600" b="1" dirty="0">
                <a:solidFill>
                  <a:schemeClr val="tx2"/>
                </a:solidFill>
              </a:rPr>
              <a:t>Finance</a:t>
            </a:r>
            <a:endParaRPr lang="en-US" sz="1600" dirty="0"/>
          </a:p>
        </p:txBody>
      </p:sp>
      <p:sp>
        <p:nvSpPr>
          <p:cNvPr id="12" name="Text 10"/>
          <p:cNvSpPr txBox="1"/>
          <p:nvPr/>
        </p:nvSpPr>
        <p:spPr>
          <a:xfrm>
            <a:off x="4526280" y="2423160"/>
            <a:ext cx="3108960" cy="1234440"/>
          </a:xfrm>
          <a:prstGeom prst="rect">
            <a:avLst/>
          </a:prstGeom>
          <a:noFill/>
          <a:ln/>
        </p:spPr>
        <p:txBody>
          <a:bodyPr wrap="square" lIns="0" tIns="0" rIns="0" bIns="0" rtlCol="0" anchor="t"/>
          <a:lstStyle/>
          <a:p>
            <a:pPr marL="0" indent="0">
              <a:buNone/>
            </a:pPr>
            <a:r>
              <a:rPr lang="en-US" sz="1200" dirty="0">
                <a:solidFill>
                  <a:schemeClr val="tx1"/>
                </a:solidFill>
              </a:rPr>
              <a:t>Tetapkan 4 kode metode bayar; rekonsiliasi status tidak sinkron, tagihan ganda, dan koreksi sengketa; pisahkan NPI bruto, perlu validasi, dan kas diterima.</a:t>
            </a:r>
            <a:endParaRPr lang="en-US" sz="1200" dirty="0"/>
          </a:p>
        </p:txBody>
      </p:sp>
      <p:sp>
        <p:nvSpPr>
          <p:cNvPr id="13" name="rekomendasi Collection"/>
          <p:cNvSpPr/>
          <p:nvPr/>
        </p:nvSpPr>
        <p:spPr>
          <a:xfrm>
            <a:off x="8046720" y="1645920"/>
            <a:ext cx="3547872"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4" name="penanda 3"/>
          <p:cNvSpPr txBox="1"/>
          <p:nvPr/>
        </p:nvSpPr>
        <p:spPr>
          <a:xfrm>
            <a:off x="8275320" y="1874520"/>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Text 13"/>
          <p:cNvSpPr txBox="1"/>
          <p:nvPr/>
        </p:nvSpPr>
        <p:spPr>
          <a:xfrm>
            <a:off x="8778240" y="1874520"/>
            <a:ext cx="2651760" cy="384048"/>
          </a:xfrm>
          <a:prstGeom prst="rect">
            <a:avLst/>
          </a:prstGeom>
          <a:noFill/>
          <a:ln/>
        </p:spPr>
        <p:txBody>
          <a:bodyPr wrap="square" lIns="0" tIns="0" rIns="0" bIns="0" rtlCol="0" anchor="ctr"/>
          <a:lstStyle/>
          <a:p>
            <a:pPr marL="0" indent="0">
              <a:buNone/>
            </a:pPr>
            <a:r>
              <a:rPr lang="en-US" sz="1600" b="1" dirty="0">
                <a:solidFill>
                  <a:schemeClr val="tx2"/>
                </a:solidFill>
              </a:rPr>
              <a:t>Collection</a:t>
            </a:r>
            <a:endParaRPr lang="en-US" sz="1600" dirty="0"/>
          </a:p>
        </p:txBody>
      </p:sp>
      <p:sp>
        <p:nvSpPr>
          <p:cNvPr id="16" name="Text 14"/>
          <p:cNvSpPr txBox="1"/>
          <p:nvPr/>
        </p:nvSpPr>
        <p:spPr>
          <a:xfrm>
            <a:off x="8275320" y="2423160"/>
            <a:ext cx="3108960" cy="1234440"/>
          </a:xfrm>
          <a:prstGeom prst="rect">
            <a:avLst/>
          </a:prstGeom>
          <a:noFill/>
          <a:ln/>
        </p:spPr>
        <p:txBody>
          <a:bodyPr wrap="square" lIns="0" tIns="0" rIns="0" bIns="0" rtlCol="0" anchor="t"/>
          <a:lstStyle/>
          <a:p>
            <a:pPr marL="0" indent="0">
              <a:buNone/>
            </a:pPr>
            <a:r>
              <a:rPr lang="en-US" sz="1200" dirty="0">
                <a:solidFill>
                  <a:schemeClr val="tx1"/>
                </a:solidFill>
              </a:rPr>
              <a:t>Pakai daftar tier (risiko + nominal + kontak); tindak lanjuti janji bayar; siapkan program tunggakan lama; ukur collection rate 30/60/90 hari dari bukti bayar.</a:t>
            </a:r>
            <a:endParaRPr lang="en-US" sz="1200" dirty="0"/>
          </a:p>
        </p:txBody>
      </p:sp>
      <p:sp>
        <p:nvSpPr>
          <p:cNvPr id="17" name="rekomendasi CS"/>
          <p:cNvSpPr/>
          <p:nvPr/>
        </p:nvSpPr>
        <p:spPr>
          <a:xfrm>
            <a:off x="548640" y="3931920"/>
            <a:ext cx="3547872"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penanda 4"/>
          <p:cNvSpPr txBox="1"/>
          <p:nvPr/>
        </p:nvSpPr>
        <p:spPr>
          <a:xfrm>
            <a:off x="777240" y="4160520"/>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7"/>
          <p:cNvSpPr txBox="1"/>
          <p:nvPr/>
        </p:nvSpPr>
        <p:spPr>
          <a:xfrm>
            <a:off x="1280160" y="4160520"/>
            <a:ext cx="2651760" cy="384048"/>
          </a:xfrm>
          <a:prstGeom prst="rect">
            <a:avLst/>
          </a:prstGeom>
          <a:noFill/>
          <a:ln/>
        </p:spPr>
        <p:txBody>
          <a:bodyPr wrap="square" lIns="0" tIns="0" rIns="0" bIns="0" rtlCol="0" anchor="ctr"/>
          <a:lstStyle/>
          <a:p>
            <a:pPr marL="0" indent="0">
              <a:buNone/>
            </a:pPr>
            <a:r>
              <a:rPr lang="en-US" sz="1600" b="1" dirty="0">
                <a:solidFill>
                  <a:schemeClr val="tx2"/>
                </a:solidFill>
              </a:rPr>
              <a:t>CS</a:t>
            </a:r>
            <a:endParaRPr lang="en-US" sz="1600" dirty="0"/>
          </a:p>
        </p:txBody>
      </p:sp>
      <p:sp>
        <p:nvSpPr>
          <p:cNvPr id="20" name="Text 18"/>
          <p:cNvSpPr txBox="1"/>
          <p:nvPr/>
        </p:nvSpPr>
        <p:spPr>
          <a:xfrm>
            <a:off x="777240" y="4709160"/>
            <a:ext cx="3108960" cy="1234440"/>
          </a:xfrm>
          <a:prstGeom prst="rect">
            <a:avLst/>
          </a:prstGeom>
          <a:noFill/>
          <a:ln/>
        </p:spPr>
        <p:txBody>
          <a:bodyPr wrap="square" lIns="0" tIns="0" rIns="0" bIns="0" rtlCol="0" anchor="t"/>
          <a:lstStyle/>
          <a:p>
            <a:pPr marL="0" indent="0">
              <a:buNone/>
            </a:pPr>
            <a:r>
              <a:rPr lang="en-US" sz="1200" dirty="0">
                <a:solidFill>
                  <a:schemeClr val="tx1"/>
                </a:solidFill>
              </a:rPr>
              <a:t>Verifikasi kontak 3.028 unit Tier 2 lebih dahulu; pisahkan program keterjangkauan kontak dari program penurunan NPI.</a:t>
            </a:r>
            <a:endParaRPr lang="en-US" sz="1200" dirty="0"/>
          </a:p>
        </p:txBody>
      </p:sp>
      <p:sp>
        <p:nvSpPr>
          <p:cNvPr id="21" name="rekomendasi IT/ERP"/>
          <p:cNvSpPr/>
          <p:nvPr/>
        </p:nvSpPr>
        <p:spPr>
          <a:xfrm>
            <a:off x="4297680" y="3931920"/>
            <a:ext cx="3547872"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2" name="penanda 5"/>
          <p:cNvSpPr txBox="1"/>
          <p:nvPr/>
        </p:nvSpPr>
        <p:spPr>
          <a:xfrm>
            <a:off x="4526280" y="4160520"/>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3" name="Text 21"/>
          <p:cNvSpPr txBox="1"/>
          <p:nvPr/>
        </p:nvSpPr>
        <p:spPr>
          <a:xfrm>
            <a:off x="5029200" y="4160520"/>
            <a:ext cx="2651760" cy="384048"/>
          </a:xfrm>
          <a:prstGeom prst="rect">
            <a:avLst/>
          </a:prstGeom>
          <a:noFill/>
          <a:ln/>
        </p:spPr>
        <p:txBody>
          <a:bodyPr wrap="square" lIns="0" tIns="0" rIns="0" bIns="0" rtlCol="0" anchor="ctr"/>
          <a:lstStyle/>
          <a:p>
            <a:pPr marL="0" indent="0">
              <a:buNone/>
            </a:pPr>
            <a:r>
              <a:rPr lang="en-US" sz="1600" b="1" dirty="0">
                <a:solidFill>
                  <a:schemeClr val="tx2"/>
                </a:solidFill>
              </a:rPr>
              <a:t>IT/ERP</a:t>
            </a:r>
            <a:endParaRPr lang="en-US" sz="1600" dirty="0"/>
          </a:p>
        </p:txBody>
      </p:sp>
      <p:sp>
        <p:nvSpPr>
          <p:cNvPr id="24" name="Text 22"/>
          <p:cNvSpPr txBox="1"/>
          <p:nvPr/>
        </p:nvSpPr>
        <p:spPr>
          <a:xfrm>
            <a:off x="4526280" y="4709160"/>
            <a:ext cx="3108960" cy="1234440"/>
          </a:xfrm>
          <a:prstGeom prst="rect">
            <a:avLst/>
          </a:prstGeom>
          <a:noFill/>
          <a:ln/>
        </p:spPr>
        <p:txBody>
          <a:bodyPr wrap="square" lIns="0" tIns="0" rIns="0" bIns="0" rtlCol="0" anchor="t"/>
          <a:lstStyle/>
          <a:p>
            <a:pPr marL="0" indent="0">
              <a:buNone/>
            </a:pPr>
            <a:r>
              <a:rPr lang="en-US" sz="1200" dirty="0">
                <a:solidFill>
                  <a:schemeClr val="tx1"/>
                </a:solidFill>
              </a:rPr>
              <a:t>Kontrol 1 invoice utama per unit-bulan; simpan riwayat status dan tanggal snapshot; input metode bayar berbasis pilihan; validasi data meter.</a:t>
            </a:r>
            <a:endParaRPr lang="en-US" sz="1200" dirty="0"/>
          </a:p>
        </p:txBody>
      </p:sp>
      <p:sp>
        <p:nvSpPr>
          <p:cNvPr id="25" name="rekomendasi Estate Operations"/>
          <p:cNvSpPr/>
          <p:nvPr/>
        </p:nvSpPr>
        <p:spPr>
          <a:xfrm>
            <a:off x="8046720" y="3931920"/>
            <a:ext cx="3547872"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6" name="penanda 6"/>
          <p:cNvSpPr txBox="1"/>
          <p:nvPr/>
        </p:nvSpPr>
        <p:spPr>
          <a:xfrm>
            <a:off x="8275320" y="4160520"/>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7" name="Text 25"/>
          <p:cNvSpPr txBox="1"/>
          <p:nvPr/>
        </p:nvSpPr>
        <p:spPr>
          <a:xfrm>
            <a:off x="8778240" y="4160520"/>
            <a:ext cx="2651760" cy="384048"/>
          </a:xfrm>
          <a:prstGeom prst="rect">
            <a:avLst/>
          </a:prstGeom>
          <a:noFill/>
          <a:ln/>
        </p:spPr>
        <p:txBody>
          <a:bodyPr wrap="square" lIns="0" tIns="0" rIns="0" bIns="0" rtlCol="0" anchor="ctr"/>
          <a:lstStyle/>
          <a:p>
            <a:pPr marL="0" indent="0">
              <a:buNone/>
            </a:pPr>
            <a:r>
              <a:rPr lang="en-US" sz="1600" b="1" dirty="0">
                <a:solidFill>
                  <a:schemeClr val="tx2"/>
                </a:solidFill>
              </a:rPr>
              <a:t>Estate Operations</a:t>
            </a:r>
            <a:endParaRPr lang="en-US" sz="1600" dirty="0"/>
          </a:p>
        </p:txBody>
      </p:sp>
      <p:sp>
        <p:nvSpPr>
          <p:cNvPr id="28" name="Text 26"/>
          <p:cNvSpPr txBox="1"/>
          <p:nvPr/>
        </p:nvSpPr>
        <p:spPr>
          <a:xfrm>
            <a:off x="8275320" y="4709160"/>
            <a:ext cx="3108960" cy="1234440"/>
          </a:xfrm>
          <a:prstGeom prst="rect">
            <a:avLst/>
          </a:prstGeom>
          <a:noFill/>
          <a:ln/>
        </p:spPr>
        <p:txBody>
          <a:bodyPr wrap="square" lIns="0" tIns="0" rIns="0" bIns="0" rtlCol="0" anchor="t"/>
          <a:lstStyle/>
          <a:p>
            <a:pPr marL="0" indent="0">
              <a:buNone/>
            </a:pPr>
            <a:r>
              <a:rPr lang="en-US" sz="1200" dirty="0">
                <a:solidFill>
                  <a:schemeClr val="tx1"/>
                </a:solidFill>
              </a:rPr>
              <a:t>Investigasi 3.789 anomali air dengan bukti meter; jangan ganti ke median tanpa validasi; dokumentasikan hasil untuk Finance dan sengketa.</a:t>
            </a:r>
            <a:endParaRPr lang="en-US" sz="1200" dirty="0"/>
          </a:p>
        </p:txBody>
      </p:sp>
      <p:sp>
        <p:nvSpPr>
          <p:cNvPr id="29"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ROADMAP DUA KUARTAL</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Bulan pertama untuk fondasi, kuartal pertama untuk pilot, kuartal kedua untuk evaluasi dan perluasan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garis waktu"/>
          <p:cNvSpPr/>
          <p:nvPr/>
        </p:nvSpPr>
        <p:spPr>
          <a:xfrm>
            <a:off x="822960" y="2057400"/>
            <a:ext cx="10607040" cy="0"/>
          </a:xfrm>
          <a:prstGeom prst="line">
            <a:avLst/>
          </a:prstGeom>
          <a:noFill/>
          <a:ln w="25400">
            <a:solidFill>
              <a:srgbClr val="B8C0CC"/>
            </a:solidFill>
            <a:prstDash val="solid"/>
          </a:ln>
        </p:spPr>
        <p:txBody>
          <a:bodyPr/>
          <a:lstStyle/>
          <a:p>
            <a:endParaRPr lang="en-US"/>
          </a:p>
        </p:txBody>
      </p:sp>
      <p:sp>
        <p:nvSpPr>
          <p:cNvPr id="6" name="penanda 1"/>
          <p:cNvSpPr txBox="1"/>
          <p:nvPr/>
        </p:nvSpPr>
        <p:spPr>
          <a:xfrm>
            <a:off x="731520" y="1856232"/>
            <a:ext cx="411480" cy="41148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label fase"/>
          <p:cNvSpPr txBox="1"/>
          <p:nvPr/>
        </p:nvSpPr>
        <p:spPr>
          <a:xfrm>
            <a:off x="1188720" y="1874520"/>
            <a:ext cx="1600200" cy="365760"/>
          </a:xfrm>
          <a:prstGeom prst="rect">
            <a:avLst/>
          </a:prstGeom>
          <a:solidFill>
            <a:srgbClr val="FFFFFF"/>
          </a:solidFill>
          <a:ln/>
        </p:spPr>
        <p:txBody>
          <a:bodyPr wrap="square" lIns="0" tIns="1270" rIns="1270" bIns="0" rtlCol="0" anchor="ctr"/>
          <a:lstStyle/>
          <a:p>
            <a:pPr marL="0" indent="0">
              <a:buNone/>
            </a:pPr>
            <a:r>
              <a:rPr lang="en-US" sz="1200" b="1" kern="0" spc="100" dirty="0">
                <a:solidFill>
                  <a:schemeClr val="accent3"/>
                </a:solidFill>
              </a:rPr>
              <a:t>BULAN PERTAMA</a:t>
            </a:r>
            <a:endParaRPr lang="en-US" sz="1200" dirty="0"/>
          </a:p>
        </p:txBody>
      </p:sp>
      <p:sp>
        <p:nvSpPr>
          <p:cNvPr id="8" name="fase Fondasi"/>
          <p:cNvSpPr/>
          <p:nvPr/>
        </p:nvSpPr>
        <p:spPr>
          <a:xfrm>
            <a:off x="548640" y="2514600"/>
            <a:ext cx="3547872" cy="3611880"/>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822960" y="2697480"/>
            <a:ext cx="3017520" cy="457200"/>
          </a:xfrm>
          <a:prstGeom prst="rect">
            <a:avLst/>
          </a:prstGeom>
          <a:noFill/>
          <a:ln/>
        </p:spPr>
        <p:txBody>
          <a:bodyPr wrap="square" lIns="0" tIns="0" rIns="0" bIns="0" rtlCol="0" anchor="t"/>
          <a:lstStyle/>
          <a:p>
            <a:pPr marL="0" indent="0">
              <a:buNone/>
            </a:pPr>
            <a:r>
              <a:rPr lang="en-US" sz="2000" b="1" dirty="0">
                <a:solidFill>
                  <a:schemeClr val="tx2"/>
                </a:solidFill>
              </a:rPr>
              <a:t>Fondasi</a:t>
            </a:r>
            <a:endParaRPr lang="en-US" sz="2000" dirty="0"/>
          </a:p>
        </p:txBody>
      </p:sp>
      <p:sp>
        <p:nvSpPr>
          <p:cNvPr id="10" name="Text 8"/>
          <p:cNvSpPr txBox="1"/>
          <p:nvPr/>
        </p:nvSpPr>
        <p:spPr>
          <a:xfrm>
            <a:off x="822960" y="3291840"/>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Persetujuan pilot &amp; grup kontrol</a:t>
            </a:r>
            <a:endParaRPr lang="en-US" sz="1400" dirty="0"/>
          </a:p>
          <a:p>
            <a:pPr marL="342900" indent="-342900">
              <a:spcAft>
                <a:spcPts val="800"/>
              </a:spcAft>
              <a:buSzPct val="100000"/>
              <a:buChar char="•"/>
            </a:pPr>
            <a:r>
              <a:rPr lang="en-US" sz="1400" dirty="0">
                <a:solidFill>
                  <a:schemeClr val="tx1"/>
                </a:solidFill>
              </a:rPr>
              <a:t>Konfirmasi tanggal snapshot dan baseline</a:t>
            </a:r>
            <a:endParaRPr lang="en-US" sz="1400" dirty="0"/>
          </a:p>
          <a:p>
            <a:pPr marL="342900" indent="-342900">
              <a:spcAft>
                <a:spcPts val="800"/>
              </a:spcAft>
              <a:buSzPct val="100000"/>
              <a:buChar char="•"/>
            </a:pPr>
            <a:r>
              <a:rPr lang="en-US" sz="1400" dirty="0">
                <a:solidFill>
                  <a:schemeClr val="tx1"/>
                </a:solidFill>
              </a:rPr>
              <a:t>Rekonsiliasi kritis Finance</a:t>
            </a:r>
            <a:endParaRPr lang="en-US" sz="1400" dirty="0"/>
          </a:p>
          <a:p>
            <a:pPr marL="342900" indent="-342900">
              <a:spcAft>
                <a:spcPts val="800"/>
              </a:spcAft>
              <a:buSzPct val="100000"/>
              <a:buChar char="•"/>
            </a:pPr>
            <a:r>
              <a:rPr lang="en-US" sz="1400" dirty="0">
                <a:solidFill>
                  <a:schemeClr val="tx1"/>
                </a:solidFill>
              </a:rPr>
              <a:t>Persiapan daftar kerja tanpa data pribadi</a:t>
            </a:r>
            <a:endParaRPr lang="en-US" sz="1400" dirty="0"/>
          </a:p>
        </p:txBody>
      </p:sp>
      <p:sp>
        <p:nvSpPr>
          <p:cNvPr id="11" name="penanda 2"/>
          <p:cNvSpPr txBox="1"/>
          <p:nvPr/>
        </p:nvSpPr>
        <p:spPr>
          <a:xfrm>
            <a:off x="4480560" y="1856232"/>
            <a:ext cx="411480" cy="411480"/>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2" name="label fase"/>
          <p:cNvSpPr txBox="1"/>
          <p:nvPr/>
        </p:nvSpPr>
        <p:spPr>
          <a:xfrm>
            <a:off x="4937760" y="1874520"/>
            <a:ext cx="1600200" cy="365760"/>
          </a:xfrm>
          <a:prstGeom prst="rect">
            <a:avLst/>
          </a:prstGeom>
          <a:solidFill>
            <a:srgbClr val="FFFFFF"/>
          </a:solidFill>
          <a:ln/>
        </p:spPr>
        <p:txBody>
          <a:bodyPr wrap="square" lIns="0" tIns="1270" rIns="1270" bIns="0" rtlCol="0" anchor="ctr"/>
          <a:lstStyle/>
          <a:p>
            <a:pPr marL="0" indent="0">
              <a:buNone/>
            </a:pPr>
            <a:r>
              <a:rPr lang="en-US" sz="1200" b="1" kern="0" spc="100" dirty="0">
                <a:solidFill>
                  <a:schemeClr val="accent3"/>
                </a:solidFill>
              </a:rPr>
              <a:t>KUARTAL 1</a:t>
            </a:r>
            <a:endParaRPr lang="en-US" sz="1200" dirty="0"/>
          </a:p>
        </p:txBody>
      </p:sp>
      <p:sp>
        <p:nvSpPr>
          <p:cNvPr id="13" name="fase Pilot"/>
          <p:cNvSpPr/>
          <p:nvPr/>
        </p:nvSpPr>
        <p:spPr>
          <a:xfrm>
            <a:off x="4297680" y="2514600"/>
            <a:ext cx="3547872" cy="3611880"/>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4" name="Text 12"/>
          <p:cNvSpPr txBox="1"/>
          <p:nvPr/>
        </p:nvSpPr>
        <p:spPr>
          <a:xfrm>
            <a:off x="4572000" y="2697480"/>
            <a:ext cx="3017520" cy="457200"/>
          </a:xfrm>
          <a:prstGeom prst="rect">
            <a:avLst/>
          </a:prstGeom>
          <a:noFill/>
          <a:ln/>
        </p:spPr>
        <p:txBody>
          <a:bodyPr wrap="square" lIns="0" tIns="0" rIns="0" bIns="0" rtlCol="0" anchor="t"/>
          <a:lstStyle/>
          <a:p>
            <a:pPr marL="0" indent="0">
              <a:buNone/>
            </a:pPr>
            <a:r>
              <a:rPr lang="en-US" sz="2000" b="1" dirty="0">
                <a:solidFill>
                  <a:schemeClr val="tx2"/>
                </a:solidFill>
              </a:rPr>
              <a:t>Pilot</a:t>
            </a:r>
            <a:endParaRPr lang="en-US" sz="2000" dirty="0"/>
          </a:p>
        </p:txBody>
      </p:sp>
      <p:sp>
        <p:nvSpPr>
          <p:cNvPr id="15" name="Text 13"/>
          <p:cNvSpPr txBox="1"/>
          <p:nvPr/>
        </p:nvSpPr>
        <p:spPr>
          <a:xfrm>
            <a:off x="4572000" y="3291840"/>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Pilot autodebit pada unit eligible</a:t>
            </a:r>
            <a:endParaRPr lang="en-US" sz="1400" dirty="0"/>
          </a:p>
          <a:p>
            <a:pPr marL="342900" indent="-342900">
              <a:spcAft>
                <a:spcPts val="800"/>
              </a:spcAft>
              <a:buSzPct val="100000"/>
              <a:buChar char="•"/>
            </a:pPr>
            <a:r>
              <a:rPr lang="en-US" sz="1400" dirty="0">
                <a:solidFill>
                  <a:schemeClr val="tx1"/>
                </a:solidFill>
              </a:rPr>
              <a:t>Penagihan Tier 1; verifikasi kontak Tier 2</a:t>
            </a:r>
            <a:endParaRPr lang="en-US" sz="1400" dirty="0"/>
          </a:p>
          <a:p>
            <a:pPr marL="342900" indent="-342900">
              <a:spcAft>
                <a:spcPts val="800"/>
              </a:spcAft>
              <a:buSzPct val="100000"/>
              <a:buChar char="•"/>
            </a:pPr>
            <a:r>
              <a:rPr lang="en-US" sz="1400" dirty="0">
                <a:solidFill>
                  <a:schemeClr val="tx1"/>
                </a:solidFill>
              </a:rPr>
              <a:t>Kontrol invoice ganda &amp; validasi meter</a:t>
            </a:r>
            <a:endParaRPr lang="en-US" sz="1400" dirty="0"/>
          </a:p>
          <a:p>
            <a:pPr marL="342900" indent="-342900">
              <a:spcAft>
                <a:spcPts val="800"/>
              </a:spcAft>
              <a:buSzPct val="100000"/>
              <a:buChar char="•"/>
            </a:pPr>
            <a:r>
              <a:rPr lang="en-US" sz="1400" dirty="0">
                <a:solidFill>
                  <a:schemeClr val="tx1"/>
                </a:solidFill>
              </a:rPr>
              <a:t>Standar 4 kode metode bayar</a:t>
            </a:r>
            <a:endParaRPr lang="en-US" sz="1400" dirty="0"/>
          </a:p>
        </p:txBody>
      </p:sp>
      <p:sp>
        <p:nvSpPr>
          <p:cNvPr id="16" name="penanda 3"/>
          <p:cNvSpPr txBox="1"/>
          <p:nvPr/>
        </p:nvSpPr>
        <p:spPr>
          <a:xfrm>
            <a:off x="8229600" y="1856232"/>
            <a:ext cx="411480" cy="41148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label fase"/>
          <p:cNvSpPr txBox="1"/>
          <p:nvPr/>
        </p:nvSpPr>
        <p:spPr>
          <a:xfrm>
            <a:off x="8686800" y="1874520"/>
            <a:ext cx="1600200" cy="365760"/>
          </a:xfrm>
          <a:prstGeom prst="rect">
            <a:avLst/>
          </a:prstGeom>
          <a:solidFill>
            <a:srgbClr val="FFFFFF"/>
          </a:solidFill>
          <a:ln/>
        </p:spPr>
        <p:txBody>
          <a:bodyPr wrap="square" lIns="0" tIns="1270" rIns="1270" bIns="0" rtlCol="0" anchor="ctr"/>
          <a:lstStyle/>
          <a:p>
            <a:pPr marL="0" indent="0">
              <a:buNone/>
            </a:pPr>
            <a:r>
              <a:rPr lang="en-US" sz="1200" b="1" kern="0" spc="100" dirty="0">
                <a:solidFill>
                  <a:schemeClr val="accent3"/>
                </a:solidFill>
              </a:rPr>
              <a:t>KUARTAL 2</a:t>
            </a:r>
            <a:endParaRPr lang="en-US" sz="1200" dirty="0"/>
          </a:p>
        </p:txBody>
      </p:sp>
      <p:sp>
        <p:nvSpPr>
          <p:cNvPr id="18" name="fase Evaluasi &amp; perluasan"/>
          <p:cNvSpPr/>
          <p:nvPr/>
        </p:nvSpPr>
        <p:spPr>
          <a:xfrm>
            <a:off x="8046720" y="2514600"/>
            <a:ext cx="3547872" cy="3611880"/>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9" name="Text 17"/>
          <p:cNvSpPr txBox="1"/>
          <p:nvPr/>
        </p:nvSpPr>
        <p:spPr>
          <a:xfrm>
            <a:off x="8321040" y="2697480"/>
            <a:ext cx="3017520" cy="457200"/>
          </a:xfrm>
          <a:prstGeom prst="rect">
            <a:avLst/>
          </a:prstGeom>
          <a:noFill/>
          <a:ln/>
        </p:spPr>
        <p:txBody>
          <a:bodyPr wrap="square" lIns="0" tIns="0" rIns="0" bIns="0" rtlCol="0" anchor="t"/>
          <a:lstStyle/>
          <a:p>
            <a:pPr marL="0" indent="0">
              <a:buNone/>
            </a:pPr>
            <a:r>
              <a:rPr lang="en-US" sz="2000" b="1" dirty="0">
                <a:solidFill>
                  <a:schemeClr val="tx2"/>
                </a:solidFill>
              </a:rPr>
              <a:t>Evaluasi &amp; perluasan</a:t>
            </a:r>
            <a:endParaRPr lang="en-US" sz="2000" dirty="0"/>
          </a:p>
        </p:txBody>
      </p:sp>
      <p:sp>
        <p:nvSpPr>
          <p:cNvPr id="20" name="Text 18"/>
          <p:cNvSpPr txBox="1"/>
          <p:nvPr/>
        </p:nvSpPr>
        <p:spPr>
          <a:xfrm>
            <a:off x="8321040" y="3291840"/>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Bandingkan pilot vs grup kontrol</a:t>
            </a:r>
            <a:endParaRPr lang="en-US" sz="1400" dirty="0"/>
          </a:p>
          <a:p>
            <a:pPr marL="342900" indent="-342900">
              <a:spcAft>
                <a:spcPts val="800"/>
              </a:spcAft>
              <a:buSzPct val="100000"/>
              <a:buChar char="•"/>
            </a:pPr>
            <a:r>
              <a:rPr lang="en-US" sz="1400" dirty="0">
                <a:solidFill>
                  <a:schemeClr val="tx1"/>
                </a:solidFill>
              </a:rPr>
              <a:t>Perluas program yang terbukti efektif</a:t>
            </a:r>
            <a:endParaRPr lang="en-US" sz="1400" dirty="0"/>
          </a:p>
          <a:p>
            <a:pPr marL="342900" indent="-342900">
              <a:spcAft>
                <a:spcPts val="800"/>
              </a:spcAft>
              <a:buSzPct val="100000"/>
              <a:buChar char="•"/>
            </a:pPr>
            <a:r>
              <a:rPr lang="en-US" sz="1400" dirty="0">
                <a:solidFill>
                  <a:schemeClr val="tx1"/>
                </a:solidFill>
              </a:rPr>
              <a:t>Program pemulihan tunggakan lama</a:t>
            </a:r>
            <a:endParaRPr lang="en-US" sz="1400" dirty="0"/>
          </a:p>
          <a:p>
            <a:pPr marL="342900" indent="-342900">
              <a:spcAft>
                <a:spcPts val="800"/>
              </a:spcAft>
              <a:buSzPct val="100000"/>
              <a:buChar char="•"/>
            </a:pPr>
            <a:r>
              <a:rPr lang="en-US" sz="1400" dirty="0">
                <a:solidFill>
                  <a:schemeClr val="tx1"/>
                </a:solidFill>
              </a:rPr>
              <a:t>Ukur KPI akhir dan tetapkan target resmi</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KPI PEMANTAUAN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Sembilan KPI memisahkan hasil bisnis, indikator awal, kualitas data, dan kas aktual</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34" name="tabel kpi"/>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297680"/>
        </p:xfrm>
        <a:graphic>
          <a:graphicData uri="http://schemas.openxmlformats.org/drawingml/2006/table">
            <a:tbl>
              <a:tblPr/>
              <a:tblGrid>
                <a:gridCol w="29260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399032">
                  <a:extLst>
                    <a:ext uri="{9D8B030D-6E8A-4147-A177-3AD203B41FA5}">
                      <a16:colId xmlns:a16="http://schemas.microsoft.com/office/drawing/2014/main" val="20005"/>
                    </a:ext>
                  </a:extLst>
                </a:gridCol>
              </a:tblGrid>
              <a:tr h="429768">
                <a:tc>
                  <a:txBody>
                    <a:bodyPr/>
                    <a:lstStyle/>
                    <a:p>
                      <a:pPr marL="0" indent="0">
                        <a:buNone/>
                      </a:pPr>
                      <a:r>
                        <a:rPr lang="en-US" sz="1100" b="1" dirty="0">
                          <a:solidFill>
                            <a:schemeClr val="bg1"/>
                          </a:solidFill>
                        </a:rPr>
                        <a:t>KPI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Jenis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Baseline (historis)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Target usulan akhir Q2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Frekuensi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Pemilik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chemeClr val="tx1"/>
                          </a:solidFill>
                        </a:rPr>
                        <a:t>NPI rate cohort matang (tagihan baru)</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Bisnis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 34,8% (skenario dasar)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Head of Township</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chemeClr val="tx1"/>
                          </a:solidFill>
                        </a:rPr>
                        <a:t>Nominal NPI baru per bulan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Bisnis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 Rp7,00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Turun sesuai hasil pilot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Finance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chemeClr val="tx1"/>
                          </a:solidFill>
                        </a:rPr>
                        <a:t>Kas yang benar-benar tertagih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Finansial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Belum tersedia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Ditetapkan setelah rekonsiliasi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Finance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chemeClr val="tx1"/>
                          </a:solidFill>
                        </a:rPr>
                        <a:t>Adopsi autodebit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Indikator awal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14,3%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 35,7%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Finance &amp; Collection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chemeClr val="tx1"/>
                          </a:solidFill>
                        </a:rPr>
                        <a:t>Unit dengan kontak terverifikasi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Indikator awal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69,0%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Naik bertahap</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CS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dirty="0">
                          <a:solidFill>
                            <a:schemeClr val="tx1"/>
                          </a:solidFill>
                        </a:rPr>
                        <a:t>Invoice ganda baru</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Kualitas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38.449 (historis)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IT/ERP</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29768">
                <a:tc>
                  <a:txBody>
                    <a:bodyPr/>
                    <a:lstStyle/>
                    <a:p>
                      <a:pPr marL="0" indent="0">
                        <a:buNone/>
                      </a:pPr>
                      <a:r>
                        <a:rPr lang="en-US" sz="1100" dirty="0">
                          <a:solidFill>
                            <a:schemeClr val="tx1"/>
                          </a:solidFill>
                        </a:rPr>
                        <a:t>Metode bayar di luar kode master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Kualitas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9 variasi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 (4 kode baku)</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Finance &amp; IT/ERP</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100" dirty="0">
                          <a:solidFill>
                            <a:schemeClr val="tx1"/>
                          </a:solidFill>
                        </a:rPr>
                        <a:t>Anomali air yang sudah diverifikasi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Kualitas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 dari 7.613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100%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Estate Ops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429768">
                <a:tc>
                  <a:txBody>
                    <a:bodyPr/>
                    <a:lstStyle/>
                    <a:p>
                      <a:pPr marL="0" indent="0">
                        <a:buNone/>
                      </a:pPr>
                      <a:r>
                        <a:rPr lang="en-US" sz="1100" dirty="0">
                          <a:solidFill>
                            <a:schemeClr val="tx1"/>
                          </a:solidFill>
                        </a:rPr>
                        <a:t>Item yang belum direkonsiliasi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Finansial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3.795 + 5.953 inv; 12.568 pasangan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Bulanan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Finance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Text 3"/>
          <p:cNvSpPr txBox="1"/>
          <p:nvPr/>
        </p:nvSpPr>
        <p:spPr>
          <a:xfrm>
            <a:off x="548640" y="6035040"/>
            <a:ext cx="11064240" cy="274320"/>
          </a:xfrm>
          <a:prstGeom prst="rect">
            <a:avLst/>
          </a:prstGeom>
          <a:noFill/>
          <a:ln/>
        </p:spPr>
        <p:txBody>
          <a:bodyPr wrap="square" lIns="0" tIns="0" rIns="0" bIns="0" rtlCol="0" anchor="t"/>
          <a:lstStyle/>
          <a:p>
            <a:pPr marL="0" indent="0">
              <a:buNone/>
            </a:pPr>
            <a:r>
              <a:rPr lang="en-US" sz="1200" dirty="0">
                <a:solidFill>
                  <a:schemeClr val="accent6"/>
                </a:solidFill>
              </a:rPr>
              <a:t>Baseline = temuan historis dari data; target = usulan yang disahkan setelah pilot, bukan hasil yang dijamin.</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KEPUTUSAN MANAJEMEN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Kami meminta persetujuan pilot dua kuartal dengan evaluasi terukur</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keputusan Apa yang disetujui"/>
          <p:cNvSpPr/>
          <p:nvPr/>
        </p:nvSpPr>
        <p:spPr>
          <a:xfrm>
            <a:off x="548640" y="1645920"/>
            <a:ext cx="7223760" cy="713232"/>
          </a:xfrm>
          <a:prstGeom prst="roundRect">
            <a:avLst>
              <a:gd name="adj" fmla="val 1025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719072"/>
            <a:ext cx="2011680" cy="566928"/>
          </a:xfrm>
          <a:prstGeom prst="rect">
            <a:avLst/>
          </a:prstGeom>
          <a:noFill/>
          <a:ln/>
        </p:spPr>
        <p:txBody>
          <a:bodyPr wrap="square" lIns="0" tIns="0" rIns="0" bIns="0" rtlCol="0" anchor="ctr"/>
          <a:lstStyle/>
          <a:p>
            <a:pPr marL="0" indent="0">
              <a:buNone/>
            </a:pPr>
            <a:r>
              <a:rPr lang="en-US" sz="1400" b="1" dirty="0">
                <a:solidFill>
                  <a:schemeClr val="tx2"/>
                </a:solidFill>
              </a:rPr>
              <a:t>Apa yang disetujui</a:t>
            </a:r>
            <a:endParaRPr lang="en-US" sz="1400" dirty="0"/>
          </a:p>
        </p:txBody>
      </p:sp>
      <p:sp>
        <p:nvSpPr>
          <p:cNvPr id="7" name="Text 5"/>
          <p:cNvSpPr txBox="1"/>
          <p:nvPr/>
        </p:nvSpPr>
        <p:spPr>
          <a:xfrm>
            <a:off x="2834640" y="1719072"/>
            <a:ext cx="4800600" cy="566928"/>
          </a:xfrm>
          <a:prstGeom prst="rect">
            <a:avLst/>
          </a:prstGeom>
          <a:noFill/>
          <a:ln/>
        </p:spPr>
        <p:txBody>
          <a:bodyPr wrap="square" lIns="0" tIns="0" rIns="0" bIns="0" rtlCol="0" anchor="ctr"/>
          <a:lstStyle/>
          <a:p>
            <a:pPr marL="0" indent="0">
              <a:buNone/>
            </a:pPr>
            <a:r>
              <a:rPr lang="en-US" sz="1300" dirty="0">
                <a:solidFill>
                  <a:schemeClr val="tx1"/>
                </a:solidFill>
              </a:rPr>
              <a:t>Pilot autodebit untuk unit eligible dan penagihan terfokus Tier 1–2, dengan grup kontrol</a:t>
            </a:r>
            <a:endParaRPr lang="en-US" sz="1300" dirty="0"/>
          </a:p>
        </p:txBody>
      </p:sp>
      <p:sp>
        <p:nvSpPr>
          <p:cNvPr id="8" name="keputusan Penanggung jawab"/>
          <p:cNvSpPr/>
          <p:nvPr/>
        </p:nvSpPr>
        <p:spPr>
          <a:xfrm>
            <a:off x="548640" y="2468880"/>
            <a:ext cx="7223760" cy="713232"/>
          </a:xfrm>
          <a:prstGeom prst="roundRect">
            <a:avLst>
              <a:gd name="adj" fmla="val 1025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777240" y="2542032"/>
            <a:ext cx="2011680" cy="566928"/>
          </a:xfrm>
          <a:prstGeom prst="rect">
            <a:avLst/>
          </a:prstGeom>
          <a:noFill/>
          <a:ln/>
        </p:spPr>
        <p:txBody>
          <a:bodyPr wrap="square" lIns="0" tIns="0" rIns="0" bIns="0" rtlCol="0" anchor="ctr"/>
          <a:lstStyle/>
          <a:p>
            <a:pPr marL="0" indent="0">
              <a:buNone/>
            </a:pPr>
            <a:r>
              <a:rPr lang="en-US" sz="1400" b="1" dirty="0">
                <a:solidFill>
                  <a:schemeClr val="tx2"/>
                </a:solidFill>
              </a:rPr>
              <a:t>Penanggung jawab</a:t>
            </a:r>
            <a:endParaRPr lang="en-US" sz="1400" dirty="0"/>
          </a:p>
        </p:txBody>
      </p:sp>
      <p:sp>
        <p:nvSpPr>
          <p:cNvPr id="10" name="Text 8"/>
          <p:cNvSpPr txBox="1"/>
          <p:nvPr/>
        </p:nvSpPr>
        <p:spPr>
          <a:xfrm>
            <a:off x="2834640" y="2542032"/>
            <a:ext cx="4800600" cy="566928"/>
          </a:xfrm>
          <a:prstGeom prst="rect">
            <a:avLst/>
          </a:prstGeom>
          <a:noFill/>
          <a:ln/>
        </p:spPr>
        <p:txBody>
          <a:bodyPr wrap="square" lIns="0" tIns="0" rIns="0" bIns="0" rtlCol="0" anchor="ctr"/>
          <a:lstStyle/>
          <a:p>
            <a:pPr marL="0" indent="0">
              <a:buNone/>
            </a:pPr>
            <a:r>
              <a:rPr lang="en-US" sz="1300" dirty="0">
                <a:solidFill>
                  <a:schemeClr val="tx1"/>
                </a:solidFill>
              </a:rPr>
              <a:t>Head of Township (sponsor); Finance &amp; Collection (pelaksana); CS, IT/ERP, Estate Ops (pendukung)</a:t>
            </a:r>
            <a:endParaRPr lang="en-US" sz="1300" dirty="0"/>
          </a:p>
        </p:txBody>
      </p:sp>
      <p:sp>
        <p:nvSpPr>
          <p:cNvPr id="11" name="keputusan Kapan dimulai"/>
          <p:cNvSpPr/>
          <p:nvPr/>
        </p:nvSpPr>
        <p:spPr>
          <a:xfrm>
            <a:off x="548640" y="3291840"/>
            <a:ext cx="7223760" cy="713232"/>
          </a:xfrm>
          <a:prstGeom prst="roundRect">
            <a:avLst>
              <a:gd name="adj" fmla="val 1025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777240" y="3364992"/>
            <a:ext cx="2011680" cy="566928"/>
          </a:xfrm>
          <a:prstGeom prst="rect">
            <a:avLst/>
          </a:prstGeom>
          <a:noFill/>
          <a:ln/>
        </p:spPr>
        <p:txBody>
          <a:bodyPr wrap="square" lIns="0" tIns="0" rIns="0" bIns="0" rtlCol="0" anchor="ctr"/>
          <a:lstStyle/>
          <a:p>
            <a:pPr marL="0" indent="0">
              <a:buNone/>
            </a:pPr>
            <a:r>
              <a:rPr lang="en-US" sz="1400" b="1" dirty="0">
                <a:solidFill>
                  <a:schemeClr val="tx2"/>
                </a:solidFill>
              </a:rPr>
              <a:t>Kapan dimulai</a:t>
            </a:r>
            <a:endParaRPr lang="en-US" sz="1400" dirty="0"/>
          </a:p>
        </p:txBody>
      </p:sp>
      <p:sp>
        <p:nvSpPr>
          <p:cNvPr id="13" name="Text 11"/>
          <p:cNvSpPr txBox="1"/>
          <p:nvPr/>
        </p:nvSpPr>
        <p:spPr>
          <a:xfrm>
            <a:off x="2834640" y="3364992"/>
            <a:ext cx="4800600" cy="566928"/>
          </a:xfrm>
          <a:prstGeom prst="rect">
            <a:avLst/>
          </a:prstGeom>
          <a:noFill/>
          <a:ln/>
        </p:spPr>
        <p:txBody>
          <a:bodyPr wrap="square" lIns="0" tIns="0" rIns="0" bIns="0" rtlCol="0" anchor="ctr"/>
          <a:lstStyle/>
          <a:p>
            <a:pPr marL="0" indent="0">
              <a:buNone/>
            </a:pPr>
            <a:r>
              <a:rPr lang="en-US" sz="1300" dirty="0">
                <a:solidFill>
                  <a:schemeClr val="tx1"/>
                </a:solidFill>
              </a:rPr>
              <a:t>Persiapan pada bulan pertama; pilot berjalan sepanjang kuartal 1</a:t>
            </a:r>
            <a:endParaRPr lang="en-US" sz="1300" dirty="0"/>
          </a:p>
        </p:txBody>
      </p:sp>
      <p:sp>
        <p:nvSpPr>
          <p:cNvPr id="14" name="keputusan KPI utama"/>
          <p:cNvSpPr/>
          <p:nvPr/>
        </p:nvSpPr>
        <p:spPr>
          <a:xfrm>
            <a:off x="548640" y="4114800"/>
            <a:ext cx="7223760" cy="713232"/>
          </a:xfrm>
          <a:prstGeom prst="roundRect">
            <a:avLst>
              <a:gd name="adj" fmla="val 1025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777240" y="4187952"/>
            <a:ext cx="2011680" cy="566928"/>
          </a:xfrm>
          <a:prstGeom prst="rect">
            <a:avLst/>
          </a:prstGeom>
          <a:noFill/>
          <a:ln/>
        </p:spPr>
        <p:txBody>
          <a:bodyPr wrap="square" lIns="0" tIns="0" rIns="0" bIns="0" rtlCol="0" anchor="ctr"/>
          <a:lstStyle/>
          <a:p>
            <a:pPr marL="0" indent="0">
              <a:buNone/>
            </a:pPr>
            <a:r>
              <a:rPr lang="en-US" sz="1400" b="1" dirty="0">
                <a:solidFill>
                  <a:schemeClr val="tx2"/>
                </a:solidFill>
              </a:rPr>
              <a:t>KPI utama</a:t>
            </a:r>
            <a:endParaRPr lang="en-US" sz="1400" dirty="0"/>
          </a:p>
        </p:txBody>
      </p:sp>
      <p:sp>
        <p:nvSpPr>
          <p:cNvPr id="16" name="Text 14"/>
          <p:cNvSpPr txBox="1"/>
          <p:nvPr/>
        </p:nvSpPr>
        <p:spPr>
          <a:xfrm>
            <a:off x="2834640" y="4187952"/>
            <a:ext cx="4800600" cy="566928"/>
          </a:xfrm>
          <a:prstGeom prst="rect">
            <a:avLst/>
          </a:prstGeom>
          <a:noFill/>
          <a:ln/>
        </p:spPr>
        <p:txBody>
          <a:bodyPr wrap="square" lIns="0" tIns="0" rIns="0" bIns="0" rtlCol="0" anchor="ctr"/>
          <a:lstStyle/>
          <a:p>
            <a:pPr marL="0" indent="0">
              <a:buNone/>
            </a:pPr>
            <a:r>
              <a:rPr lang="en-US" sz="1300" dirty="0">
                <a:solidFill>
                  <a:schemeClr val="tx1"/>
                </a:solidFill>
              </a:rPr>
              <a:t>NPI cohort tagihan baru, adopsi autodebit, kas tertagih aktual, biaya program</a:t>
            </a:r>
            <a:endParaRPr lang="en-US" sz="1300" dirty="0"/>
          </a:p>
        </p:txBody>
      </p:sp>
      <p:sp>
        <p:nvSpPr>
          <p:cNvPr id="17" name="keputusan Cara evaluasi"/>
          <p:cNvSpPr/>
          <p:nvPr/>
        </p:nvSpPr>
        <p:spPr>
          <a:xfrm>
            <a:off x="548640" y="4937760"/>
            <a:ext cx="7223760" cy="713232"/>
          </a:xfrm>
          <a:prstGeom prst="roundRect">
            <a:avLst>
              <a:gd name="adj" fmla="val 1025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Text 16"/>
          <p:cNvSpPr txBox="1"/>
          <p:nvPr/>
        </p:nvSpPr>
        <p:spPr>
          <a:xfrm>
            <a:off x="777240" y="5010912"/>
            <a:ext cx="2011680" cy="566928"/>
          </a:xfrm>
          <a:prstGeom prst="rect">
            <a:avLst/>
          </a:prstGeom>
          <a:noFill/>
          <a:ln/>
        </p:spPr>
        <p:txBody>
          <a:bodyPr wrap="square" lIns="0" tIns="0" rIns="0" bIns="0" rtlCol="0" anchor="ctr"/>
          <a:lstStyle/>
          <a:p>
            <a:pPr marL="0" indent="0">
              <a:buNone/>
            </a:pPr>
            <a:r>
              <a:rPr lang="en-US" sz="1400" b="1" dirty="0">
                <a:solidFill>
                  <a:schemeClr val="tx2"/>
                </a:solidFill>
              </a:rPr>
              <a:t>Cara evaluasi</a:t>
            </a:r>
            <a:endParaRPr lang="en-US" sz="1400" dirty="0"/>
          </a:p>
        </p:txBody>
      </p:sp>
      <p:sp>
        <p:nvSpPr>
          <p:cNvPr id="19" name="Text 17"/>
          <p:cNvSpPr txBox="1"/>
          <p:nvPr/>
        </p:nvSpPr>
        <p:spPr>
          <a:xfrm>
            <a:off x="2834640" y="5010912"/>
            <a:ext cx="4800600" cy="566928"/>
          </a:xfrm>
          <a:prstGeom prst="rect">
            <a:avLst/>
          </a:prstGeom>
          <a:noFill/>
          <a:ln/>
        </p:spPr>
        <p:txBody>
          <a:bodyPr wrap="square" lIns="0" tIns="0" rIns="0" bIns="0" rtlCol="0" anchor="ctr"/>
          <a:lstStyle/>
          <a:p>
            <a:pPr marL="0" indent="0">
              <a:buNone/>
            </a:pPr>
            <a:r>
              <a:rPr lang="en-US" sz="1300" dirty="0">
                <a:solidFill>
                  <a:schemeClr val="tx1"/>
                </a:solidFill>
              </a:rPr>
              <a:t>Bandingkan unit pilot dengan grup kontrol pada akhir bulan kedua dan akhir kuartal 2</a:t>
            </a:r>
            <a:endParaRPr lang="en-US" sz="1300" dirty="0"/>
          </a:p>
        </p:txBody>
      </p:sp>
      <p:sp>
        <p:nvSpPr>
          <p:cNvPr id="20" name="rencana cadangan"/>
          <p:cNvSpPr/>
          <p:nvPr/>
        </p:nvSpPr>
        <p:spPr>
          <a:xfrm>
            <a:off x="8046720" y="1645920"/>
            <a:ext cx="3593592" cy="4023360"/>
          </a:xfrm>
          <a:prstGeom prst="roundRect">
            <a:avLst>
              <a:gd name="adj" fmla="val 2036"/>
            </a:avLst>
          </a:prstGeom>
          <a:solidFill>
            <a:schemeClr val="tx2"/>
          </a:solidFill>
          <a:ln/>
        </p:spPr>
        <p:txBody>
          <a:bodyPr/>
          <a:lstStyle/>
          <a:p>
            <a:endParaRPr lang="en-US"/>
          </a:p>
        </p:txBody>
      </p:sp>
      <p:sp>
        <p:nvSpPr>
          <p:cNvPr id="21" name="Text 19"/>
          <p:cNvSpPr txBox="1"/>
          <p:nvPr/>
        </p:nvSpPr>
        <p:spPr>
          <a:xfrm>
            <a:off x="8321040" y="1874520"/>
            <a:ext cx="3108960" cy="548640"/>
          </a:xfrm>
          <a:prstGeom prst="rect">
            <a:avLst/>
          </a:prstGeom>
          <a:noFill/>
          <a:ln/>
        </p:spPr>
        <p:txBody>
          <a:bodyPr wrap="square" lIns="0" tIns="0" rIns="0" bIns="0" rtlCol="0" anchor="t"/>
          <a:lstStyle/>
          <a:p>
            <a:pPr marL="0" indent="0">
              <a:buNone/>
            </a:pPr>
            <a:r>
              <a:rPr lang="en-US" sz="1100" b="1" kern="0" spc="100" dirty="0">
                <a:solidFill>
                  <a:schemeClr val="accent2"/>
                </a:solidFill>
              </a:rPr>
              <a:t>JIKA PILOT TIDAK MENUNJUKKAN PERBAIKAN</a:t>
            </a:r>
            <a:endParaRPr lang="en-US" sz="1100" dirty="0"/>
          </a:p>
        </p:txBody>
      </p:sp>
      <p:sp>
        <p:nvSpPr>
          <p:cNvPr id="22" name="Text 20"/>
          <p:cNvSpPr txBox="1"/>
          <p:nvPr/>
        </p:nvSpPr>
        <p:spPr>
          <a:xfrm>
            <a:off x="8321040" y="2514600"/>
            <a:ext cx="310896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Hentikan perluasan dan evaluasi desain insentif.</a:t>
            </a:r>
            <a:endParaRPr lang="en-US" sz="1300" dirty="0"/>
          </a:p>
          <a:p>
            <a:pPr marL="342900" indent="-342900">
              <a:spcAft>
                <a:spcPts val="800"/>
              </a:spcAft>
              <a:buSzPct val="100000"/>
              <a:buChar char="•"/>
            </a:pPr>
            <a:r>
              <a:rPr lang="en-US" sz="1300" dirty="0">
                <a:solidFill>
                  <a:schemeClr val="bg1"/>
                </a:solidFill>
              </a:rPr>
              <a:t>Uji kanal komunikasi lain untuk segmen vacant dan pemilik jauh.</a:t>
            </a:r>
            <a:endParaRPr lang="en-US" sz="1300" dirty="0"/>
          </a:p>
          <a:p>
            <a:pPr marL="342900" indent="-342900">
              <a:spcAft>
                <a:spcPts val="800"/>
              </a:spcAft>
              <a:buSzPct val="100000"/>
              <a:buChar char="•"/>
            </a:pPr>
            <a:r>
              <a:rPr lang="en-US" sz="1300" dirty="0">
                <a:solidFill>
                  <a:schemeClr val="bg1"/>
                </a:solidFill>
              </a:rPr>
              <a:t>Prioritaskan rekonsiliasi dan perbaikan data agar baseline akurat.</a:t>
            </a:r>
            <a:endParaRPr lang="en-US" sz="1300" dirty="0"/>
          </a:p>
          <a:p>
            <a:pPr marL="342900" indent="-342900">
              <a:spcAft>
                <a:spcPts val="800"/>
              </a:spcAft>
              <a:buSzPct val="100000"/>
              <a:buChar char="•"/>
            </a:pPr>
            <a:r>
              <a:rPr lang="en-US" sz="1300" dirty="0">
                <a:solidFill>
                  <a:schemeClr val="bg1"/>
                </a:solidFill>
              </a:rPr>
              <a:t>Kalibrasi ulang skor risiko dengan data hasil pilot.</a:t>
            </a:r>
            <a:endParaRPr lang="en-US" sz="1300" dirty="0"/>
          </a:p>
        </p:txBody>
      </p:sp>
      <p:sp>
        <p:nvSpPr>
          <p:cNvPr id="23" name="Text 21"/>
          <p:cNvSpPr txBox="1"/>
          <p:nvPr/>
        </p:nvSpPr>
        <p:spPr>
          <a:xfrm>
            <a:off x="548640" y="5852160"/>
            <a:ext cx="11064240" cy="320040"/>
          </a:xfrm>
          <a:prstGeom prst="rect">
            <a:avLst/>
          </a:prstGeom>
          <a:noFill/>
          <a:ln/>
        </p:spPr>
        <p:txBody>
          <a:bodyPr wrap="square" lIns="0" tIns="0" rIns="0" bIns="0" rtlCol="0" anchor="t"/>
          <a:lstStyle/>
          <a:p>
            <a:pPr marL="0" indent="0">
              <a:buNone/>
            </a:pPr>
            <a:r>
              <a:rPr lang="en-US" sz="1300" dirty="0">
                <a:solidFill>
                  <a:schemeClr val="accent6"/>
                </a:solidFill>
              </a:rPr>
              <a:t>Target ≤ 34,8% NPI tagihan baru adalah usulan dari skenario dasar dan disahkan setelah hasil pilot.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lustrasi kota mandiri" descr="/home/claude/deck2/img/cover.jpg"/>
          <p:cNvPicPr>
            <a:picLocks noChangeAspect="1"/>
          </p:cNvPicPr>
          <p:nvPr/>
        </p:nvPicPr>
        <p:blipFill>
          <a:blip r:embed="rId3"/>
          <a:stretch>
            <a:fillRect/>
          </a:stretch>
        </p:blipFill>
        <p:spPr>
          <a:xfrm>
            <a:off x="0" y="0"/>
            <a:ext cx="12191695" cy="6858000"/>
          </a:xfrm>
          <a:prstGeom prst="rect">
            <a:avLst/>
          </a:prstGeom>
        </p:spPr>
      </p:pic>
      <p:sp>
        <p:nvSpPr>
          <p:cNvPr id="3" name="lapisan gelap"/>
          <p:cNvSpPr/>
          <p:nvPr/>
        </p:nvSpPr>
        <p:spPr>
          <a:xfrm>
            <a:off x="0" y="0"/>
            <a:ext cx="12191695" cy="6858000"/>
          </a:xfrm>
          <a:prstGeom prst="rect">
            <a:avLst/>
          </a:prstGeom>
          <a:solidFill>
            <a:srgbClr val="13294B">
              <a:alpha val="85000"/>
            </a:srgbClr>
          </a:solidFill>
          <a:ln/>
        </p:spPr>
        <p:txBody>
          <a:bodyPr/>
          <a:lstStyle/>
          <a:p>
            <a:endParaRPr lang="en-US"/>
          </a:p>
        </p:txBody>
      </p:sp>
      <p:sp>
        <p:nvSpPr>
          <p:cNvPr id="4" name="Text 1"/>
          <p:cNvSpPr txBox="1"/>
          <p:nvPr/>
        </p:nvSpPr>
        <p:spPr>
          <a:xfrm>
            <a:off x="731520" y="2103120"/>
            <a:ext cx="10698480" cy="1097280"/>
          </a:xfrm>
          <a:prstGeom prst="rect">
            <a:avLst/>
          </a:prstGeom>
          <a:noFill/>
          <a:ln/>
        </p:spPr>
        <p:txBody>
          <a:bodyPr wrap="square" lIns="0" tIns="0" rIns="0" bIns="0" rtlCol="0" anchor="t"/>
          <a:lstStyle/>
          <a:p>
            <a:pPr marL="0" indent="0">
              <a:buNone/>
            </a:pPr>
            <a:r>
              <a:rPr lang="en-US" sz="4800" b="1" dirty="0">
                <a:solidFill>
                  <a:schemeClr val="bg1"/>
                </a:solidFill>
              </a:rPr>
              <a:t>Terima kasih</a:t>
            </a:r>
            <a:endParaRPr lang="en-US" sz="4800" dirty="0"/>
          </a:p>
        </p:txBody>
      </p:sp>
      <p:sp>
        <p:nvSpPr>
          <p:cNvPr id="5" name="Text 2"/>
          <p:cNvSpPr txBox="1"/>
          <p:nvPr/>
        </p:nvSpPr>
        <p:spPr>
          <a:xfrm>
            <a:off x="731520" y="3291840"/>
            <a:ext cx="9601200" cy="822960"/>
          </a:xfrm>
          <a:prstGeom prst="rect">
            <a:avLst/>
          </a:prstGeom>
          <a:noFill/>
          <a:ln/>
        </p:spPr>
        <p:txBody>
          <a:bodyPr wrap="square" lIns="0" tIns="0" rIns="0" bIns="0" rtlCol="0" anchor="t"/>
          <a:lstStyle/>
          <a:p>
            <a:pPr marL="0" indent="0">
              <a:buNone/>
            </a:pPr>
            <a:r>
              <a:rPr lang="en-US" sz="2000" dirty="0">
                <a:solidFill>
                  <a:schemeClr val="accent2"/>
                </a:solidFill>
              </a:rPr>
              <a:t>Dari data menjadi keputusan: cegah NPI baru, rapikan data, dan uji dampak lewat pilot terukur.</a:t>
            </a:r>
            <a:endParaRPr lang="en-US" sz="2000" dirty="0"/>
          </a:p>
        </p:txBody>
      </p:sp>
      <p:sp>
        <p:nvSpPr>
          <p:cNvPr id="6" name="Text 3"/>
          <p:cNvSpPr txBox="1"/>
          <p:nvPr/>
        </p:nvSpPr>
        <p:spPr>
          <a:xfrm>
            <a:off x="731520" y="4937760"/>
            <a:ext cx="9144000" cy="365760"/>
          </a:xfrm>
          <a:prstGeom prst="rect">
            <a:avLst/>
          </a:prstGeom>
          <a:noFill/>
          <a:ln/>
        </p:spPr>
        <p:txBody>
          <a:bodyPr wrap="square" lIns="0" tIns="0" rIns="0" bIns="0" rtlCol="0" anchor="t"/>
          <a:lstStyle/>
          <a:p>
            <a:pPr marL="0" indent="0">
              <a:buNone/>
            </a:pPr>
            <a:r>
              <a:rPr lang="en-US" sz="1400" dirty="0">
                <a:solidFill>
                  <a:srgbClr val="DCE3EE"/>
                </a:solidFill>
              </a:rPr>
              <a:t>Diskusi &amp; tanya jawab · Rincian teknis tersedia pada appendix</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lustrasi kawasan" descr="/home/claude/deck2/img/div2.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A</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Appendix</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Rincian hipotesis, definisi metrik, metodologi statistik, kualitas data, asumsi simulasi, dan keterbatasan</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APPENDIX A1</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Daftar hasil hipotesis lengkap</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38" name="tabel hipotesis lengkap"/>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4114800"/>
        </p:xfrm>
        <a:graphic>
          <a:graphicData uri="http://schemas.openxmlformats.org/drawingml/2006/table">
            <a:tbl>
              <a:tblPr/>
              <a:tblGrid>
                <a:gridCol w="5943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2313432">
                  <a:extLst>
                    <a:ext uri="{9D8B030D-6E8A-4147-A177-3AD203B41FA5}">
                      <a16:colId xmlns:a16="http://schemas.microsoft.com/office/drawing/2014/main" val="20007"/>
                    </a:ext>
                  </a:extLst>
                </a:gridCol>
              </a:tblGrid>
              <a:tr h="274320">
                <a:tc>
                  <a:txBody>
                    <a:bodyPr/>
                    <a:lstStyle/>
                    <a:p>
                      <a:pPr marL="0" indent="0">
                        <a:buNone/>
                      </a:pPr>
                      <a:r>
                        <a:rPr lang="en-US" sz="1000" b="1" dirty="0">
                          <a:solidFill>
                            <a:schemeClr val="bg1"/>
                          </a:solidFill>
                        </a:rPr>
                        <a:t>Kode</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000" b="1" dirty="0">
                          <a:solidFill>
                            <a:schemeClr val="bg1"/>
                          </a:solidFill>
                        </a:rPr>
                        <a:t>Kelompok uji vs pembanding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000" b="1" dirty="0">
                          <a:solidFill>
                            <a:schemeClr val="bg1"/>
                          </a:solidFill>
                        </a:rPr>
                        <a:t>NPI uji vs pembanding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000" b="1" dirty="0">
                          <a:solidFill>
                            <a:schemeClr val="bg1"/>
                          </a:solidFill>
                        </a:rPr>
                        <a:t>Selisih</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000" b="1" dirty="0">
                          <a:solidFill>
                            <a:schemeClr val="bg1"/>
                          </a:solidFill>
                        </a:rPr>
                        <a:t>CI 95%</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000" b="1" dirty="0">
                          <a:solidFill>
                            <a:schemeClr val="bg1"/>
                          </a:solidFill>
                        </a:rPr>
                        <a:t>Cramér's V</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000" b="1" dirty="0">
                          <a:solidFill>
                            <a:schemeClr val="bg1"/>
                          </a:solidFill>
                        </a:rPr>
                        <a:t>p (Holm)</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000" b="1" dirty="0">
                          <a:solidFill>
                            <a:schemeClr val="bg1"/>
                          </a:solidFill>
                        </a:rPr>
                        <a:t>Status</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274320">
                <a:tc>
                  <a:txBody>
                    <a:bodyPr/>
                    <a:lstStyle/>
                    <a:p>
                      <a:pPr marL="0" indent="0">
                        <a:buNone/>
                      </a:pPr>
                      <a:r>
                        <a:rPr lang="en-US" sz="1000" dirty="0">
                          <a:solidFill>
                            <a:schemeClr val="tx1"/>
                          </a:solidFill>
                        </a:rPr>
                        <a:t>H1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Vacant vs dihuni</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58,43% vs 28,11%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+30,32</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29,92–30,72</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0,271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Didukung, efek besar</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000" dirty="0">
                          <a:solidFill>
                            <a:schemeClr val="tx1"/>
                          </a:solidFill>
                        </a:rPr>
                        <a:t>H6</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Tanpa vs dengan autodebit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39,71% vs 9,93%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+29,78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29,52–30,04</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0,218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Didukung, efek besar</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274320">
                <a:tc>
                  <a:txBody>
                    <a:bodyPr/>
                    <a:lstStyle/>
                    <a:p>
                      <a:pPr marL="0" indent="0">
                        <a:buNone/>
                      </a:pPr>
                      <a:r>
                        <a:rPr lang="en-US" sz="1000" dirty="0">
                          <a:solidFill>
                            <a:schemeClr val="tx1"/>
                          </a:solidFill>
                        </a:rPr>
                        <a:t>H2</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Luar kota/negeri vs dalam kota</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49,93% vs 27,88%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+22,05</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21,61–22,52</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0,219</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Didukung, efek besar</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000" dirty="0">
                          <a:solidFill>
                            <a:schemeClr val="tx1"/>
                          </a:solidFill>
                        </a:rPr>
                        <a:t>H3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Tanpa nomor vs terverifikasi</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44,24% vs 32,33%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+11,91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11,17–12,58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0,100</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Didukung, efek sedang*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274320">
                <a:tc>
                  <a:txBody>
                    <a:bodyPr/>
                    <a:lstStyle/>
                    <a:p>
                      <a:pPr marL="0" indent="0">
                        <a:buNone/>
                      </a:pPr>
                      <a:r>
                        <a:rPr lang="en-US" sz="1000" dirty="0">
                          <a:solidFill>
                            <a:schemeClr val="tx1"/>
                          </a:solidFill>
                        </a:rPr>
                        <a:t>H7</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Cetak fisik vs portal</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40,81% vs 32,15%</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+8,66</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8,31–9,05</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0,086</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Didukung, efek sedang*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000" dirty="0">
                          <a:solidFill>
                            <a:schemeClr val="tx1"/>
                          </a:solidFill>
                        </a:rPr>
                        <a:t>H17</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Disengketakan vs tidak</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42,76% vs 35,29%</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+7,47</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6,68–8,21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0,022</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Didukung, efek sedang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274320">
                <a:tc>
                  <a:txBody>
                    <a:bodyPr/>
                    <a:lstStyle/>
                    <a:p>
                      <a:pPr marL="0" indent="0">
                        <a:buNone/>
                      </a:pPr>
                      <a:r>
                        <a:rPr lang="en-US" sz="1000" dirty="0">
                          <a:solidFill>
                            <a:schemeClr val="tx1"/>
                          </a:solidFill>
                        </a:rPr>
                        <a:t>H11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New Phase vs Established</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40,07% vs 32,83%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+7,24</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6,75–7,70</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0,073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Didukung, efek sedang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000" dirty="0">
                          <a:solidFill>
                            <a:schemeClr val="tx1"/>
                          </a:solidFill>
                        </a:rPr>
                        <a:t>H8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Tarif &gt; Rp500 rb vs ≤ Rp500 rb</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39,29% vs 34,78%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+4,51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3,83–5,23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0,033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Didukung, efek kecil</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274320">
                <a:tc>
                  <a:txBody>
                    <a:bodyPr/>
                    <a:lstStyle/>
                    <a:p>
                      <a:pPr marL="0" indent="0">
                        <a:buNone/>
                      </a:pPr>
                      <a:r>
                        <a:rPr lang="en-US" sz="1000" dirty="0">
                          <a:solidFill>
                            <a:schemeClr val="tx1"/>
                          </a:solidFill>
                        </a:rPr>
                        <a:t>H12</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Regional Hub vs Onsite</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37,38% vs 34,35%</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+3,03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2,51–3,49</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0,030</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Didukung, efek kecil*</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000" dirty="0">
                          <a:solidFill>
                            <a:schemeClr val="tx1"/>
                          </a:solidFill>
                        </a:rPr>
                        <a:t>H18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Sebelum vs sesudah aturan duplikasi</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36,96% vs 35,44%</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−1,52</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Rekonsiliasi</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10"/>
                  </a:ext>
                </a:extLst>
              </a:tr>
              <a:tr h="274320">
                <a:tc>
                  <a:txBody>
                    <a:bodyPr/>
                    <a:lstStyle/>
                    <a:p>
                      <a:pPr marL="0" indent="0">
                        <a:buNone/>
                      </a:pPr>
                      <a:r>
                        <a:rPr lang="en-US" sz="1000" dirty="0">
                          <a:solidFill>
                            <a:schemeClr val="tx1"/>
                          </a:solidFill>
                        </a:rPr>
                        <a:t>H9</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Jatuh tempo ≤ 39 vs &gt; 39 hari</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35,46% vs 35,43%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+0,03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−0,13–0,24</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0,000</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0,776</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Tidak didukung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buNone/>
                      </a:pPr>
                      <a:r>
                        <a:rPr lang="en-US" sz="1000" dirty="0">
                          <a:solidFill>
                            <a:schemeClr val="tx1"/>
                          </a:solidFill>
                        </a:rPr>
                        <a:t>H16</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Meter Manual vs Otomatis</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34,15% vs 40,13%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−5,98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−6,36 – −5,58</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0,051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&lt; 0,001</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Tidak didukung</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12"/>
                  </a:ext>
                </a:extLst>
              </a:tr>
              <a:tr h="274320">
                <a:tc>
                  <a:txBody>
                    <a:bodyPr/>
                    <a:lstStyle/>
                    <a:p>
                      <a:pPr marL="0" indent="0">
                        <a:buNone/>
                      </a:pPr>
                      <a:r>
                        <a:rPr lang="en-US" sz="1000" dirty="0">
                          <a:solidFill>
                            <a:schemeClr val="tx1"/>
                          </a:solidFill>
                        </a:rPr>
                        <a:t>H13</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20% cluster teratas vs ambang 50%</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30,3% vs 50%</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000" dirty="0">
                          <a:solidFill>
                            <a:schemeClr val="tx1"/>
                          </a:solidFill>
                        </a:rPr>
                        <a:t>Tidak didukung (metrik)</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74320">
                <a:tc>
                  <a:txBody>
                    <a:bodyPr/>
                    <a:lstStyle/>
                    <a:p>
                      <a:pPr marL="0" indent="0">
                        <a:buNone/>
                      </a:pPr>
                      <a:r>
                        <a:rPr lang="en-US" sz="1000" dirty="0">
                          <a:solidFill>
                            <a:schemeClr val="tx1"/>
                          </a:solidFill>
                        </a:rPr>
                        <a:t>H14</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Telepon vs SMS + Surat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Outcome konstan</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000" dirty="0">
                          <a:solidFill>
                            <a:schemeClr val="tx1"/>
                          </a:solidFill>
                        </a:rPr>
                        <a:t>Belum dapat diuji</a:t>
                      </a:r>
                      <a:endParaRPr lang="en-US" sz="10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14"/>
                  </a:ext>
                </a:extLst>
              </a:tr>
            </a:tbl>
          </a:graphicData>
        </a:graphic>
      </p:graphicFrame>
      <p:sp>
        <p:nvSpPr>
          <p:cNvPr id="6" name="Text 3"/>
          <p:cNvSpPr txBox="1"/>
          <p:nvPr/>
        </p:nvSpPr>
        <p:spPr>
          <a:xfrm>
            <a:off x="548640" y="6053328"/>
            <a:ext cx="11064240" cy="320040"/>
          </a:xfrm>
          <a:prstGeom prst="rect">
            <a:avLst/>
          </a:prstGeom>
          <a:noFill/>
          <a:ln/>
        </p:spPr>
        <p:txBody>
          <a:bodyPr wrap="square" lIns="0" tIns="0" rIns="0" bIns="0" rtlCol="0" anchor="t"/>
          <a:lstStyle/>
          <a:p>
            <a:pPr marL="0" indent="0">
              <a:buNone/>
            </a:pPr>
            <a:r>
              <a:rPr lang="en-US" sz="1000" dirty="0">
                <a:solidFill>
                  <a:schemeClr val="accent6"/>
                </a:solidFill>
              </a:rPr>
              <a:t>* Selisih hampir hilang setelah faktor lain dikendalikan (H3 +0,24; H7 −0,02; H12 +0,34 poin). H4, H5, H10, H15 tidak lolos penyaringan karena data tidak tersedia atau reverse causality.</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APPENDIX A2</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Definisi metrik dan rumus</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39" name="tabel definisi"/>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297680"/>
        </p:xfrm>
        <a:graphic>
          <a:graphicData uri="http://schemas.openxmlformats.org/drawingml/2006/table">
            <a:tbl>
              <a:tblPr/>
              <a:tblGrid>
                <a:gridCol w="23774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429768">
                <a:tc>
                  <a:txBody>
                    <a:bodyPr/>
                    <a:lstStyle/>
                    <a:p>
                      <a:pPr marL="0" indent="0">
                        <a:buNone/>
                      </a:pPr>
                      <a:r>
                        <a:rPr lang="en-US" sz="1100" b="1" dirty="0">
                          <a:solidFill>
                            <a:schemeClr val="bg1"/>
                          </a:solidFill>
                        </a:rPr>
                        <a:t>Metrik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Rumus / definisi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Catatan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chemeClr val="tx1"/>
                          </a:solidFill>
                        </a:rPr>
                        <a:t>NPI rate (jumlah)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Invoice utama Unpaid + Overdue ÷ seluruh invoice utama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Status per tanggal snapshot (27 Jan 2025, asumsi)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chemeClr val="tx1"/>
                          </a:solidFill>
                        </a:rPr>
                        <a:t>NPI rate (nominal)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Nominal NPI analisis ÷ nilai tagihan analisis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35,55%; tidak sama dengan NPI jumlah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chemeClr val="tx1"/>
                          </a:solidFill>
                        </a:rPr>
                        <a:t>Invoice utama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Satu invoice per unit per bulan; salinan pola 9xxxx dikeluarkan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38.449 salinan ditandai, tidak dihapus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chemeClr val="tx1"/>
                          </a:solidFill>
                        </a:rPr>
                        <a:t>Nominal NPI bruto</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Σ total_amount invoice NPI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Rp224,64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chemeClr val="tx1"/>
                          </a:solidFill>
                        </a:rPr>
                        <a:t>Komponen air perlu validasi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Σ (total − IPL − denda) pada invoice NPI dengan air &lt; 0 atau &gt; 97,8 m³</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Rp48,30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dirty="0">
                          <a:solidFill>
                            <a:schemeClr val="tx1"/>
                          </a:solidFill>
                        </a:rPr>
                        <a:t>Nominal NPI analisis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Bruto − komponen air perlu validasi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Rp176,34 M; bukan kerugian/kas pasti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29768">
                <a:tc>
                  <a:txBody>
                    <a:bodyPr/>
                    <a:lstStyle/>
                    <a:p>
                      <a:pPr marL="0" indent="0">
                        <a:buNone/>
                      </a:pPr>
                      <a:r>
                        <a:rPr lang="en-US" sz="1100" dirty="0">
                          <a:solidFill>
                            <a:schemeClr val="tx1"/>
                          </a:solidFill>
                        </a:rPr>
                        <a:t>NPI per cohort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Invoice terbit bulan X yang masih NPI per snapshot ÷ invoice terbit bulan X</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Cohort matang jika jatuh tempo + 22 hari ≤ snapshot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100" dirty="0">
                          <a:solidFill>
                            <a:schemeClr val="tx1"/>
                          </a:solidFill>
                        </a:rPr>
                        <a:t>Umur tunggakan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Tanggal snapshot − jatuh tempo (invoice NPI)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Due date &gt; snapshot = belum jatuh tempo</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429768">
                <a:tc>
                  <a:txBody>
                    <a:bodyPr/>
                    <a:lstStyle/>
                    <a:p>
                      <a:pPr marL="0" indent="0">
                        <a:buNone/>
                      </a:pPr>
                      <a:r>
                        <a:rPr lang="en-US" sz="1100" dirty="0">
                          <a:solidFill>
                            <a:schemeClr val="tx1"/>
                          </a:solidFill>
                        </a:rPr>
                        <a:t>Collection rate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Invoice dibayar menurut billing ≤ 30 hari setelah aksi pertama ÷ invoice ditagih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Respons petugas bukan bukti bayar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APPENDIX A3</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Metodologi interval kepercayaan, Cramér's V, koreksi Holm, dan pengendalian faktor</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metode CI 95% bootstrap per unit"/>
          <p:cNvSpPr/>
          <p:nvPr/>
        </p:nvSpPr>
        <p:spPr>
          <a:xfrm>
            <a:off x="548640" y="1645920"/>
            <a:ext cx="5440680"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penanda 1"/>
          <p:cNvSpPr txBox="1"/>
          <p:nvPr/>
        </p:nvSpPr>
        <p:spPr>
          <a:xfrm>
            <a:off x="777240" y="1874520"/>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7" name="Text 5"/>
          <p:cNvSpPr txBox="1"/>
          <p:nvPr/>
        </p:nvSpPr>
        <p:spPr>
          <a:xfrm>
            <a:off x="1280160" y="1874520"/>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CI 95% bootstrap per unit</a:t>
            </a:r>
            <a:endParaRPr lang="en-US" sz="1600" dirty="0"/>
          </a:p>
        </p:txBody>
      </p:sp>
      <p:sp>
        <p:nvSpPr>
          <p:cNvPr id="8" name="Text 6"/>
          <p:cNvSpPr txBox="1"/>
          <p:nvPr/>
        </p:nvSpPr>
        <p:spPr>
          <a:xfrm>
            <a:off x="777240" y="2423160"/>
            <a:ext cx="4983480" cy="1234440"/>
          </a:xfrm>
          <a:prstGeom prst="rect">
            <a:avLst/>
          </a:prstGeom>
          <a:noFill/>
          <a:ln/>
        </p:spPr>
        <p:txBody>
          <a:bodyPr wrap="square" lIns="0" tIns="0" rIns="0" bIns="0" rtlCol="0" anchor="t"/>
          <a:lstStyle/>
          <a:p>
            <a:pPr marL="0" indent="0">
              <a:buNone/>
            </a:pPr>
            <a:r>
              <a:rPr lang="en-US" sz="1200" dirty="0">
                <a:solidFill>
                  <a:schemeClr val="tx1"/>
                </a:solidFill>
              </a:rPr>
              <a:t>Unit diambil ulang secara acak beserta seluruh invoice-nya (300 ulangan, seed 42). Selisih NPI dihitung pada setiap sampel; persentil 2,5 dan 97,5 menjadi batas interval. Cara ini memperhitungkan invoice berulang dari unit yang sama.</a:t>
            </a:r>
            <a:endParaRPr lang="en-US" sz="1200" dirty="0"/>
          </a:p>
        </p:txBody>
      </p:sp>
      <p:sp>
        <p:nvSpPr>
          <p:cNvPr id="9" name="metode Cramér's V"/>
          <p:cNvSpPr/>
          <p:nvPr/>
        </p:nvSpPr>
        <p:spPr>
          <a:xfrm>
            <a:off x="6172200" y="1645920"/>
            <a:ext cx="5440680"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0" name="penanda 2"/>
          <p:cNvSpPr txBox="1"/>
          <p:nvPr/>
        </p:nvSpPr>
        <p:spPr>
          <a:xfrm>
            <a:off x="6400800" y="1874520"/>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1" name="Text 9"/>
          <p:cNvSpPr txBox="1"/>
          <p:nvPr/>
        </p:nvSpPr>
        <p:spPr>
          <a:xfrm>
            <a:off x="6903720" y="1874520"/>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Cramér's V</a:t>
            </a:r>
            <a:endParaRPr lang="en-US" sz="1600" dirty="0"/>
          </a:p>
        </p:txBody>
      </p:sp>
      <p:sp>
        <p:nvSpPr>
          <p:cNvPr id="12" name="Text 10"/>
          <p:cNvSpPr txBox="1"/>
          <p:nvPr/>
        </p:nvSpPr>
        <p:spPr>
          <a:xfrm>
            <a:off x="6400800" y="2423160"/>
            <a:ext cx="4983480" cy="1234440"/>
          </a:xfrm>
          <a:prstGeom prst="rect">
            <a:avLst/>
          </a:prstGeom>
          <a:noFill/>
          <a:ln/>
        </p:spPr>
        <p:txBody>
          <a:bodyPr wrap="square" lIns="0" tIns="0" rIns="0" bIns="0" rtlCol="0" anchor="t"/>
          <a:lstStyle/>
          <a:p>
            <a:pPr marL="0" indent="0">
              <a:buNone/>
            </a:pPr>
            <a:r>
              <a:rPr lang="en-US" sz="1200" dirty="0">
                <a:solidFill>
                  <a:schemeClr val="tx1"/>
                </a:solidFill>
              </a:rPr>
              <a:t>Besar efek dari uji chi-square dua kelompok: √(χ² ÷ n). Kategori: &lt; 0,1 sangat lemah; 0,1–0,3 lemah; 0,3–0,5 sedang; &gt; 0,5 kuat. Tidak dipengaruhi besarnya jumlah data.</a:t>
            </a:r>
            <a:endParaRPr lang="en-US" sz="1200" dirty="0"/>
          </a:p>
        </p:txBody>
      </p:sp>
      <p:sp>
        <p:nvSpPr>
          <p:cNvPr id="13" name="metode Koreksi Holm"/>
          <p:cNvSpPr/>
          <p:nvPr/>
        </p:nvSpPr>
        <p:spPr>
          <a:xfrm>
            <a:off x="548640" y="3931920"/>
            <a:ext cx="5440680"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4" name="penanda 3"/>
          <p:cNvSpPr txBox="1"/>
          <p:nvPr/>
        </p:nvSpPr>
        <p:spPr>
          <a:xfrm>
            <a:off x="777240" y="4160520"/>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5" name="Text 13"/>
          <p:cNvSpPr txBox="1"/>
          <p:nvPr/>
        </p:nvSpPr>
        <p:spPr>
          <a:xfrm>
            <a:off x="1280160" y="4160520"/>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Koreksi Holm</a:t>
            </a:r>
            <a:endParaRPr lang="en-US" sz="1600" dirty="0"/>
          </a:p>
        </p:txBody>
      </p:sp>
      <p:sp>
        <p:nvSpPr>
          <p:cNvPr id="16" name="Text 14"/>
          <p:cNvSpPr txBox="1"/>
          <p:nvPr/>
        </p:nvSpPr>
        <p:spPr>
          <a:xfrm>
            <a:off x="777240" y="4709160"/>
            <a:ext cx="4983480" cy="1234440"/>
          </a:xfrm>
          <a:prstGeom prst="rect">
            <a:avLst/>
          </a:prstGeom>
          <a:noFill/>
          <a:ln/>
        </p:spPr>
        <p:txBody>
          <a:bodyPr wrap="square" lIns="0" tIns="0" rIns="0" bIns="0" rtlCol="0" anchor="t"/>
          <a:lstStyle/>
          <a:p>
            <a:pPr marL="0" indent="0">
              <a:buNone/>
            </a:pPr>
            <a:r>
              <a:rPr lang="en-US" sz="1200" dirty="0">
                <a:solidFill>
                  <a:schemeClr val="tx1"/>
                </a:solidFill>
              </a:rPr>
              <a:t>p-value diurutkan dari terkecil; p terkecil dikali m, berikutnya dikali (m − 1), dan seterusnya, lalu dibuat tidak menurun. Mengurangi risiko temuan palsu karena banyak hipotesis diuji.</a:t>
            </a:r>
            <a:endParaRPr lang="en-US" sz="1200" dirty="0"/>
          </a:p>
        </p:txBody>
      </p:sp>
      <p:sp>
        <p:nvSpPr>
          <p:cNvPr id="17" name="metode Selisih terkendali"/>
          <p:cNvSpPr/>
          <p:nvPr/>
        </p:nvSpPr>
        <p:spPr>
          <a:xfrm>
            <a:off x="6172200" y="3931920"/>
            <a:ext cx="5440680"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penanda 4"/>
          <p:cNvSpPr txBox="1"/>
          <p:nvPr/>
        </p:nvSpPr>
        <p:spPr>
          <a:xfrm>
            <a:off x="6400800" y="4160520"/>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19" name="Text 17"/>
          <p:cNvSpPr txBox="1"/>
          <p:nvPr/>
        </p:nvSpPr>
        <p:spPr>
          <a:xfrm>
            <a:off x="6903720" y="4160520"/>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Selisih terkendali</a:t>
            </a:r>
            <a:endParaRPr lang="en-US" sz="1600" dirty="0"/>
          </a:p>
        </p:txBody>
      </p:sp>
      <p:sp>
        <p:nvSpPr>
          <p:cNvPr id="20" name="Text 18"/>
          <p:cNvSpPr txBox="1"/>
          <p:nvPr/>
        </p:nvSpPr>
        <p:spPr>
          <a:xfrm>
            <a:off x="6400800" y="4709160"/>
            <a:ext cx="4983480" cy="1234440"/>
          </a:xfrm>
          <a:prstGeom prst="rect">
            <a:avLst/>
          </a:prstGeom>
          <a:noFill/>
          <a:ln/>
        </p:spPr>
        <p:txBody>
          <a:bodyPr wrap="square" lIns="0" tIns="0" rIns="0" bIns="0" rtlCol="0" anchor="t"/>
          <a:lstStyle/>
          <a:p>
            <a:pPr marL="0" indent="0">
              <a:buNone/>
            </a:pPr>
            <a:r>
              <a:rPr lang="en-US" sz="1200" dirty="0">
                <a:solidFill>
                  <a:schemeClr val="tx1"/>
                </a:solidFill>
              </a:rPr>
              <a:t>Selisih NPI dihitung di dalam setiap kombinasi faktor lain (strata), lalu dirata-ratakan dengan bobot jumlah invoice. Hanya mengendalikan faktor yang tersedia pada data.</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APPENDIX A4</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Detail kualitas data, diurutkan menurut dampak nominal</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41" name="tabel kualitas data detail"/>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867912"/>
        </p:xfrm>
        <a:graphic>
          <a:graphicData uri="http://schemas.openxmlformats.org/drawingml/2006/table">
            <a:tbl>
              <a:tblPr/>
              <a:tblGrid>
                <a:gridCol w="3657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29768">
                <a:tc>
                  <a:txBody>
                    <a:bodyPr/>
                    <a:lstStyle/>
                    <a:p>
                      <a:pPr marL="0" indent="0">
                        <a:buNone/>
                      </a:pPr>
                      <a:r>
                        <a:rPr lang="en-US" sz="1100" b="1" dirty="0">
                          <a:solidFill>
                            <a:schemeClr val="bg1"/>
                          </a:solidFill>
                        </a:rPr>
                        <a:t>Temuan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Jumlah baris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Jumlah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Nominal terkait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Status temuan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chemeClr val="tx1"/>
                          </a:solidFill>
                        </a:rPr>
                        <a:t>Air di atas batas wajar 97,8 m³ (Manual)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3.789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3.314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Rp149,87 M (komponen air, semua status)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Perlu validasi meter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chemeClr val="tx1"/>
                          </a:solidFill>
                        </a:rPr>
                        <a:t>Salinan tagihan ganda (pola 9xxxx)</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38.449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21.877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Rp21,76 M (NPI bruto pada salinan)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Kesalahan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chemeClr val="tx1"/>
                          </a:solidFill>
                        </a:rPr>
                        <a:t>Pasangan ganda Paid + Paid</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12.568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10.092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Rp11,07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Perlu rekonsiliasi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chemeClr val="tx1"/>
                          </a:solidFill>
                        </a:rPr>
                        <a:t>Paid terlambat tanpa denda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46.656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21.888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Kebijakan perlu dikonfirmasi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chemeClr val="tx1"/>
                          </a:solidFill>
                        </a:rPr>
                        <a:t>Tanggal bayar sebelum periode tagihan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11.236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8.809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Kesalahan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dirty="0">
                          <a:solidFill>
                            <a:schemeClr val="tx1"/>
                          </a:solidFill>
                        </a:rPr>
                        <a:t>Respons “Lunas Setelah Kontak” tidak sinkron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5.580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5.162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Sinkronisasi sistem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29768">
                <a:tc>
                  <a:txBody>
                    <a:bodyPr/>
                    <a:lstStyle/>
                    <a:p>
                      <a:pPr marL="0" indent="0">
                        <a:buNone/>
                      </a:pPr>
                      <a:r>
                        <a:rPr lang="en-US" sz="1100" dirty="0">
                          <a:solidFill>
                            <a:schemeClr val="tx1"/>
                          </a:solidFill>
                        </a:rPr>
                        <a:t>Nomor kontak kosong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4.978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4.978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Kelengkapan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100" dirty="0">
                          <a:solidFill>
                            <a:schemeClr val="tx1"/>
                          </a:solidFill>
                        </a:rPr>
                        <a:t>Air negatif (Manual)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3.824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3.389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Kesalahan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bl>
          </a:graphicData>
        </a:graphic>
      </p:graphicFrame>
      <p:sp>
        <p:nvSpPr>
          <p:cNvPr id="6" name="Text 3"/>
          <p:cNvSpPr txBox="1"/>
          <p:nvPr/>
        </p:nvSpPr>
        <p:spPr>
          <a:xfrm>
            <a:off x="548640" y="5623560"/>
            <a:ext cx="11064240" cy="594360"/>
          </a:xfrm>
          <a:prstGeom prst="rect">
            <a:avLst/>
          </a:prstGeom>
          <a:noFill/>
          <a:ln/>
        </p:spPr>
        <p:txBody>
          <a:bodyPr wrap="square" lIns="0" tIns="0" rIns="0" bIns="0" rtlCol="0" anchor="t"/>
          <a:lstStyle/>
          <a:p>
            <a:pPr marL="0" indent="0">
              <a:buNone/>
            </a:pPr>
            <a:r>
              <a:rPr lang="en-US" sz="1200" dirty="0">
                <a:solidFill>
                  <a:schemeClr val="accent6"/>
                </a:solidFill>
              </a:rPr>
              <a:t>Relasi antartabel: 0 primary key ganda, 0 foreign key tanpa pasangan, 0 unit_id tidak cocok. Tidak ada invoice Paid yang memiliki denda, sehingga ‘Paid terlambat tanpa denda’ kemungkinan aturan sistem.</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APPENDIX A5</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Asumsi dan parameter simulasi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42" name="tabel asumsi"/>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297680"/>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429768">
                <a:tc>
                  <a:txBody>
                    <a:bodyPr/>
                    <a:lstStyle/>
                    <a:p>
                      <a:pPr marL="0" indent="0">
                        <a:buNone/>
                      </a:pPr>
                      <a:r>
                        <a:rPr lang="en-US" sz="1100" b="1" dirty="0">
                          <a:solidFill>
                            <a:schemeClr val="bg1"/>
                          </a:solidFill>
                        </a:rPr>
                        <a:t>Asumsi / parameter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Nilai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Dasar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chemeClr val="tx1"/>
                          </a:solidFill>
                        </a:rPr>
                        <a:t>Periode dasar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6 cohort matang terakhir (Jun–Nov 2024)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Mewakili tagihan baru; menghindari cohort belum matang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chemeClr val="tx1"/>
                          </a:solidFill>
                        </a:rPr>
                        <a:t>Batas cohort matang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Jatuh tempo + 22 hari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Pembayaran paling terlambat yang teramati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chemeClr val="tx1"/>
                          </a:solidFill>
                        </a:rPr>
                        <a:t>Populasi sasaran 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24.754 unit tanpa autodebit pada bulan terakhir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Unit eligible, bukan invoice historis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chemeClr val="tx1"/>
                          </a:solidFill>
                        </a:rPr>
                        <a:t>Porsi unit beralih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25% (6.188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Parameter skenario</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chemeClr val="tx1"/>
                          </a:solidFill>
                        </a:rPr>
                        <a:t>Besar efek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Selisih terkendali 26,59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Bukan selisih mentah 29,78 poin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dirty="0">
                          <a:solidFill>
                            <a:schemeClr val="tx1"/>
                          </a:solidFill>
                        </a:rPr>
                        <a:t>Tingkat keberhasilan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25% / 50% / 100%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Konservatif / dasar / batas atas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29768">
                <a:tc>
                  <a:txBody>
                    <a:bodyPr/>
                    <a:lstStyle/>
                    <a:p>
                      <a:pPr marL="0" indent="0">
                        <a:buNone/>
                      </a:pPr>
                      <a:r>
                        <a:rPr lang="en-US" sz="1100" dirty="0">
                          <a:solidFill>
                            <a:schemeClr val="tx1"/>
                          </a:solidFill>
                        </a:rPr>
                        <a:t>Nominal per invoice NPI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Rata-rata nominal NPI analisis periode dasar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Mengonversi invoice dicegah ke rupiah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100" dirty="0">
                          <a:solidFill>
                            <a:schemeClr val="tx1"/>
                          </a:solidFill>
                        </a:rPr>
                        <a:t>Nilai tagihan &amp; NPI per bulan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Rp18,73 M dan Rp7,00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Dihitung dari periode dasar notebook (versi lama: Rp18,74 M &amp; Rp7,01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429768">
                <a:tc>
                  <a:txBody>
                    <a:bodyPr/>
                    <a:lstStyle/>
                    <a:p>
                      <a:pPr marL="0" indent="0">
                        <a:buNone/>
                      </a:pPr>
                      <a:r>
                        <a:rPr lang="en-US" sz="1100" dirty="0">
                          <a:solidFill>
                            <a:schemeClr val="tx1"/>
                          </a:solidFill>
                        </a:rPr>
                        <a:t>Tidak termasuk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Biaya insentif, biaya kanal, kapasitas tim, kas aktual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Manfaat bersih/ROI belum dapat dihitung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APPENDIX A6</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Sumber data dan keterbatasan analisis</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sumber data"/>
          <p:cNvSpPr/>
          <p:nvPr/>
        </p:nvSpPr>
        <p:spPr>
          <a:xfrm>
            <a:off x="548640" y="1645920"/>
            <a:ext cx="5394960" cy="4526280"/>
          </a:xfrm>
          <a:prstGeom prst="roundRect">
            <a:avLst>
              <a:gd name="adj" fmla="val 1616"/>
            </a:avLst>
          </a:prstGeom>
          <a:solidFill>
            <a:srgbClr val="F7F5F0"/>
          </a:solidFill>
          <a:ln w="9525">
            <a:solidFill>
              <a:srgbClr val="DCE1E8"/>
            </a:solidFill>
            <a:prstDash val="solid"/>
          </a:ln>
        </p:spPr>
        <p:txBody>
          <a:bodyPr/>
          <a:lstStyle/>
          <a:p>
            <a:endParaRPr lang="en-US"/>
          </a:p>
        </p:txBody>
      </p:sp>
      <p:sp>
        <p:nvSpPr>
          <p:cNvPr id="6" name="Text 4"/>
          <p:cNvSpPr txBox="1"/>
          <p:nvPr/>
        </p:nvSpPr>
        <p:spPr>
          <a:xfrm>
            <a:off x="822960" y="1828800"/>
            <a:ext cx="45720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SUMBER DATA</a:t>
            </a:r>
            <a:endParaRPr lang="en-US" sz="1100" dirty="0"/>
          </a:p>
        </p:txBody>
      </p:sp>
      <p:sp>
        <p:nvSpPr>
          <p:cNvPr id="7" name="Text 5"/>
          <p:cNvSpPr txBox="1"/>
          <p:nvPr/>
        </p:nvSpPr>
        <p:spPr>
          <a:xfrm>
            <a:off x="822960" y="2240280"/>
            <a:ext cx="489204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Notebook capstone_sinarmas_hdt_4.ipynb (output tersimpan).</a:t>
            </a:r>
            <a:endParaRPr lang="en-US" sz="1300" dirty="0"/>
          </a:p>
          <a:p>
            <a:pPr marL="342900" indent="-342900">
              <a:spcAft>
                <a:spcPts val="800"/>
              </a:spcAft>
              <a:buSzPct val="100000"/>
              <a:buChar char="•"/>
            </a:pPr>
            <a:r>
              <a:rPr lang="en-US" sz="1300" dirty="0">
                <a:solidFill>
                  <a:schemeClr val="tx1"/>
                </a:solidFill>
              </a:rPr>
              <a:t>Lima snapshot CSV mentah dari database sinarmasland: clusters, units, ipl_billings, collection_actions, payment_disputes.</a:t>
            </a:r>
            <a:endParaRPr lang="en-US" sz="1300" dirty="0"/>
          </a:p>
          <a:p>
            <a:pPr marL="342900" indent="-342900">
              <a:spcAft>
                <a:spcPts val="800"/>
              </a:spcAft>
              <a:buSzPct val="100000"/>
              <a:buChar char="•"/>
            </a:pPr>
            <a:r>
              <a:rPr lang="en-US" sz="1300" dirty="0">
                <a:solidFill>
                  <a:schemeClr val="tx1"/>
                </a:solidFill>
              </a:rPr>
              <a:t>Sinarmasland_Brief_Peserta.pdf dan SinarmasLand_ERD.png.</a:t>
            </a:r>
            <a:endParaRPr lang="en-US" sz="1300" dirty="0"/>
          </a:p>
          <a:p>
            <a:pPr marL="342900" indent="-342900">
              <a:spcAft>
                <a:spcPts val="800"/>
              </a:spcAft>
              <a:buSzPct val="100000"/>
              <a:buChar char="•"/>
            </a:pPr>
            <a:r>
              <a:rPr lang="en-US" sz="1300" dirty="0">
                <a:solidFill>
                  <a:schemeClr val="tx1"/>
                </a:solidFill>
              </a:rPr>
              <a:t>Periode tagihan Jul 2022 – Des 2024; status per 27 Jan 2025 (asumsi).</a:t>
            </a:r>
            <a:endParaRPr lang="en-US" sz="1300" dirty="0"/>
          </a:p>
        </p:txBody>
      </p:sp>
      <p:sp>
        <p:nvSpPr>
          <p:cNvPr id="8" name="keterbatasan"/>
          <p:cNvSpPr/>
          <p:nvPr/>
        </p:nvSpPr>
        <p:spPr>
          <a:xfrm>
            <a:off x="6245352" y="1645920"/>
            <a:ext cx="5394960" cy="4526280"/>
          </a:xfrm>
          <a:prstGeom prst="roundRect">
            <a:avLst>
              <a:gd name="adj" fmla="val 1616"/>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6519672" y="1828800"/>
            <a:ext cx="4572000" cy="274320"/>
          </a:xfrm>
          <a:prstGeom prst="rect">
            <a:avLst/>
          </a:prstGeom>
          <a:noFill/>
          <a:ln/>
        </p:spPr>
        <p:txBody>
          <a:bodyPr wrap="square" lIns="0" tIns="0" rIns="0" bIns="0" rtlCol="0" anchor="t"/>
          <a:lstStyle/>
          <a:p>
            <a:pPr marL="0" indent="0">
              <a:buNone/>
            </a:pPr>
            <a:r>
              <a:rPr lang="en-US" sz="1100" b="1" kern="0" spc="100" dirty="0">
                <a:solidFill>
                  <a:schemeClr val="accent4"/>
                </a:solidFill>
              </a:rPr>
              <a:t>KETERBATASAN</a:t>
            </a:r>
            <a:endParaRPr lang="en-US" sz="1100" dirty="0"/>
          </a:p>
        </p:txBody>
      </p:sp>
      <p:sp>
        <p:nvSpPr>
          <p:cNvPr id="10" name="Text 8"/>
          <p:cNvSpPr txBox="1"/>
          <p:nvPr/>
        </p:nvSpPr>
        <p:spPr>
          <a:xfrm>
            <a:off x="6519672" y="2240280"/>
            <a:ext cx="489204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Status per snapshot; tidak ada riwayat status pembayaran.</a:t>
            </a:r>
            <a:endParaRPr lang="en-US" sz="1300" dirty="0"/>
          </a:p>
          <a:p>
            <a:pPr marL="342900" indent="-342900">
              <a:spcAft>
                <a:spcPts val="800"/>
              </a:spcAft>
              <a:buSzPct val="100000"/>
              <a:buChar char="•"/>
            </a:pPr>
            <a:r>
              <a:rPr lang="en-US" sz="1300" dirty="0">
                <a:solidFill>
                  <a:schemeClr val="tx1"/>
                </a:solidFill>
              </a:rPr>
              <a:t>Seluruh hubungan adalah asosiasi; pengendalian hanya pada faktor yang tersedia.</a:t>
            </a:r>
            <a:endParaRPr lang="en-US" sz="1300" dirty="0"/>
          </a:p>
          <a:p>
            <a:pPr marL="342900" indent="-342900">
              <a:spcAft>
                <a:spcPts val="800"/>
              </a:spcAft>
              <a:buSzPct val="100000"/>
              <a:buChar char="•"/>
            </a:pPr>
            <a:r>
              <a:rPr lang="en-US" sz="1300" dirty="0">
                <a:solidFill>
                  <a:schemeClr val="tx1"/>
                </a:solidFill>
              </a:rPr>
              <a:t>Aturan invoice utama, batas air 97,8 m³, dan pemisahan komponen air belum disahkan.</a:t>
            </a:r>
            <a:endParaRPr lang="en-US" sz="1300" dirty="0"/>
          </a:p>
          <a:p>
            <a:pPr marL="342900" indent="-342900">
              <a:spcAft>
                <a:spcPts val="800"/>
              </a:spcAft>
              <a:buSzPct val="100000"/>
              <a:buChar char="•"/>
            </a:pPr>
            <a:r>
              <a:rPr lang="en-US" sz="1300" dirty="0">
                <a:solidFill>
                  <a:schemeClr val="tx1"/>
                </a:solidFill>
              </a:rPr>
              <a:t>Efektivitas Collection belum terukur; Kunjungan Lapangan tidak tercatat.</a:t>
            </a:r>
            <a:endParaRPr lang="en-US" sz="1300" dirty="0"/>
          </a:p>
          <a:p>
            <a:pPr marL="342900" indent="-342900">
              <a:spcAft>
                <a:spcPts val="800"/>
              </a:spcAft>
              <a:buSzPct val="100000"/>
              <a:buChar char="•"/>
            </a:pPr>
            <a:r>
              <a:rPr lang="en-US" sz="1300" dirty="0">
                <a:solidFill>
                  <a:schemeClr val="tx1"/>
                </a:solidFill>
              </a:rPr>
              <a:t>Nominal NPI bukan kas; biaya program dan realisasi kas tidak tersedia.</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42</a:t>
            </a:fld>
            <a:endParaRPr lang="en-US"/>
          </a:p>
        </p:txBody>
      </p:sp>
    </p:spTree>
  </p:cSld>
  <p:clrMapOvr>
    <a:masterClrMapping/>
  </p:clrMapOvr>
</p:sld>
</file>

<file path=ppt/theme/theme1.xml><?xml version="1.0" encoding="utf-8"?>
<a:theme xmlns:a="http://schemas.openxmlformats.org/drawingml/2006/main" name="Township Navy Gold">
  <a:themeElements>
    <a:clrScheme name="Township Navy Gold">
      <a:dk1>
        <a:srgbClr val="1E2633"/>
      </a:dk1>
      <a:lt1>
        <a:srgbClr val="FFFFFF"/>
      </a:lt1>
      <a:dk2>
        <a:srgbClr val="13294B"/>
      </a:dk2>
      <a:lt2>
        <a:srgbClr val="F7F5F0"/>
      </a:lt2>
      <a:accent1>
        <a:srgbClr val="2F5E8C"/>
      </a:accent1>
      <a:accent2>
        <a:srgbClr val="C9A227"/>
      </a:accent2>
      <a:accent3>
        <a:srgbClr val="1F4D3A"/>
      </a:accent3>
      <a:accent4>
        <a:srgbClr val="B23A3A"/>
      </a:accent4>
      <a:accent5>
        <a:srgbClr val="D98E04"/>
      </a:accent5>
      <a:accent6>
        <a:srgbClr val="7B8494"/>
      </a:accent6>
      <a:hlink>
        <a:srgbClr val="2F5E8C"/>
      </a:hlink>
      <a:folHlink>
        <a:srgbClr val="7B8494"/>
      </a:folHlink>
    </a:clrScheme>
    <a:fontScheme name="Township Navy Go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13039</Words>
  <Application>Microsoft Macintosh PowerPoint</Application>
  <PresentationFormat>Widescreen</PresentationFormat>
  <Paragraphs>1051</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Township Navy Gold</vt:lpstr>
      <vt:lpstr>PowerPoint Presentation</vt:lpstr>
      <vt:lpstr>Alur presentasi: Masalah -&gt; keputusan</vt:lpstr>
      <vt:lpstr>Lebih dari sepertiga invoice belum terbayar; autodebit adalah tuas pencegahan yang paling layak diuji</vt:lpstr>
      <vt:lpstr>Konteks &amp; masalah bisnis</vt:lpstr>
      <vt:lpstr>IPL membiayai operasional kawasan; tunggakan menjadi risiko cashflow</vt:lpstr>
      <vt:lpstr>Pertanyaan utama: bagaimana menurunkan NPI dalam dua kuartal dengan tindakan yang dapat dijalankan</vt:lpstr>
      <vt:lpstr>Data, metodologi &amp; kualitas data</vt:lpstr>
      <vt:lpstr>Lima tabel billing dianalisis pada tingkat invoice utama per unit per bulan</vt:lpstr>
      <vt:lpstr>Setiap data melewati tujuh tahap, dari snapshot data sampai simulasi keputusan</vt:lpstr>
      <vt:lpstr>Enam temuan kualitas data memengaruhi akurasi NPI, rekonsiliasi Finance, dan prioritas Collection</vt:lpstr>
      <vt:lpstr>Mengeluarkan salinan tagihan ganda menurunkan baseline NPI 1,52 poin</vt:lpstr>
      <vt:lpstr>Besar masalah NPI</vt:lpstr>
      <vt:lpstr>Lebih dari sepertiga invoice utama berstatus NPI; nominal analisisnya Rp176,34 miliar</vt:lpstr>
      <vt:lpstr>NPI cohort naik dari 20% pada Juli 2022 dan bertahan di kisaran 35–38% sejak 2023</vt:lpstr>
      <vt:lpstr>Faktor risiko tunggakan</vt:lpstr>
      <vt:lpstr>Vacant, tanpa autodebit, dan pemilik jauh memiliki selisih NPI terbesar</vt:lpstr>
      <vt:lpstr>Autodebit, status vacant, dan fase cluster tetap berkaitan dengan NPI setelah pengendalian</vt:lpstr>
      <vt:lpstr>Semakin banyak faktor risiko, semakin tinggi NPI: dari 4,93% menjadi 67,10%</vt:lpstr>
      <vt:lpstr>Risiko tertinggi tidak selalu menyumbang nominal terbesar</vt:lpstr>
      <vt:lpstr>Tidak semua dugaan terbukti: lima hasil ini mencegah keputusan yang keliru</vt:lpstr>
      <vt:lpstr>Durasi jatuh tempo  &amp; prioritas Collection</vt:lpstr>
      <vt:lpstr>88% nilai NPI sudah melewati 90 hari; Rp93,5 miliar berumur lebih dari satu tahun</vt:lpstr>
      <vt:lpstr>6.771 unit memegang 50% nilai NPI; daftar kerja dibagi ke empat tier yang saling eksklusif</vt:lpstr>
      <vt:lpstr>Status bulan berikutnya lebih terkait dengan respons pemilik daripada ada atau tidaknya aksi</vt:lpstr>
      <vt:lpstr>Empat kode metode bayar dan tiga daftar rekonsiliasi perlu dituntaskan sebelum target ditetapkan</vt:lpstr>
      <vt:lpstr>Simulasi intervensi</vt:lpstr>
      <vt:lpstr>Tanpa intervensi, sekitar Rp42,0 miliar tagihan baru berpotensi menjadi NPI dalam enam bulan</vt:lpstr>
      <vt:lpstr>Skenario dasar: autodebit untuk 25% unit eligible menurunkan NPI tagihan baru ±2,46 poin</vt:lpstr>
      <vt:lpstr>Portal dan verifikasi kontak hampir tidak menurunkan NPI setelah efeknya dikendalikan</vt:lpstr>
      <vt:lpstr>Rekomendasi, roadmap &amp; keputusan</vt:lpstr>
      <vt:lpstr>Enam tim memiliki peran yang jelas; pilot dan rekonsiliasi berjalan lebih dahulu</vt:lpstr>
      <vt:lpstr>Bulan pertama untuk fondasi, kuartal pertama untuk pilot, kuartal kedua untuk evaluasi dan perluasan</vt:lpstr>
      <vt:lpstr>Sembilan KPI memisahkan hasil bisnis, indikator awal, kualitas data, dan kas aktual</vt:lpstr>
      <vt:lpstr>Kami meminta persetujuan pilot dua kuartal dengan evaluasi terukur</vt:lpstr>
      <vt:lpstr>PowerPoint Presentation</vt:lpstr>
      <vt:lpstr>Appendix</vt:lpstr>
      <vt:lpstr>Daftar hasil hipotesis lengkap</vt:lpstr>
      <vt:lpstr>Definisi metrik dan rumus</vt:lpstr>
      <vt:lpstr>Metodologi interval kepercayaan, Cramér's V, koreksi Holm, dan pengendalian faktor</vt:lpstr>
      <vt:lpstr>Detail kualitas data, diurutkan menurut dampak nominal</vt:lpstr>
      <vt:lpstr>Asumsi dan parameter simulasi</vt:lpstr>
      <vt:lpstr>Sumber data dan keterbatasan analisis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Menyehatkan Cashflow IPL Sinarmas Land</dc:title>
  <dc:subject>Analisis Risiko NPI, Prioritas Collection, dan Strategi Pencegahan Tunggakan</dc:subject>
  <dc:creator>Astro Lihardo Aloysius</dc:creator>
  <cp:lastModifiedBy>Astro Aloysius</cp:lastModifiedBy>
  <cp:revision>10</cp:revision>
  <dcterms:created xsi:type="dcterms:W3CDTF">2026-10-16T10:40:28Z</dcterms:created>
  <dcterms:modified xsi:type="dcterms:W3CDTF">2026-10-16T16:09:43Z</dcterms:modified>
</cp:coreProperties>
</file>