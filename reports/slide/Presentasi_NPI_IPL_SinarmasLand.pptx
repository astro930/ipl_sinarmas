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3.xml" ContentType="application/vnd.openxmlformats-officedocument.drawingml.chart+xml"/>
  <Override PartName="/ppt/notesSlides/notesSlide17.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6.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7.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8.xml" ContentType="application/vnd.openxmlformats-officedocument.drawingml.chart+xml"/>
  <Override PartName="/ppt/notesSlides/notesSlide24.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rts/chart11.xml" ContentType="application/vnd.openxmlformats-officedocument.drawingml.chart+xml"/>
  <Override PartName="/ppt/charts/chart12.xml" ContentType="application/vnd.openxmlformats-officedocument.drawingml.chart+xml"/>
  <Override PartName="/ppt/notesSlides/notesSlide39.xml" ContentType="application/vnd.openxmlformats-officedocument.presentationml.notesSlide+xml"/>
  <Override PartName="/ppt/charts/chart13.xml" ContentType="application/vnd.openxmlformats-officedocument.drawingml.chart+xml"/>
  <Override PartName="/ppt/notesSlides/notesSlide40.xml" ContentType="application/vnd.openxmlformats-officedocument.presentationml.notesSlide+xml"/>
  <Override PartName="/ppt/charts/chart14.xml" ContentType="application/vnd.openxmlformats-officedocument.drawingml.chart+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rts/chart15.xml" ContentType="application/vnd.openxmlformats-officedocument.drawingml.chart+xml"/>
  <Override PartName="/ppt/charts/chart16.xml" ContentType="application/vnd.openxmlformats-officedocument.drawingml.chart+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 id="300" r:id="rId17"/>
    <p:sldId id="274" r:id="rId18"/>
    <p:sldId id="276" r:id="rId19"/>
    <p:sldId id="277" r:id="rId20"/>
    <p:sldId id="278" r:id="rId21"/>
    <p:sldId id="280" r:id="rId22"/>
    <p:sldId id="281" r:id="rId23"/>
    <p:sldId id="282" r:id="rId24"/>
    <p:sldId id="283" r:id="rId25"/>
    <p:sldId id="284" r:id="rId26"/>
    <p:sldId id="285" r:id="rId27"/>
    <p:sldId id="286" r:id="rId28"/>
    <p:sldId id="287" r:id="rId29"/>
    <p:sldId id="291" r:id="rId30"/>
    <p:sldId id="292" r:id="rId31"/>
    <p:sldId id="293" r:id="rId32"/>
    <p:sldId id="294" r:id="rId33"/>
    <p:sldId id="295" r:id="rId34"/>
    <p:sldId id="296" r:id="rId35"/>
    <p:sldId id="297" r:id="rId36"/>
    <p:sldId id="298" r:id="rId37"/>
    <p:sldId id="299" r:id="rId38"/>
    <p:sldId id="273" r:id="rId39"/>
    <p:sldId id="272" r:id="rId40"/>
    <p:sldId id="266" r:id="rId41"/>
    <p:sldId id="275" r:id="rId42"/>
    <p:sldId id="279" r:id="rId43"/>
    <p:sldId id="288" r:id="rId44"/>
    <p:sldId id="289" r:id="rId45"/>
    <p:sldId id="290" r:id="rId4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an" id="{9E2B74D5-3433-56A8-6C5E-78507C936763}">
          <p14:sldIdLst>
            <p14:sldId id="256"/>
            <p14:sldId id="257"/>
            <p14:sldId id="258"/>
          </p14:sldIdLst>
        </p14:section>
        <p14:section name="Konteks bisnis" id="{243AED23-C199-0C28-67B8-D5D0730A5690}">
          <p14:sldIdLst>
            <p14:sldId id="259"/>
            <p14:sldId id="260"/>
            <p14:sldId id="261"/>
          </p14:sldIdLst>
        </p14:section>
        <p14:section name="Data &amp; metodologi" id="{7DEE5AEE-A553-24FF-6FA1-88C5326E3532}">
          <p14:sldIdLst>
            <p14:sldId id="262"/>
            <p14:sldId id="263"/>
            <p14:sldId id="264"/>
            <p14:sldId id="265"/>
          </p14:sldIdLst>
        </p14:section>
        <p14:section name="Besar masalah" id="{B9E53C0E-1942-22A6-4B0B-DF86A3E54BC9}">
          <p14:sldIdLst>
            <p14:sldId id="267"/>
            <p14:sldId id="268"/>
            <p14:sldId id="269"/>
          </p14:sldIdLst>
        </p14:section>
        <p14:section name="Faktor risiko" id="{87CA9BE0-439E-F909-1BB7-8B57CB4896DB}">
          <p14:sldIdLst>
            <p14:sldId id="270"/>
            <p14:sldId id="271"/>
            <p14:sldId id="300"/>
            <p14:sldId id="274"/>
          </p14:sldIdLst>
        </p14:section>
        <p14:section name="Collection &amp; Finance" id="{FCE1BA57-5333-67D8-A2FA-6DD9A9AF58EB}">
          <p14:sldIdLst>
            <p14:sldId id="276"/>
            <p14:sldId id="277"/>
            <p14:sldId id="278"/>
            <p14:sldId id="280"/>
          </p14:sldIdLst>
        </p14:section>
        <p14:section name="Simulasi" id="{474A3F23-5297-9B14-9FFD-DB1AA8C1798D}">
          <p14:sldIdLst>
            <p14:sldId id="281"/>
            <p14:sldId id="282"/>
            <p14:sldId id="283"/>
            <p14:sldId id="284"/>
          </p14:sldIdLst>
        </p14:section>
        <p14:section name="Rekomendasi" id="{69EA4905-B84C-D072-490E-4FCFB51B5FDD}">
          <p14:sldIdLst>
            <p14:sldId id="285"/>
            <p14:sldId id="286"/>
            <p14:sldId id="287"/>
          </p14:sldIdLst>
        </p14:section>
        <p14:section name="Penutup" id="{721E59D8-03F0-E7B4-C539-7D7D0DBC3742}">
          <p14:sldIdLst>
            <p14:sldId id="291"/>
          </p14:sldIdLst>
        </p14:section>
        <p14:section name="Lampiran" id="{6BB7AC57-72B5-DDEB-E331-8E488A61A460}">
          <p14:sldIdLst>
            <p14:sldId id="292"/>
            <p14:sldId id="293"/>
            <p14:sldId id="294"/>
            <p14:sldId id="295"/>
            <p14:sldId id="296"/>
            <p14:sldId id="297"/>
            <p14:sldId id="298"/>
            <p14:sldId id="299"/>
            <p14:sldId id="273"/>
            <p14:sldId id="272"/>
            <p14:sldId id="266"/>
            <p14:sldId id="275"/>
            <p14:sldId id="279"/>
            <p14:sldId id="288"/>
            <p14:sldId id="289"/>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485"/>
    <p:restoredTop sz="96081" autoAdjust="0"/>
  </p:normalViewPr>
  <p:slideViewPr>
    <p:cSldViewPr snapToGrid="0" snapToObjects="1">
      <p:cViewPr varScale="1">
        <p:scale>
          <a:sx n="120" d="100"/>
          <a:sy n="120" d="100"/>
        </p:scale>
        <p:origin x="38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3294B"/>
                </a:solidFill>
                <a:latin typeface="+mn-lt"/>
              </a:defRPr>
            </a:pPr>
            <a:r>
              <a:rPr lang="en-US" sz="1200" b="0" i="0" u="none" strike="noStrike" dirty="0">
                <a:solidFill>
                  <a:srgbClr val="13294B"/>
                </a:solidFill>
                <a:latin typeface="+mn-lt"/>
              </a:rPr>
              <a:t>NPI per Bulan</a:t>
            </a:r>
          </a:p>
        </c:rich>
      </c:tx>
      <c:overlay val="0"/>
    </c:title>
    <c:autoTitleDeleted val="0"/>
    <c:plotArea>
      <c:layout/>
      <c:lineChart>
        <c:grouping val="standard"/>
        <c:varyColors val="0"/>
        <c:ser>
          <c:idx val="0"/>
          <c:order val="0"/>
          <c:tx>
            <c:strRef>
              <c:f>Sheet1!$B$1</c:f>
              <c:strCache>
                <c:ptCount val="1"/>
                <c:pt idx="0">
                  <c:v>NPI cohort matang</c:v>
                </c:pt>
              </c:strCache>
            </c:strRef>
          </c:tx>
          <c:spPr>
            <a:ln w="31750" cap="flat">
              <a:solidFill>
                <a:srgbClr val="13294B"/>
              </a:solidFill>
              <a:prstDash val="solid"/>
              <a:round/>
            </a:ln>
            <a:effectLst/>
          </c:spPr>
          <c:marker>
            <c:symbol val="circle"/>
            <c:size val="5"/>
            <c:spPr>
              <a:solidFill>
                <a:srgbClr val="13294B"/>
              </a:solidFill>
              <a:ln w="9525" cap="flat">
                <a:solidFill>
                  <a:srgbClr val="13294B"/>
                </a:solidFill>
                <a:prstDash val="solid"/>
                <a:round/>
              </a:ln>
              <a:effectLst/>
            </c:spPr>
          </c:marker>
          <c:cat>
            <c:strRef>
              <c:f>Sheet1!$A$2:$A$30</c:f>
              <c:strCache>
                <c:ptCount val="29"/>
                <c:pt idx="0">
                  <c:v>Jul 22</c:v>
                </c:pt>
                <c:pt idx="1">
                  <c:v>Aug 22</c:v>
                </c:pt>
                <c:pt idx="2">
                  <c:v>Sep 22</c:v>
                </c:pt>
                <c:pt idx="3">
                  <c:v>Oct 22</c:v>
                </c:pt>
                <c:pt idx="4">
                  <c:v>Nov 22</c:v>
                </c:pt>
                <c:pt idx="5">
                  <c:v>Dec 22</c:v>
                </c:pt>
                <c:pt idx="6">
                  <c:v>Jan 23</c:v>
                </c:pt>
                <c:pt idx="7">
                  <c:v>Feb 23</c:v>
                </c:pt>
                <c:pt idx="8">
                  <c:v>Mar 23</c:v>
                </c:pt>
                <c:pt idx="9">
                  <c:v>Apr 23</c:v>
                </c:pt>
                <c:pt idx="10">
                  <c:v>May 23</c:v>
                </c:pt>
                <c:pt idx="11">
                  <c:v>Jun 23</c:v>
                </c:pt>
                <c:pt idx="12">
                  <c:v>Jul 23</c:v>
                </c:pt>
                <c:pt idx="13">
                  <c:v>Aug 23</c:v>
                </c:pt>
                <c:pt idx="14">
                  <c:v>Sep 23</c:v>
                </c:pt>
                <c:pt idx="15">
                  <c:v>Oct 23</c:v>
                </c:pt>
                <c:pt idx="16">
                  <c:v>Nov 23</c:v>
                </c:pt>
                <c:pt idx="17">
                  <c:v>Dec 23</c:v>
                </c:pt>
                <c:pt idx="18">
                  <c:v>Jan 24</c:v>
                </c:pt>
                <c:pt idx="19">
                  <c:v>Feb 24</c:v>
                </c:pt>
                <c:pt idx="20">
                  <c:v>Mar 24</c:v>
                </c:pt>
                <c:pt idx="21">
                  <c:v>Apr 24</c:v>
                </c:pt>
                <c:pt idx="22">
                  <c:v>May 24</c:v>
                </c:pt>
                <c:pt idx="23">
                  <c:v>Jun 24</c:v>
                </c:pt>
                <c:pt idx="24">
                  <c:v>Jul 24</c:v>
                </c:pt>
                <c:pt idx="25">
                  <c:v>Aug 24</c:v>
                </c:pt>
                <c:pt idx="26">
                  <c:v>Sep 24</c:v>
                </c:pt>
                <c:pt idx="27">
                  <c:v>Oct 24</c:v>
                </c:pt>
                <c:pt idx="28">
                  <c:v>Nov 24</c:v>
                </c:pt>
              </c:strCache>
            </c:strRef>
          </c:cat>
          <c:val>
            <c:numRef>
              <c:f>Sheet1!$B$2:$B$30</c:f>
              <c:numCache>
                <c:formatCode>General</c:formatCode>
                <c:ptCount val="29"/>
                <c:pt idx="0">
                  <c:v>2003</c:v>
                </c:pt>
                <c:pt idx="1">
                  <c:v>2735</c:v>
                </c:pt>
                <c:pt idx="2">
                  <c:v>3151</c:v>
                </c:pt>
                <c:pt idx="3">
                  <c:v>3324</c:v>
                </c:pt>
                <c:pt idx="4">
                  <c:v>3392</c:v>
                </c:pt>
                <c:pt idx="5">
                  <c:v>3476</c:v>
                </c:pt>
                <c:pt idx="6">
                  <c:v>3494</c:v>
                </c:pt>
                <c:pt idx="7">
                  <c:v>3525</c:v>
                </c:pt>
                <c:pt idx="8">
                  <c:v>3521</c:v>
                </c:pt>
                <c:pt idx="9">
                  <c:v>3561</c:v>
                </c:pt>
                <c:pt idx="10">
                  <c:v>3596</c:v>
                </c:pt>
                <c:pt idx="11">
                  <c:v>3570</c:v>
                </c:pt>
                <c:pt idx="12">
                  <c:v>3535</c:v>
                </c:pt>
                <c:pt idx="13">
                  <c:v>3546</c:v>
                </c:pt>
                <c:pt idx="14">
                  <c:v>3629</c:v>
                </c:pt>
                <c:pt idx="15">
                  <c:v>3635</c:v>
                </c:pt>
                <c:pt idx="16">
                  <c:v>3640</c:v>
                </c:pt>
                <c:pt idx="17">
                  <c:v>3666</c:v>
                </c:pt>
                <c:pt idx="18">
                  <c:v>3669</c:v>
                </c:pt>
                <c:pt idx="19">
                  <c:v>3713</c:v>
                </c:pt>
                <c:pt idx="20">
                  <c:v>3656</c:v>
                </c:pt>
                <c:pt idx="21">
                  <c:v>3689</c:v>
                </c:pt>
                <c:pt idx="22">
                  <c:v>3694</c:v>
                </c:pt>
                <c:pt idx="23">
                  <c:v>3706</c:v>
                </c:pt>
                <c:pt idx="24">
                  <c:v>3727</c:v>
                </c:pt>
                <c:pt idx="25">
                  <c:v>3719</c:v>
                </c:pt>
                <c:pt idx="26">
                  <c:v>3750</c:v>
                </c:pt>
                <c:pt idx="27">
                  <c:v>3750</c:v>
                </c:pt>
                <c:pt idx="28">
                  <c:v>3693</c:v>
                </c:pt>
              </c:numCache>
            </c:numRef>
          </c:val>
          <c:smooth val="0"/>
          <c:extLst>
            <c:ext xmlns:c16="http://schemas.microsoft.com/office/drawing/2014/chart" uri="{C3380CC4-5D6E-409C-BE32-E72D297353CC}">
              <c16:uniqueId val="{00000000-541F-44CE-B89D-0BD279C9367B}"/>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100" b="0" i="0" u="none" strike="noStrike">
                    <a:solidFill>
                      <a:srgbClr val="7B8494"/>
                    </a:solidFill>
                    <a:latin typeface="+mn-lt"/>
                  </a:defRPr>
                </a:pPr>
                <a:r>
                  <a:rPr lang="id-ID" sz="1100" b="0" i="0" u="none" strike="noStrike" dirty="0">
                    <a:solidFill>
                      <a:srgbClr val="7B8494"/>
                    </a:solidFill>
                    <a:latin typeface="+mn-lt"/>
                  </a:rPr>
                  <a:t>Bulan penerbitan </a:t>
                </a:r>
                <a:r>
                  <a:rPr lang="id-ID" sz="1100" b="0" i="0" u="none" strike="noStrike" dirty="0" err="1">
                    <a:solidFill>
                      <a:srgbClr val="7B8494"/>
                    </a:solidFill>
                    <a:latin typeface="+mn-lt"/>
                  </a:rPr>
                  <a:t>invoice</a:t>
                </a:r>
                <a:endParaRPr lang="id-ID" sz="1100" b="0" i="0" u="none" strike="noStrike" dirty="0">
                  <a:solidFill>
                    <a:srgbClr val="7B8494"/>
                  </a:solidFill>
                  <a:latin typeface="+mn-lt"/>
                </a:endParaRPr>
              </a:p>
            </c:rich>
          </c:tx>
          <c:overlay val="0"/>
        </c:title>
        <c:numFmt formatCode="General" sourceLinked="1"/>
        <c:majorTickMark val="out"/>
        <c:minorTickMark val="none"/>
        <c:tickLblPos val="low"/>
        <c:spPr>
          <a:ln w="12700" cap="flat">
            <a:solidFill>
              <a:srgbClr val="B8C0CC"/>
            </a:solidFill>
            <a:prstDash val="solid"/>
            <a:round/>
          </a:ln>
        </c:spPr>
        <c:txPr>
          <a:bodyPr/>
          <a:lstStyle/>
          <a:p>
            <a:pPr>
              <a:defRPr sz="900" b="0" i="0" u="none" strike="noStrike">
                <a:solidFill>
                  <a:srgbClr val="7B8494"/>
                </a:solidFill>
                <a:latin typeface="+mn-lt"/>
              </a:defRPr>
            </a:pPr>
            <a:endParaRPr lang="id-ID"/>
          </a:p>
        </c:txPr>
        <c:crossAx val="2094734552"/>
        <c:crosses val="autoZero"/>
        <c:auto val="1"/>
        <c:lblAlgn val="ctr"/>
        <c:lblOffset val="100"/>
        <c:noMultiLvlLbl val="1"/>
      </c:catAx>
      <c:valAx>
        <c:axId val="2094734552"/>
        <c:scaling>
          <c:orientation val="minMax"/>
          <c:max val="4000"/>
          <c:min val="0"/>
        </c:scaling>
        <c:delete val="0"/>
        <c:axPos val="l"/>
        <c:majorGridlines>
          <c:spPr>
            <a:ln w="9525" cap="flat">
              <a:solidFill>
                <a:srgbClr val="E8EBF0"/>
              </a:solidFill>
              <a:prstDash val="solid"/>
              <a:round/>
            </a:ln>
          </c:spPr>
        </c:majorGridlines>
        <c:title>
          <c:tx>
            <c:rich>
              <a:bodyPr/>
              <a:lstStyle/>
              <a:p>
                <a:pPr>
                  <a:defRPr sz="1100" b="0" i="0" u="none" strike="noStrike">
                    <a:solidFill>
                      <a:srgbClr val="7B8494"/>
                    </a:solidFill>
                    <a:latin typeface="+mn-lt"/>
                  </a:defRPr>
                </a:pPr>
                <a:r>
                  <a:rPr lang="id-ID" sz="1100" b="0" i="0" u="none" strike="noStrike" dirty="0">
                    <a:solidFill>
                      <a:srgbClr val="7B8494"/>
                    </a:solidFill>
                    <a:latin typeface="+mn-lt"/>
                  </a:rPr>
                  <a:t>NPI Rate (%)</a:t>
                </a:r>
              </a:p>
            </c:rich>
          </c:tx>
          <c:overlay val="0"/>
        </c:title>
        <c:numFmt formatCode="#,&quot;0%&quot;" sourceLinked="0"/>
        <c:majorTickMark val="out"/>
        <c:minorTickMark val="none"/>
        <c:tickLblPos val="nextTo"/>
        <c:spPr>
          <a:ln w="12700" cap="flat">
            <a:noFill/>
            <a:prstDash val="solid"/>
            <a:round/>
          </a:ln>
        </c:spPr>
        <c:txPr>
          <a:bodyPr/>
          <a:lstStyle/>
          <a:p>
            <a:pPr>
              <a:defRPr sz="1000" b="0" i="0" u="none" strike="noStrike">
                <a:solidFill>
                  <a:srgbClr val="7B8494"/>
                </a:solidFill>
                <a:latin typeface="+mn-lt"/>
              </a:defRPr>
            </a:pPr>
            <a:endParaRPr lang="id-ID"/>
          </a:p>
        </c:txPr>
        <c:crossAx val="2094734554"/>
        <c:crosses val="autoZero"/>
        <c:crossBetween val="between"/>
        <c:majorUnit val="1000"/>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3294B"/>
                </a:solidFill>
                <a:latin typeface="+mn-lt"/>
              </a:defRPr>
            </a:pPr>
            <a:r>
              <a:rPr lang="id-ID" sz="1200" b="0" i="0" u="none" strike="noStrike" dirty="0">
                <a:solidFill>
                  <a:srgbClr val="13294B"/>
                </a:solidFill>
                <a:latin typeface="+mn-lt"/>
              </a:rPr>
              <a:t>Nominal NPI per</a:t>
            </a:r>
            <a:r>
              <a:rPr lang="id-ID" sz="1200" b="0" i="0" u="none" strike="noStrike" baseline="0" dirty="0">
                <a:solidFill>
                  <a:srgbClr val="13294B"/>
                </a:solidFill>
                <a:latin typeface="+mn-lt"/>
              </a:rPr>
              <a:t> Bulan</a:t>
            </a:r>
            <a:endParaRPr lang="id-ID" sz="1200" b="0" i="0" u="none" strike="noStrike" dirty="0">
              <a:solidFill>
                <a:srgbClr val="13294B"/>
              </a:solidFill>
              <a:latin typeface="+mn-lt"/>
            </a:endParaRPr>
          </a:p>
        </c:rich>
      </c:tx>
      <c:overlay val="0"/>
    </c:title>
    <c:autoTitleDeleted val="0"/>
    <c:plotArea>
      <c:layout/>
      <c:barChart>
        <c:barDir val="col"/>
        <c:grouping val="clustered"/>
        <c:varyColors val="0"/>
        <c:ser>
          <c:idx val="0"/>
          <c:order val="0"/>
          <c:tx>
            <c:strRef>
              <c:f>Sheet1!$B$1</c:f>
              <c:strCache>
                <c:ptCount val="1"/>
                <c:pt idx="0">
                  <c:v>Nominal NPI</c:v>
                </c:pt>
              </c:strCache>
            </c:strRef>
          </c:tx>
          <c:spPr>
            <a:solidFill>
              <a:srgbClr val="C9A227"/>
            </a:solidFill>
            <a:effectLst/>
          </c:spPr>
          <c:invertIfNegative val="0"/>
          <c:cat>
            <c:strRef>
              <c:f>Sheet1!$A$2:$A$30</c:f>
              <c:strCache>
                <c:ptCount val="29"/>
                <c:pt idx="0">
                  <c:v>Jul 22</c:v>
                </c:pt>
                <c:pt idx="1">
                  <c:v>Aug 22</c:v>
                </c:pt>
                <c:pt idx="2">
                  <c:v>Sep 22</c:v>
                </c:pt>
                <c:pt idx="3">
                  <c:v>Oct 22</c:v>
                </c:pt>
                <c:pt idx="4">
                  <c:v>Nov 22</c:v>
                </c:pt>
                <c:pt idx="5">
                  <c:v>Dec 22</c:v>
                </c:pt>
                <c:pt idx="6">
                  <c:v>Jan 23</c:v>
                </c:pt>
                <c:pt idx="7">
                  <c:v>Feb 23</c:v>
                </c:pt>
                <c:pt idx="8">
                  <c:v>Mar 23</c:v>
                </c:pt>
                <c:pt idx="9">
                  <c:v>Apr 23</c:v>
                </c:pt>
                <c:pt idx="10">
                  <c:v>May 23</c:v>
                </c:pt>
                <c:pt idx="11">
                  <c:v>Jun 23</c:v>
                </c:pt>
                <c:pt idx="12">
                  <c:v>Jul 23</c:v>
                </c:pt>
                <c:pt idx="13">
                  <c:v>Aug 23</c:v>
                </c:pt>
                <c:pt idx="14">
                  <c:v>Sep 23</c:v>
                </c:pt>
                <c:pt idx="15">
                  <c:v>Oct 23</c:v>
                </c:pt>
                <c:pt idx="16">
                  <c:v>Nov 23</c:v>
                </c:pt>
                <c:pt idx="17">
                  <c:v>Dec 23</c:v>
                </c:pt>
                <c:pt idx="18">
                  <c:v>Jan 24</c:v>
                </c:pt>
                <c:pt idx="19">
                  <c:v>Feb 24</c:v>
                </c:pt>
                <c:pt idx="20">
                  <c:v>Mar 24</c:v>
                </c:pt>
                <c:pt idx="21">
                  <c:v>Apr 24</c:v>
                </c:pt>
                <c:pt idx="22">
                  <c:v>May 24</c:v>
                </c:pt>
                <c:pt idx="23">
                  <c:v>Jun 24</c:v>
                </c:pt>
                <c:pt idx="24">
                  <c:v>Jul 24</c:v>
                </c:pt>
                <c:pt idx="25">
                  <c:v>Aug 24</c:v>
                </c:pt>
                <c:pt idx="26">
                  <c:v>Sep 24</c:v>
                </c:pt>
                <c:pt idx="27">
                  <c:v>Oct 24</c:v>
                </c:pt>
                <c:pt idx="28">
                  <c:v>Nov 24</c:v>
                </c:pt>
              </c:strCache>
            </c:strRef>
          </c:cat>
          <c:val>
            <c:numRef>
              <c:f>Sheet1!$B$2:$B$30</c:f>
              <c:numCache>
                <c:formatCode>General</c:formatCode>
                <c:ptCount val="29"/>
                <c:pt idx="0">
                  <c:v>24</c:v>
                </c:pt>
                <c:pt idx="1">
                  <c:v>34</c:v>
                </c:pt>
                <c:pt idx="2">
                  <c:v>40</c:v>
                </c:pt>
                <c:pt idx="3">
                  <c:v>44</c:v>
                </c:pt>
                <c:pt idx="4">
                  <c:v>46</c:v>
                </c:pt>
                <c:pt idx="5">
                  <c:v>49</c:v>
                </c:pt>
                <c:pt idx="6">
                  <c:v>51</c:v>
                </c:pt>
                <c:pt idx="7">
                  <c:v>53</c:v>
                </c:pt>
                <c:pt idx="8">
                  <c:v>53</c:v>
                </c:pt>
                <c:pt idx="9">
                  <c:v>55</c:v>
                </c:pt>
                <c:pt idx="10">
                  <c:v>56</c:v>
                </c:pt>
                <c:pt idx="11">
                  <c:v>57</c:v>
                </c:pt>
                <c:pt idx="12">
                  <c:v>58</c:v>
                </c:pt>
                <c:pt idx="13">
                  <c:v>59</c:v>
                </c:pt>
                <c:pt idx="14">
                  <c:v>61</c:v>
                </c:pt>
                <c:pt idx="15">
                  <c:v>63</c:v>
                </c:pt>
                <c:pt idx="16">
                  <c:v>65</c:v>
                </c:pt>
                <c:pt idx="17">
                  <c:v>67</c:v>
                </c:pt>
                <c:pt idx="18">
                  <c:v>67</c:v>
                </c:pt>
                <c:pt idx="19">
                  <c:v>68</c:v>
                </c:pt>
                <c:pt idx="20">
                  <c:v>67</c:v>
                </c:pt>
                <c:pt idx="21">
                  <c:v>68</c:v>
                </c:pt>
                <c:pt idx="22">
                  <c:v>69</c:v>
                </c:pt>
                <c:pt idx="23">
                  <c:v>69</c:v>
                </c:pt>
                <c:pt idx="24">
                  <c:v>70</c:v>
                </c:pt>
                <c:pt idx="25">
                  <c:v>70</c:v>
                </c:pt>
                <c:pt idx="26">
                  <c:v>71</c:v>
                </c:pt>
                <c:pt idx="27">
                  <c:v>71</c:v>
                </c:pt>
                <c:pt idx="28">
                  <c:v>70</c:v>
                </c:pt>
              </c:numCache>
            </c:numRef>
          </c:val>
          <c:extLst>
            <c:ext xmlns:c16="http://schemas.microsoft.com/office/drawing/2014/chart" uri="{C3380CC4-5D6E-409C-BE32-E72D297353CC}">
              <c16:uniqueId val="{00000000-4E02-4FB6-B525-D01D14A32EA8}"/>
            </c:ext>
          </c:extLst>
        </c:ser>
        <c:dLbls>
          <c:showLegendKey val="0"/>
          <c:showVal val="0"/>
          <c:showCatName val="0"/>
          <c:showSerName val="0"/>
          <c:showPercent val="0"/>
          <c:showBubbleSize val="0"/>
        </c:dLbls>
        <c:gapWidth val="35"/>
        <c:axId val="2094734554"/>
        <c:axId val="2094734552"/>
      </c:barChart>
      <c:catAx>
        <c:axId val="2094734554"/>
        <c:scaling>
          <c:orientation val="minMax"/>
        </c:scaling>
        <c:delete val="0"/>
        <c:axPos val="b"/>
        <c:title>
          <c:tx>
            <c:rich>
              <a:bodyPr/>
              <a:lstStyle/>
              <a:p>
                <a:pPr>
                  <a:defRPr sz="1100" b="0" i="0" u="none" strike="noStrike">
                    <a:solidFill>
                      <a:srgbClr val="7B8494"/>
                    </a:solidFill>
                    <a:latin typeface="+mn-lt"/>
                  </a:defRPr>
                </a:pPr>
                <a:r>
                  <a:rPr lang="id-ID" sz="1100" b="0" i="0" u="none" strike="noStrike" dirty="0">
                    <a:solidFill>
                      <a:srgbClr val="7B8494"/>
                    </a:solidFill>
                    <a:latin typeface="+mn-lt"/>
                  </a:rPr>
                  <a:t>Bulan penerbitan </a:t>
                </a:r>
                <a:r>
                  <a:rPr lang="id-ID" sz="1100" b="0" i="0" u="none" strike="noStrike" dirty="0" err="1">
                    <a:solidFill>
                      <a:srgbClr val="7B8494"/>
                    </a:solidFill>
                    <a:latin typeface="+mn-lt"/>
                  </a:rPr>
                  <a:t>invoice</a:t>
                </a:r>
                <a:endParaRPr lang="id-ID" sz="1100" b="0" i="0" u="none" strike="noStrike" dirty="0">
                  <a:solidFill>
                    <a:srgbClr val="7B8494"/>
                  </a:solidFill>
                  <a:latin typeface="+mn-lt"/>
                </a:endParaRPr>
              </a:p>
            </c:rich>
          </c:tx>
          <c:overlay val="0"/>
        </c:title>
        <c:numFmt formatCode="General" sourceLinked="1"/>
        <c:majorTickMark val="out"/>
        <c:minorTickMark val="none"/>
        <c:tickLblPos val="low"/>
        <c:spPr>
          <a:ln w="12700" cap="flat">
            <a:solidFill>
              <a:srgbClr val="B8C0CC"/>
            </a:solidFill>
            <a:prstDash val="solid"/>
            <a:round/>
          </a:ln>
        </c:spPr>
        <c:txPr>
          <a:bodyPr/>
          <a:lstStyle/>
          <a:p>
            <a:pPr>
              <a:defRPr sz="900" b="0" i="0" u="none" strike="noStrike">
                <a:solidFill>
                  <a:srgbClr val="7B8494"/>
                </a:solidFill>
                <a:latin typeface="+mn-lt"/>
              </a:defRPr>
            </a:pPr>
            <a:endParaRPr lang="id-ID"/>
          </a:p>
        </c:txPr>
        <c:crossAx val="2094734552"/>
        <c:crosses val="autoZero"/>
        <c:auto val="1"/>
        <c:lblAlgn val="ctr"/>
        <c:lblOffset val="100"/>
        <c:noMultiLvlLbl val="1"/>
      </c:catAx>
      <c:valAx>
        <c:axId val="2094734552"/>
        <c:scaling>
          <c:orientation val="minMax"/>
          <c:max val="80"/>
          <c:min val="0"/>
        </c:scaling>
        <c:delete val="0"/>
        <c:axPos val="l"/>
        <c:majorGridlines>
          <c:spPr>
            <a:ln w="9525" cap="flat">
              <a:solidFill>
                <a:srgbClr val="E8EBF0"/>
              </a:solidFill>
              <a:prstDash val="solid"/>
              <a:round/>
            </a:ln>
          </c:spPr>
        </c:majorGridlines>
        <c:title>
          <c:tx>
            <c:rich>
              <a:bodyPr/>
              <a:lstStyle/>
              <a:p>
                <a:pPr>
                  <a:defRPr sz="1100" b="0" i="0" u="none" strike="noStrike">
                    <a:solidFill>
                      <a:srgbClr val="7B8494"/>
                    </a:solidFill>
                    <a:latin typeface="+mn-lt"/>
                  </a:defRPr>
                </a:pPr>
                <a:r>
                  <a:rPr lang="id-ID" sz="1100" b="0" i="0" u="none" strike="noStrike">
                    <a:solidFill>
                      <a:srgbClr val="7B8494"/>
                    </a:solidFill>
                    <a:latin typeface="+mn-lt"/>
                  </a:rPr>
                  <a:t>Rp miliar</a:t>
                </a:r>
              </a:p>
            </c:rich>
          </c:tx>
          <c:overlay val="0"/>
        </c:title>
        <c:numFmt formatCode="0\,0" sourceLinked="0"/>
        <c:majorTickMark val="out"/>
        <c:minorTickMark val="none"/>
        <c:tickLblPos val="nextTo"/>
        <c:spPr>
          <a:ln w="12700" cap="flat">
            <a:noFill/>
            <a:prstDash val="solid"/>
            <a:round/>
          </a:ln>
        </c:spPr>
        <c:txPr>
          <a:bodyPr/>
          <a:lstStyle/>
          <a:p>
            <a:pPr>
              <a:defRPr sz="1000" b="0" i="0" u="none" strike="noStrike">
                <a:solidFill>
                  <a:srgbClr val="7B8494"/>
                </a:solidFill>
                <a:latin typeface="+mn-lt"/>
              </a:defRPr>
            </a:pPr>
            <a:endParaRPr lang="id-ID"/>
          </a:p>
        </c:txPr>
        <c:crossAx val="2094734554"/>
        <c:crosses val="autoZero"/>
        <c:crossBetween val="between"/>
        <c:majorUnit val="20"/>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3294B"/>
                </a:solidFill>
                <a:latin typeface="+mn-lt"/>
              </a:defRPr>
            </a:pPr>
            <a:r>
              <a:rPr lang="id-ID" sz="1300" b="0" i="0" u="none" strike="noStrike">
                <a:solidFill>
                  <a:srgbClr val="13294B"/>
                </a:solidFill>
                <a:latin typeface="+mn-lt"/>
              </a:rPr>
              <a:t>Selisih NPI sebelum vs setelah faktor lain dikendalikan</a:t>
            </a:r>
          </a:p>
        </c:rich>
      </c:tx>
      <c:overlay val="0"/>
    </c:title>
    <c:autoTitleDeleted val="0"/>
    <c:plotArea>
      <c:layout/>
      <c:barChart>
        <c:barDir val="bar"/>
        <c:grouping val="clustered"/>
        <c:varyColors val="0"/>
        <c:ser>
          <c:idx val="0"/>
          <c:order val="0"/>
          <c:tx>
            <c:strRef>
              <c:f>Sheet1!$B$1</c:f>
              <c:strCache>
                <c:ptCount val="1"/>
                <c:pt idx="0">
                  <c:v>Selisih awal</c:v>
                </c:pt>
              </c:strCache>
            </c:strRef>
          </c:tx>
          <c:spPr>
            <a:solidFill>
              <a:srgbClr val="B8C0CC"/>
            </a:solidFill>
            <a:effectLst/>
          </c:spPr>
          <c:invertIfNegative val="0"/>
          <c:dLbls>
            <c:numFmt formatCode="0\,00;\-0\,00" sourceLinked="0"/>
            <c:spPr>
              <a:noFill/>
              <a:ln>
                <a:noFill/>
              </a:ln>
              <a:effectLst/>
            </c:spPr>
            <c:txPr>
              <a:bodyPr/>
              <a:lstStyle/>
              <a:p>
                <a:pPr>
                  <a:defRPr sz="1000" b="0" i="0" u="none" strike="noStrike">
                    <a:solidFill>
                      <a:srgbClr val="1E2633"/>
                    </a:solidFill>
                    <a:latin typeface="+mn-lt"/>
                  </a:defRPr>
                </a:pPr>
                <a:endParaRPr lang="id-ID"/>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H12 Regional Hub</c:v>
                </c:pt>
                <c:pt idx="1">
                  <c:v>H7 Cetak &amp; antar fisik</c:v>
                </c:pt>
                <c:pt idx="2">
                  <c:v>H3 Kontak belum terverifikasi/kosong</c:v>
                </c:pt>
                <c:pt idx="3">
                  <c:v>H11 Cluster New Phase</c:v>
                </c:pt>
                <c:pt idx="4">
                  <c:v>H2 Pemilik luar kota/negeri</c:v>
                </c:pt>
                <c:pt idx="5">
                  <c:v>H1 Vacant</c:v>
                </c:pt>
                <c:pt idx="6">
                  <c:v>H6 Tanpa autodebit</c:v>
                </c:pt>
              </c:strCache>
            </c:strRef>
          </c:cat>
          <c:val>
            <c:numRef>
              <c:f>Sheet1!$B$2:$B$8</c:f>
              <c:numCache>
                <c:formatCode>General</c:formatCode>
                <c:ptCount val="7"/>
                <c:pt idx="0">
                  <c:v>303</c:v>
                </c:pt>
                <c:pt idx="1">
                  <c:v>726</c:v>
                </c:pt>
                <c:pt idx="2">
                  <c:v>1005</c:v>
                </c:pt>
                <c:pt idx="3">
                  <c:v>723</c:v>
                </c:pt>
                <c:pt idx="4">
                  <c:v>2204</c:v>
                </c:pt>
                <c:pt idx="5">
                  <c:v>3032</c:v>
                </c:pt>
                <c:pt idx="6">
                  <c:v>2978</c:v>
                </c:pt>
              </c:numCache>
            </c:numRef>
          </c:val>
          <c:extLst>
            <c:ext xmlns:c16="http://schemas.microsoft.com/office/drawing/2014/chart" uri="{C3380CC4-5D6E-409C-BE32-E72D297353CC}">
              <c16:uniqueId val="{00000000-BF6F-4378-BCCD-83A359870C70}"/>
            </c:ext>
          </c:extLst>
        </c:ser>
        <c:ser>
          <c:idx val="1"/>
          <c:order val="1"/>
          <c:tx>
            <c:strRef>
              <c:f>Sheet1!$C$1</c:f>
              <c:strCache>
                <c:ptCount val="1"/>
                <c:pt idx="0">
                  <c:v>Selisih terkendali</c:v>
                </c:pt>
              </c:strCache>
            </c:strRef>
          </c:tx>
          <c:spPr>
            <a:solidFill>
              <a:srgbClr val="C9A227"/>
            </a:solidFill>
            <a:effectLst/>
          </c:spPr>
          <c:invertIfNegative val="0"/>
          <c:dLbls>
            <c:numFmt formatCode="0\,00;\-0\,00" sourceLinked="0"/>
            <c:spPr>
              <a:noFill/>
              <a:ln>
                <a:noFill/>
              </a:ln>
              <a:effectLst/>
            </c:spPr>
            <c:txPr>
              <a:bodyPr/>
              <a:lstStyle/>
              <a:p>
                <a:pPr>
                  <a:defRPr sz="1000" b="0" i="0" u="none" strike="noStrike">
                    <a:solidFill>
                      <a:srgbClr val="1E2633"/>
                    </a:solidFill>
                    <a:latin typeface="+mn-lt"/>
                  </a:defRPr>
                </a:pPr>
                <a:endParaRPr lang="id-ID"/>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H12 Regional Hub</c:v>
                </c:pt>
                <c:pt idx="1">
                  <c:v>H7 Cetak &amp; antar fisik</c:v>
                </c:pt>
                <c:pt idx="2">
                  <c:v>H3 Kontak belum terverifikasi/kosong</c:v>
                </c:pt>
                <c:pt idx="3">
                  <c:v>H11 Cluster New Phase</c:v>
                </c:pt>
                <c:pt idx="4">
                  <c:v>H2 Pemilik luar kota/negeri</c:v>
                </c:pt>
                <c:pt idx="5">
                  <c:v>H1 Vacant</c:v>
                </c:pt>
                <c:pt idx="6">
                  <c:v>H6 Tanpa autodebit</c:v>
                </c:pt>
              </c:strCache>
            </c:strRef>
          </c:cat>
          <c:val>
            <c:numRef>
              <c:f>Sheet1!$C$2:$C$8</c:f>
              <c:numCache>
                <c:formatCode>General</c:formatCode>
                <c:ptCount val="7"/>
                <c:pt idx="0">
                  <c:v>34</c:v>
                </c:pt>
                <c:pt idx="1">
                  <c:v>-2</c:v>
                </c:pt>
                <c:pt idx="2">
                  <c:v>24</c:v>
                </c:pt>
                <c:pt idx="3">
                  <c:v>700</c:v>
                </c:pt>
                <c:pt idx="4">
                  <c:v>1014</c:v>
                </c:pt>
                <c:pt idx="5">
                  <c:v>2328</c:v>
                </c:pt>
                <c:pt idx="6">
                  <c:v>2659</c:v>
                </c:pt>
              </c:numCache>
            </c:numRef>
          </c:val>
          <c:extLst>
            <c:ext xmlns:c16="http://schemas.microsoft.com/office/drawing/2014/chart" uri="{C3380CC4-5D6E-409C-BE32-E72D297353CC}">
              <c16:uniqueId val="{00000001-BF6F-4378-BCCD-83A359870C70}"/>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title>
          <c:tx>
            <c:rich>
              <a:bodyPr/>
              <a:lstStyle/>
              <a:p>
                <a:pPr>
                  <a:defRPr sz="1100" b="0" i="0" u="none" strike="noStrike">
                    <a:solidFill>
                      <a:srgbClr val="7B8494"/>
                    </a:solidFill>
                    <a:latin typeface="+mn-lt"/>
                  </a:defRPr>
                </a:pPr>
                <a:r>
                  <a:rPr lang="id-ID" sz="1100" b="0" i="0" u="none" strike="noStrike">
                    <a:solidFill>
                      <a:srgbClr val="7B8494"/>
                    </a:solidFill>
                    <a:latin typeface="+mn-lt"/>
                  </a:rPr>
                  <a:t>Faktor yang diuji</a:t>
                </a:r>
              </a:p>
            </c:rich>
          </c:tx>
          <c:overlay val="0"/>
        </c:title>
        <c:numFmt formatCode="General" sourceLinked="1"/>
        <c:majorTickMark val="out"/>
        <c:minorTickMark val="none"/>
        <c:tickLblPos val="low"/>
        <c:spPr>
          <a:ln w="12700" cap="flat">
            <a:solidFill>
              <a:srgbClr val="B8C0CC"/>
            </a:solidFill>
            <a:prstDash val="solid"/>
            <a:round/>
          </a:ln>
        </c:spPr>
        <c:txPr>
          <a:bodyPr/>
          <a:lstStyle/>
          <a:p>
            <a:pPr>
              <a:defRPr sz="1100" b="0" i="0" u="none" strike="noStrike">
                <a:solidFill>
                  <a:srgbClr val="7B8494"/>
                </a:solidFill>
                <a:latin typeface="+mn-lt"/>
              </a:defRPr>
            </a:pPr>
            <a:endParaRPr lang="id-ID"/>
          </a:p>
        </c:txPr>
        <c:crossAx val="2094734552"/>
        <c:crosses val="autoZero"/>
        <c:auto val="1"/>
        <c:lblAlgn val="ctr"/>
        <c:lblOffset val="100"/>
        <c:noMultiLvlLbl val="1"/>
      </c:catAx>
      <c:valAx>
        <c:axId val="2094734552"/>
        <c:scaling>
          <c:orientation val="minMax"/>
          <c:max val="4000"/>
          <c:min val="-1000"/>
        </c:scaling>
        <c:delete val="0"/>
        <c:axPos val="b"/>
        <c:majorGridlines>
          <c:spPr>
            <a:ln w="9525" cap="flat">
              <a:solidFill>
                <a:srgbClr val="E8EBF0"/>
              </a:solidFill>
              <a:prstDash val="solid"/>
              <a:round/>
            </a:ln>
          </c:spPr>
        </c:majorGridlines>
        <c:title>
          <c:tx>
            <c:rich>
              <a:bodyPr/>
              <a:lstStyle/>
              <a:p>
                <a:pPr>
                  <a:defRPr sz="1100" b="0" i="0" u="none" strike="noStrike">
                    <a:solidFill>
                      <a:srgbClr val="7B8494"/>
                    </a:solidFill>
                    <a:latin typeface="+mn-lt"/>
                  </a:defRPr>
                </a:pPr>
                <a:r>
                  <a:rPr lang="id-ID" sz="1100" b="0" i="0" u="none" strike="noStrike">
                    <a:solidFill>
                      <a:srgbClr val="7B8494"/>
                    </a:solidFill>
                    <a:latin typeface="+mn-lt"/>
                  </a:rPr>
                  <a:t>Selisih NPI (poin persentase)</a:t>
                </a:r>
              </a:p>
            </c:rich>
          </c:tx>
          <c:overlay val="0"/>
        </c:title>
        <c:numFmt formatCode="#,&quot;0&quot;;\-#,&quot;0&quot;" sourceLinked="0"/>
        <c:majorTickMark val="out"/>
        <c:minorTickMark val="none"/>
        <c:tickLblPos val="low"/>
        <c:spPr>
          <a:ln w="12700" cap="flat">
            <a:noFill/>
            <a:prstDash val="solid"/>
            <a:round/>
          </a:ln>
        </c:spPr>
        <c:txPr>
          <a:bodyPr/>
          <a:lstStyle/>
          <a:p>
            <a:pPr>
              <a:defRPr sz="1000" b="0" i="0" u="none" strike="noStrike">
                <a:solidFill>
                  <a:srgbClr val="7B8494"/>
                </a:solidFill>
                <a:latin typeface="+mn-lt"/>
              </a:defRPr>
            </a:pPr>
            <a:endParaRPr lang="id-ID"/>
          </a:p>
        </c:txPr>
        <c:crossAx val="2094734554"/>
        <c:crosses val="autoZero"/>
        <c:crossBetween val="between"/>
        <c:majorUnit val="1000"/>
      </c:valAx>
      <c:spPr>
        <a:noFill/>
        <a:ln>
          <a:noFill/>
        </a:ln>
        <a:effectLst/>
      </c:spPr>
    </c:plotArea>
    <c:legend>
      <c:legendPos val="t"/>
      <c:overlay val="0"/>
      <c:txPr>
        <a:bodyPr/>
        <a:lstStyle/>
        <a:p>
          <a:pPr>
            <a:defRPr sz="1100">
              <a:latin typeface="+mn-lt"/>
              <a:cs typeface="+mn-lt"/>
            </a:defRPr>
          </a:pPr>
          <a:endParaRPr lang="id-ID"/>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3294B"/>
                </a:solidFill>
                <a:latin typeface="+mn-lt"/>
              </a:defRPr>
            </a:pPr>
            <a:r>
              <a:rPr lang="id-ID" sz="1300" b="0" i="0" u="none" strike="noStrike">
                <a:solidFill>
                  <a:srgbClr val="13294B"/>
                </a:solidFill>
                <a:latin typeface="+mn-lt"/>
              </a:rPr>
              <a:t>Risk rate</a:t>
            </a:r>
          </a:p>
        </c:rich>
      </c:tx>
      <c:overlay val="0"/>
    </c:title>
    <c:autoTitleDeleted val="0"/>
    <c:plotArea>
      <c:layout/>
      <c:barChart>
        <c:barDir val="bar"/>
        <c:grouping val="clustered"/>
        <c:varyColors val="0"/>
        <c:ser>
          <c:idx val="0"/>
          <c:order val="0"/>
          <c:tx>
            <c:strRef>
              <c:f>Sheet1!$B$1</c:f>
              <c:strCache>
                <c:ptCount val="1"/>
                <c:pt idx="0">
                  <c:v>Risk rate</c:v>
                </c:pt>
              </c:strCache>
            </c:strRef>
          </c:tx>
          <c:spPr>
            <a:solidFill>
              <a:srgbClr val="13294B"/>
            </a:solidFill>
            <a:effectLst/>
          </c:spPr>
          <c:invertIfNegative val="0"/>
          <c:dLbls>
            <c:numFmt formatCode="0\,00" sourceLinked="0"/>
            <c:spPr>
              <a:noFill/>
              <a:ln>
                <a:noFill/>
              </a:ln>
              <a:effectLst/>
            </c:spPr>
            <c:txPr>
              <a:bodyPr/>
              <a:lstStyle/>
              <a:p>
                <a:pPr>
                  <a:defRPr sz="1000" b="0" i="0" u="none" strike="noStrike">
                    <a:solidFill>
                      <a:srgbClr val="1E2633"/>
                    </a:solidFill>
                    <a:latin typeface="+mn-lt"/>
                  </a:defRPr>
                </a:pPr>
                <a:endParaRPr lang="id-ID"/>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H17 Disengketakan</c:v>
                </c:pt>
                <c:pt idx="1">
                  <c:v>H3 Tanpa nomor</c:v>
                </c:pt>
                <c:pt idx="2">
                  <c:v>H7 Cetak fisik</c:v>
                </c:pt>
                <c:pt idx="3">
                  <c:v>H8 Tarif tinggi</c:v>
                </c:pt>
                <c:pt idx="4">
                  <c:v>H1 Vacant</c:v>
                </c:pt>
                <c:pt idx="5">
                  <c:v>H12 Regional Hub</c:v>
                </c:pt>
                <c:pt idx="6">
                  <c:v>H11 New Phase</c:v>
                </c:pt>
                <c:pt idx="7">
                  <c:v>H2 Pemilik jauh</c:v>
                </c:pt>
                <c:pt idx="8">
                  <c:v>H6 Tanpa autodebit</c:v>
                </c:pt>
              </c:strCache>
            </c:strRef>
          </c:cat>
          <c:val>
            <c:numRef>
              <c:f>Sheet1!$B$2:$B$10</c:f>
              <c:numCache>
                <c:formatCode>General</c:formatCode>
                <c:ptCount val="9"/>
                <c:pt idx="0">
                  <c:v>4276</c:v>
                </c:pt>
                <c:pt idx="1">
                  <c:v>4424</c:v>
                </c:pt>
                <c:pt idx="2">
                  <c:v>4081</c:v>
                </c:pt>
                <c:pt idx="3">
                  <c:v>3929</c:v>
                </c:pt>
                <c:pt idx="4">
                  <c:v>5843</c:v>
                </c:pt>
                <c:pt idx="5">
                  <c:v>3738</c:v>
                </c:pt>
                <c:pt idx="6">
                  <c:v>4007</c:v>
                </c:pt>
                <c:pt idx="7">
                  <c:v>4993</c:v>
                </c:pt>
                <c:pt idx="8">
                  <c:v>3971</c:v>
                </c:pt>
              </c:numCache>
            </c:numRef>
          </c:val>
          <c:extLst>
            <c:ext xmlns:c16="http://schemas.microsoft.com/office/drawing/2014/chart" uri="{C3380CC4-5D6E-409C-BE32-E72D297353CC}">
              <c16:uniqueId val="{00000000-BA65-416E-BAAF-74823F67482C}"/>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l"/>
        <c:title>
          <c:tx>
            <c:rich>
              <a:bodyPr/>
              <a:lstStyle/>
              <a:p>
                <a:pPr>
                  <a:defRPr sz="1100" b="0" i="0" u="none" strike="noStrike">
                    <a:solidFill>
                      <a:srgbClr val="7B8494"/>
                    </a:solidFill>
                    <a:latin typeface="+mn-lt"/>
                  </a:defRPr>
                </a:pPr>
                <a:r>
                  <a:rPr lang="id-ID" sz="1100" b="0" i="0" u="none" strike="noStrike">
                    <a:solidFill>
                      <a:srgbClr val="7B8494"/>
                    </a:solidFill>
                    <a:latin typeface="+mn-lt"/>
                  </a:rPr>
                  <a:t>Kelompok uji</a:t>
                </a:r>
              </a:p>
            </c:rich>
          </c:tx>
          <c:overlay val="0"/>
        </c:title>
        <c:numFmt formatCode="General" sourceLinked="1"/>
        <c:majorTickMark val="out"/>
        <c:minorTickMark val="none"/>
        <c:tickLblPos val="nextTo"/>
        <c:spPr>
          <a:ln w="12700" cap="flat">
            <a:solidFill>
              <a:srgbClr val="B8C0CC"/>
            </a:solidFill>
            <a:prstDash val="solid"/>
            <a:round/>
          </a:ln>
        </c:spPr>
        <c:txPr>
          <a:bodyPr/>
          <a:lstStyle/>
          <a:p>
            <a:pPr>
              <a:defRPr sz="1100" b="0" i="0" u="none" strike="noStrike">
                <a:solidFill>
                  <a:srgbClr val="7B8494"/>
                </a:solidFill>
                <a:latin typeface="+mn-lt"/>
              </a:defRPr>
            </a:pPr>
            <a:endParaRPr lang="id-ID"/>
          </a:p>
        </c:txPr>
        <c:crossAx val="2094734552"/>
        <c:crosses val="autoZero"/>
        <c:auto val="1"/>
        <c:lblAlgn val="ctr"/>
        <c:lblOffset val="100"/>
        <c:noMultiLvlLbl val="1"/>
      </c:catAx>
      <c:valAx>
        <c:axId val="2094734552"/>
        <c:scaling>
          <c:orientation val="minMax"/>
          <c:max val="7000"/>
          <c:min val="0"/>
        </c:scaling>
        <c:delete val="0"/>
        <c:axPos val="b"/>
        <c:majorGridlines>
          <c:spPr>
            <a:ln w="9525" cap="flat">
              <a:solidFill>
                <a:srgbClr val="E8EBF0"/>
              </a:solidFill>
              <a:prstDash val="solid"/>
              <a:round/>
            </a:ln>
          </c:spPr>
        </c:majorGridlines>
        <c:title>
          <c:tx>
            <c:rich>
              <a:bodyPr/>
              <a:lstStyle/>
              <a:p>
                <a:pPr>
                  <a:defRPr sz="1100" b="0" i="0" u="none" strike="noStrike">
                    <a:solidFill>
                      <a:srgbClr val="7B8494"/>
                    </a:solidFill>
                    <a:latin typeface="+mn-lt"/>
                  </a:defRPr>
                </a:pPr>
                <a:r>
                  <a:rPr lang="id-ID" sz="1100" b="0" i="0" u="none" strike="noStrike">
                    <a:solidFill>
                      <a:srgbClr val="7B8494"/>
                    </a:solidFill>
                    <a:latin typeface="+mn-lt"/>
                  </a:rPr>
                  <a:t>NPI rate dalam kelompok (%)</a:t>
                </a:r>
              </a:p>
            </c:rich>
          </c:tx>
          <c:overlay val="0"/>
        </c:title>
        <c:numFmt formatCode="#,&quot;0%&quot;" sourceLinked="0"/>
        <c:majorTickMark val="out"/>
        <c:minorTickMark val="none"/>
        <c:tickLblPos val="low"/>
        <c:spPr>
          <a:ln w="12700" cap="flat">
            <a:noFill/>
            <a:prstDash val="solid"/>
            <a:round/>
          </a:ln>
        </c:spPr>
        <c:txPr>
          <a:bodyPr/>
          <a:lstStyle/>
          <a:p>
            <a:pPr>
              <a:defRPr sz="1000" b="0" i="0" u="none" strike="noStrike">
                <a:solidFill>
                  <a:srgbClr val="7B8494"/>
                </a:solidFill>
                <a:latin typeface="+mn-lt"/>
              </a:defRPr>
            </a:pPr>
            <a:endParaRPr lang="id-ID"/>
          </a:p>
        </c:txPr>
        <c:crossAx val="2094734554"/>
        <c:crosses val="autoZero"/>
        <c:crossBetween val="between"/>
        <c:majorUnit val="2000"/>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3294B"/>
                </a:solidFill>
                <a:latin typeface="+mn-lt"/>
              </a:defRPr>
            </a:pPr>
            <a:r>
              <a:rPr lang="id-ID" sz="1300" b="0" i="0" u="none" strike="noStrike">
                <a:solidFill>
                  <a:srgbClr val="13294B"/>
                </a:solidFill>
                <a:latin typeface="+mn-lt"/>
              </a:rPr>
              <a:t>Financial exposure</a:t>
            </a:r>
          </a:p>
        </c:rich>
      </c:tx>
      <c:overlay val="0"/>
    </c:title>
    <c:autoTitleDeleted val="0"/>
    <c:plotArea>
      <c:layout/>
      <c:barChart>
        <c:barDir val="bar"/>
        <c:grouping val="clustered"/>
        <c:varyColors val="0"/>
        <c:ser>
          <c:idx val="0"/>
          <c:order val="0"/>
          <c:tx>
            <c:strRef>
              <c:f>Sheet1!$B$1</c:f>
              <c:strCache>
                <c:ptCount val="1"/>
                <c:pt idx="0">
                  <c:v>Exposure</c:v>
                </c:pt>
              </c:strCache>
            </c:strRef>
          </c:tx>
          <c:spPr>
            <a:solidFill>
              <a:srgbClr val="C9A227"/>
            </a:solidFill>
            <a:effectLst/>
          </c:spPr>
          <c:invertIfNegative val="0"/>
          <c:dLbls>
            <c:numFmt formatCode="0\,00" sourceLinked="0"/>
            <c:spPr>
              <a:noFill/>
              <a:ln>
                <a:noFill/>
              </a:ln>
              <a:effectLst/>
            </c:spPr>
            <c:txPr>
              <a:bodyPr/>
              <a:lstStyle/>
              <a:p>
                <a:pPr>
                  <a:defRPr sz="1000" b="0" i="0" u="none" strike="noStrike">
                    <a:solidFill>
                      <a:srgbClr val="1E2633"/>
                    </a:solidFill>
                    <a:latin typeface="+mn-lt"/>
                  </a:defRPr>
                </a:pPr>
                <a:endParaRPr lang="id-ID"/>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H17 Disengketakan</c:v>
                </c:pt>
                <c:pt idx="1">
                  <c:v>H3 Tanpa nomor</c:v>
                </c:pt>
                <c:pt idx="2">
                  <c:v>H7 Cetak fisik</c:v>
                </c:pt>
                <c:pt idx="3">
                  <c:v>H8 Tarif tinggi</c:v>
                </c:pt>
                <c:pt idx="4">
                  <c:v>H1 Vacant</c:v>
                </c:pt>
                <c:pt idx="5">
                  <c:v>H12 Regional Hub</c:v>
                </c:pt>
                <c:pt idx="6">
                  <c:v>H11 New Phase</c:v>
                </c:pt>
                <c:pt idx="7">
                  <c:v>H2 Pemilik jauh</c:v>
                </c:pt>
                <c:pt idx="8">
                  <c:v>H6 Tanpa autodebit</c:v>
                </c:pt>
              </c:strCache>
            </c:strRef>
          </c:cat>
          <c:val>
            <c:numRef>
              <c:f>Sheet1!$B$2:$B$10</c:f>
              <c:numCache>
                <c:formatCode>General</c:formatCode>
                <c:ptCount val="9"/>
                <c:pt idx="0">
                  <c:v>421</c:v>
                </c:pt>
                <c:pt idx="1">
                  <c:v>3950</c:v>
                </c:pt>
                <c:pt idx="2">
                  <c:v>5443</c:v>
                </c:pt>
                <c:pt idx="3">
                  <c:v>5751</c:v>
                </c:pt>
                <c:pt idx="4">
                  <c:v>6610</c:v>
                </c:pt>
                <c:pt idx="5">
                  <c:v>6856</c:v>
                </c:pt>
                <c:pt idx="6">
                  <c:v>7284</c:v>
                </c:pt>
                <c:pt idx="7">
                  <c:v>8939</c:v>
                </c:pt>
                <c:pt idx="8">
                  <c:v>16928</c:v>
                </c:pt>
              </c:numCache>
            </c:numRef>
          </c:val>
          <c:extLst>
            <c:ext xmlns:c16="http://schemas.microsoft.com/office/drawing/2014/chart" uri="{C3380CC4-5D6E-409C-BE32-E72D297353CC}">
              <c16:uniqueId val="{00000000-0594-4E4A-BB72-C7C392B27EE4}"/>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1"/>
        <c:axPos val="l"/>
        <c:numFmt formatCode="General" sourceLinked="1"/>
        <c:majorTickMark val="out"/>
        <c:minorTickMark val="none"/>
        <c:tickLblPos val="nextTo"/>
        <c:crossAx val="2094734552"/>
        <c:crosses val="autoZero"/>
        <c:auto val="1"/>
        <c:lblAlgn val="ctr"/>
        <c:lblOffset val="100"/>
        <c:noMultiLvlLbl val="1"/>
      </c:catAx>
      <c:valAx>
        <c:axId val="2094734552"/>
        <c:scaling>
          <c:orientation val="minMax"/>
          <c:max val="20000"/>
          <c:min val="0"/>
        </c:scaling>
        <c:delete val="0"/>
        <c:axPos val="b"/>
        <c:majorGridlines>
          <c:spPr>
            <a:ln w="9525" cap="flat">
              <a:solidFill>
                <a:srgbClr val="E8EBF0"/>
              </a:solidFill>
              <a:prstDash val="solid"/>
              <a:round/>
            </a:ln>
          </c:spPr>
        </c:majorGridlines>
        <c:title>
          <c:tx>
            <c:rich>
              <a:bodyPr/>
              <a:lstStyle/>
              <a:p>
                <a:pPr>
                  <a:defRPr sz="1100" b="0" i="0" u="none" strike="noStrike">
                    <a:solidFill>
                      <a:srgbClr val="7B8494"/>
                    </a:solidFill>
                    <a:latin typeface="+mn-lt"/>
                  </a:defRPr>
                </a:pPr>
                <a:r>
                  <a:rPr lang="id-ID" sz="1100" b="0" i="0" u="none" strike="noStrike">
                    <a:solidFill>
                      <a:srgbClr val="7B8494"/>
                    </a:solidFill>
                    <a:latin typeface="+mn-lt"/>
                  </a:rPr>
                  <a:t>Nominal NPI analisis (Rp miliar)</a:t>
                </a:r>
              </a:p>
            </c:rich>
          </c:tx>
          <c:overlay val="0"/>
        </c:title>
        <c:numFmt formatCode="#,&quot;0&quot;" sourceLinked="0"/>
        <c:majorTickMark val="out"/>
        <c:minorTickMark val="none"/>
        <c:tickLblPos val="low"/>
        <c:spPr>
          <a:ln w="12700" cap="flat">
            <a:noFill/>
            <a:prstDash val="solid"/>
            <a:round/>
          </a:ln>
        </c:spPr>
        <c:txPr>
          <a:bodyPr/>
          <a:lstStyle/>
          <a:p>
            <a:pPr>
              <a:defRPr sz="1000" b="0" i="0" u="none" strike="noStrike">
                <a:solidFill>
                  <a:srgbClr val="7B8494"/>
                </a:solidFill>
                <a:latin typeface="+mn-lt"/>
              </a:defRPr>
            </a:pPr>
            <a:endParaRPr lang="id-ID"/>
          </a:p>
        </c:txPr>
        <c:crossAx val="2094734554"/>
        <c:crosses val="autoZero"/>
        <c:crossBetween val="between"/>
        <c:majorUnit val="5000"/>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3294B"/>
                </a:solidFill>
                <a:latin typeface="+mn-lt"/>
              </a:defRPr>
            </a:pPr>
            <a:r>
              <a:rPr lang="sv-SE" sz="1300" b="0" i="0" u="none" strike="noStrike" dirty="0">
                <a:solidFill>
                  <a:srgbClr val="13294B"/>
                </a:solidFill>
                <a:latin typeface="+mn-lt"/>
              </a:rPr>
              <a:t>Nominal NPI per umur tunggakan</a:t>
            </a:r>
          </a:p>
        </c:rich>
      </c:tx>
      <c:overlay val="0"/>
    </c:title>
    <c:autoTitleDeleted val="0"/>
    <c:plotArea>
      <c:layout/>
      <c:barChart>
        <c:barDir val="col"/>
        <c:grouping val="clustered"/>
        <c:varyColors val="0"/>
        <c:ser>
          <c:idx val="0"/>
          <c:order val="0"/>
          <c:tx>
            <c:strRef>
              <c:f>Sheet1!$B$1</c:f>
              <c:strCache>
                <c:ptCount val="1"/>
                <c:pt idx="0">
                  <c:v>Nominal bruto</c:v>
                </c:pt>
              </c:strCache>
            </c:strRef>
          </c:tx>
          <c:spPr>
            <a:solidFill>
              <a:srgbClr val="B8C0CC"/>
            </a:solidFill>
            <a:effectLst/>
          </c:spPr>
          <c:invertIfNegative val="0"/>
          <c:dLbls>
            <c:numFmt formatCode="0\,0" sourceLinked="0"/>
            <c:spPr>
              <a:noFill/>
              <a:ln>
                <a:noFill/>
              </a:ln>
              <a:effectLst/>
            </c:spPr>
            <c:txPr>
              <a:bodyPr/>
              <a:lstStyle/>
              <a:p>
                <a:pPr>
                  <a:defRPr sz="1000" b="0" i="0" u="none" strike="noStrike">
                    <a:solidFill>
                      <a:srgbClr val="1E2633"/>
                    </a:solidFill>
                    <a:latin typeface="+mn-lt"/>
                  </a:defRPr>
                </a:pPr>
                <a:endParaRPr lang="id-ID"/>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Belum jatuh tempo</c:v>
                </c:pt>
                <c:pt idx="1">
                  <c:v>0–30 hari</c:v>
                </c:pt>
                <c:pt idx="2">
                  <c:v>31–90 hari</c:v>
                </c:pt>
                <c:pt idx="3">
                  <c:v>91–180 hari</c:v>
                </c:pt>
                <c:pt idx="4">
                  <c:v>181–365 hari</c:v>
                </c:pt>
                <c:pt idx="5">
                  <c:v>&gt; 365 hari</c:v>
                </c:pt>
              </c:strCache>
            </c:strRef>
          </c:cat>
          <c:val>
            <c:numRef>
              <c:f>Sheet1!$B$2:$B$7</c:f>
              <c:numCache>
                <c:formatCode>General</c:formatCode>
                <c:ptCount val="6"/>
                <c:pt idx="0">
                  <c:v>0</c:v>
                </c:pt>
                <c:pt idx="1">
                  <c:v>90</c:v>
                </c:pt>
                <c:pt idx="2">
                  <c:v>173</c:v>
                </c:pt>
                <c:pt idx="3">
                  <c:v>255</c:v>
                </c:pt>
                <c:pt idx="4">
                  <c:v>511</c:v>
                </c:pt>
                <c:pt idx="5">
                  <c:v>1218</c:v>
                </c:pt>
              </c:numCache>
            </c:numRef>
          </c:val>
          <c:extLst>
            <c:ext xmlns:c16="http://schemas.microsoft.com/office/drawing/2014/chart" uri="{C3380CC4-5D6E-409C-BE32-E72D297353CC}">
              <c16:uniqueId val="{00000000-8D97-43C3-8C05-7D4613847AA8}"/>
            </c:ext>
          </c:extLst>
        </c:ser>
        <c:ser>
          <c:idx val="1"/>
          <c:order val="1"/>
          <c:tx>
            <c:strRef>
              <c:f>Sheet1!$C$1</c:f>
              <c:strCache>
                <c:ptCount val="1"/>
                <c:pt idx="0">
                  <c:v>Nominal analisis</c:v>
                </c:pt>
              </c:strCache>
            </c:strRef>
          </c:tx>
          <c:spPr>
            <a:solidFill>
              <a:srgbClr val="13294B"/>
            </a:solidFill>
            <a:effectLst/>
          </c:spPr>
          <c:invertIfNegative val="0"/>
          <c:dLbls>
            <c:numFmt formatCode="0\,0" sourceLinked="0"/>
            <c:spPr>
              <a:noFill/>
              <a:ln>
                <a:noFill/>
              </a:ln>
              <a:effectLst/>
            </c:spPr>
            <c:txPr>
              <a:bodyPr/>
              <a:lstStyle/>
              <a:p>
                <a:pPr>
                  <a:defRPr sz="1000" b="0" i="0" u="none" strike="noStrike">
                    <a:solidFill>
                      <a:srgbClr val="1E2633"/>
                    </a:solidFill>
                    <a:latin typeface="+mn-lt"/>
                  </a:defRPr>
                </a:pPr>
                <a:endParaRPr lang="id-ID"/>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Belum jatuh tempo</c:v>
                </c:pt>
                <c:pt idx="1">
                  <c:v>0–30 hari</c:v>
                </c:pt>
                <c:pt idx="2">
                  <c:v>31–90 hari</c:v>
                </c:pt>
                <c:pt idx="3">
                  <c:v>91–180 hari</c:v>
                </c:pt>
                <c:pt idx="4">
                  <c:v>181–365 hari</c:v>
                </c:pt>
                <c:pt idx="5">
                  <c:v>&gt; 365 hari</c:v>
                </c:pt>
              </c:strCache>
            </c:strRef>
          </c:cat>
          <c:val>
            <c:numRef>
              <c:f>Sheet1!$C$2:$C$7</c:f>
              <c:numCache>
                <c:formatCode>General</c:formatCode>
                <c:ptCount val="6"/>
                <c:pt idx="0">
                  <c:v>0</c:v>
                </c:pt>
                <c:pt idx="1">
                  <c:v>70</c:v>
                </c:pt>
                <c:pt idx="2">
                  <c:v>141</c:v>
                </c:pt>
                <c:pt idx="3">
                  <c:v>210</c:v>
                </c:pt>
                <c:pt idx="4">
                  <c:v>408</c:v>
                </c:pt>
                <c:pt idx="5">
                  <c:v>935</c:v>
                </c:pt>
              </c:numCache>
            </c:numRef>
          </c:val>
          <c:extLst>
            <c:ext xmlns:c16="http://schemas.microsoft.com/office/drawing/2014/chart" uri="{C3380CC4-5D6E-409C-BE32-E72D297353CC}">
              <c16:uniqueId val="{00000001-8D97-43C3-8C05-7D4613847AA8}"/>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title>
          <c:tx>
            <c:rich>
              <a:bodyPr/>
              <a:lstStyle/>
              <a:p>
                <a:pPr>
                  <a:defRPr sz="1100" b="0" i="0" u="none" strike="noStrike">
                    <a:solidFill>
                      <a:srgbClr val="7B8494"/>
                    </a:solidFill>
                    <a:latin typeface="+mn-lt"/>
                  </a:defRPr>
                </a:pPr>
                <a:r>
                  <a:rPr lang="sv-SE" sz="1100" b="0" i="0" u="none" strike="noStrike" dirty="0" err="1">
                    <a:solidFill>
                      <a:srgbClr val="7B8494"/>
                    </a:solidFill>
                    <a:latin typeface="+mn-lt"/>
                  </a:rPr>
                  <a:t>Umur</a:t>
                </a:r>
                <a:r>
                  <a:rPr lang="sv-SE" sz="1100" b="0" i="0" u="none" strike="noStrike" dirty="0">
                    <a:solidFill>
                      <a:srgbClr val="7B8494"/>
                    </a:solidFill>
                    <a:latin typeface="+mn-lt"/>
                  </a:rPr>
                  <a:t> </a:t>
                </a:r>
                <a:r>
                  <a:rPr lang="sv-SE" sz="1100" b="0" i="0" u="none" strike="noStrike" dirty="0" err="1">
                    <a:solidFill>
                      <a:srgbClr val="7B8494"/>
                    </a:solidFill>
                    <a:latin typeface="+mn-lt"/>
                  </a:rPr>
                  <a:t>tunggakan</a:t>
                </a:r>
                <a:endParaRPr lang="sv-SE" sz="1100" b="0" i="0" u="none" strike="noStrike" dirty="0">
                  <a:solidFill>
                    <a:srgbClr val="7B8494"/>
                  </a:solidFill>
                  <a:latin typeface="+mn-lt"/>
                </a:endParaRPr>
              </a:p>
            </c:rich>
          </c:tx>
          <c:overlay val="0"/>
        </c:title>
        <c:numFmt formatCode="General" sourceLinked="1"/>
        <c:majorTickMark val="out"/>
        <c:minorTickMark val="none"/>
        <c:tickLblPos val="low"/>
        <c:spPr>
          <a:ln w="12700" cap="flat">
            <a:solidFill>
              <a:srgbClr val="B8C0CC"/>
            </a:solidFill>
            <a:prstDash val="solid"/>
            <a:round/>
          </a:ln>
        </c:spPr>
        <c:txPr>
          <a:bodyPr/>
          <a:lstStyle/>
          <a:p>
            <a:pPr>
              <a:defRPr sz="1100" b="0" i="0" u="none" strike="noStrike">
                <a:solidFill>
                  <a:srgbClr val="7B8494"/>
                </a:solidFill>
                <a:latin typeface="+mn-lt"/>
              </a:defRPr>
            </a:pPr>
            <a:endParaRPr lang="id-ID"/>
          </a:p>
        </c:txPr>
        <c:crossAx val="2094734552"/>
        <c:crosses val="autoZero"/>
        <c:auto val="1"/>
        <c:lblAlgn val="ctr"/>
        <c:lblOffset val="100"/>
        <c:noMultiLvlLbl val="1"/>
      </c:catAx>
      <c:valAx>
        <c:axId val="2094734552"/>
        <c:scaling>
          <c:orientation val="minMax"/>
          <c:max val="1400"/>
          <c:min val="0"/>
        </c:scaling>
        <c:delete val="0"/>
        <c:axPos val="l"/>
        <c:majorGridlines>
          <c:spPr>
            <a:ln w="9525" cap="flat">
              <a:solidFill>
                <a:srgbClr val="E8EBF0"/>
              </a:solidFill>
              <a:prstDash val="solid"/>
              <a:round/>
            </a:ln>
          </c:spPr>
        </c:majorGridlines>
        <c:title>
          <c:tx>
            <c:rich>
              <a:bodyPr/>
              <a:lstStyle/>
              <a:p>
                <a:pPr>
                  <a:defRPr sz="1100" b="0" i="0" u="none" strike="noStrike">
                    <a:solidFill>
                      <a:srgbClr val="7B8494"/>
                    </a:solidFill>
                    <a:latin typeface="+mn-lt"/>
                  </a:defRPr>
                </a:pPr>
                <a:r>
                  <a:rPr lang="id-ID" sz="1100" b="0" i="0" u="none" strike="noStrike">
                    <a:solidFill>
                      <a:srgbClr val="7B8494"/>
                    </a:solidFill>
                    <a:latin typeface="+mn-lt"/>
                  </a:rPr>
                  <a:t>Nominal NPI (Rp miliar)</a:t>
                </a:r>
              </a:p>
            </c:rich>
          </c:tx>
          <c:overlay val="0"/>
        </c:title>
        <c:numFmt formatCode="0\,0" sourceLinked="0"/>
        <c:majorTickMark val="out"/>
        <c:minorTickMark val="none"/>
        <c:tickLblPos val="nextTo"/>
        <c:spPr>
          <a:ln w="12700" cap="flat">
            <a:noFill/>
            <a:prstDash val="solid"/>
            <a:round/>
          </a:ln>
        </c:spPr>
        <c:txPr>
          <a:bodyPr/>
          <a:lstStyle/>
          <a:p>
            <a:pPr>
              <a:defRPr sz="1000" b="0" i="0" u="none" strike="noStrike">
                <a:solidFill>
                  <a:srgbClr val="7B8494"/>
                </a:solidFill>
                <a:latin typeface="+mn-lt"/>
              </a:defRPr>
            </a:pPr>
            <a:endParaRPr lang="id-ID"/>
          </a:p>
        </c:txPr>
        <c:crossAx val="2094734554"/>
        <c:crosses val="autoZero"/>
        <c:crossBetween val="between"/>
        <c:majorUnit val="200"/>
      </c:valAx>
      <c:spPr>
        <a:noFill/>
        <a:ln>
          <a:noFill/>
        </a:ln>
        <a:effectLst/>
      </c:spPr>
    </c:plotArea>
    <c:legend>
      <c:legendPos val="t"/>
      <c:overlay val="0"/>
      <c:txPr>
        <a:bodyPr/>
        <a:lstStyle/>
        <a:p>
          <a:pPr>
            <a:defRPr sz="1100">
              <a:latin typeface="+mn-lt"/>
              <a:cs typeface="+mn-lt"/>
            </a:defRPr>
          </a:pPr>
          <a:endParaRPr lang="id-ID"/>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3294B"/>
                </a:solidFill>
                <a:latin typeface="+mn-lt"/>
              </a:defRPr>
            </a:pPr>
            <a:r>
              <a:rPr lang="id-ID" sz="1200" b="0" i="0" u="none" strike="noStrike">
                <a:solidFill>
                  <a:srgbClr val="13294B"/>
                </a:solidFill>
                <a:latin typeface="+mn-lt"/>
              </a:rPr>
              <a:t>Metode bayar setelah standarisasi (invoice utama Paid)</a:t>
            </a:r>
          </a:p>
        </c:rich>
      </c:tx>
      <c:overlay val="0"/>
    </c:title>
    <c:autoTitleDeleted val="0"/>
    <c:plotArea>
      <c:layout/>
      <c:barChart>
        <c:barDir val="bar"/>
        <c:grouping val="clustered"/>
        <c:varyColors val="0"/>
        <c:ser>
          <c:idx val="0"/>
          <c:order val="0"/>
          <c:tx>
            <c:strRef>
              <c:f>Sheet1!$B$1</c:f>
              <c:strCache>
                <c:ptCount val="1"/>
                <c:pt idx="0">
                  <c:v>Invoice Paid</c:v>
                </c:pt>
              </c:strCache>
            </c:strRef>
          </c:tx>
          <c:spPr>
            <a:solidFill>
              <a:srgbClr val="13294B"/>
            </a:solidFill>
            <a:effectLst/>
          </c:spPr>
          <c:invertIfNegative val="0"/>
          <c:dLbls>
            <c:numFmt formatCode="0\,00&quot;%&quot;" sourceLinked="0"/>
            <c:spPr>
              <a:noFill/>
              <a:ln>
                <a:noFill/>
              </a:ln>
              <a:effectLst/>
            </c:spPr>
            <c:txPr>
              <a:bodyPr/>
              <a:lstStyle/>
              <a:p>
                <a:pPr>
                  <a:defRPr sz="1100" b="0" i="0" u="none" strike="noStrike">
                    <a:solidFill>
                      <a:srgbClr val="1E2633"/>
                    </a:solidFill>
                    <a:latin typeface="+mn-lt"/>
                  </a:defRPr>
                </a:pPr>
                <a:endParaRPr lang="id-ID"/>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Tokopedia (TOKPED)</c:v>
                </c:pt>
                <c:pt idx="1">
                  <c:v>Kartu Kredit (CC)</c:v>
                </c:pt>
                <c:pt idx="2">
                  <c:v>Tunai (CASH)</c:v>
                </c:pt>
                <c:pt idx="3">
                  <c:v>Virtual Account BCA (VA-BCA)</c:v>
                </c:pt>
              </c:strCache>
            </c:strRef>
          </c:cat>
          <c:val>
            <c:numRef>
              <c:f>Sheet1!$B$2:$B$5</c:f>
              <c:numCache>
                <c:formatCode>General</c:formatCode>
                <c:ptCount val="4"/>
                <c:pt idx="0">
                  <c:v>1504</c:v>
                </c:pt>
                <c:pt idx="1">
                  <c:v>1504</c:v>
                </c:pt>
                <c:pt idx="2">
                  <c:v>2502</c:v>
                </c:pt>
                <c:pt idx="3">
                  <c:v>4490</c:v>
                </c:pt>
              </c:numCache>
            </c:numRef>
          </c:val>
          <c:extLst>
            <c:ext xmlns:c16="http://schemas.microsoft.com/office/drawing/2014/chart" uri="{C3380CC4-5D6E-409C-BE32-E72D297353CC}">
              <c16:uniqueId val="{00000000-C92D-4D35-B832-654A0E2FF742}"/>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l"/>
        <c:title>
          <c:tx>
            <c:rich>
              <a:bodyPr/>
              <a:lstStyle/>
              <a:p>
                <a:pPr>
                  <a:defRPr sz="1100" b="0" i="0" u="none" strike="noStrike">
                    <a:solidFill>
                      <a:srgbClr val="7B8494"/>
                    </a:solidFill>
                    <a:latin typeface="+mn-lt"/>
                  </a:defRPr>
                </a:pPr>
                <a:r>
                  <a:rPr lang="id-ID" sz="1100" b="0" i="0" u="none" strike="noStrike">
                    <a:solidFill>
                      <a:srgbClr val="7B8494"/>
                    </a:solidFill>
                    <a:latin typeface="+mn-lt"/>
                  </a:rPr>
                  <a:t>Kanal pembayaran standar</a:t>
                </a:r>
              </a:p>
            </c:rich>
          </c:tx>
          <c:overlay val="0"/>
        </c:title>
        <c:numFmt formatCode="General" sourceLinked="1"/>
        <c:majorTickMark val="out"/>
        <c:minorTickMark val="none"/>
        <c:tickLblPos val="nextTo"/>
        <c:spPr>
          <a:ln w="12700" cap="flat">
            <a:solidFill>
              <a:srgbClr val="B8C0CC"/>
            </a:solidFill>
            <a:prstDash val="solid"/>
            <a:round/>
          </a:ln>
        </c:spPr>
        <c:txPr>
          <a:bodyPr/>
          <a:lstStyle/>
          <a:p>
            <a:pPr>
              <a:defRPr sz="1000" b="0" i="0" u="none" strike="noStrike">
                <a:solidFill>
                  <a:srgbClr val="7B8494"/>
                </a:solidFill>
                <a:latin typeface="+mn-lt"/>
              </a:defRPr>
            </a:pPr>
            <a:endParaRPr lang="id-ID"/>
          </a:p>
        </c:txPr>
        <c:crossAx val="2094734552"/>
        <c:crosses val="autoZero"/>
        <c:auto val="1"/>
        <c:lblAlgn val="ctr"/>
        <c:lblOffset val="100"/>
        <c:noMultiLvlLbl val="1"/>
      </c:catAx>
      <c:valAx>
        <c:axId val="2094734552"/>
        <c:scaling>
          <c:orientation val="minMax"/>
          <c:max val="6000"/>
          <c:min val="0"/>
        </c:scaling>
        <c:delete val="0"/>
        <c:axPos val="b"/>
        <c:majorGridlines>
          <c:spPr>
            <a:ln w="9525" cap="flat">
              <a:solidFill>
                <a:srgbClr val="E8EBF0"/>
              </a:solidFill>
              <a:prstDash val="solid"/>
              <a:round/>
            </a:ln>
          </c:spPr>
        </c:majorGridlines>
        <c:title>
          <c:tx>
            <c:rich>
              <a:bodyPr/>
              <a:lstStyle/>
              <a:p>
                <a:pPr>
                  <a:defRPr sz="1100" b="0" i="0" u="none" strike="noStrike">
                    <a:solidFill>
                      <a:srgbClr val="7B8494"/>
                    </a:solidFill>
                    <a:latin typeface="+mn-lt"/>
                  </a:defRPr>
                </a:pPr>
                <a:r>
                  <a:rPr lang="id-ID" sz="1100" b="0" i="0" u="none" strike="noStrike">
                    <a:solidFill>
                      <a:srgbClr val="7B8494"/>
                    </a:solidFill>
                    <a:latin typeface="+mn-lt"/>
                  </a:rPr>
                  <a:t>Proporsi invoice Paid (%)</a:t>
                </a:r>
              </a:p>
            </c:rich>
          </c:tx>
          <c:overlay val="0"/>
        </c:title>
        <c:numFmt formatCode="#,&quot;0%&quot;" sourceLinked="0"/>
        <c:majorTickMark val="out"/>
        <c:minorTickMark val="none"/>
        <c:tickLblPos val="low"/>
        <c:spPr>
          <a:ln w="12700" cap="flat">
            <a:noFill/>
            <a:prstDash val="solid"/>
            <a:round/>
          </a:ln>
        </c:spPr>
        <c:txPr>
          <a:bodyPr/>
          <a:lstStyle/>
          <a:p>
            <a:pPr>
              <a:defRPr sz="1000" b="0" i="0" u="none" strike="noStrike">
                <a:solidFill>
                  <a:srgbClr val="7B8494"/>
                </a:solidFill>
                <a:latin typeface="+mn-lt"/>
              </a:defRPr>
            </a:pPr>
            <a:endParaRPr lang="id-ID"/>
          </a:p>
        </c:txPr>
        <c:crossAx val="2094734554"/>
        <c:crosses val="autoZero"/>
        <c:crossBetween val="between"/>
        <c:majorUnit val="2000"/>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3294B"/>
                </a:solidFill>
                <a:latin typeface="+mn-lt"/>
              </a:defRPr>
            </a:pPr>
            <a:r>
              <a:rPr lang="id-ID" sz="1200" b="0" i="0" u="none" strike="noStrike">
                <a:solidFill>
                  <a:srgbClr val="13294B"/>
                </a:solidFill>
                <a:latin typeface="+mn-lt"/>
              </a:rPr>
              <a:t>Ekstrapolasi ilustratif: Rp7,00 M × jumlah bulan</a:t>
            </a:r>
          </a:p>
        </c:rich>
      </c:tx>
      <c:overlay val="0"/>
    </c:title>
    <c:autoTitleDeleted val="0"/>
    <c:plotArea>
      <c:layout/>
      <c:barChart>
        <c:barDir val="col"/>
        <c:grouping val="clustered"/>
        <c:varyColors val="0"/>
        <c:ser>
          <c:idx val="0"/>
          <c:order val="0"/>
          <c:tx>
            <c:strRef>
              <c:f>Sheet1!$B$1</c:f>
              <c:strCache>
                <c:ptCount val="1"/>
                <c:pt idx="0">
                  <c:v>Nominal NPI kumulatif</c:v>
                </c:pt>
              </c:strCache>
            </c:strRef>
          </c:tx>
          <c:spPr>
            <a:solidFill>
              <a:srgbClr val="C9A227"/>
            </a:solidFill>
            <a:effectLst/>
          </c:spPr>
          <c:invertIfNegative val="0"/>
          <c:dLbls>
            <c:numFmt formatCode="0\,0" sourceLinked="0"/>
            <c:spPr>
              <a:noFill/>
              <a:ln>
                <a:noFill/>
              </a:ln>
              <a:effectLst/>
            </c:spPr>
            <c:txPr>
              <a:bodyPr/>
              <a:lstStyle/>
              <a:p>
                <a:pPr>
                  <a:defRPr sz="1100" b="0" i="0" u="none" strike="noStrike">
                    <a:solidFill>
                      <a:srgbClr val="1E2633"/>
                    </a:solidFill>
                    <a:latin typeface="+mn-lt"/>
                  </a:defRPr>
                </a:pPr>
                <a:endParaRPr lang="id-ID"/>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1</c:v>
                </c:pt>
                <c:pt idx="1">
                  <c:v>2</c:v>
                </c:pt>
                <c:pt idx="2">
                  <c:v>3</c:v>
                </c:pt>
                <c:pt idx="3">
                  <c:v>4</c:v>
                </c:pt>
                <c:pt idx="4">
                  <c:v>5</c:v>
                </c:pt>
                <c:pt idx="5">
                  <c:v>6</c:v>
                </c:pt>
              </c:strCache>
            </c:strRef>
          </c:cat>
          <c:val>
            <c:numRef>
              <c:f>Sheet1!$B$2:$B$7</c:f>
              <c:numCache>
                <c:formatCode>General</c:formatCode>
                <c:ptCount val="6"/>
                <c:pt idx="0">
                  <c:v>70</c:v>
                </c:pt>
                <c:pt idx="1">
                  <c:v>140</c:v>
                </c:pt>
                <c:pt idx="2">
                  <c:v>210</c:v>
                </c:pt>
                <c:pt idx="3">
                  <c:v>280</c:v>
                </c:pt>
                <c:pt idx="4">
                  <c:v>350</c:v>
                </c:pt>
                <c:pt idx="5">
                  <c:v>420</c:v>
                </c:pt>
              </c:numCache>
            </c:numRef>
          </c:val>
          <c:extLst>
            <c:ext xmlns:c16="http://schemas.microsoft.com/office/drawing/2014/chart" uri="{C3380CC4-5D6E-409C-BE32-E72D297353CC}">
              <c16:uniqueId val="{00000000-5C02-431C-BD81-94F12C48E5E0}"/>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title>
          <c:tx>
            <c:rich>
              <a:bodyPr/>
              <a:lstStyle/>
              <a:p>
                <a:pPr>
                  <a:defRPr sz="1100" b="0" i="0" u="none" strike="noStrike">
                    <a:solidFill>
                      <a:srgbClr val="7B8494"/>
                    </a:solidFill>
                    <a:latin typeface="+mn-lt"/>
                  </a:defRPr>
                </a:pPr>
                <a:r>
                  <a:rPr lang="id-ID" sz="1100" b="0" i="0" u="none" strike="noStrike">
                    <a:solidFill>
                      <a:srgbClr val="7B8494"/>
                    </a:solidFill>
                    <a:latin typeface="+mn-lt"/>
                  </a:rPr>
                  <a:t>Bulan proyeksi ilustratif</a:t>
                </a:r>
              </a:p>
            </c:rich>
          </c:tx>
          <c:overlay val="0"/>
        </c:title>
        <c:numFmt formatCode="General" sourceLinked="1"/>
        <c:majorTickMark val="out"/>
        <c:minorTickMark val="none"/>
        <c:tickLblPos val="low"/>
        <c:spPr>
          <a:ln w="12700" cap="flat">
            <a:solidFill>
              <a:srgbClr val="B8C0CC"/>
            </a:solidFill>
            <a:prstDash val="solid"/>
            <a:round/>
          </a:ln>
        </c:spPr>
        <c:txPr>
          <a:bodyPr/>
          <a:lstStyle/>
          <a:p>
            <a:pPr>
              <a:defRPr sz="1100" b="0" i="0" u="none" strike="noStrike">
                <a:solidFill>
                  <a:srgbClr val="7B8494"/>
                </a:solidFill>
                <a:latin typeface="+mn-lt"/>
              </a:defRPr>
            </a:pPr>
            <a:endParaRPr lang="id-ID"/>
          </a:p>
        </c:txPr>
        <c:crossAx val="2094734552"/>
        <c:crosses val="autoZero"/>
        <c:auto val="1"/>
        <c:lblAlgn val="ctr"/>
        <c:lblOffset val="100"/>
        <c:noMultiLvlLbl val="1"/>
      </c:catAx>
      <c:valAx>
        <c:axId val="2094734552"/>
        <c:scaling>
          <c:orientation val="minMax"/>
          <c:max val="500"/>
          <c:min val="0"/>
        </c:scaling>
        <c:delete val="0"/>
        <c:axPos val="l"/>
        <c:majorGridlines>
          <c:spPr>
            <a:ln w="9525" cap="flat">
              <a:solidFill>
                <a:srgbClr val="E8EBF0"/>
              </a:solidFill>
              <a:prstDash val="solid"/>
              <a:round/>
            </a:ln>
          </c:spPr>
        </c:majorGridlines>
        <c:title>
          <c:tx>
            <c:rich>
              <a:bodyPr/>
              <a:lstStyle/>
              <a:p>
                <a:pPr>
                  <a:defRPr sz="1100" b="0" i="0" u="none" strike="noStrike">
                    <a:solidFill>
                      <a:srgbClr val="7B8494"/>
                    </a:solidFill>
                    <a:latin typeface="+mn-lt"/>
                  </a:defRPr>
                </a:pPr>
                <a:r>
                  <a:rPr lang="id-ID" sz="1100" b="0" i="0" u="none" strike="noStrike">
                    <a:solidFill>
                      <a:srgbClr val="7B8494"/>
                    </a:solidFill>
                    <a:latin typeface="+mn-lt"/>
                  </a:rPr>
                  <a:t>NPI baru kumulatif (Rp miliar)</a:t>
                </a:r>
              </a:p>
            </c:rich>
          </c:tx>
          <c:overlay val="0"/>
        </c:title>
        <c:numFmt formatCode="0\,0" sourceLinked="0"/>
        <c:majorTickMark val="out"/>
        <c:minorTickMark val="none"/>
        <c:tickLblPos val="nextTo"/>
        <c:spPr>
          <a:ln w="12700" cap="flat">
            <a:noFill/>
            <a:prstDash val="solid"/>
            <a:round/>
          </a:ln>
        </c:spPr>
        <c:txPr>
          <a:bodyPr/>
          <a:lstStyle/>
          <a:p>
            <a:pPr>
              <a:defRPr sz="1000" b="0" i="0" u="none" strike="noStrike">
                <a:solidFill>
                  <a:srgbClr val="7B8494"/>
                </a:solidFill>
                <a:latin typeface="+mn-lt"/>
              </a:defRPr>
            </a:pPr>
            <a:endParaRPr lang="id-ID"/>
          </a:p>
        </c:txPr>
        <c:crossAx val="2094734554"/>
        <c:crosses val="autoZero"/>
        <c:crossBetween val="between"/>
        <c:majorUnit val="100"/>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3294B"/>
                </a:solidFill>
                <a:latin typeface="+mn-lt"/>
              </a:defRPr>
            </a:pPr>
            <a:r>
              <a:rPr lang="id-ID" sz="1200" b="0" i="0" u="none" strike="noStrike">
                <a:solidFill>
                  <a:srgbClr val="13294B"/>
                </a:solidFill>
                <a:latin typeface="+mn-lt"/>
              </a:rPr>
              <a:t>NPI tagihan baru setelah simulasi</a:t>
            </a:r>
          </a:p>
        </c:rich>
      </c:tx>
      <c:overlay val="0"/>
    </c:title>
    <c:autoTitleDeleted val="0"/>
    <c:plotArea>
      <c:layout/>
      <c:barChart>
        <c:barDir val="col"/>
        <c:grouping val="clustered"/>
        <c:varyColors val="0"/>
        <c:ser>
          <c:idx val="0"/>
          <c:order val="0"/>
          <c:tx>
            <c:strRef>
              <c:f>Sheet1!$B$1</c:f>
              <c:strCache>
                <c:ptCount val="1"/>
                <c:pt idx="0">
                  <c:v>NPI tagihan baru</c:v>
                </c:pt>
              </c:strCache>
            </c:strRef>
          </c:tx>
          <c:spPr>
            <a:solidFill>
              <a:srgbClr val="B8C0CC"/>
            </a:solidFill>
            <a:effectLst/>
          </c:spPr>
          <c:invertIfNegative val="0"/>
          <c:dPt>
            <c:idx val="0"/>
            <c:invertIfNegative val="0"/>
            <c:bubble3D val="0"/>
            <c:spPr>
              <a:solidFill>
                <a:srgbClr val="B8C0CC"/>
              </a:solidFill>
              <a:effectLst/>
            </c:spPr>
            <c:extLst>
              <c:ext xmlns:c16="http://schemas.microsoft.com/office/drawing/2014/chart" uri="{C3380CC4-5D6E-409C-BE32-E72D297353CC}">
                <c16:uniqueId val="{00000001-A2BF-4F1F-A05E-E6311DC67F7C}"/>
              </c:ext>
            </c:extLst>
          </c:dPt>
          <c:dPt>
            <c:idx val="1"/>
            <c:invertIfNegative val="0"/>
            <c:bubble3D val="0"/>
            <c:spPr>
              <a:solidFill>
                <a:srgbClr val="13294B"/>
              </a:solidFill>
              <a:effectLst/>
            </c:spPr>
            <c:extLst>
              <c:ext xmlns:c16="http://schemas.microsoft.com/office/drawing/2014/chart" uri="{C3380CC4-5D6E-409C-BE32-E72D297353CC}">
                <c16:uniqueId val="{00000003-A2BF-4F1F-A05E-E6311DC67F7C}"/>
              </c:ext>
            </c:extLst>
          </c:dPt>
          <c:dPt>
            <c:idx val="2"/>
            <c:invertIfNegative val="0"/>
            <c:bubble3D val="0"/>
            <c:spPr>
              <a:solidFill>
                <a:srgbClr val="C9A227"/>
              </a:solidFill>
              <a:effectLst/>
            </c:spPr>
            <c:extLst>
              <c:ext xmlns:c16="http://schemas.microsoft.com/office/drawing/2014/chart" uri="{C3380CC4-5D6E-409C-BE32-E72D297353CC}">
                <c16:uniqueId val="{00000005-A2BF-4F1F-A05E-E6311DC67F7C}"/>
              </c:ext>
            </c:extLst>
          </c:dPt>
          <c:dPt>
            <c:idx val="3"/>
            <c:invertIfNegative val="0"/>
            <c:bubble3D val="0"/>
            <c:spPr>
              <a:solidFill>
                <a:srgbClr val="13294B"/>
              </a:solidFill>
              <a:effectLst/>
            </c:spPr>
            <c:extLst>
              <c:ext xmlns:c16="http://schemas.microsoft.com/office/drawing/2014/chart" uri="{C3380CC4-5D6E-409C-BE32-E72D297353CC}">
                <c16:uniqueId val="{00000007-A2BF-4F1F-A05E-E6311DC67F7C}"/>
              </c:ext>
            </c:extLst>
          </c:dPt>
          <c:dLbls>
            <c:numFmt formatCode="0\,00&quot;%&quot;" sourceLinked="0"/>
            <c:spPr>
              <a:noFill/>
              <a:ln>
                <a:noFill/>
              </a:ln>
              <a:effectLst/>
            </c:spPr>
            <c:txPr>
              <a:bodyPr/>
              <a:lstStyle/>
              <a:p>
                <a:pPr>
                  <a:defRPr sz="1100" b="0" i="0" u="none" strike="noStrike">
                    <a:solidFill>
                      <a:srgbClr val="1E2633"/>
                    </a:solidFill>
                    <a:latin typeface="+mn-lt"/>
                  </a:defRPr>
                </a:pPr>
                <a:endParaRPr lang="id-ID"/>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Saat ini</c:v>
                </c:pt>
                <c:pt idx="1">
                  <c:v>Konservatif (25%)</c:v>
                </c:pt>
                <c:pt idx="2">
                  <c:v>Dasar (50%)</c:v>
                </c:pt>
                <c:pt idx="3">
                  <c:v>Optimistis (100%)</c:v>
                </c:pt>
              </c:strCache>
            </c:strRef>
          </c:cat>
          <c:val>
            <c:numRef>
              <c:f>Sheet1!$B$2:$B$5</c:f>
              <c:numCache>
                <c:formatCode>General</c:formatCode>
                <c:ptCount val="4"/>
                <c:pt idx="0">
                  <c:v>3724</c:v>
                </c:pt>
                <c:pt idx="1">
                  <c:v>3601</c:v>
                </c:pt>
                <c:pt idx="2">
                  <c:v>3478</c:v>
                </c:pt>
                <c:pt idx="3">
                  <c:v>3232</c:v>
                </c:pt>
              </c:numCache>
            </c:numRef>
          </c:val>
          <c:extLst>
            <c:ext xmlns:c16="http://schemas.microsoft.com/office/drawing/2014/chart" uri="{C3380CC4-5D6E-409C-BE32-E72D297353CC}">
              <c16:uniqueId val="{00000008-A2BF-4F1F-A05E-E6311DC67F7C}"/>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title>
          <c:tx>
            <c:rich>
              <a:bodyPr/>
              <a:lstStyle/>
              <a:p>
                <a:pPr>
                  <a:defRPr sz="1100" b="0" i="0" u="none" strike="noStrike">
                    <a:solidFill>
                      <a:srgbClr val="7B8494"/>
                    </a:solidFill>
                    <a:latin typeface="+mn-lt"/>
                  </a:defRPr>
                </a:pPr>
                <a:r>
                  <a:rPr lang="id-ID" sz="1100" b="0" i="0" u="none" strike="noStrike">
                    <a:solidFill>
                      <a:srgbClr val="7B8494"/>
                    </a:solidFill>
                    <a:latin typeface="+mn-lt"/>
                  </a:rPr>
                  <a:t>Skenario keberhasilan</a:t>
                </a:r>
              </a:p>
            </c:rich>
          </c:tx>
          <c:overlay val="0"/>
        </c:title>
        <c:numFmt formatCode="General" sourceLinked="1"/>
        <c:majorTickMark val="out"/>
        <c:minorTickMark val="none"/>
        <c:tickLblPos val="low"/>
        <c:spPr>
          <a:ln w="12700" cap="flat">
            <a:solidFill>
              <a:srgbClr val="B8C0CC"/>
            </a:solidFill>
            <a:prstDash val="solid"/>
            <a:round/>
          </a:ln>
        </c:spPr>
        <c:txPr>
          <a:bodyPr/>
          <a:lstStyle/>
          <a:p>
            <a:pPr>
              <a:defRPr sz="1000" b="0" i="0" u="none" strike="noStrike">
                <a:solidFill>
                  <a:srgbClr val="7B8494"/>
                </a:solidFill>
                <a:latin typeface="+mn-lt"/>
              </a:defRPr>
            </a:pPr>
            <a:endParaRPr lang="id-ID"/>
          </a:p>
        </c:txPr>
        <c:crossAx val="2094734552"/>
        <c:crosses val="autoZero"/>
        <c:auto val="1"/>
        <c:lblAlgn val="ctr"/>
        <c:lblOffset val="100"/>
        <c:noMultiLvlLbl val="1"/>
      </c:catAx>
      <c:valAx>
        <c:axId val="2094734552"/>
        <c:scaling>
          <c:orientation val="minMax"/>
          <c:max val="5000"/>
          <c:min val="0"/>
        </c:scaling>
        <c:delete val="0"/>
        <c:axPos val="l"/>
        <c:majorGridlines>
          <c:spPr>
            <a:ln w="9525" cap="flat">
              <a:solidFill>
                <a:srgbClr val="E8EBF0"/>
              </a:solidFill>
              <a:prstDash val="solid"/>
              <a:round/>
            </a:ln>
          </c:spPr>
        </c:majorGridlines>
        <c:title>
          <c:tx>
            <c:rich>
              <a:bodyPr/>
              <a:lstStyle/>
              <a:p>
                <a:pPr>
                  <a:defRPr sz="1100" b="0" i="0" u="none" strike="noStrike">
                    <a:solidFill>
                      <a:srgbClr val="7B8494"/>
                    </a:solidFill>
                    <a:latin typeface="+mn-lt"/>
                  </a:defRPr>
                </a:pPr>
                <a:r>
                  <a:rPr lang="id-ID" sz="1100" b="0" i="0" u="none" strike="noStrike">
                    <a:solidFill>
                      <a:srgbClr val="7B8494"/>
                    </a:solidFill>
                    <a:latin typeface="+mn-lt"/>
                  </a:rPr>
                  <a:t>NPI tagihan baru (%)</a:t>
                </a:r>
              </a:p>
            </c:rich>
          </c:tx>
          <c:overlay val="0"/>
        </c:title>
        <c:numFmt formatCode="#,&quot;0%&quot;" sourceLinked="0"/>
        <c:majorTickMark val="out"/>
        <c:minorTickMark val="none"/>
        <c:tickLblPos val="nextTo"/>
        <c:spPr>
          <a:ln w="12700" cap="flat">
            <a:noFill/>
            <a:prstDash val="solid"/>
            <a:round/>
          </a:ln>
        </c:spPr>
        <c:txPr>
          <a:bodyPr/>
          <a:lstStyle/>
          <a:p>
            <a:pPr>
              <a:defRPr sz="1000" b="0" i="0" u="none" strike="noStrike">
                <a:solidFill>
                  <a:srgbClr val="7B8494"/>
                </a:solidFill>
                <a:latin typeface="+mn-lt"/>
              </a:defRPr>
            </a:pPr>
            <a:endParaRPr lang="id-ID"/>
          </a:p>
        </c:txPr>
        <c:crossAx val="2094734554"/>
        <c:crosses val="autoZero"/>
        <c:crossBetween val="between"/>
        <c:majorUnit val="1000"/>
      </c:valAx>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3294B"/>
                </a:solidFill>
                <a:latin typeface="+mn-lt"/>
              </a:defRPr>
            </a:pPr>
            <a:r>
              <a:rPr lang="id-ID" sz="1200" b="0" i="0" u="none" strike="noStrike">
                <a:solidFill>
                  <a:srgbClr val="13294B"/>
                </a:solidFill>
                <a:latin typeface="+mn-lt"/>
              </a:rPr>
              <a:t>NPI baru yang berpotensi dicegah</a:t>
            </a:r>
          </a:p>
        </c:rich>
      </c:tx>
      <c:overlay val="0"/>
    </c:title>
    <c:autoTitleDeleted val="0"/>
    <c:plotArea>
      <c:layout/>
      <c:barChart>
        <c:barDir val="col"/>
        <c:grouping val="clustered"/>
        <c:varyColors val="0"/>
        <c:ser>
          <c:idx val="0"/>
          <c:order val="0"/>
          <c:tx>
            <c:strRef>
              <c:f>Sheet1!$B$1</c:f>
              <c:strCache>
                <c:ptCount val="1"/>
                <c:pt idx="0">
                  <c:v>Nominal dicegah</c:v>
                </c:pt>
              </c:strCache>
            </c:strRef>
          </c:tx>
          <c:spPr>
            <a:solidFill>
              <a:srgbClr val="13294B"/>
            </a:solidFill>
            <a:effectLst/>
          </c:spPr>
          <c:invertIfNegative val="0"/>
          <c:dPt>
            <c:idx val="0"/>
            <c:invertIfNegative val="0"/>
            <c:bubble3D val="0"/>
            <c:spPr>
              <a:solidFill>
                <a:srgbClr val="13294B"/>
              </a:solidFill>
              <a:effectLst/>
            </c:spPr>
            <c:extLst>
              <c:ext xmlns:c16="http://schemas.microsoft.com/office/drawing/2014/chart" uri="{C3380CC4-5D6E-409C-BE32-E72D297353CC}">
                <c16:uniqueId val="{00000001-6612-4110-9ACA-D2782D1C87A9}"/>
              </c:ext>
            </c:extLst>
          </c:dPt>
          <c:dPt>
            <c:idx val="1"/>
            <c:invertIfNegative val="0"/>
            <c:bubble3D val="0"/>
            <c:spPr>
              <a:solidFill>
                <a:srgbClr val="C9A227"/>
              </a:solidFill>
              <a:effectLst/>
            </c:spPr>
            <c:extLst>
              <c:ext xmlns:c16="http://schemas.microsoft.com/office/drawing/2014/chart" uri="{C3380CC4-5D6E-409C-BE32-E72D297353CC}">
                <c16:uniqueId val="{00000003-6612-4110-9ACA-D2782D1C87A9}"/>
              </c:ext>
            </c:extLst>
          </c:dPt>
          <c:dPt>
            <c:idx val="2"/>
            <c:invertIfNegative val="0"/>
            <c:bubble3D val="0"/>
            <c:spPr>
              <a:solidFill>
                <a:srgbClr val="13294B"/>
              </a:solidFill>
              <a:effectLst/>
            </c:spPr>
            <c:extLst>
              <c:ext xmlns:c16="http://schemas.microsoft.com/office/drawing/2014/chart" uri="{C3380CC4-5D6E-409C-BE32-E72D297353CC}">
                <c16:uniqueId val="{00000005-6612-4110-9ACA-D2782D1C87A9}"/>
              </c:ext>
            </c:extLst>
          </c:dPt>
          <c:dLbls>
            <c:numFmt formatCode="0\,00" sourceLinked="0"/>
            <c:spPr>
              <a:noFill/>
              <a:ln>
                <a:noFill/>
              </a:ln>
              <a:effectLst/>
            </c:spPr>
            <c:txPr>
              <a:bodyPr/>
              <a:lstStyle/>
              <a:p>
                <a:pPr>
                  <a:defRPr sz="1100" b="0" i="0" u="none" strike="noStrike">
                    <a:solidFill>
                      <a:srgbClr val="1E2633"/>
                    </a:solidFill>
                    <a:latin typeface="+mn-lt"/>
                  </a:defRPr>
                </a:pPr>
                <a:endParaRPr lang="id-ID"/>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Konservatif (25%)</c:v>
                </c:pt>
                <c:pt idx="1">
                  <c:v>Dasar (50%)</c:v>
                </c:pt>
                <c:pt idx="2">
                  <c:v>Optimistis (100%)</c:v>
                </c:pt>
              </c:strCache>
            </c:strRef>
          </c:cat>
          <c:val>
            <c:numRef>
              <c:f>Sheet1!$B$2:$B$4</c:f>
              <c:numCache>
                <c:formatCode>General</c:formatCode>
                <c:ptCount val="3"/>
                <c:pt idx="0">
                  <c:v>23</c:v>
                </c:pt>
                <c:pt idx="1">
                  <c:v>46</c:v>
                </c:pt>
                <c:pt idx="2">
                  <c:v>93</c:v>
                </c:pt>
              </c:numCache>
            </c:numRef>
          </c:val>
          <c:extLst>
            <c:ext xmlns:c16="http://schemas.microsoft.com/office/drawing/2014/chart" uri="{C3380CC4-5D6E-409C-BE32-E72D297353CC}">
              <c16:uniqueId val="{00000006-6612-4110-9ACA-D2782D1C87A9}"/>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title>
          <c:tx>
            <c:rich>
              <a:bodyPr/>
              <a:lstStyle/>
              <a:p>
                <a:pPr>
                  <a:defRPr sz="1100" b="0" i="0" u="none" strike="noStrike">
                    <a:solidFill>
                      <a:srgbClr val="7B8494"/>
                    </a:solidFill>
                    <a:latin typeface="+mn-lt"/>
                  </a:defRPr>
                </a:pPr>
                <a:r>
                  <a:rPr lang="id-ID" sz="1100" b="0" i="0" u="none" strike="noStrike">
                    <a:solidFill>
                      <a:srgbClr val="7B8494"/>
                    </a:solidFill>
                    <a:latin typeface="+mn-lt"/>
                  </a:rPr>
                  <a:t>Skenario keberhasilan</a:t>
                </a:r>
              </a:p>
            </c:rich>
          </c:tx>
          <c:overlay val="0"/>
        </c:title>
        <c:numFmt formatCode="General" sourceLinked="1"/>
        <c:majorTickMark val="out"/>
        <c:minorTickMark val="none"/>
        <c:tickLblPos val="low"/>
        <c:spPr>
          <a:ln w="12700" cap="flat">
            <a:solidFill>
              <a:srgbClr val="B8C0CC"/>
            </a:solidFill>
            <a:prstDash val="solid"/>
            <a:round/>
          </a:ln>
        </c:spPr>
        <c:txPr>
          <a:bodyPr/>
          <a:lstStyle/>
          <a:p>
            <a:pPr>
              <a:defRPr sz="1000" b="0" i="0" u="none" strike="noStrike">
                <a:solidFill>
                  <a:srgbClr val="7B8494"/>
                </a:solidFill>
                <a:latin typeface="+mn-lt"/>
              </a:defRPr>
            </a:pPr>
            <a:endParaRPr lang="id-ID"/>
          </a:p>
        </c:txPr>
        <c:crossAx val="2094734552"/>
        <c:crosses val="autoZero"/>
        <c:auto val="1"/>
        <c:lblAlgn val="ctr"/>
        <c:lblOffset val="100"/>
        <c:noMultiLvlLbl val="1"/>
      </c:catAx>
      <c:valAx>
        <c:axId val="2094734552"/>
        <c:scaling>
          <c:orientation val="minMax"/>
          <c:max val="100"/>
          <c:min val="0"/>
        </c:scaling>
        <c:delete val="0"/>
        <c:axPos val="l"/>
        <c:majorGridlines>
          <c:spPr>
            <a:ln w="9525" cap="flat">
              <a:solidFill>
                <a:srgbClr val="E8EBF0"/>
              </a:solidFill>
              <a:prstDash val="solid"/>
              <a:round/>
            </a:ln>
          </c:spPr>
        </c:majorGridlines>
        <c:title>
          <c:tx>
            <c:rich>
              <a:bodyPr/>
              <a:lstStyle/>
              <a:p>
                <a:pPr>
                  <a:defRPr sz="1100" b="0" i="0" u="none" strike="noStrike">
                    <a:solidFill>
                      <a:srgbClr val="7B8494"/>
                    </a:solidFill>
                    <a:latin typeface="+mn-lt"/>
                  </a:defRPr>
                </a:pPr>
                <a:r>
                  <a:rPr lang="id-ID" sz="1100" b="0" i="0" u="none" strike="noStrike">
                    <a:solidFill>
                      <a:srgbClr val="7B8494"/>
                    </a:solidFill>
                    <a:latin typeface="+mn-lt"/>
                  </a:rPr>
                  <a:t>Rp miliar per bulan</a:t>
                </a:r>
              </a:p>
            </c:rich>
          </c:tx>
          <c:overlay val="0"/>
        </c:title>
        <c:numFmt formatCode="0\,00" sourceLinked="0"/>
        <c:majorTickMark val="out"/>
        <c:minorTickMark val="none"/>
        <c:tickLblPos val="nextTo"/>
        <c:spPr>
          <a:ln w="12700" cap="flat">
            <a:noFill/>
            <a:prstDash val="solid"/>
            <a:round/>
          </a:ln>
        </c:spPr>
        <c:txPr>
          <a:bodyPr/>
          <a:lstStyle/>
          <a:p>
            <a:pPr>
              <a:defRPr sz="1000" b="0" i="0" u="none" strike="noStrike">
                <a:solidFill>
                  <a:srgbClr val="7B8494"/>
                </a:solidFill>
                <a:latin typeface="+mn-lt"/>
              </a:defRPr>
            </a:pPr>
            <a:endParaRPr lang="id-ID"/>
          </a:p>
        </c:txPr>
        <c:crossAx val="2094734554"/>
        <c:crosses val="autoZero"/>
        <c:crossBetween val="between"/>
        <c:majorUnit val="20"/>
      </c:valAx>
      <c:spPr>
        <a:noFill/>
        <a:ln>
          <a:noFill/>
        </a:ln>
        <a:effectLst/>
      </c:spPr>
    </c:plotArea>
    <c:plotVisOnly val="1"/>
    <c:dispBlanksAs val="span"/>
    <c:showDLblsOverMax val="1"/>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3294B"/>
                </a:solidFill>
                <a:latin typeface="+mn-lt"/>
              </a:defRPr>
            </a:pPr>
            <a:r>
              <a:rPr lang="id-ID" sz="1300" b="0" i="0" u="none" strike="noStrike">
                <a:solidFill>
                  <a:srgbClr val="13294B"/>
                </a:solidFill>
                <a:latin typeface="+mn-lt"/>
              </a:rPr>
              <a:t>NPI rate per skor</a:t>
            </a:r>
          </a:p>
        </c:rich>
      </c:tx>
      <c:overlay val="0"/>
    </c:title>
    <c:autoTitleDeleted val="0"/>
    <c:plotArea>
      <c:layout/>
      <c:barChart>
        <c:barDir val="col"/>
        <c:grouping val="clustered"/>
        <c:varyColors val="0"/>
        <c:ser>
          <c:idx val="0"/>
          <c:order val="0"/>
          <c:tx>
            <c:strRef>
              <c:f>Sheet1!$B$1</c:f>
              <c:strCache>
                <c:ptCount val="1"/>
                <c:pt idx="0">
                  <c:v>NPI rate</c:v>
                </c:pt>
              </c:strCache>
            </c:strRef>
          </c:tx>
          <c:spPr>
            <a:solidFill>
              <a:srgbClr val="13294B"/>
            </a:solidFill>
            <a:effectLst/>
          </c:spPr>
          <c:invertIfNegative val="0"/>
          <c:dPt>
            <c:idx val="0"/>
            <c:invertIfNegative val="0"/>
            <c:bubble3D val="0"/>
            <c:extLst>
              <c:ext xmlns:c16="http://schemas.microsoft.com/office/drawing/2014/chart" uri="{C3380CC4-5D6E-409C-BE32-E72D297353CC}">
                <c16:uniqueId val="{00000001-A2B7-4E65-9683-AA4D7A8B7A67}"/>
              </c:ext>
            </c:extLst>
          </c:dPt>
          <c:dPt>
            <c:idx val="1"/>
            <c:invertIfNegative val="0"/>
            <c:bubble3D val="0"/>
            <c:extLst>
              <c:ext xmlns:c16="http://schemas.microsoft.com/office/drawing/2014/chart" uri="{C3380CC4-5D6E-409C-BE32-E72D297353CC}">
                <c16:uniqueId val="{00000003-A2B7-4E65-9683-AA4D7A8B7A67}"/>
              </c:ext>
            </c:extLst>
          </c:dPt>
          <c:dPt>
            <c:idx val="2"/>
            <c:invertIfNegative val="0"/>
            <c:bubble3D val="0"/>
            <c:extLst>
              <c:ext xmlns:c16="http://schemas.microsoft.com/office/drawing/2014/chart" uri="{C3380CC4-5D6E-409C-BE32-E72D297353CC}">
                <c16:uniqueId val="{00000005-A2B7-4E65-9683-AA4D7A8B7A67}"/>
              </c:ext>
            </c:extLst>
          </c:dPt>
          <c:dPt>
            <c:idx val="3"/>
            <c:invertIfNegative val="0"/>
            <c:bubble3D val="0"/>
            <c:spPr>
              <a:solidFill>
                <a:srgbClr val="C9A227"/>
              </a:solidFill>
              <a:effectLst/>
            </c:spPr>
            <c:extLst>
              <c:ext xmlns:c16="http://schemas.microsoft.com/office/drawing/2014/chart" uri="{C3380CC4-5D6E-409C-BE32-E72D297353CC}">
                <c16:uniqueId val="{00000007-A2B7-4E65-9683-AA4D7A8B7A67}"/>
              </c:ext>
            </c:extLst>
          </c:dPt>
          <c:dPt>
            <c:idx val="4"/>
            <c:invertIfNegative val="0"/>
            <c:bubble3D val="0"/>
            <c:spPr>
              <a:solidFill>
                <a:srgbClr val="C9A227"/>
              </a:solidFill>
              <a:effectLst/>
            </c:spPr>
            <c:extLst>
              <c:ext xmlns:c16="http://schemas.microsoft.com/office/drawing/2014/chart" uri="{C3380CC4-5D6E-409C-BE32-E72D297353CC}">
                <c16:uniqueId val="{00000009-A2B7-4E65-9683-AA4D7A8B7A67}"/>
              </c:ext>
            </c:extLst>
          </c:dPt>
          <c:dLbls>
            <c:numFmt formatCode="0\,00" sourceLinked="0"/>
            <c:spPr>
              <a:noFill/>
              <a:ln>
                <a:noFill/>
              </a:ln>
              <a:effectLst/>
            </c:spPr>
            <c:txPr>
              <a:bodyPr/>
              <a:lstStyle/>
              <a:p>
                <a:pPr>
                  <a:defRPr sz="1100" b="0" i="0" u="none" strike="noStrike">
                    <a:solidFill>
                      <a:srgbClr val="1E2633"/>
                    </a:solidFill>
                    <a:latin typeface="+mn-lt"/>
                  </a:defRPr>
                </a:pPr>
                <a:endParaRPr lang="id-ID"/>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0</c:v>
                </c:pt>
                <c:pt idx="1">
                  <c:v>1</c:v>
                </c:pt>
                <c:pt idx="2">
                  <c:v>2</c:v>
                </c:pt>
                <c:pt idx="3">
                  <c:v>3</c:v>
                </c:pt>
                <c:pt idx="4">
                  <c:v>4</c:v>
                </c:pt>
              </c:strCache>
            </c:strRef>
          </c:cat>
          <c:val>
            <c:numRef>
              <c:f>Sheet1!$B$2:$B$6</c:f>
              <c:numCache>
                <c:formatCode>General</c:formatCode>
                <c:ptCount val="5"/>
                <c:pt idx="0">
                  <c:v>493</c:v>
                </c:pt>
                <c:pt idx="1">
                  <c:v>2363</c:v>
                </c:pt>
                <c:pt idx="2">
                  <c:v>3751</c:v>
                </c:pt>
                <c:pt idx="3">
                  <c:v>5631</c:v>
                </c:pt>
                <c:pt idx="4">
                  <c:v>6710</c:v>
                </c:pt>
              </c:numCache>
            </c:numRef>
          </c:val>
          <c:extLst>
            <c:ext xmlns:c16="http://schemas.microsoft.com/office/drawing/2014/chart" uri="{C3380CC4-5D6E-409C-BE32-E72D297353CC}">
              <c16:uniqueId val="{0000000A-A2B7-4E65-9683-AA4D7A8B7A67}"/>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title>
          <c:tx>
            <c:rich>
              <a:bodyPr/>
              <a:lstStyle/>
              <a:p>
                <a:pPr>
                  <a:defRPr sz="1100" b="0" i="0" u="none" strike="noStrike">
                    <a:solidFill>
                      <a:srgbClr val="7B8494"/>
                    </a:solidFill>
                    <a:latin typeface="+mn-lt"/>
                  </a:defRPr>
                </a:pPr>
                <a:r>
                  <a:rPr lang="id-ID" sz="1100" b="0" i="0" u="none" strike="noStrike">
                    <a:solidFill>
                      <a:srgbClr val="7B8494"/>
                    </a:solidFill>
                    <a:latin typeface="+mn-lt"/>
                  </a:rPr>
                  <a:t>Jumlah faktor risiko (0–4)</a:t>
                </a:r>
              </a:p>
            </c:rich>
          </c:tx>
          <c:overlay val="0"/>
        </c:title>
        <c:numFmt formatCode="General" sourceLinked="1"/>
        <c:majorTickMark val="out"/>
        <c:minorTickMark val="none"/>
        <c:tickLblPos val="low"/>
        <c:spPr>
          <a:ln w="12700" cap="flat">
            <a:solidFill>
              <a:srgbClr val="B8C0CC"/>
            </a:solidFill>
            <a:prstDash val="solid"/>
            <a:round/>
          </a:ln>
        </c:spPr>
        <c:txPr>
          <a:bodyPr/>
          <a:lstStyle/>
          <a:p>
            <a:pPr>
              <a:defRPr sz="1100" b="0" i="0" u="none" strike="noStrike">
                <a:solidFill>
                  <a:srgbClr val="7B8494"/>
                </a:solidFill>
                <a:latin typeface="+mn-lt"/>
              </a:defRPr>
            </a:pPr>
            <a:endParaRPr lang="id-ID"/>
          </a:p>
        </c:txPr>
        <c:crossAx val="2094734552"/>
        <c:crosses val="autoZero"/>
        <c:auto val="1"/>
        <c:lblAlgn val="ctr"/>
        <c:lblOffset val="100"/>
        <c:noMultiLvlLbl val="1"/>
      </c:catAx>
      <c:valAx>
        <c:axId val="2094734552"/>
        <c:scaling>
          <c:orientation val="minMax"/>
          <c:max val="8000"/>
          <c:min val="0"/>
        </c:scaling>
        <c:delete val="0"/>
        <c:axPos val="l"/>
        <c:majorGridlines>
          <c:spPr>
            <a:ln w="9525" cap="flat">
              <a:solidFill>
                <a:srgbClr val="E8EBF0"/>
              </a:solidFill>
              <a:prstDash val="solid"/>
              <a:round/>
            </a:ln>
          </c:spPr>
        </c:majorGridlines>
        <c:title>
          <c:tx>
            <c:rich>
              <a:bodyPr/>
              <a:lstStyle/>
              <a:p>
                <a:pPr>
                  <a:defRPr sz="1100" b="0" i="0" u="none" strike="noStrike">
                    <a:solidFill>
                      <a:srgbClr val="7B8494"/>
                    </a:solidFill>
                    <a:latin typeface="+mn-lt"/>
                  </a:defRPr>
                </a:pPr>
                <a:r>
                  <a:rPr lang="id-ID" sz="1100" b="0" i="0" u="none" strike="noStrike">
                    <a:solidFill>
                      <a:srgbClr val="7B8494"/>
                    </a:solidFill>
                    <a:latin typeface="+mn-lt"/>
                  </a:rPr>
                  <a:t>NPI rate (% invoice)</a:t>
                </a:r>
              </a:p>
            </c:rich>
          </c:tx>
          <c:overlay val="0"/>
        </c:title>
        <c:numFmt formatCode="#,&quot;0%&quot;" sourceLinked="0"/>
        <c:majorTickMark val="out"/>
        <c:minorTickMark val="none"/>
        <c:tickLblPos val="nextTo"/>
        <c:spPr>
          <a:ln w="12700" cap="flat">
            <a:noFill/>
            <a:prstDash val="solid"/>
            <a:round/>
          </a:ln>
        </c:spPr>
        <c:txPr>
          <a:bodyPr/>
          <a:lstStyle/>
          <a:p>
            <a:pPr>
              <a:defRPr sz="1000" b="0" i="0" u="none" strike="noStrike">
                <a:solidFill>
                  <a:srgbClr val="7B8494"/>
                </a:solidFill>
                <a:latin typeface="+mn-lt"/>
              </a:defRPr>
            </a:pPr>
            <a:endParaRPr lang="id-ID"/>
          </a:p>
        </c:txPr>
        <c:crossAx val="2094734554"/>
        <c:crosses val="autoZero"/>
        <c:crossBetween val="between"/>
        <c:majorUnit val="2000"/>
      </c:valAx>
      <c:spPr>
        <a:noFill/>
        <a:ln>
          <a:noFill/>
        </a:ln>
        <a:effectLst/>
      </c:spPr>
    </c:plotArea>
    <c:plotVisOnly val="1"/>
    <c:dispBlanksAs val="span"/>
    <c:showDLblsOverMax val="1"/>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3294B"/>
                </a:solidFill>
                <a:latin typeface="+mn-lt"/>
              </a:defRPr>
            </a:pPr>
            <a:r>
              <a:rPr lang="id-ID" sz="1300" b="0" i="0" u="none" strike="noStrike">
                <a:solidFill>
                  <a:srgbClr val="13294B"/>
                </a:solidFill>
                <a:latin typeface="+mn-lt"/>
              </a:rPr>
              <a:t>Nominal NPI analisis per skor</a:t>
            </a:r>
          </a:p>
        </c:rich>
      </c:tx>
      <c:overlay val="0"/>
    </c:title>
    <c:autoTitleDeleted val="0"/>
    <c:plotArea>
      <c:layout/>
      <c:barChart>
        <c:barDir val="col"/>
        <c:grouping val="clustered"/>
        <c:varyColors val="0"/>
        <c:ser>
          <c:idx val="0"/>
          <c:order val="0"/>
          <c:tx>
            <c:strRef>
              <c:f>Sheet1!$B$1</c:f>
              <c:strCache>
                <c:ptCount val="1"/>
                <c:pt idx="0">
                  <c:v>Nominal</c:v>
                </c:pt>
              </c:strCache>
            </c:strRef>
          </c:tx>
          <c:spPr>
            <a:solidFill>
              <a:srgbClr val="B8C0CC"/>
            </a:solidFill>
            <a:effectLst/>
          </c:spPr>
          <c:invertIfNegative val="0"/>
          <c:dLbls>
            <c:numFmt formatCode="0\,00" sourceLinked="0"/>
            <c:spPr>
              <a:noFill/>
              <a:ln>
                <a:noFill/>
              </a:ln>
              <a:effectLst/>
            </c:spPr>
            <c:txPr>
              <a:bodyPr/>
              <a:lstStyle/>
              <a:p>
                <a:pPr>
                  <a:defRPr sz="1100" b="0" i="0" u="none" strike="noStrike">
                    <a:solidFill>
                      <a:srgbClr val="1E2633"/>
                    </a:solidFill>
                    <a:latin typeface="+mn-lt"/>
                  </a:defRPr>
                </a:pPr>
                <a:endParaRPr lang="id-ID"/>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0</c:v>
                </c:pt>
                <c:pt idx="1">
                  <c:v>1</c:v>
                </c:pt>
                <c:pt idx="2">
                  <c:v>2</c:v>
                </c:pt>
                <c:pt idx="3">
                  <c:v>3</c:v>
                </c:pt>
                <c:pt idx="4">
                  <c:v>4</c:v>
                </c:pt>
              </c:strCache>
            </c:strRef>
          </c:cat>
          <c:val>
            <c:numRef>
              <c:f>Sheet1!$B$2:$B$6</c:f>
              <c:numCache>
                <c:formatCode>General</c:formatCode>
                <c:ptCount val="5"/>
                <c:pt idx="0">
                  <c:v>161</c:v>
                </c:pt>
                <c:pt idx="1">
                  <c:v>4174</c:v>
                </c:pt>
                <c:pt idx="2">
                  <c:v>6231</c:v>
                </c:pt>
                <c:pt idx="3">
                  <c:v>5146</c:v>
                </c:pt>
                <c:pt idx="4">
                  <c:v>1922</c:v>
                </c:pt>
              </c:numCache>
            </c:numRef>
          </c:val>
          <c:extLst>
            <c:ext xmlns:c16="http://schemas.microsoft.com/office/drawing/2014/chart" uri="{C3380CC4-5D6E-409C-BE32-E72D297353CC}">
              <c16:uniqueId val="{00000000-8D11-40F6-8F49-3312DEB5F057}"/>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title>
          <c:tx>
            <c:rich>
              <a:bodyPr/>
              <a:lstStyle/>
              <a:p>
                <a:pPr>
                  <a:defRPr sz="1100" b="0" i="0" u="none" strike="noStrike">
                    <a:solidFill>
                      <a:srgbClr val="7B8494"/>
                    </a:solidFill>
                    <a:latin typeface="+mn-lt"/>
                  </a:defRPr>
                </a:pPr>
                <a:r>
                  <a:rPr lang="id-ID" sz="1100" b="0" i="0" u="none" strike="noStrike">
                    <a:solidFill>
                      <a:srgbClr val="7B8494"/>
                    </a:solidFill>
                    <a:latin typeface="+mn-lt"/>
                  </a:rPr>
                  <a:t>Jumlah faktor risiko (0–4)</a:t>
                </a:r>
              </a:p>
            </c:rich>
          </c:tx>
          <c:overlay val="0"/>
        </c:title>
        <c:numFmt formatCode="General" sourceLinked="1"/>
        <c:majorTickMark val="out"/>
        <c:minorTickMark val="none"/>
        <c:tickLblPos val="low"/>
        <c:spPr>
          <a:ln w="12700" cap="flat">
            <a:solidFill>
              <a:srgbClr val="B8C0CC"/>
            </a:solidFill>
            <a:prstDash val="solid"/>
            <a:round/>
          </a:ln>
        </c:spPr>
        <c:txPr>
          <a:bodyPr/>
          <a:lstStyle/>
          <a:p>
            <a:pPr>
              <a:defRPr sz="1100" b="0" i="0" u="none" strike="noStrike">
                <a:solidFill>
                  <a:srgbClr val="7B8494"/>
                </a:solidFill>
                <a:latin typeface="+mn-lt"/>
              </a:defRPr>
            </a:pPr>
            <a:endParaRPr lang="id-ID"/>
          </a:p>
        </c:txPr>
        <c:crossAx val="2094734552"/>
        <c:crosses val="autoZero"/>
        <c:auto val="1"/>
        <c:lblAlgn val="ctr"/>
        <c:lblOffset val="100"/>
        <c:noMultiLvlLbl val="1"/>
      </c:catAx>
      <c:valAx>
        <c:axId val="2094734552"/>
        <c:scaling>
          <c:orientation val="minMax"/>
          <c:max val="8000"/>
          <c:min val="0"/>
        </c:scaling>
        <c:delete val="0"/>
        <c:axPos val="l"/>
        <c:majorGridlines>
          <c:spPr>
            <a:ln w="9525" cap="flat">
              <a:solidFill>
                <a:srgbClr val="E8EBF0"/>
              </a:solidFill>
              <a:prstDash val="solid"/>
              <a:round/>
            </a:ln>
          </c:spPr>
        </c:majorGridlines>
        <c:title>
          <c:tx>
            <c:rich>
              <a:bodyPr/>
              <a:lstStyle/>
              <a:p>
                <a:pPr>
                  <a:defRPr sz="1100" b="0" i="0" u="none" strike="noStrike">
                    <a:solidFill>
                      <a:srgbClr val="7B8494"/>
                    </a:solidFill>
                    <a:latin typeface="+mn-lt"/>
                  </a:defRPr>
                </a:pPr>
                <a:r>
                  <a:rPr lang="id-ID" sz="1100" b="0" i="0" u="none" strike="noStrike">
                    <a:solidFill>
                      <a:srgbClr val="7B8494"/>
                    </a:solidFill>
                    <a:latin typeface="+mn-lt"/>
                  </a:rPr>
                  <a:t>Rp miliar</a:t>
                </a:r>
              </a:p>
            </c:rich>
          </c:tx>
          <c:overlay val="0"/>
        </c:title>
        <c:numFmt formatCode="#,&quot;0&quot;" sourceLinked="0"/>
        <c:majorTickMark val="out"/>
        <c:minorTickMark val="none"/>
        <c:tickLblPos val="nextTo"/>
        <c:spPr>
          <a:ln w="12700" cap="flat">
            <a:noFill/>
            <a:prstDash val="solid"/>
            <a:round/>
          </a:ln>
        </c:spPr>
        <c:txPr>
          <a:bodyPr/>
          <a:lstStyle/>
          <a:p>
            <a:pPr>
              <a:defRPr sz="1000" b="0" i="0" u="none" strike="noStrike">
                <a:solidFill>
                  <a:srgbClr val="7B8494"/>
                </a:solidFill>
                <a:latin typeface="+mn-lt"/>
              </a:defRPr>
            </a:pPr>
            <a:endParaRPr lang="id-ID"/>
          </a:p>
        </c:txPr>
        <c:crossAx val="2094734554"/>
        <c:crosses val="autoZero"/>
        <c:crossBetween val="between"/>
        <c:majorUnit val="2000"/>
      </c:valAx>
      <c:spPr>
        <a:noFill/>
        <a:ln>
          <a:noFill/>
        </a:ln>
        <a:effectLst/>
      </c:spPr>
    </c:plotArea>
    <c:plotVisOnly val="1"/>
    <c:dispBlanksAs val="span"/>
    <c:showDLblsOverMax val="1"/>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3294B"/>
                </a:solidFill>
                <a:latin typeface="+mn-lt"/>
              </a:defRPr>
            </a:pPr>
            <a:r>
              <a:rPr lang="id-ID" sz="1300" b="0" i="0" u="none" strike="noStrike">
                <a:solidFill>
                  <a:srgbClr val="13294B"/>
                </a:solidFill>
                <a:latin typeface="+mn-lt"/>
              </a:rPr>
              <a:t>Selisih NPI sebelum vs setelah faktor lain dikendalikan</a:t>
            </a:r>
          </a:p>
        </c:rich>
      </c:tx>
      <c:overlay val="0"/>
    </c:title>
    <c:autoTitleDeleted val="0"/>
    <c:plotArea>
      <c:layout/>
      <c:barChart>
        <c:barDir val="bar"/>
        <c:grouping val="clustered"/>
        <c:varyColors val="0"/>
        <c:ser>
          <c:idx val="0"/>
          <c:order val="0"/>
          <c:tx>
            <c:strRef>
              <c:f>Sheet1!$B$1</c:f>
              <c:strCache>
                <c:ptCount val="1"/>
                <c:pt idx="0">
                  <c:v>Selisih awal</c:v>
                </c:pt>
              </c:strCache>
            </c:strRef>
          </c:tx>
          <c:spPr>
            <a:solidFill>
              <a:srgbClr val="B8C0CC"/>
            </a:solidFill>
            <a:effectLst/>
          </c:spPr>
          <c:invertIfNegative val="0"/>
          <c:dLbls>
            <c:numFmt formatCode="0\,00;\-0\,00" sourceLinked="0"/>
            <c:spPr>
              <a:noFill/>
              <a:ln>
                <a:noFill/>
              </a:ln>
              <a:effectLst/>
            </c:spPr>
            <c:txPr>
              <a:bodyPr/>
              <a:lstStyle/>
              <a:p>
                <a:pPr>
                  <a:defRPr sz="1000" b="0" i="0" u="none" strike="noStrike">
                    <a:solidFill>
                      <a:srgbClr val="1E2633"/>
                    </a:solidFill>
                    <a:latin typeface="+mn-lt"/>
                  </a:defRPr>
                </a:pPr>
                <a:endParaRPr lang="id-ID"/>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H12 Regional Hub</c:v>
                </c:pt>
                <c:pt idx="1">
                  <c:v>H7 Cetak &amp; antar fisik</c:v>
                </c:pt>
                <c:pt idx="2">
                  <c:v>H3 Kontak belum terverifikasi/kosong</c:v>
                </c:pt>
                <c:pt idx="3">
                  <c:v>H11 Cluster New Phase</c:v>
                </c:pt>
                <c:pt idx="4">
                  <c:v>H2 Pemilik luar kota/negeri</c:v>
                </c:pt>
                <c:pt idx="5">
                  <c:v>H1 Vacant</c:v>
                </c:pt>
                <c:pt idx="6">
                  <c:v>H6 Tanpa autodebit</c:v>
                </c:pt>
              </c:strCache>
            </c:strRef>
          </c:cat>
          <c:val>
            <c:numRef>
              <c:f>Sheet1!$B$2:$B$8</c:f>
              <c:numCache>
                <c:formatCode>General</c:formatCode>
                <c:ptCount val="7"/>
                <c:pt idx="0">
                  <c:v>303</c:v>
                </c:pt>
                <c:pt idx="1">
                  <c:v>726</c:v>
                </c:pt>
                <c:pt idx="2">
                  <c:v>1005</c:v>
                </c:pt>
                <c:pt idx="3">
                  <c:v>723</c:v>
                </c:pt>
                <c:pt idx="4">
                  <c:v>2204</c:v>
                </c:pt>
                <c:pt idx="5">
                  <c:v>3032</c:v>
                </c:pt>
                <c:pt idx="6">
                  <c:v>2978</c:v>
                </c:pt>
              </c:numCache>
            </c:numRef>
          </c:val>
          <c:extLst>
            <c:ext xmlns:c16="http://schemas.microsoft.com/office/drawing/2014/chart" uri="{C3380CC4-5D6E-409C-BE32-E72D297353CC}">
              <c16:uniqueId val="{00000000-BF6F-4378-BCCD-83A359870C70}"/>
            </c:ext>
          </c:extLst>
        </c:ser>
        <c:ser>
          <c:idx val="1"/>
          <c:order val="1"/>
          <c:tx>
            <c:strRef>
              <c:f>Sheet1!$C$1</c:f>
              <c:strCache>
                <c:ptCount val="1"/>
                <c:pt idx="0">
                  <c:v>Selisih terkendali</c:v>
                </c:pt>
              </c:strCache>
            </c:strRef>
          </c:tx>
          <c:spPr>
            <a:solidFill>
              <a:srgbClr val="C9A227"/>
            </a:solidFill>
            <a:effectLst/>
          </c:spPr>
          <c:invertIfNegative val="0"/>
          <c:dLbls>
            <c:numFmt formatCode="0\,00;\-0\,00" sourceLinked="0"/>
            <c:spPr>
              <a:noFill/>
              <a:ln>
                <a:noFill/>
              </a:ln>
              <a:effectLst/>
            </c:spPr>
            <c:txPr>
              <a:bodyPr/>
              <a:lstStyle/>
              <a:p>
                <a:pPr>
                  <a:defRPr sz="1000" b="0" i="0" u="none" strike="noStrike">
                    <a:solidFill>
                      <a:srgbClr val="1E2633"/>
                    </a:solidFill>
                    <a:latin typeface="+mn-lt"/>
                  </a:defRPr>
                </a:pPr>
                <a:endParaRPr lang="id-ID"/>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H12 Regional Hub</c:v>
                </c:pt>
                <c:pt idx="1">
                  <c:v>H7 Cetak &amp; antar fisik</c:v>
                </c:pt>
                <c:pt idx="2">
                  <c:v>H3 Kontak belum terverifikasi/kosong</c:v>
                </c:pt>
                <c:pt idx="3">
                  <c:v>H11 Cluster New Phase</c:v>
                </c:pt>
                <c:pt idx="4">
                  <c:v>H2 Pemilik luar kota/negeri</c:v>
                </c:pt>
                <c:pt idx="5">
                  <c:v>H1 Vacant</c:v>
                </c:pt>
                <c:pt idx="6">
                  <c:v>H6 Tanpa autodebit</c:v>
                </c:pt>
              </c:strCache>
            </c:strRef>
          </c:cat>
          <c:val>
            <c:numRef>
              <c:f>Sheet1!$C$2:$C$8</c:f>
              <c:numCache>
                <c:formatCode>General</c:formatCode>
                <c:ptCount val="7"/>
                <c:pt idx="0">
                  <c:v>34</c:v>
                </c:pt>
                <c:pt idx="1">
                  <c:v>-2</c:v>
                </c:pt>
                <c:pt idx="2">
                  <c:v>24</c:v>
                </c:pt>
                <c:pt idx="3">
                  <c:v>700</c:v>
                </c:pt>
                <c:pt idx="4">
                  <c:v>1014</c:v>
                </c:pt>
                <c:pt idx="5">
                  <c:v>2328</c:v>
                </c:pt>
                <c:pt idx="6">
                  <c:v>2659</c:v>
                </c:pt>
              </c:numCache>
            </c:numRef>
          </c:val>
          <c:extLst>
            <c:ext xmlns:c16="http://schemas.microsoft.com/office/drawing/2014/chart" uri="{C3380CC4-5D6E-409C-BE32-E72D297353CC}">
              <c16:uniqueId val="{00000001-BF6F-4378-BCCD-83A359870C70}"/>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title>
          <c:tx>
            <c:rich>
              <a:bodyPr/>
              <a:lstStyle/>
              <a:p>
                <a:pPr>
                  <a:defRPr sz="1100" b="0" i="0" u="none" strike="noStrike">
                    <a:solidFill>
                      <a:srgbClr val="7B8494"/>
                    </a:solidFill>
                    <a:latin typeface="+mn-lt"/>
                  </a:defRPr>
                </a:pPr>
                <a:r>
                  <a:rPr lang="id-ID" sz="1100" b="0" i="0" u="none" strike="noStrike">
                    <a:solidFill>
                      <a:srgbClr val="7B8494"/>
                    </a:solidFill>
                    <a:latin typeface="+mn-lt"/>
                  </a:rPr>
                  <a:t>Faktor yang diuji</a:t>
                </a:r>
              </a:p>
            </c:rich>
          </c:tx>
          <c:overlay val="0"/>
        </c:title>
        <c:numFmt formatCode="General" sourceLinked="1"/>
        <c:majorTickMark val="out"/>
        <c:minorTickMark val="none"/>
        <c:tickLblPos val="low"/>
        <c:spPr>
          <a:ln w="12700" cap="flat">
            <a:solidFill>
              <a:srgbClr val="B8C0CC"/>
            </a:solidFill>
            <a:prstDash val="solid"/>
            <a:round/>
          </a:ln>
        </c:spPr>
        <c:txPr>
          <a:bodyPr/>
          <a:lstStyle/>
          <a:p>
            <a:pPr>
              <a:defRPr sz="1100" b="0" i="0" u="none" strike="noStrike">
                <a:solidFill>
                  <a:srgbClr val="7B8494"/>
                </a:solidFill>
                <a:latin typeface="+mn-lt"/>
              </a:defRPr>
            </a:pPr>
            <a:endParaRPr lang="id-ID"/>
          </a:p>
        </c:txPr>
        <c:crossAx val="2094734552"/>
        <c:crosses val="autoZero"/>
        <c:auto val="1"/>
        <c:lblAlgn val="ctr"/>
        <c:lblOffset val="100"/>
        <c:noMultiLvlLbl val="1"/>
      </c:catAx>
      <c:valAx>
        <c:axId val="2094734552"/>
        <c:scaling>
          <c:orientation val="minMax"/>
          <c:max val="4000"/>
          <c:min val="-1000"/>
        </c:scaling>
        <c:delete val="0"/>
        <c:axPos val="b"/>
        <c:majorGridlines>
          <c:spPr>
            <a:ln w="9525" cap="flat">
              <a:solidFill>
                <a:srgbClr val="E8EBF0"/>
              </a:solidFill>
              <a:prstDash val="solid"/>
              <a:round/>
            </a:ln>
          </c:spPr>
        </c:majorGridlines>
        <c:title>
          <c:tx>
            <c:rich>
              <a:bodyPr/>
              <a:lstStyle/>
              <a:p>
                <a:pPr>
                  <a:defRPr sz="1100" b="0" i="0" u="none" strike="noStrike">
                    <a:solidFill>
                      <a:srgbClr val="7B8494"/>
                    </a:solidFill>
                    <a:latin typeface="+mn-lt"/>
                  </a:defRPr>
                </a:pPr>
                <a:r>
                  <a:rPr lang="id-ID" sz="1100" b="0" i="0" u="none" strike="noStrike">
                    <a:solidFill>
                      <a:srgbClr val="7B8494"/>
                    </a:solidFill>
                    <a:latin typeface="+mn-lt"/>
                  </a:rPr>
                  <a:t>Selisih NPI (poin persentase)</a:t>
                </a:r>
              </a:p>
            </c:rich>
          </c:tx>
          <c:overlay val="0"/>
        </c:title>
        <c:numFmt formatCode="#,&quot;0&quot;;\-#,&quot;0&quot;" sourceLinked="0"/>
        <c:majorTickMark val="out"/>
        <c:minorTickMark val="none"/>
        <c:tickLblPos val="low"/>
        <c:spPr>
          <a:ln w="12700" cap="flat">
            <a:noFill/>
            <a:prstDash val="solid"/>
            <a:round/>
          </a:ln>
        </c:spPr>
        <c:txPr>
          <a:bodyPr/>
          <a:lstStyle/>
          <a:p>
            <a:pPr>
              <a:defRPr sz="1000" b="0" i="0" u="none" strike="noStrike">
                <a:solidFill>
                  <a:srgbClr val="7B8494"/>
                </a:solidFill>
                <a:latin typeface="+mn-lt"/>
              </a:defRPr>
            </a:pPr>
            <a:endParaRPr lang="id-ID"/>
          </a:p>
        </c:txPr>
        <c:crossAx val="2094734554"/>
        <c:crosses val="autoZero"/>
        <c:crossBetween val="between"/>
        <c:majorUnit val="1000"/>
      </c:valAx>
      <c:spPr>
        <a:noFill/>
        <a:ln>
          <a:noFill/>
        </a:ln>
        <a:effectLst/>
      </c:spPr>
    </c:plotArea>
    <c:legend>
      <c:legendPos val="t"/>
      <c:overlay val="0"/>
      <c:txPr>
        <a:bodyPr/>
        <a:lstStyle/>
        <a:p>
          <a:pPr>
            <a:defRPr sz="1100">
              <a:latin typeface="+mn-lt"/>
              <a:cs typeface="+mn-lt"/>
            </a:defRPr>
          </a:pPr>
          <a:endParaRPr lang="id-ID"/>
        </a:p>
      </c:txPr>
    </c:legend>
    <c:plotVisOnly val="1"/>
    <c:dispBlanksAs val="span"/>
    <c:showDLblsOverMax val="1"/>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3294B"/>
                </a:solidFill>
                <a:latin typeface="+mn-lt"/>
              </a:defRPr>
            </a:pPr>
            <a:r>
              <a:rPr lang="sv-SE" sz="1300" b="0" i="0" u="none" strike="noStrike">
                <a:solidFill>
                  <a:srgbClr val="13294B"/>
                </a:solidFill>
                <a:latin typeface="+mn-lt"/>
              </a:rPr>
              <a:t>NPI rate sebelum dan setelah aturan duplikasi</a:t>
            </a:r>
          </a:p>
        </c:rich>
      </c:tx>
      <c:overlay val="0"/>
    </c:title>
    <c:autoTitleDeleted val="0"/>
    <c:plotArea>
      <c:layout/>
      <c:barChart>
        <c:barDir val="col"/>
        <c:grouping val="clustered"/>
        <c:varyColors val="0"/>
        <c:ser>
          <c:idx val="0"/>
          <c:order val="0"/>
          <c:tx>
            <c:strRef>
              <c:f>Sheet1!$B$1</c:f>
              <c:strCache>
                <c:ptCount val="1"/>
                <c:pt idx="0">
                  <c:v>NPI rate</c:v>
                </c:pt>
              </c:strCache>
            </c:strRef>
          </c:tx>
          <c:spPr>
            <a:solidFill>
              <a:srgbClr val="B8C0CC"/>
            </a:solidFill>
            <a:effectLst/>
          </c:spPr>
          <c:invertIfNegative val="0"/>
          <c:dPt>
            <c:idx val="0"/>
            <c:invertIfNegative val="0"/>
            <c:bubble3D val="0"/>
            <c:extLst>
              <c:ext xmlns:c16="http://schemas.microsoft.com/office/drawing/2014/chart" uri="{C3380CC4-5D6E-409C-BE32-E72D297353CC}">
                <c16:uniqueId val="{00000001-F9D6-4343-B887-295CF3549A8C}"/>
              </c:ext>
            </c:extLst>
          </c:dPt>
          <c:dPt>
            <c:idx val="1"/>
            <c:invertIfNegative val="0"/>
            <c:bubble3D val="0"/>
            <c:spPr>
              <a:solidFill>
                <a:srgbClr val="13294B"/>
              </a:solidFill>
              <a:effectLst/>
            </c:spPr>
            <c:extLst>
              <c:ext xmlns:c16="http://schemas.microsoft.com/office/drawing/2014/chart" uri="{C3380CC4-5D6E-409C-BE32-E72D297353CC}">
                <c16:uniqueId val="{00000003-F9D6-4343-B887-295CF3549A8C}"/>
              </c:ext>
            </c:extLst>
          </c:dPt>
          <c:dLbls>
            <c:numFmt formatCode="0\,00&quot;%&quot;" sourceLinked="0"/>
            <c:spPr>
              <a:noFill/>
              <a:ln>
                <a:noFill/>
              </a:ln>
              <a:effectLst/>
            </c:spPr>
            <c:txPr>
              <a:bodyPr/>
              <a:lstStyle/>
              <a:p>
                <a:pPr>
                  <a:defRPr sz="1100" b="0" i="0" u="none" strike="noStrike">
                    <a:solidFill>
                      <a:srgbClr val="1E2633"/>
                    </a:solidFill>
                    <a:latin typeface="+mn-lt"/>
                  </a:defRPr>
                </a:pPr>
                <a:endParaRPr lang="id-ID"/>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Sebelum aturan duplikasi</c:v>
                </c:pt>
                <c:pt idx="1">
                  <c:v>Setelah aturan duplikasi</c:v>
                </c:pt>
              </c:strCache>
            </c:strRef>
          </c:cat>
          <c:val>
            <c:numRef>
              <c:f>Sheet1!$B$2:$B$3</c:f>
              <c:numCache>
                <c:formatCode>General</c:formatCode>
                <c:ptCount val="2"/>
                <c:pt idx="0">
                  <c:v>3696</c:v>
                </c:pt>
                <c:pt idx="1">
                  <c:v>3544</c:v>
                </c:pt>
              </c:numCache>
            </c:numRef>
          </c:val>
          <c:extLst>
            <c:ext xmlns:c16="http://schemas.microsoft.com/office/drawing/2014/chart" uri="{C3380CC4-5D6E-409C-BE32-E72D297353CC}">
              <c16:uniqueId val="{00000004-F9D6-4343-B887-295CF3549A8C}"/>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title>
          <c:tx>
            <c:rich>
              <a:bodyPr/>
              <a:lstStyle/>
              <a:p>
                <a:pPr>
                  <a:defRPr sz="1100" b="0" i="0" u="none" strike="noStrike">
                    <a:solidFill>
                      <a:srgbClr val="7B8494"/>
                    </a:solidFill>
                    <a:latin typeface="+mn-lt"/>
                  </a:defRPr>
                </a:pPr>
                <a:r>
                  <a:rPr lang="id-ID" sz="1100" b="0" i="0" u="none" strike="noStrike">
                    <a:solidFill>
                      <a:srgbClr val="7B8494"/>
                    </a:solidFill>
                    <a:latin typeface="+mn-lt"/>
                  </a:rPr>
                  <a:t>Perlakuan data</a:t>
                </a:r>
              </a:p>
            </c:rich>
          </c:tx>
          <c:overlay val="0"/>
        </c:title>
        <c:numFmt formatCode="General" sourceLinked="1"/>
        <c:majorTickMark val="out"/>
        <c:minorTickMark val="none"/>
        <c:tickLblPos val="low"/>
        <c:spPr>
          <a:ln w="12700" cap="flat">
            <a:solidFill>
              <a:srgbClr val="B8C0CC"/>
            </a:solidFill>
            <a:prstDash val="solid"/>
            <a:round/>
          </a:ln>
        </c:spPr>
        <c:txPr>
          <a:bodyPr/>
          <a:lstStyle/>
          <a:p>
            <a:pPr>
              <a:defRPr sz="1100" b="0" i="0" u="none" strike="noStrike">
                <a:solidFill>
                  <a:srgbClr val="7B8494"/>
                </a:solidFill>
                <a:latin typeface="+mn-lt"/>
              </a:defRPr>
            </a:pPr>
            <a:endParaRPr lang="id-ID"/>
          </a:p>
        </c:txPr>
        <c:crossAx val="2094734552"/>
        <c:crosses val="autoZero"/>
        <c:auto val="1"/>
        <c:lblAlgn val="ctr"/>
        <c:lblOffset val="100"/>
        <c:noMultiLvlLbl val="1"/>
      </c:catAx>
      <c:valAx>
        <c:axId val="2094734552"/>
        <c:scaling>
          <c:orientation val="minMax"/>
          <c:max val="4000"/>
          <c:min val="0"/>
        </c:scaling>
        <c:delete val="0"/>
        <c:axPos val="l"/>
        <c:majorGridlines>
          <c:spPr>
            <a:ln w="9525" cap="flat">
              <a:solidFill>
                <a:srgbClr val="E8EBF0"/>
              </a:solidFill>
              <a:prstDash val="solid"/>
              <a:round/>
            </a:ln>
          </c:spPr>
        </c:majorGridlines>
        <c:title>
          <c:tx>
            <c:rich>
              <a:bodyPr/>
              <a:lstStyle/>
              <a:p>
                <a:pPr>
                  <a:defRPr sz="1100" b="0" i="0" u="none" strike="noStrike">
                    <a:solidFill>
                      <a:srgbClr val="7B8494"/>
                    </a:solidFill>
                    <a:latin typeface="+mn-lt"/>
                  </a:defRPr>
                </a:pPr>
                <a:r>
                  <a:rPr lang="id-ID" sz="1100" b="0" i="0" u="none" strike="noStrike">
                    <a:solidFill>
                      <a:srgbClr val="7B8494"/>
                    </a:solidFill>
                    <a:latin typeface="+mn-lt"/>
                  </a:rPr>
                  <a:t>NPI rate (% invoice)</a:t>
                </a:r>
              </a:p>
            </c:rich>
          </c:tx>
          <c:overlay val="0"/>
        </c:title>
        <c:numFmt formatCode="#,&quot;0%&quot;" sourceLinked="0"/>
        <c:majorTickMark val="out"/>
        <c:minorTickMark val="none"/>
        <c:tickLblPos val="nextTo"/>
        <c:spPr>
          <a:ln w="12700" cap="flat">
            <a:noFill/>
            <a:prstDash val="solid"/>
            <a:round/>
          </a:ln>
        </c:spPr>
        <c:txPr>
          <a:bodyPr/>
          <a:lstStyle/>
          <a:p>
            <a:pPr>
              <a:defRPr sz="1000" b="0" i="0" u="none" strike="noStrike">
                <a:solidFill>
                  <a:srgbClr val="7B8494"/>
                </a:solidFill>
                <a:latin typeface="+mn-lt"/>
              </a:defRPr>
            </a:pPr>
            <a:endParaRPr lang="id-ID"/>
          </a:p>
        </c:txPr>
        <c:crossAx val="2094734554"/>
        <c:crosses val="autoZero"/>
        <c:crossBetween val="between"/>
        <c:majorUnit val="1000"/>
      </c:valAx>
      <c:spPr>
        <a:noFill/>
        <a:ln>
          <a:noFill/>
        </a:ln>
        <a:effectLst/>
      </c:spPr>
    </c:plotArea>
    <c:plotVisOnly val="1"/>
    <c:dispBlanksAs val="span"/>
    <c:showDLblsOverMax val="1"/>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3294B"/>
                </a:solidFill>
                <a:latin typeface="+mn-lt"/>
              </a:defRPr>
            </a:pPr>
            <a:r>
              <a:rPr lang="id-ID" sz="1200" b="0" i="0" u="none" strike="noStrike">
                <a:solidFill>
                  <a:srgbClr val="13294B"/>
                </a:solidFill>
                <a:latin typeface="+mn-lt"/>
              </a:rPr>
              <a:t>Menurut status aksi</a:t>
            </a:r>
          </a:p>
        </c:rich>
      </c:tx>
      <c:overlay val="0"/>
    </c:title>
    <c:autoTitleDeleted val="0"/>
    <c:plotArea>
      <c:layout/>
      <c:barChart>
        <c:barDir val="col"/>
        <c:grouping val="clustered"/>
        <c:varyColors val="0"/>
        <c:ser>
          <c:idx val="0"/>
          <c:order val="0"/>
          <c:tx>
            <c:strRef>
              <c:f>Sheet1!$B$1</c:f>
              <c:strCache>
                <c:ptCount val="1"/>
                <c:pt idx="0">
                  <c:v>Tidak dibayar bulan depan</c:v>
                </c:pt>
              </c:strCache>
            </c:strRef>
          </c:tx>
          <c:spPr>
            <a:solidFill>
              <a:srgbClr val="B8C0CC"/>
            </a:solidFill>
            <a:effectLst/>
          </c:spPr>
          <c:invertIfNegative val="0"/>
          <c:dLbls>
            <c:numFmt formatCode="0\,0&quot;%&quot;" sourceLinked="0"/>
            <c:spPr>
              <a:noFill/>
              <a:ln>
                <a:noFill/>
              </a:ln>
              <a:effectLst/>
            </c:spPr>
            <c:txPr>
              <a:bodyPr/>
              <a:lstStyle/>
              <a:p>
                <a:pPr>
                  <a:defRPr sz="1100" b="0" i="0" u="none" strike="noStrike">
                    <a:solidFill>
                      <a:srgbClr val="1E2633"/>
                    </a:solidFill>
                    <a:latin typeface="+mn-lt"/>
                  </a:defRPr>
                </a:pPr>
                <a:endParaRPr lang="id-ID"/>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Ditagih</c:v>
                </c:pt>
                <c:pt idx="1">
                  <c:v>Tidak ditagih</c:v>
                </c:pt>
              </c:strCache>
            </c:strRef>
          </c:cat>
          <c:val>
            <c:numRef>
              <c:f>Sheet1!$B$2:$B$3</c:f>
              <c:numCache>
                <c:formatCode>General</c:formatCode>
                <c:ptCount val="2"/>
                <c:pt idx="0">
                  <c:v>724</c:v>
                </c:pt>
                <c:pt idx="1">
                  <c:v>712</c:v>
                </c:pt>
              </c:numCache>
            </c:numRef>
          </c:val>
          <c:extLst>
            <c:ext xmlns:c16="http://schemas.microsoft.com/office/drawing/2014/chart" uri="{C3380CC4-5D6E-409C-BE32-E72D297353CC}">
              <c16:uniqueId val="{00000000-67B1-4851-864C-D9CCB9632759}"/>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title>
          <c:tx>
            <c:rich>
              <a:bodyPr/>
              <a:lstStyle/>
              <a:p>
                <a:pPr>
                  <a:defRPr sz="1100" b="0" i="0" u="none" strike="noStrike">
                    <a:solidFill>
                      <a:srgbClr val="7B8494"/>
                    </a:solidFill>
                    <a:latin typeface="+mn-lt"/>
                  </a:defRPr>
                </a:pPr>
                <a:r>
                  <a:rPr lang="id-ID" sz="1100" b="0" i="0" u="none" strike="noStrike">
                    <a:solidFill>
                      <a:srgbClr val="7B8494"/>
                    </a:solidFill>
                    <a:latin typeface="+mn-lt"/>
                  </a:rPr>
                  <a:t>Status aksi pada invoice Overdue</a:t>
                </a:r>
              </a:p>
            </c:rich>
          </c:tx>
          <c:overlay val="0"/>
        </c:title>
        <c:numFmt formatCode="General" sourceLinked="1"/>
        <c:majorTickMark val="out"/>
        <c:minorTickMark val="none"/>
        <c:tickLblPos val="low"/>
        <c:spPr>
          <a:ln w="12700" cap="flat">
            <a:solidFill>
              <a:srgbClr val="B8C0CC"/>
            </a:solidFill>
            <a:prstDash val="solid"/>
            <a:round/>
          </a:ln>
        </c:spPr>
        <c:txPr>
          <a:bodyPr/>
          <a:lstStyle/>
          <a:p>
            <a:pPr>
              <a:defRPr sz="1100" b="0" i="0" u="none" strike="noStrike">
                <a:solidFill>
                  <a:srgbClr val="7B8494"/>
                </a:solidFill>
                <a:latin typeface="+mn-lt"/>
              </a:defRPr>
            </a:pPr>
            <a:endParaRPr lang="id-ID"/>
          </a:p>
        </c:txPr>
        <c:crossAx val="2094734552"/>
        <c:crosses val="autoZero"/>
        <c:auto val="1"/>
        <c:lblAlgn val="ctr"/>
        <c:lblOffset val="100"/>
        <c:noMultiLvlLbl val="1"/>
      </c:catAx>
      <c:valAx>
        <c:axId val="2094734552"/>
        <c:scaling>
          <c:orientation val="minMax"/>
          <c:max val="1000"/>
          <c:min val="0"/>
        </c:scaling>
        <c:delete val="0"/>
        <c:axPos val="l"/>
        <c:majorGridlines>
          <c:spPr>
            <a:ln w="9525" cap="flat">
              <a:solidFill>
                <a:srgbClr val="E8EBF0"/>
              </a:solidFill>
              <a:prstDash val="solid"/>
              <a:round/>
            </a:ln>
          </c:spPr>
        </c:majorGridlines>
        <c:title>
          <c:tx>
            <c:rich>
              <a:bodyPr/>
              <a:lstStyle/>
              <a:p>
                <a:pPr>
                  <a:defRPr sz="1100" b="0" i="0" u="none" strike="noStrike">
                    <a:solidFill>
                      <a:srgbClr val="7B8494"/>
                    </a:solidFill>
                    <a:latin typeface="+mn-lt"/>
                  </a:defRPr>
                </a:pPr>
                <a:r>
                  <a:rPr lang="id-ID" sz="1100" b="0" i="0" u="none" strike="noStrike">
                    <a:solidFill>
                      <a:srgbClr val="7B8494"/>
                    </a:solidFill>
                    <a:latin typeface="+mn-lt"/>
                  </a:rPr>
                  <a:t>Invoice bulan berikutnya belum dibayar (%)</a:t>
                </a:r>
              </a:p>
            </c:rich>
          </c:tx>
          <c:overlay val="0"/>
        </c:title>
        <c:numFmt formatCode="0\,0" sourceLinked="0"/>
        <c:majorTickMark val="out"/>
        <c:minorTickMark val="none"/>
        <c:tickLblPos val="nextTo"/>
        <c:spPr>
          <a:ln w="12700" cap="flat">
            <a:noFill/>
            <a:prstDash val="solid"/>
            <a:round/>
          </a:ln>
        </c:spPr>
        <c:txPr>
          <a:bodyPr/>
          <a:lstStyle/>
          <a:p>
            <a:pPr>
              <a:defRPr sz="1000" b="0" i="0" u="none" strike="noStrike">
                <a:solidFill>
                  <a:srgbClr val="7B8494"/>
                </a:solidFill>
                <a:latin typeface="+mn-lt"/>
              </a:defRPr>
            </a:pPr>
            <a:endParaRPr lang="id-ID"/>
          </a:p>
        </c:txPr>
        <c:crossAx val="2094734554"/>
        <c:crosses val="autoZero"/>
        <c:crossBetween val="between"/>
        <c:majorUnit val="200"/>
      </c:valAx>
      <c:spPr>
        <a:noFill/>
        <a:ln>
          <a:noFill/>
        </a:ln>
        <a:effectLst/>
      </c:spPr>
    </c:plotArea>
    <c:plotVisOnly val="1"/>
    <c:dispBlanksAs val="span"/>
    <c:showDLblsOverMax val="1"/>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3294B"/>
                </a:solidFill>
                <a:latin typeface="+mn-lt"/>
              </a:defRPr>
            </a:pPr>
            <a:r>
              <a:rPr lang="id-ID" sz="1200" b="0" i="0" u="none" strike="noStrike">
                <a:solidFill>
                  <a:srgbClr val="13294B"/>
                </a:solidFill>
                <a:latin typeface="+mn-lt"/>
              </a:rPr>
              <a:t>Menurut respons terakhir pada aksi</a:t>
            </a:r>
          </a:p>
        </c:rich>
      </c:tx>
      <c:overlay val="0"/>
    </c:title>
    <c:autoTitleDeleted val="0"/>
    <c:plotArea>
      <c:layout/>
      <c:barChart>
        <c:barDir val="col"/>
        <c:grouping val="clustered"/>
        <c:varyColors val="0"/>
        <c:ser>
          <c:idx val="0"/>
          <c:order val="0"/>
          <c:tx>
            <c:strRef>
              <c:f>Sheet1!$B$1</c:f>
              <c:strCache>
                <c:ptCount val="1"/>
                <c:pt idx="0">
                  <c:v>Tidak dibayar bulan depan</c:v>
                </c:pt>
              </c:strCache>
            </c:strRef>
          </c:tx>
          <c:spPr>
            <a:solidFill>
              <a:srgbClr val="1F4D3A"/>
            </a:solidFill>
            <a:effectLst/>
          </c:spPr>
          <c:invertIfNegative val="0"/>
          <c:dPt>
            <c:idx val="0"/>
            <c:invertIfNegative val="0"/>
            <c:bubble3D val="0"/>
            <c:extLst>
              <c:ext xmlns:c16="http://schemas.microsoft.com/office/drawing/2014/chart" uri="{C3380CC4-5D6E-409C-BE32-E72D297353CC}">
                <c16:uniqueId val="{00000001-7DE4-4CBB-9FA9-B82607DE49BC}"/>
              </c:ext>
            </c:extLst>
          </c:dPt>
          <c:dPt>
            <c:idx val="1"/>
            <c:invertIfNegative val="0"/>
            <c:bubble3D val="0"/>
            <c:spPr>
              <a:solidFill>
                <a:srgbClr val="C9A227"/>
              </a:solidFill>
              <a:effectLst/>
            </c:spPr>
            <c:extLst>
              <c:ext xmlns:c16="http://schemas.microsoft.com/office/drawing/2014/chart" uri="{C3380CC4-5D6E-409C-BE32-E72D297353CC}">
                <c16:uniqueId val="{00000003-7DE4-4CBB-9FA9-B82607DE49BC}"/>
              </c:ext>
            </c:extLst>
          </c:dPt>
          <c:dPt>
            <c:idx val="2"/>
            <c:invertIfNegative val="0"/>
            <c:bubble3D val="0"/>
            <c:spPr>
              <a:solidFill>
                <a:srgbClr val="B23A3A"/>
              </a:solidFill>
              <a:effectLst/>
            </c:spPr>
            <c:extLst>
              <c:ext xmlns:c16="http://schemas.microsoft.com/office/drawing/2014/chart" uri="{C3380CC4-5D6E-409C-BE32-E72D297353CC}">
                <c16:uniqueId val="{00000005-7DE4-4CBB-9FA9-B82607DE49BC}"/>
              </c:ext>
            </c:extLst>
          </c:dPt>
          <c:dPt>
            <c:idx val="3"/>
            <c:invertIfNegative val="0"/>
            <c:bubble3D val="0"/>
            <c:spPr>
              <a:solidFill>
                <a:srgbClr val="B23A3A"/>
              </a:solidFill>
              <a:effectLst/>
            </c:spPr>
            <c:extLst>
              <c:ext xmlns:c16="http://schemas.microsoft.com/office/drawing/2014/chart" uri="{C3380CC4-5D6E-409C-BE32-E72D297353CC}">
                <c16:uniqueId val="{00000007-7DE4-4CBB-9FA9-B82607DE49BC}"/>
              </c:ext>
            </c:extLst>
          </c:dPt>
          <c:dLbls>
            <c:numFmt formatCode="0\,0&quot;%&quot;" sourceLinked="0"/>
            <c:spPr>
              <a:noFill/>
              <a:ln>
                <a:noFill/>
              </a:ln>
              <a:effectLst/>
            </c:spPr>
            <c:txPr>
              <a:bodyPr/>
              <a:lstStyle/>
              <a:p>
                <a:pPr>
                  <a:defRPr sz="1100" b="0" i="0" u="none" strike="noStrike">
                    <a:solidFill>
                      <a:srgbClr val="1E2633"/>
                    </a:solidFill>
                    <a:latin typeface="+mn-lt"/>
                  </a:defRPr>
                </a:pPr>
                <a:endParaRPr lang="id-ID"/>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Lunas Setelah Kontak</c:v>
                </c:pt>
                <c:pt idx="1">
                  <c:v>Janji Bayar</c:v>
                </c:pt>
                <c:pt idx="2">
                  <c:v>Tidak Respon</c:v>
                </c:pt>
                <c:pt idx="3">
                  <c:v>Sengketa</c:v>
                </c:pt>
              </c:strCache>
            </c:strRef>
          </c:cat>
          <c:val>
            <c:numRef>
              <c:f>Sheet1!$B$2:$B$5</c:f>
              <c:numCache>
                <c:formatCode>General</c:formatCode>
                <c:ptCount val="4"/>
                <c:pt idx="0">
                  <c:v>0</c:v>
                </c:pt>
                <c:pt idx="1">
                  <c:v>615</c:v>
                </c:pt>
                <c:pt idx="2">
                  <c:v>831</c:v>
                </c:pt>
                <c:pt idx="3">
                  <c:v>842</c:v>
                </c:pt>
              </c:numCache>
            </c:numRef>
          </c:val>
          <c:extLst>
            <c:ext xmlns:c16="http://schemas.microsoft.com/office/drawing/2014/chart" uri="{C3380CC4-5D6E-409C-BE32-E72D297353CC}">
              <c16:uniqueId val="{00000008-7DE4-4CBB-9FA9-B82607DE49BC}"/>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title>
          <c:tx>
            <c:rich>
              <a:bodyPr/>
              <a:lstStyle/>
              <a:p>
                <a:pPr>
                  <a:defRPr sz="1100" b="0" i="0" u="none" strike="noStrike">
                    <a:solidFill>
                      <a:srgbClr val="7B8494"/>
                    </a:solidFill>
                    <a:latin typeface="+mn-lt"/>
                  </a:defRPr>
                </a:pPr>
                <a:r>
                  <a:rPr lang="id-ID" sz="1100" b="0" i="0" u="none" strike="noStrike">
                    <a:solidFill>
                      <a:srgbClr val="7B8494"/>
                    </a:solidFill>
                    <a:latin typeface="+mn-lt"/>
                  </a:rPr>
                  <a:t>Respons terakhir pemilik</a:t>
                </a:r>
              </a:p>
            </c:rich>
          </c:tx>
          <c:overlay val="0"/>
        </c:title>
        <c:numFmt formatCode="General" sourceLinked="1"/>
        <c:majorTickMark val="out"/>
        <c:minorTickMark val="none"/>
        <c:tickLblPos val="low"/>
        <c:spPr>
          <a:ln w="12700" cap="flat">
            <a:solidFill>
              <a:srgbClr val="B8C0CC"/>
            </a:solidFill>
            <a:prstDash val="solid"/>
            <a:round/>
          </a:ln>
        </c:spPr>
        <c:txPr>
          <a:bodyPr/>
          <a:lstStyle/>
          <a:p>
            <a:pPr>
              <a:defRPr sz="1000" b="0" i="0" u="none" strike="noStrike">
                <a:solidFill>
                  <a:srgbClr val="7B8494"/>
                </a:solidFill>
                <a:latin typeface="+mn-lt"/>
              </a:defRPr>
            </a:pPr>
            <a:endParaRPr lang="id-ID"/>
          </a:p>
        </c:txPr>
        <c:crossAx val="2094734552"/>
        <c:crosses val="autoZero"/>
        <c:auto val="1"/>
        <c:lblAlgn val="ctr"/>
        <c:lblOffset val="100"/>
        <c:noMultiLvlLbl val="1"/>
      </c:catAx>
      <c:valAx>
        <c:axId val="2094734552"/>
        <c:scaling>
          <c:orientation val="minMax"/>
          <c:max val="1000"/>
          <c:min val="0"/>
        </c:scaling>
        <c:delete val="0"/>
        <c:axPos val="l"/>
        <c:majorGridlines>
          <c:spPr>
            <a:ln w="9525" cap="flat">
              <a:solidFill>
                <a:srgbClr val="E8EBF0"/>
              </a:solidFill>
              <a:prstDash val="solid"/>
              <a:round/>
            </a:ln>
          </c:spPr>
        </c:majorGridlines>
        <c:title>
          <c:tx>
            <c:rich>
              <a:bodyPr/>
              <a:lstStyle/>
              <a:p>
                <a:pPr>
                  <a:defRPr sz="1100" b="0" i="0" u="none" strike="noStrike">
                    <a:solidFill>
                      <a:srgbClr val="7B8494"/>
                    </a:solidFill>
                    <a:latin typeface="+mn-lt"/>
                  </a:defRPr>
                </a:pPr>
                <a:r>
                  <a:rPr lang="id-ID" sz="1100" b="0" i="0" u="none" strike="noStrike">
                    <a:solidFill>
                      <a:srgbClr val="7B8494"/>
                    </a:solidFill>
                    <a:latin typeface="+mn-lt"/>
                  </a:rPr>
                  <a:t>Invoice bulan berikutnya belum dibayar (%)</a:t>
                </a:r>
              </a:p>
            </c:rich>
          </c:tx>
          <c:overlay val="0"/>
        </c:title>
        <c:numFmt formatCode="0\,0" sourceLinked="0"/>
        <c:majorTickMark val="out"/>
        <c:minorTickMark val="none"/>
        <c:tickLblPos val="nextTo"/>
        <c:spPr>
          <a:ln w="12700" cap="flat">
            <a:noFill/>
            <a:prstDash val="solid"/>
            <a:round/>
          </a:ln>
        </c:spPr>
        <c:txPr>
          <a:bodyPr/>
          <a:lstStyle/>
          <a:p>
            <a:pPr>
              <a:defRPr sz="1000" b="0" i="0" u="none" strike="noStrike">
                <a:solidFill>
                  <a:srgbClr val="7B8494"/>
                </a:solidFill>
                <a:latin typeface="+mn-lt"/>
              </a:defRPr>
            </a:pPr>
            <a:endParaRPr lang="id-ID"/>
          </a:p>
        </c:txPr>
        <c:crossAx val="2094734554"/>
        <c:crosses val="autoZero"/>
        <c:crossBetween val="between"/>
        <c:majorUnit val="200"/>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2317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membuka presentasi dan menegaskan bahwa diskusi hari ini berujung pada keputusan, bukan sekadar laporan.
YANG DITAMPILKAN: judul, subjudul, nama penyusun, cakupan data, tanggal status pembayaran, dan audiens.
NARASI (± 30 detik):
Selamat pagi, Bapak dan Ibu. Kami menyampaikan hasil analisis data tagihan Iuran Pemeliharaan Lingkungan atau IPL Sinarmas Land. IPL adalah iuran bulanan dari pemilik unit yang membiayai keamanan, kebersihan, dan perawatan fasilitas kawasan. Jika banyak tagihan tidak dibayar, kawasan tetap harus beroperasi, sehingga arus kas operasional berisiko tertekan.
Presentasi ini menjawab tiga pertanyaan: seberapa besar masalahnya, segmen mana yang paling berkaitan dengan tunggakan, dan tindakan apa yang layak diuji dalam dua kuartal ke depan. Di akhir, kami meminta satu keputusan: persetujuan pilot.
PENJELASAN ISTILAH DAN ANGKA:
- Cakupan data: tagihan yang terbit Juli 2022 sampai Desember 2024, yaitu 30 bulan (notebook bagian 3.4, sel [5]).
- Tanggal status 27 Januari 2025 adalah tanggal kejadian terakhir yang tercatat pada data (pembayaran, aksi penagihan, sengketa). Ini asumsi karena log ekstraksi resmi belum tersedia. Bedakan dua tanggal ini: Jul 2022–Des 2024 adalah bulan tagihan diterbitkan, sedangkan 27 Jan 2025 adalah tanggal kita "memotret" status pembayarannya.
CATATAN: gambar latar adalah ilustrasi kawasan terencana, bukan foto lokasi Sinarmas Land.
TRANSISI: "Berikut alur presentasi kami."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memberi peta perjalanan presentasi.
YANG DITAMPILKAN: tujuh bagian presentasi. Nomor emas sama dengan nomor pada slide pembatas setiap bagian.
NARASI (± 20–30 detik, jangan membacakan semua subjudul):
Presentasi kami berjalan dari masalah ke keputusan. Kami mulai dari konteks bisnis, lalu memastikan datanya dapat dipercaya. Setelah itu kami ukur besar masalah NPI, mencari faktor yang paling berkaitan dengan tunggakan, dan menerjemahkannya menjadi prioritas kerja Collection dan Finance. Terakhir, kami tunjukkan simulasi pencegahan, rekomendasi, dan keputusan yang kami minta.
Rincian teknis seperti metode statistik dan daftar hipotesis lengkap kami letakkan di lampiran, dan dapat dibuka jika ada pertanyaan.
TIPS PRESENTER: untuk audiens eksekutif, tiga cerita besar adalah (1) besar masalah dan keandalan angka, slide 3 dan 8–14; (2) faktor risiko dan konsekuensi operasional, slide 16–25; (3) intervensi, target, dan keputusan, slide 27–35.
TRANSISI: "Sebelum masuk ke detail, ini ringkasan eksekutifnya dalam satu halaman."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memberi gambaran utuh yang dapat berdiri sendiri, jika audiens hanya melihat satu slide.
YANG DITAMPILKAN:
- Empat kartu angka di atas: skala masalah (jumlah dan rupiah), faktor terkuat, dan umur tunggakan.
- Tiga pesan utama di kiri bawah.
- Panel navy di kanan bawah: keputusan yang diminta dan target usulan.
NARASI (± 60 detik):
Ada tiga pesan. Pertama, masalahnya besar. Pada tanggal snapshot, 35,44 persen invoice utama, atau 272.545 dari 768.978 invoice, berstatus Unpaid atau Overdue. Kami menyebutnya NPI, Non-Performing Invoice. Nominal tagihan bermasalah tercatat Rp224,64 miliar. Setelah komponen air yang masih perlu divalidasi dipisahkan, nominal analisisnya Rp176,34 miliar. Delapan puluh delapan persen nominal itu sudah berumur lebih dari 90 hari.
Kedua, faktor yang paling berkaitan dengan NPI adalah autodebit. NPI tagihan tanpa autodebit 39,71 persen, sedangkan dengan autodebit hanya 9,93 persen. Setelah faktor lain seperti status hunian dan domisili disamakan, selisihnya masih 26,59 poin persentase. Vacant dan domisili jauh juga tetap berkaitan.
Ketiga, karena tunggakan lama sulit dipulihkan, fokus dua kuartal adalah mencegah tagihan baru menjadi NPI. Saat ini sekitar Rp7,0 miliar tagihan baru per bulan masih berstatus NPI.
Keputusan yang kami minta adalah pilot autodebit pada Q1 dengan grup kontrol, bukan peluncuran penuh.
PENTING – DUA ANGKA NPI YANG BERBEDA:
- 35,44 persen adalah NPI seluruh invoice utama (30 bulan) pada tanggal snapshot. Angka ini didominasi tunggakan lama.
- 37,24 persen adalah NPI cohort tagihan baru, yaitu rata-rata 6 cohort matang terakhir (Juni–November 2024).
- Target ≤ 34,8 persen berlaku untuk NPI cohort tagihan baru, sehingga dibandingkan dengan 37,24 persen, bukan dengan 35,44 persen.
ASAL ANGKA:
- 35,44%, 272.545, 768.978, Rp224,64 M, Rp176,34 M: notebook 5.1, sel [25].
- 39,71% vs 9,93%: H6, sel [32]. Selisih terkendali +26,59; +23,28; +10,14: bagian 5.9, sel [56].
- 88% = 11,9% + 23,1% + 53,0% nominal pada umur 91–180, 181–365, dan &gt; 365 hari: bagian 6.2.1, sel [59].
- Rp7,0 miliar per bulan = jumlah nilai NPI analisis Jun–Nov 2024 dibagi 6 bulan (dihitung dari data periode dasar notebook 6.1.2).
- ≤ 34,8% = hasil skenario dasar simulasi (34,78%), sel [58].
BATASAN: semua temuan adalah asosiasi dari data observasional, bukan bukti sebab-akibat. Karena itu kami mengusulkan pilot dengan grup kontrol untuk membuktikan dampaknya.
PERTANYAAN YANG MUNGKIN MUNCUL:
- "Mengapa targetnya hanya ≤ 34,8 persen, mengapa tidak ≤ 20 persen?" Jawaban: target diambil dari skenario dasar, yaitu 25 persen unit eligible beralih ke autodebit dan 50 persen efeknya tercapai. Pada skenario itu, setiap 25 persen unit yang beralih menurunkan NPI sekitar 2,46 poin persentase, atau sekitar 9,84 poin jika 100 persen unit eligible beralih. Untuk kembali ke 30,14 persen (level cohort awal) dibutuhkan sekitar 72 persen unit eligible beralih (sel [58]). Untuk mencapai 20 persen dibutuhkan (37,24 − 20) ÷ 9,84 ≈ 175 persen unit eligible, artinya mustahil hanya dengan autodebit. Target yang lebih ambisius dapat ditetapkan setelah pilot membuktikan efek sebenarnya.
- "Apakah Rp176,34 miliar adalah kerugian?" Jawaban: bukan. Itu nominal tagihan berstatus NPI, bukan kerugian permanen dan bukan kas yang pasti tertagih.
TRANSISI: "Mari mulai dari konteks bisnisnya."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jeda visual dan penanda awal bagian konteks bisnis.
NARASI (± 10 detik): Bagian pertama menjelaskan mengapa IPL penting, risiko apa yang muncul ketika tagihan tidak dibayar, dan bagaimana masalah tersebut dirumuskan menjadi pertanyaan analisis.
TIPS PRESENTER: jangan menjelaskan isi slide berikutnya di sini; langsung lanjutkan.
TRANSISI: "Kita lihat peran IPL dan rantai risikonya."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menjelaskan rantai logika analisis, dari masalah sampai keputusan.
YANG DITAMPILKAN: empat kartu dibaca dari kiri ke kanan mengikuti panah: masalah → dampak → dugaan yang diuji → keputusan. Kotak krem menjelaskan penggunaan IPL; panel navy menegaskan bahwa kartu 3 masih dugaan.
NARASI (± 45 detik):
IPL dibayar pemilik unit setiap bulan untuk membiayai keamanan, kebersihan, dan perawatan fasilitas umum. Brief memperkirakan lebih dari seperempat tagihan tidak dibayar tepat waktu. Kami menyebut tagihan seperti ini NPI, yaitu invoice yang berstatus Unpaid atau Overdue.
Dampaknya, dana operasional tertahan, sementara layanan kawasan tetap harus berjalan. Akibatnya, kawasan berisiko makin bergantung pada subsidi dari induk perusahaan.
Brief juga menyebut beberapa dugaan penyebab: unit kosong atau vacant, pemilik yang tinggal jauh, kontak yang tidak lengkap, autodebit yang rendah, dan masalah kualitas data tagihan. Dugaan ini belum kami anggap benar; semuanya diuji di bagian 04.
Hasil pengujian lalu diterjemahkan menjadi keputusan: siapa yang ditagih lebih dahulu, program pencegahan apa yang diuji, apa yang perlu direkonsiliasi, dan sistem apa yang perlu diperbaiki.
ASAL ANGKA: "lebih dari 25%" berasal dari brief (Sinarmasland_Brief_Peserta.pdf), bukan hasil hitung kami. Angka hasil data adalah 35,44 persen (slide 13).
BATASAN: data tagihan belum mengukur defisit kas, subsidi aktual, atau biaya operasional. Karena itu kami menyebutnya "risiko arus kas", bukan defisit kas yang sudah terukur.
TRANSISI: "Dari konteks ini, berikut rumusan masalah dan tujuan analisisnya."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menyamakan rumusan masalah, empat tujuan analisis, dan definisi metrik sebelum melihat angka.
YANG DITAMPILKAN: panel navy berisi satu pertanyaan utama; empat kartu T1–T4 adalah tujuan analisis dari brief; baris bawah berisi definisi NPI rate.
NARASI (± 45 detik):
Pertanyaan utama kami: bagaimana Head of Township Management dapat menurunkan NPI rate tagihan IPL di lima township dalam dua kuartal, dengan tindakan yang benar-benar dapat dijalankan oleh tim Collection, Finance, dan IT/ERP.
Pertanyaan itu kami pecah menjadi empat tujuan sesuai brief. T1, menemukan segmen yang paling berkaitan dengan tunggakan sebagai dasar prioritas penagihan. T2, menghitung nilai yang tertahan dan umur tunggakannya. T3, merumuskan standar pencatatan kanal pembayaran untuk Finance. T4, menilai kualitas data tagihan untuk IT/ERP.
Definisi NPI rate perlu disepakati sejak awal: jumlah invoice utama berstatus Unpaid atau Overdue, dibagi seluruh invoice utama. Statusnya adalah status pada tanggal snapshot. Satu invoice utama mewakili satu unit untuk satu bulan; salinan tagihan ganda tidak ikut dihitung.
Angka target belum ditetapkan oleh manajemen. Kami mengusulkannya setelah baseline dan simulasi, di slide 28.
ASAL ANGKA: 5 township = jumlah nilai unik township_name pada tabel clusters (sel [7]). "2 kuartal" berasal dari brief.
PERTANYAAN YANG MUNGKIN MUNCUL: "Mengapa Unpaid dan Overdue digabung?" Jawaban: sesuai definisi brief. Pada data, seluruh 99.405 invoice Unpaid juga sudah melewati jatuh tempo pada tanggal snapshot (sel [19]), jadi keduanya sama-sama tagihan lewat jatuh tempo yang belum dibayar.
TRANSISI: "Selanjutnya, data apa yang kami pakai dan seberapa andal datanya."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penanda bagian data dan metodologi.
NARASI (± 10–15 detik): Bagian ini menjawab satu pertanyaan penting: apakah angka yang akan kita bahas dapat dipercaya? Saya tunjukkan cakupan data, cara kami menetapkan unit analisis, dan temuan kualitas data yang paling berpengaruh.
TRANSISI: "Mulai dari cakupan datanya."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menunjukkan cakupan data dan cara lima tabel digabung tanpa menghitung nominal dua kali.
YANG DITAMPILKAN:
- Lima kartu angka: ukuran data.
- Diagram tabel: panah 1 : N berarti satu cluster memiliki banyak unit, dan satu unit memiliki banyak tagihan bulanan. Panah 1 : 0..N berarti satu tagihan dapat memiliki nol, satu, atau beberapa aksi penagihan dan sengketa. Kotak emas adalah tabel fakta utama.
- Kotak krem: periode data, perhitungan invoice utama, dan asumsi tanggal snapshot.
NARASI (± 45 detik):
Kami memakai lima tabel dari database: clusters, units, billings, collection actions, dan payment disputes. Data mencakup lima township, 111 cluster, dan 28.881 unit. Tabel billing awalnya berisi 807.427 baris. Setelah 38.449 salinan tagihan yang terbit dua kali ditandai, tersisa 768.978 invoice utama. Inilah dasar seluruh perhitungan NPI.
Satu baris analisis berarti satu invoice utama untuk satu unit pada satu bulan. Karena satu tagihan bisa ditagih beberapa kali atau disengketakan beberapa kali, aksi dan sengketa kami ringkas dulu per invoice sebelum digabung. Jika tidak, nominal tagihan akan ikut berlipat.
Status pembayaran dibaca per 27 Januari 2025. Tanggal ini kami ambil dari kejadian terakhir yang tercatat pada data, sehingga masih berupa asumsi.
ASAL ANGKA:
- 5 township, 111 cluster, 28.881 unit, 807.427 baris, periode 30 bulan: notebook 3.4 dan 4.1, sel [5] dan [7].
- 38.449 salinan dan 768.978 invoice utama: sel [12], [20], dan [22].
- 27 Januari 2025 = tanggal terbesar dari payment_date, action_date, dan dispute_date: sel [5].
PERTANYAAN YANG MUNGKIN MUNCUL: "Apakah database diubah selama analisis?" Jawaban: tidak. Database hanya dibaca (SELECT), lalu seluruh analisis dijalankan pada salinan CSV.
TRANSISI: "Berikut alur analisis yang kami jalankan."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menjelaskan bagaimana setiap angka dihasilkan, tanpa masuk ke detail teknis.
YANG DITAMPILKAN: enam tahap berurutan dari kiri ke kanan. Nomor navy (1–3) adalah persiapan data; nomor emas (4–6) adalah analisis. Panel navy berisi tiga prinsip membaca hasil.
NARASI (± 30–45 detik):
Analisis berjalan dalam enam tahap. Satu, data dibaca sekali sebagai snapshot, tanpa mengubah database. Dua, kualitas data divalidasi: relasi antartabel, data kosong, duplikasi, dan anomali. Tiga, data bermasalah ditandai, bukan dihapus, sehingga setiap angka dapat diaudit. Empat, hipotesis diuji dan faktor pengganggu dikendalikan. Lima, hasilnya diterjemahkan untuk setiap stakeholder, misalnya umur tunggakan dan daftar kerja Collection. Enam, dampak intervensi disimulasikan lalu disusun menjadi rekomendasi.
Ada tiga prinsip membaca hasil. Pertama, semua hasil adalah asosiasi. Kedua, satu unit memiliki banyak invoice bulanan, sehingga ketidakpastian dihitung per unit. Ketiga, status pembayaran adalah status pada tanggal snapshot, sehingga pola waktu dibaca per cohort bulan penerbitan.
ISTILAH (simpan untuk tanya jawab):
- CI 95% (interval kepercayaan): rentang tempat selisih sebenarnya kemungkinan besar berada. Dihitung dengan bootstrap per unit, yaitu mengambil ulang unit secara acak 300 kali.
- Cramér's V: ukuran kekuatan hubungan dari 0 sampai 1.
- Koreksi Holm: penyesuaian p-value karena banyak hipotesis diuji sekaligus.
- Selisih terkendali: selisih NPI setelah faktor lain disamakan.
Rincian tersedia di Lampiran A4.
PERTANYAAN YANG MUNGKIN MUNCUL: "Mengapa tidak cukup dengan p-value?" Jawaban: dengan 768 ribu invoice, selisih yang sangat kecil pun akan signifikan. Prioritas bisnis ditentukan oleh besar selisih, nominalnya, dan apakah selisih itu bertahan setelah pengendalian.
TRANSISI: "Sekarang, temuan kualitas data yang paling memengaruhi angka."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menunjukkan temuan kualitas data yang paling berpengaruh dan cara penanganannya.
YANG DITAMPILKAN: enam temuan dikelompokkan menjadi tiga kartu. Setiap kartu berisi angka temuan, risikonya, dan tindakan perbaikan. Dua baris bawah menjelaskan data kosong yang wajar dan status batas 97,8 m³.
NARASI (± 60 detik):
Kami menemukan enam temuan kualitas data dalam tiga kelompok.
Kelompok pertama, duplikasi tagihan. Pada Juni sampai September 2023, 38.449 tagihan terbit dua kali untuk unit dan bulan yang sama. Jika tidak ditangani, baseline NPI naik 1,52 poin persentase dan pemilik bisa ditagih dua kali.
Kelompok kedua, anomali meter dan tanggal. Ada 3.824 pemakaian air negatif, 3.789 pemakaian air di atas 97,8 meter kubik yang seluruhnya diinput manual, dan 11.236 tanggal bayar yang lebih awal dari periode tagihannya, bahkan sebelum serah terima unit.
Kelompok ketiga, kontak dan metode bayar. Sebanyak 4.978 unit, atau 17,24 persen, tidak memiliki nomor kontak. Metode bayar ditulis dalam sembilan variasi yang sebenarnya hanya empat kanal.
Ada juga data kosong yang wajar, misalnya tanggal bayar kosong karena invoice memang belum dibayar. Data ini tidak kami isi.
ASAL ANGKA:
- 38.449 dan Jun–Sep 2023: sel [12]. 1,52 poin = 36,96% − 35,44%: sel [25].
- 3.824 dan 3.789: sel [17]. Batas 97,8 m³ dan celah 97,8 → 504 m³: sel [16].
- 11.236: sel [19]. 4.978 (17,24%): sel [7] dan [11]. 9 variasi → 4 kode: sel [15] dan [20].
- 298.426 dan 2.722: sel [7].
CARA MENDAPATKAN BATAS 97,8 m³: nilai pemakaian air diurutkan, lalu dicari celah kosong terbesar di atas batas IQR. Tidak ada satu pun tagihan antara 97,8 dan 504 m³, dan 97,8 juga pembacaan tertinggi meter Otomatis. Ini batas screening, bukan bukti kesalahan; unit komersial bisa saja memakai air besar.
PERTANYAAN YANG MUNGKIN MUNCUL: "Apakah data anomali dihapus?" Jawaban: tidak. Nilai aslinya tetap disimpan dan ditandai, sehingga dapat diaudit dan dikoreksi setelah Estate Ops memberikan bukti meter.
TRANSISI: "Temuan yang paling berdampak pada baseline adalah duplikasi tagihan."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penanda bagian besar masalah.
NARASI (± 10 detik): Bagian ini menjawab pertanyaan pertama manajemen: seberapa besar masalah NPI, dari sisi jumlah invoice maupun rupiah, dan bagaimana polanya dari waktu ke waktu.
TRANSISI: "Kita mulai dari baseline."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menetapkan baseline NPI dan membedakan metrik berbasis jumlah invoice dengan metrik berbasis rupiah.
YANG DITAMPILKAN:
- Baris atas: tiga persentase. Dua kartu navy adalah baseline resmi (jumlah dan nominal); kartu abu-abu adalah pembanding sebelum duplikasi.
- Baris tengah dibaca dari kiri ke kanan: bruto dikurangi komponen air yang perlu validasi sama dengan nominal analisis.
NARASI (± 60 detik):
Baseline NPI adalah 35,44 persen, yaitu 272.545 dari 768.978 invoice utama berstatus Unpaid atau Overdue. Ini dihitung dari jumlah invoice.
Jika dihitung dari nilai rupiah, NPI sebesar 35,55 persen, yaitu nominal NPI analisis dibagi total nilai tagihan analisis. Kedua angka ini mirip tetapi tidak sama, sehingga tidak boleh dipertukarkan. Sebagai pembanding, sebelum salinan duplikasi dikeluarkan, NPI tercatat 36,96 persen.
Untuk nominal, kami menyajikan tiga lapisan. Nominal bruto, yaitu total tagihan semua invoice NPI sebagaimana tercatat, adalah Rp224,64 miliar. Sebesar Rp48,30 miliar di antaranya adalah komponen air pada invoice yang pemakaian airnya negatif atau di atas 97,8 meter kubik, sehingga perlu divalidasi dulu. Setelah komponen itu dipisahkan, nominal analisisnya Rp176,34 miliar. Komponen IPL dan denda tetap dihitung karena tidak dipengaruhi kesalahan meter.
Penting: nominal ini adalah tagihan bermasalah, bukan kerugian permanen dan bukan kas yang pasti dapat ditagih.
ASAL ANGKA (semua dari notebook 5.1, sel [25]):
- 35,44% = 272.545 ÷ 768.978.
- 35,55% = Σ nilai_npi ÷ Σ nilai_tagihan (keduanya setelah komponen air beranomali dikeluarkan).
- 36,96% = NPI pada 807.427 invoice sebelum aturan duplikasi.
- Rp224,64 M = Σ total_amount invoice NPI. Rp48,30 M = Σ (total − tarif IPL − denda) pada invoice NPI dengan air &lt; 0 atau &gt; 97,8 m³. Rp176,34 M = Rp224,64 M − Rp48,30 M.
PERTANYAAN YANG MUNGKIN MUNCUL: "Mengapa tidak memakai Rp224,64 miliar saja?" Jawaban: angka bruto tetap kami laporkan. Namun Rp48,30 miliar berasal dari pembacaan meter yang belum tervalidasi. Memakai nominal analisis membuat prioritas tidak terdistorsi oleh kemungkinan salah input. Jika Estate Ops memvalidasi meter, angkanya dapat dikembalikan.
TRANSISI: "Berikut polanya dari waktu ke waktu."</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menunjukkan pola NPI dari waktu ke waktu dengan definisi yang tepat.
YANG DITAMPILKAN:
- Grafik atas: sumbu X = bulan penerbitan invoice (cohort); sumbu Y = persentase invoice cohort tersebut yang masih berstatus NPI pada 27 Januari 2025.
- Grafik bawah: sumbu X yang sama; sumbu Y = nominal NPI analisis per cohort dalam Rp miliar. Setiap batang berdiri sendiri, bukan total kumulatif.
- Panel kanan: tiga ringkasan dengan basis perhitungan masing-masing.
ISTILAH: cohort = kelompok invoice yang terbit pada bulan yang sama. NPI cohort Juli 2022 artinya: dari invoice yang terbit Juli 2022, berapa persen yang masih belum dibayar pada 27 Januari 2025. Ini bukan NPI yang tercatat tepat pada bulan tersebut, karena data tidak menyimpan riwayat status.
NARASI (± 60 detik):
Cohort pertama, Juli 2022, memiliki NPI 20,03 persen. Polanya lalu naik dan sejak 2023 bertahan di kisaran 35 sampai 38 persen. Jika dirata-ratakan, enam cohort matang pertama 30,14 persen, sedangkan enam cohort matang terakhir 37,24 persen.
Grafik bawah menunjukkan rupiahnya. Nominal NPI cohort Juli 2022 sekitar Rp2,4 miliar. Pada 12 cohort matang terakhir, rata-ratanya sekitar Rp6,9 miliar per cohort. Kenaikan nominal ini terutama karena jumlah invoice per bulan bertambah dari 19.882 menjadi 28.881, tidak hanya karena persentase NPI naik.
Jadi, persentase yang stabil tidak berarti masalahnya stabil: rupiah yang tertahan setiap bulan terus membesar.
CARA MENENTUKAN COHORT MATANG: pada data, pembayaran paling terlambat terjadi 22 hari setelah jatuh tempo. Cohort dianggap matang jika jatuh tempo ditambah 22 hari sudah lewat pada tanggal snapshot. Hanya cohort Desember 2024 yang belum matang (NPI 36,78 persen), sehingga tidak ditampilkan pada kedua grafik dan tidak dibandingkan langsung.
ASAL ANGKA (notebook 5.1, sel [26]): titik garis dan batang = rata-rata is_npi dan Σ nilai_npi per billing_month; 20,03%; 30,14% dan 37,24%; Rp2,4 M dan Rp6,9 M; 19.882 → 28.881; batas 22 hari. Angka 36,78% dihitung dengan cara yang sama dari data hasil notebook.
BATASAN: cohort awal lebih rendah antara lain karena portofolio masih bergeser ke cluster New Phase. Pola ini deskriptif, bukan forecast.
TRANSISI: "Pertanyaan berikutnya: karakteristik apa yang paling berkaitan dengan NPI?"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penanda bagian faktor risiko, inti analisis.
NARASI (± 10 detik): Di bagian ini kami menguji dugaan penyebab satu per satu, lalu memeriksa apakah hubungannya tetap ada setelah faktor lain disamakan. Kata yang kami pakai adalah "berkaitan", bukan "menyebabkan".
TRANSISI: "Mulai dari perbandingan NPI antarkelompok."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menunjukkan hipotesis dengan selisih NPI mentah terbesar dan kekuatan buktinya.
YANG DITAMPILKAN:
- Grafik kiri: sumbu Y = hipotesis; sumbu X = NPI rate (% invoice dalam kelompok). Batang navy = kelompok uji (yang diduga berisiko); batang abu-abu = kelompok pembanding.
- Tabel kanan: selisih dalam poin persentase, CI 95%, dan Cramér's V.
NARASI (± 60 detik):
Grafik ini membandingkan NPI kelompok yang diduga berisiko dengan kelompok pembandingnya. Tiga selisih terbesar adalah: unit vacant 58,43 persen dibandingkan 28,11 persen pada unit dihuni, selisih 30,32 poin persentase; tagihan tanpa autodebit 39,71 persen dibandingkan 9,93 persen, selisih 29,78 poin; dan pemilik luar kota atau luar negeri 49,93 persen dibandingkan 27,88 persen, selisih 22,05 poin.
Cara membaca tabel: CI 95 persen adalah rentang ketidakpastian. Semua rentang berada di atas nol, artinya selisihnya bukan kebetulan. Cramér's V mengukur kekuatan hubungan. Nilai 0,22 sampai 0,27 tergolong lemah, dan di bawah 0,10 sangat lemah. Jadi temuan ini penting bukan karena hubungannya kuat secara statistik, melainkan karena selisih poinnya besar dan relevan bagi bisnis.
Ini masih selisih mentah. Beberapa faktor saling tumpang tindih; misalnya pemilik luar negeri lebih sering memiliki unit vacant. Slide berikutnya memeriksa selisih setelah faktor lain dikendalikan.
ASAL ANGKA:
- NPI per kelompok: output fungsi uji hipotesis, notebook 5.3–5.5, sel [28]–[40].
- Selisih, CI 95%, Cramér's V, p-value Holm: ringkasan bagian 5.8, sel [52].
- Rp500 ribu (H8) = median tarif IPL seluruh invoice: sel [36].
- Selisih = NPI kelompok uji − NPI pembanding. CI 95% = persentil 2,5 dan 97,5 dari 300 sampel bootstrap per unit. Cramér's V = √(χ² ÷ n) dari tabel 2×2.
BATASAN: "seluruh selisih signifikan" hanya berlaku untuk delapan hipotesis yang ditampilkan, bukan semua hipotesis yang diuji. Hasil yang tidak didukung ada di slide 20.
PERTANYAAN YANG MUNGKIN MUNCUL: "Jika semua signifikan, mengapa tidak semuanya diprioritaskan?" Jawaban: dengan data sebesar ini, selisih kecil pun signifikan. Prioritas ditentukan oleh besar selisih, nominalnya, dan apakah selisih itu bertahan setelah pengendalian.
TRANSISI: "Mari lihat apa yang tersisa setelah faktor lain disamakan."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DF12F-8A5A-B49F-55ED-92935E08E8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834111-CE9C-E677-3319-6F3C79A3AF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CE0D6D-53E0-49FA-E05E-74771E1F4451}"/>
              </a:ext>
            </a:extLst>
          </p:cNvPr>
          <p:cNvSpPr>
            <a:spLocks noGrp="1"/>
          </p:cNvSpPr>
          <p:nvPr>
            <p:ph type="body" idx="1"/>
          </p:nvPr>
        </p:nvSpPr>
        <p:spPr/>
        <p:txBody>
          <a:bodyPr/>
          <a:lstStyle/>
          <a:p>
            <a:r>
              <a:rPr lang="en-US" dirty="0"/>
              <a:t>TUJUAN SLIDE: memisahkan faktor yang tetap berkaitan dengan NPI dari faktor yang selisihnya hanya mencerminkan komposisi pemilik.
YANG DITAMPILKAN:
- Grafik: sumbu Y = faktor yang diuji; sumbu X = selisih NPI dalam poin persentase. Garis sumbu di angka 0 memudahkan melihat nilai yang hampir nol atau negatif.
- Batang abu-abu = selisih awal (mentah); batang emas = selisih terkendali.
- Panel kanan: dua kelompok hasil.
ISTILAH: selisih terkendali = selisih NPI yang dihitung di dalam kelompok-kelompok yang faktor lainnya sama, lalu dirata-ratakan dengan bobot jumlah invoice. Contoh: untuk autodebit, kita membandingkan unit vacant tanpa autodebit dengan unit vacant dengan autodebit, pemilik jauh tanpa autodebit dengan pemilik jauh dengan autodebit, dan seterusnya.
NARASI (± 60 detik):
Selisih mentah dapat menyesatkan karena faktor-faktor saling berkaitan. Misalnya, unit tanpa kontak lebih sering vacant dan dimiliki pemilik yang jauh. Karena itu kami menghitung selisih terkendali.
Hasilnya ada dua kelompok. Kelompok pertama tetap menunjukkan selisih setelah dikontrol: tanpa autodebit turun sedikit dari 29,78 menjadi 26,59 poin, atau 89 persen tersisa; vacant dari 30,32 menjadi 23,28; cluster New Phase hampir tidak berubah, 7,23 menjadi 7,00; domisili jauh turun lebih banyak, dari 22,04 menjadi 10,14, karena sebagian selisihnya dijelaskan status vacant.
Kelompok kedua turun mendekati nol: kontak belum terverifikasi atau kosong menjadi 0,24 poin, Regional Hub 0,34, dan kanal cetak fisik minus 0,02. Selisih awal ketiganya terutama mencerminkan siapa pemiliknya.
ASAL ANGKA: notebook 5.9, sel [56]. Porsi tersisa = selisih terkendali ÷ selisih awal × 100.
CATATAN ANGKA YANG BERBEDA DENGAN SLIDE 16 (siapkan bila ditanya):
- Kontak: selisih awal 10,05 di sini karena kelompoknya "kontak kosong atau belum terverifikasi" dibandingkan "terverifikasi". H3 di slide 16 (11,91) membandingkan "tanpa nomor" saja dengan "terverifikasi".
- Kanal: selisih awal 7,26 di sini karena pembandingnya "semua kanal lain". H7 di slide 16 (8,66) membandingkan cetak fisik dengan portal saja.
BATASAN: pengendalian hanya mencakup tujuh faktor yang tersedia pada data. Faktor yang tidak tercatat, seperti kemampuan bayar atau kepuasan layanan, masih bisa berpengaruh. Kata "masih ada" berarti asosiasi bersyarat, bukan sebab-akibat.
PERTANYAAN YANG MUNGKIN MUNCUL: "Apakah verifikasi kontak tidak perlu?" Jawaban: tetap perlu, karena Collection tidak dapat menagih pemilik yang tidak bisa dihubungi. Manfaatnya diukur sebagai keterjangkauan, bukan penurunan NPI.
TRANSISI: "Faktor-faktor yang bertahan dapat digabung menjadi skor risiko sederhana."</a:t>
            </a:r>
          </a:p>
        </p:txBody>
      </p:sp>
      <p:sp>
        <p:nvSpPr>
          <p:cNvPr id="4" name="Slide Number Placeholder 3">
            <a:extLst>
              <a:ext uri="{FF2B5EF4-FFF2-40B4-BE49-F238E27FC236}">
                <a16:creationId xmlns:a16="http://schemas.microsoft.com/office/drawing/2014/main" id="{B098592D-BD87-547A-6567-74CB016F1DD1}"/>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9042399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membedakan seberapa berisiko suatu kelompok (risk rate) dengan seberapa besar uangnya (financial exposure).
YANG DITAMPILKAN:
- Grafik kiri: sumbu Y = kelompok uji; sumbu X = NPI rate dalam kelompok (%).
- Grafik kanan: baris yang sama dengan urutan yang sama; sumbu X = nominal NPI analisis (Rp miliar). Baris diurutkan dari nominal terbesar di atas.
- Panel kanan: contoh paling mencolok.
NARASI (± 50 detik):
Grafik kiri menunjukkan risk rate, yaitu persentase invoice NPI di dalam suatu kelompok. Grafik kanan menunjukkan financial exposure, yaitu nominal NPI kelompok tersebut.
Perhatikan perbedaannya. Unit vacant memiliki risk rate tertinggi, 58,43 persen, tetapi nominalnya Rp66,10 miliar. Unit dihuni justru menyumbang Rp110,24 miliar karena jumlah invoicenya sekitar tiga kali lebih banyak. Tagihan tanpa autodebit memiliki risk rate sedang, 39,71 persen, tetapi nominalnya Rp169,28 miliar, atau 96 persen dari total nominal NPI analisis Rp176,34 miliar, karena sebagian besar invoice belum memakai autodebit. Sebaliknya, invoice yang disengketakan berisiko tinggi tetapi nominalnya hanya Rp4,21 miliar.
Jadi kami memakai tiga konsep: risk rate untuk seberapa berisiko, exposure untuk seberapa besar uangnya, dan prioritas operasional yang menggabungkan keduanya dengan keterjangkauan kontak serta kapasitas tim.
ASAL ANGKA:
- Risk rate dan nominal per kelompok: tabel perbandingan nominal, notebook 5.8, sel [54].
- 96,0% = Rp169,28 M ÷ Rp176,34 M (sel [54] dan [25]).
- Rp110,24 M (unit dihuni): H1, sel [28].
PERINGATAN: kelompok saling tumpang tindih. Satu invoice bisa sekaligus vacant, milik pemilik jauh, dan tanpa autodebit. Karena itu nominal antarbaris tidak boleh dijumlahkan.
TRANSISI: "Sebelum ke Collection, kami sampaikan juga dugaan yang tidak didukung data."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penanda bagian Collection dan Finance.
NARASI (± 10 detik): Bagian ini menerjemahkan temuan menjadi pekerjaan: tunggakan mana yang masih realistis ditagih, unit mana yang ditangani lebih dahulu, dan apa yang perlu direkonsiliasi Finance.
ISTILAH: umur tunggakan = jumlah hari sejak tanggal jatuh tempo sampai tanggal snapshot.
TRANSISI: "Mulai dari umur tunggakan."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menunjukkan umur tunggakan dan implikasinya bagi perencanaan kas.
YANG DITAMPILKAN:
- Grafik: sumbu X = umur tunggakan pada tanggal snapshot; sumbu Y = nominal NPI (Rp miliar). Abu-abu = nominal bruto; navy = nominal analisis.
- Baris abu-abu di bawah grafik: jumlah invoice NPI per kelompok umur.
- Panel kanan: ringkasan dan implikasi.
ISTILAH: umur tunggakan = tanggal snapshot (27 Januari 2025, asumsi) dikurangi tanggal jatuh tempo invoice.
NARASI (± 50 detik):
Grafik ini mengelompokkan nominal NPI menurut umurnya. Hasilnya, 88 persen nominal NPI analisis sudah lebih dari 90 hari, 76,1 persen lebih dari 180 hari, dan Rp93,5 miliar, atau 53 persen, berumur lebih dari satu tahun. Tidak ada invoice NPI yang belum jatuh tempo.
Pada data, pembayaran paling terlambat terjadi 22 hari setelah jatuh tempo; kami tidak melihat tunggakan yang dilunasi setelah itu. Artinya, pemulihan tunggakan lama tidak bisa dimasukkan ke perencanaan arus kas sebagai angka pasti. Tunggakan lama perlu program pemulihan tersendiri, sedangkan target dua kuartal lebih realistis bila berfokus pada pencegahan NPI baru.
ASAL ANGKA (notebook 6.2.1, sel [59]):
- Nominal bruto 9,0 / 17,3 / 25,5 / 51,1 / 121,8 dan nominal analisis 7,0 / 14,1 / 21,0 / 40,8 / 93,5 (Rp miliar).
- Porsi nominal analisis: 4,0% / 8,0% / 11,9% / 23,1% / 53,0%.
- 88% = 11,9 + 23,1 + 53,0. 76,1% = 23,1 + 53,0 (dihitung dari angka sel [59]).
- Jumlah invoice per kelompok: sel [59]. Batas 22 hari: sel [26].
BATASAN: umur dihitung terhadap tanggal snapshot yang masih asumsi; jika tanggal ekstraksi resmi berbeda, kategori umur akan bergeser. Data tidak berisi realisasi pemulihan setelah snapshot, jadi kita tidak dapat menyimpulkan bahwa tunggakan lama mustahil ditagih. Yang benar: tingkat pemulihannya belum dapat diestimasi.
PERTANYAAN YANG MUNGKIN MUNCUL: "Berapa yang akan hilang?" Jawaban: belum dapat dipastikan dari data ini, karena tidak ada data penghapusan piutang maupun realisasi kas. Finance perlu menetapkan tingkat pemulihan per umur.
TRANSISI: "Dari sisi pekerjaan Collection, berikut daftar kerja yang kami susun."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memberikan daftar kerja Collection yang dapat langsung dipakai.
YANG DITAMPILKAN:
- Tabel empat tier. Setiap baris = satu tier dengan jumlah unit, nominal NPI (dan porsinya), ciri utama, fokus tindakan, pemilik proses, dan KPI.
- Baris abu-abu: aturan pembagian tier dan definisi umur tunggakan.
- Tiga kotak bawah: cakupan penagihan saat ini.
NARASI (± 60 detik):
Tunggakan lebih terkonsentrasi di level unit daripada cluster. Sebanyak 6.771 unit, atau 23,4 persen dari seluruh unit, memegang 50 persen nominal NPI. Unit-unit ini kami bagi menurut status kontak.
Tier 1 berisi 3.743 unit prioritas dengan kontak terverifikasi, senilai Rp46,7 miliar; mereka dapat langsung ditagih. Tier 2 berisi 3.028 unit prioritas yang kontaknya kosong atau belum terverifikasi, senilai Rp41,5 miliar; CS memverifikasi kontak dulu. Tier 3 berisi 18.076 unit lain yang memiliki NPI dan belum autodebit, senilai Rp75,5 miliar; ini sasaran kampanye autodebit. Tier 4 adalah unit sisanya untuk pemantauan rutin.
Hampir seluruh unit prioritas sudah pernah ditagih, dan median umur tunggakan tertuanya sekitar 835 sampai 841 hari. Jadi masalah unit prioritas adalah tunggakan lama, bukan sekadar belum ditagih.
Secara keseluruhan, Rp121,2 miliar atau 69 persen nominal NPI belum pernah ditagih, termasuk Rp49,7 miliar berstatus Unpaid.
CARA PEMBAGIAN TIER: aturan diterapkan berurutan. Unit yang masuk Tier 1 tidak dicek lagi untuk Tier 2, dan seterusnya. Karena itu tidak ada unit yang dihitung dua kali, dan jumlah keempat tier sama dengan 28.881 unit.
ISTILAH: "median umur tunggakan tertua" = untuk setiap unit diambil umur invoice NPI paling tua, lalu dicari nilai tengahnya di antara unit dalam tier tersebut.
ASAL ANGKA:
- 6.771 unit = 50% nominal: H13, sel [42].
- Jumlah unit, nominal, porsi, median 835/841 hari: notebook 6.2.2, sel [60].
- Rp121,2 M (69%) dan Rp49,7 M: sel [62]. 30,4% (Overdue 42,7%, Unpaid 0%): H14, sel [46].
BATASAN: angka Unpaid 0 persen ditagih kemungkinan berasal dari aturan pencatatan, yaitu aksi hanya dicatat untuk status Overdue; SOP ini perlu dikonfirmasi. Nominal adalah milik unit sasaran, bukan estimasi pemulihan.
TRANSISI: "Bagaimana dengan efektivitas penagihan yang selama ini berjalan?"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menunjukkan pekerjaan Finance yang menentukan akurasi angka sebelum target keuangan ditetapkan.
YANG DITAMPILKAN:
- Grafik kiri: sumbu Y = kanal pembayaran standar; sumbu X = proporsi invoice utama berstatus Paid (%).
- Tabel kanan: tiga daftar rekonsiliasi dengan jumlah, nominal, dan tindak lanjut.
- Panel navy: mengapa koreksi sengketa tidak boleh langsung mengurangi NPI.
NARASI (± 60 detik):
Pertama, metode pembayaran. Sembilan variasi penulisan di sistem sebenarnya hanya empat kanal: Virtual Account BCA 44,90 persen, Tunai 25,02 persen, Kartu Kredit 15,04 persen, dan Tokopedia 15,04 persen dari invoice Paid. Kami mengusulkan empat kode baku sebagai master data dengan input pilihan, bukan teks bebas.
Kedua, tiga daftar rekonsiliasi. Ada 3.795 invoice NPI yang sudah dibatalkan penuh melalui sengketa senilai Rp11,94 miliar, tetapi statusnya belum diperbarui. Ada 5.953 invoice Paid yang juga dibatalkan penuh senilai Rp21,78 miliar, yang mungkin menimbulkan kewajiban pengembalian dana atau kredit. Lalu 12.568 pasangan tagihan ganda yang keduanya Paid, sekitar Rp11,07 miliar.
Ketiga, nominal koreksi sengketa tidak otomatis mengurangi NPI. Dari Rp33,72 miliar koreksi pada invoice utama, Rp21,78 miliar justru terjadi pada invoice yang sudah Paid.
Urutan kerjanya: rekonsiliasi status, cocokkan mutasi bank untuk Paid + Paid, baru tetapkan nominal NPI yang dipakai untuk perencanaan.
Terakhir, adopsi autodebit masih rendah, 14,3 persen unit, dan paling rendah pada pemilik luar negeri dan unit vacant, yaitu segmen paling berisiko.
ASAL ANGKA:
- Porsi metode bayar: notebook 6.3, sel [63]. 9 variasi → 4 kode: sel [15] dan [20].
- 3.795 / Rp11,94 M dan 5.953 / Rp21,78 M; sebaran koreksi Paid/Overdue/Unpaid: sel [65].
- 12.568 / Rp11,07 M: H18, sel [51]. Rp33,72 M: H17, sel [49].
- 14,3%: sel [58]; 4,0% dan 9,4%: sel [64].
PERTANYAAN YANG MUNGKIN MUNCUL: "Apakah Paid + Paid berarti pemilik pasti membayar dua kali?" Jawaban: belum pasti. Ini indikasi yang harus dicocokkan dengan mutasi bank sebelum diputuskan pengembalian dana atau kredit.
TRANSISI: "Dengan pemahaman ini, kita masuk ke simulasi pencegahan NPI."</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penanda bagian simulasi.
NARASI (± 10 detik): Bagian ini menjawab berapa NPI baru yang berpotensi dicegah jika program tertentu dijalankan. Semua angka di bagian ini adalah skenario bersyarat, bukan forecast kas dan bukan janji hasil.
TRANSISI: "Mulai dari titik awal simulasi."</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menetapkan titik awal simulasi dan menunjukkan skala NPI baru jika tidak ada aksi pencegahan.
YANG DITAMPILKAN:
- Empat kartu: kondisi rata-rata per bulan pada periode dasar, yaitu enam cohort matang terakhir (Juni–November 2024).
- Grafik: sumbu X = bulan proyeksi ilustratif 1 sampai 6; sumbu Y = nominal NPI baru kumulatif (Rp miliar).
- Panel kanan: asumsi yang membuat angka ini hanya ilustrasi.
NARASI (± 45 detik):
Simulasi memakai enam cohort matang terakhir, Juni sampai November 2024, sebagai periode dasar. Rata-rata ada 28.548 invoice terbit per bulan dengan NPI 37,24 persen. Nilai tagihan analisis yang terbit sekitar Rp18,73 miliar per bulan, dan sekitar Rp7,00 miliar di antaranya masih berstatus NPI pada tanggal snapshot.
Jika volume dan rasio ini tetap selama enam bulan, nominal tagihan baru yang berpotensi menjadi NPI mencapai sekitar Rp42,0 miliar, yaitu Rp7,00 miliar dikali enam. Ini ekstrapolasi linear untuk menunjukkan skala, bukan forecast kas. Gunakan kalimat "berpotensi menjadi NPI", bukan "akan menjadi NPI".
Karena tunggakan lama sulit dipulihkan, setiap rupiah tagihan baru yang berhasil dicegah menjadi NPI lebih bernilai untuk arus kas dua kuartal ke depan.
ASAL ANGKA:
- 28.548 dan 37,24%: notebook 6.1.2, sel [58].
- Rp18,73 M = Σ nilai tagihan analisis periode dasar ÷ 6; Rp7,00 M = Σ nilai NPI analisis periode dasar ÷ 6. Keduanya dihitung dari data periode dasar notebook (tidak dicetak langsung di sel).
- 7,0 / 14,0 / … / 42,0 = Rp7,00 M × 1 sampai 6 bulan.
CATATAN REKONSILIASI: versi analisis sebelumnya yang memakai koreksi air ke median unit menghasilkan Rp18,74 M dan Rp7,01 M. Selisihnya hanya pembulatan akibat perbedaan metode koreksi air.
TRANSISI: "Berikut skenario intervensi autodebit."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menunjukkan hasil simulasi autodebit beserta asumsinya, dalam urutan yang mudah diikuti.
YANG DITAMPILKAN:
- Grafik kiri: sumbu X = skenario keberhasilan; sumbu Y = NPI tagihan baru (%). Abu-abu = kondisi saat ini; emas = skenario dasar.
- Grafik tengah: sumbu X sama; sumbu Y = nominal NPI baru yang berpotensi dicegah (Rp miliar per bulan).
- Tabel kanan: urutan asumsi 1–4.
- Panel bawah: perbedaan dua angka 25% dan batas estimasi.
URUTAN LOGIKA (jelaskan dengan urutan ini):
1. Populasi: 24.754 unit yang tidak memakai autodebit pada bulan tagihan terakhirnya (unit eligible).
2. Porsi beralih: diasumsikan 25 persen unit eligible, atau 6.188 unit, mendaftar autodebit. Adopsi autodebit unit naik dari 14,3 persen menjadi 35,7 persen.
3. Besar efek: memakai selisih terkendali 26,59 poin persentase, bukan selisih mentah 29,78 poin, agar tidak terlalu optimistis.
4. Tingkat keberhasilan: berapa bagian dari efek itu yang benar-benar terjadi pada unit yang beralih: 25 persen (konservatif), 50 persen (dasar), atau 100 persen (optimistis, batas atas).
NARASI (± 60 detik):
Hasilnya, NPI tagihan baru turun dari 37,24 persen menjadi 36,01 persen pada skenario konservatif, 34,78 persen pada skenario dasar, dan 32,32 persen pada skenario optimistis. Penurunan skenario dasar sekitar 2,46 poin persentase.
Dalam rupiah, NPI baru yang berpotensi dicegah sekitar Rp0,23, Rp0,46, dan Rp0,93 miliar per bulan.
Target usulan ≤ 34,8 persen berasal dari skenario dasar. Target ini berlaku untuk NPI cohort tagihan baru, bukan NPI keseluruhan 35,44 persen.
CARA MENGHITUNG (notebook 6.1.2, sel [58]):
- Invoice dicegah = tingkat keberhasilan × 26,59% × jumlah invoice unit yang beralih pada periode dasar.
- Penurunan NPI = invoice dicegah ÷ seluruh invoice periode dasar. Skenario dasar: 703 invoice per bulan, turun 2,46 poin.
- Nominal dicegah = invoice dicegah × rata-rata nominal NPI analisis per invoice NPI ÷ 6 bulan.
- Unit dipilih acak 25 persen dengan seed 42 agar dapat diulang.
BATASAN: angka rupiah bukan kas yang pasti masuk. Biaya insentif, biaya kanal, dan kapasitas tim belum tersedia, jadi kami tidak mengklaim ROI. Pemilik yang memilih autodebit mungkin memang lebih disiplin (self-selection), sehingga efek sebenarnya harus dibuktikan lewat pilot dengan grup kontrol.
PERTANYAAN YANG MUNGKIN MUNCUL: "Bagaimana jika ingin NPI di bawah 30 persen?" Jawaban: untuk kembali ke 30,14 persen hanya lewat autodebit, dibutuhkan sekitar 72 persen unit eligible beralih pada skenario dasar (sel [58]). Itu tidak realistis dalam dua kuartal.
TRANSISI: "Bagaimana dengan tindakan lain seperti portal dan verifikasi kontak?"</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membandingkan tiga intervensi secara adil, pada dasar yang sama dan tanpa hitung ganda.
YANG DITAMPILKAN: tiga kartu, satu per intervensi, dengan baris yang sama: sasaran, efek awal → terkendali, perubahan NPI hasil simulasi, NPI baru yang dicegah per bulan, manfaat tambahan, dan batasan. Panel bawah berisi hasil gabungan; kartu kanan bawah berisi angka 72%.
NARASI (± 60 detik):
Ketiga intervensi dihitung pada periode dasar yang sama, dengan tingkat keberhasilan dasar 50 persen, dan memakai efek terkendali. Dengan cara ini, asosiasi yang sama tidak dihitung dua kali.
Autodebit memberi penurunan sekitar 2,46 poin persentase dan mencegah sekitar Rp462 juta NPI baru per bulan.
Memindahkan separuh tagihan cetak fisik ke portal memberi penurunan nol, karena efek kanal hilang setelah dikendalikan. Manfaatnya ada di efisiensi biaya cetak dan antar.
Verifikasi separuh kontak yang belum terverifikasi memberi penurunan sekitar 0,02 poin atau Rp3,5 juta per bulan. Manfaat utamanya adalah pemilik dapat dijangkau Collection, jadi diukur dengan KPI keterjangkauan, bukan penurunan NPI.
Gabungannya sekitar 2,48 poin dan Rp466 juta per bulan. Untuk kembali ke 30,14 persen hanya lewat autodebit, 72 persen unit eligible harus beralih; ini menjelaskan mengapa target di bawah 30 persen belum realistis.
DEFINISI SASARAN (siapkan bila ditanya; semua dalam invoice per bulan pada periode dasar):
- Autodebit: 21.119 invoice per bulan milik unit eligible; 25 persen unitnya diasumsikan beralih.
- Portal: 7.505 invoice per bulan dengan kanal cetak &amp; antar fisik; 50 persen diasumsikan pindah.
- Kontak: 8.867 invoice per bulan milik unit dengan kontak kosong atau belum terverifikasi; 50 persen invoice sasaran diasumsikan berubah perilaku setelah kontak diverifikasi. Unit perlakuannya invoice, bukan jumlah kontak.
REKONSILIASI ANGKA DENGAN SLIDE 16:
- Kanal: efek awal di sini 7,26 poin karena membandingkan cetak fisik dengan semua kanal lain (dasar pengendalian, sel [56]). H7 di slide 16 sebesar 8,66 poin membandingkan cetak fisik dengan portal saja. Efek terkendali −0,02 dibulatkan menjadi 0 karena efek negatif tidak dipakai sebagai manfaat.
- Kontak: efek awal 10,05 poin membandingkan "kosong atau belum terverifikasi" dengan "terverifikasi"; H3 di slide 16 (11,91) membandingkan "tanpa nomor" dengan "terverifikasi".
ASAL ANGKA: notebook 7.2, sel [78] (sasaran, efek, penurunan, nominal); sel [56] (efek awal dan terkendali); 72% dan 30,14%: sel [58] dan [26].
BATASAN: gabungan adalah penjumlahan efek terkendali, sebuah pendekatan. Biaya program belum dimasukkan.
TRANSISI: "Dari sini kita masuk ke rekomendasi."</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penanda bagian rekomendasi.
NARASI (± 10 detik): Bagian terakhir menerjemahkan seluruh temuan menjadi tindakan per stakeholder, roadmap dua kuartal, KPI, dan keputusan yang kami minta.
TRANSISI: "Mulai dari siapa melakukan apa."</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menetapkan siapa memiliki program, siapa melaksanakan, dan bagaimana keberhasilan diukur.
YANG DITAMPILKAN: enam tim dikelompokkan menjadi empat peran. Kartu 1 (emas) adalah pengambil keputusan. Setiap kartu berisi tiga tindakan utama dan KPI-nya (teks oranye).
NARASI (± 60 detik, cukup sebut akuntabilitas utama):
Satu, Head of Township Management sebagai sponsor: menyetujui pilot autodebit dengan grup kontrol, artinya sebagian unit sasaran sengaja tidak diberi program agar dampaknya dapat diukur. Target resmi ditetapkan setelah hasil pilot terlihat.
Dua, Finance: menetapkan empat kode metode bayar sebagai master data, menuntaskan tiga daftar rekonsiliasi, dan memisahkan tiga angka: NPI bruto, nominal yang perlu divalidasi, dan kas yang benar-benar diterima.
Tiga, Collection dan CS: Collection mengerjakan Tier 1 dan menindaklanjuti janji bayar; CS memverifikasi kontak 3.028 unit Tier 2. Keberhasilan CS diukur dengan keterjangkauan, bukan penurunan NPI, sesuai hasil slide 29. Program penagihan tunggakan lama dijalankan terpisah dari pilot pencegahan agar hasil pilot tidak tercampur.
Empat, IT/ERP dan Estate Operations: IT/ERP memasang kontrol satu invoice utama per unit per bulan, menyimpan riwayat status pembayaran, dan membuat input metode bayar berbasis pilihan. Estate Ops memvalidasi 3.789 anomali air dengan bukti meter, tanpa mengganti nilainya secara otomatis.
ISTILAH: grup kontrol = kelompok unit yang mirip dengan unit pilot tetapi tidak diberi program, sebagai pembanding.
ASAL ANGKA: 4 kode metode bayar: sel [20]; 3.028 unit Tier 2: sel [60]; 3.789 anomali air: sel [17].
TRANSISI: "Bagaimana urutan waktunya dalam dua kuartal?"</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memberikan urutan pelaksanaan yang realistis, lengkap dengan deliverable dan titik keputusan.
YANG DITAMPILKAN: garis waktu tiga fase. Bulan 1 adalah bagian dari Q1, bukan periode terpisah. Kotak krem di bawah setiap fase adalah deliverable atau checkpoint.
NARASI (± 45 detik):
Bulan pertama Q1 adalah fondasi. Manajemen menyetujui pilot, memilih sampel unit pilot dan grup kontrol, mengonfirmasi tanggal snapshot dan baseline, dan Finance menuntaskan rekonsiliasi yang paling kritis. Deliverable-nya: baseline yang disahkan dan daftar unit pilot serta kontrol.
Bulan kedua dan ketiga Q1, pilot berjalan: autodebit ditawarkan kepada unit pilot, Collection menagih Tier 1, CS memverifikasi kontak Tier 2, dan IT/ERP memasang kontrol invoice ganda serta validasi meter. Checkpoint pertama di akhir bulan kedua.
Q2 adalah evaluasi dan perluasan. Hasil pilot dibandingkan dengan grup kontrol. Hanya program yang terbukti efektif yang diperluas. Program pemulihan tunggakan lama dijalankan terpisah dari pilot pencegahan. Target resmi ditetapkan di akhir Q2.
SYARAT PERLUASAN (sebutkan bila ditanya): pembanding memadai (grup kontrol berjalan), data status pembayaran valid, biaya program sudah dihitung, dan indikator kas aktual tersedia.
PERTANYAAN YANG MUNGKIN MUNCUL: "Mengapa tidak langsung diluncurkan penuh?" Jawaban: efek autodebit masih asosiasi. Pilot dengan grup kontrol mencegah kita membiayai program besar yang dampaknya belum terbukti.
TRANSISI: "Untuk memantau roadmap ini, berikut KPI yang kami usulkan."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menutup presentasi dengan satu keputusan yang diingat, lalu membuka diskusi.
NARASI (± 30 detik):
Sebagai penutup, ada tiga pesan. Pertama, cegah NPI baru, karena tunggakan lama sulit dipulihkan. Kedua, rapikan data, karena duplikasi, anomali meter, dan status yang tidak sinkron memengaruhi angka dan kepercayaan warga. Ketiga, uji dampak lewat pilot terukur sebelum menetapkan target resmi.
Keputusan yang kami minta hari ini: setujui pilot autodebit Q1 dengan grup kontrol, rekonsiliasi kritis, dan KPI yang dievaluasi hingga akhir Q2.
Terima kasih. Kami persilakan Bapak dan Ibu bertanya. Rincian teknis tersedia di lampiran.
TIPS PRESENTER: jangan menambahkan materi baru di slide ini. Untuk pertanyaan teknis, buka lampiran: A1–A2 hipotesis, A3 definisi metrik, A4 metode statistik, A5 kualitas data, A6 asumsi simulasi, A7 keterbatasan.
PERTANYAAN YANG MUNGKIN MUNCUL: "Apa satu tindakan terpenting?" Jawaban: menyetujui pilot autodebit dengan grup kontrol, karena autodebit adalah satu-satunya tuas dengan dampak NPI yang berarti dalam simulasi, dan pilot memberi bukti sebelum investasi besar.</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penanda lampiran.
NARASI: Lampiran berisi rincian teknis yang mendukung slide utama. Bagian ini tidak dipresentasikan seluruhnya; buka sesuai pertanyaan audiens.
PETA LAMPIRAN: A1 hipotesis yang didukung · A2 hipotesis lainnya · A3 definisi metrik · A4 metodologi statistik · A5 detail kualitas data · A6 asumsi simulasi · A7 sumber data dan keterbatasan.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rujukan lengkap hipotesis yang didukung data, dengan dua konsep yang dipisahkan secara tegas.
YANG DITAMPILKAN: sembilan hipotesis yang didukung. Kolom "Kesimpulan uji" menjawab apakah selisihnya nyata. Kolom "Kekuatan asosiasi" menjawab seberapa kuat hubungannya menurut Cramér's V.
NARASI (dibuka jika ditanya):
p-value menjawab apakah selisih itu kebetulan atau tidak; Cramér's V menjawab seberapa kuat hubungannya. Keduanya berbeda. Dengan 768 ribu invoice, hampir semua selisih signifikan, tetapi kekuatan asosiasinya lemah sampai sangat lemah. Tiga faktor teratas, vacant, tanpa autodebit, dan domisili jauh, memiliki V 0,22–0,27 atau lemah. Yang membuatnya penting bagi bisnis adalah selisih poinnya yang besar, 22 sampai 30 poin persentase.
H17 menarik: selisih mentahnya 7,47 poin, tetapi V hanya 0,022 karena invoice yang disengketakan sedikit. Hubungannya juga bisa dua arah, karena sengketa diajukan pada tagihan yang sudah bermasalah. Jadi kami membacanya sebagai asosiasi sangat lemah.
Tanda bintang menandai hipotesis yang selisihnya hampir hilang setelah faktor lain dikendalikan (slide 17).
ISTILAH:
- Selisih = NPI kelompok uji − NPI pembanding, dalam poin persentase.
- CI 95% = rentang ketidakpastian dari bootstrap per unit.
- p (Holm) = p-value setelah koreksi banyak uji. Nilai sangat kecil ditulis "&lt; 0,001", bukan 0.
ASAL ANGKA: tabel ringkasan hasil uji, notebook 5.8, sel [52]; selisih terkendali: sel [56]. Kategori kekuatan asosiasi mengikuti ambang di Lampiran A4.
CATATAN REVISI: versi sebelumnya memberi label "efek besar/sedang" berdasarkan besar selisih. Label itu kini diganti dengan kategori Cramér's V agar konsisten dengan ambang metodologi.</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rujukan hipotesis yang tidak didukung, bersifat rekonsiliasi, atau belum dapat diuji.
NARASI (dibuka jika ditanya):
H9: jarak jatuh tempo tidak membedakan NPI; batas 39 hari adalah median jarak billing_month ke due_date. H16: meter Manual justru lebih rendah NPI-nya, tetapi karena meter Otomatis hanya ada di cluster New Phase; di dalam New Phase NPI-nya sama. H13: tunggakan tidak terkonsentrasi di sedikit cluster. H18 bukan uji kausal, melainkan rekonsiliasi aturan duplikasi. H14 belum dapat diuji karena seluruh invoice yang ditagih masih Overdue sehingga outcome-nya konstan. Empat hipotesis lain tidak dapat diuji karena datanya tidak ada atau hubungannya terbalik, misalnya pengingat dikirim karena tagihan belum dibayar.
ASAL ANGKA: H9 sel [37]; H16 sel [47]–[48]; H13 sel [42]; H18 sel [51]; H14 sel [44]; ringkasan dan p (Holm) sel [52].</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definisi baku agar semua tim membaca angka dengan cara yang sama.
NARASI (dibuka jika ditanya):
Dua definisi yang paling sering tertukar adalah NPI berdasarkan jumlah invoice (35,44%) dan berdasarkan nominal (35,55%). Nominal NPI disajikan berlapis: bruto, komponen air yang perlu validasi, dan nominal analisis. NPI per cohort adalah status per snapshot untuk invoice yang terbit pada bulan tertentu; cohort dianggap matang jika jatuh tempo ditambah 22 hari sudah terlewati.
Collection rate adalah usulan KPI: unit evaluasinya invoice, pembilangnya invoice yang lunas menurut billing atau mutasi bank dalam 30, 60, atau 90 hari setelah aksi pertama, dan penyebutnya seluruh invoice yang ditagih pada periode yang sama. KPI ini belum dapat dihitung dari data saat ini (lihat H14).
PERLU DIKONFIRMASI PEMILIK PROSES: aturan invoice utama berdasarkan pola 9xxxx adalah aturan analitis, bukan aturan resmi sistem; tanggal snapshot juga perlu dikonfirmasi dengan log ekstraksi.
ASAL ANGKA: sel [25] (NPI dan lapisan nominal), [20] (invoice utama), [16] (97,8 m³), [26] (22 hari).</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menjelaskan metode statistik dengan bahasa sederhana untuk audiens yang membutuhkan detail.
NARASI (dibuka jika ditanya):
1. CI 95% bootstrap per unit. Satu unit memiliki banyak invoice bulanan, sehingga invoice tidak independen. Karena itu yang diambil ulang secara acak adalah unit, beserta semua invoice-nya, sebanyak 300 kali. Selisih NPI dihitung pada setiap sampel, lalu persentil 2,5 dan 97,5 menjadi batas interval. Untuk laporan final disarankan menaikkan jumlah ulangan menjadi minimal 1.000 agar batas interval lebih stabil; karena interval saat ini sangat sempit, kesimpulannya kemungkinan besar tidak berubah.
2. Cramér's V mengukur kekuatan hubungan antara kelompok dan status NPI. Rumus √(χ² ÷ n) berlaku sederhana untuk tabel dua kelompok dengan outcome biner. V lebih berguna daripada p-value saja untuk menilai besar hubungan, tetapi estimasinya tetap bergantung pada data.
3. Koreksi Holm dipakai karena banyak hipotesis diuji bersamaan; tanpa koreksi, peluang menemukan "temuan palsu" meningkat.
4. Selisih terkendali menghitung perbedaan NPI di dalam kelompok yang faktor lainnya sama, lalu dirata-ratakan.
BATASAN: semua metode menghasilkan asosiasi. Pengendalian hanya mencakup faktor yang tersedia; faktor seperti kemampuan bayar tidak tercatat. Model lanjutan, misalnya regresi logistik dengan standard error per unit, dapat menjadi pengembangan berikutnya.
ASAL: parameter bootstrap pada sel [27]; fungsi selisih terkendali pada sel [56].</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rincian kualitas data untuk tim IT/ERP, Finance, dan Estate Ops.
NARASI (dibuka jika ditanya):
Temuan diurutkan menurut dampak nominal. Pemakaian air di atas 97,8 meter kubik memiliki komponen air Rp149,87 miliar pada semua status invoice. Jangan bandingkan langsung dengan Rp48,30 miliar di slide 13: angka itu hanya komponen air pada invoice yang berstatus NPI, termasuk air negatif.
Berdasarkan jumlah baris, temuan terbesar adalah Paid terlambat tanpa denda, 46.656 invoice. Karena tidak ada satu pun invoice Paid yang memiliki denda, pola ini kemungkinan aturan sistem, misalnya denda dihapus saat pelunasan. Statusnya kebijakan yang perlu dikonfirmasi, bukan kesalahan yang sudah terbukti.
Relasi antartabel bersih: tidak ada primary key ganda, foreign key tanpa pasangan, maupun unit_id yang tidak cocok.
ASAL ANGKA: tabel temuan IT/ERP, notebook 6.4, sel [66]; relasi antartabel sel [9]–[10]; Rp48,30 M sel [25].</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mendokumentasikan seluruh asumsi simulasi agar dapat diuji ulang.
NARASI (dibuka jika ditanya):
Simulasi memakai enam cohort matang terakhir sebagai periode dasar. Kematangan cohort ditentukan dengan jatuh tempo ditambah 22 hari; ini asumsi empiris dari pembayaran paling terlambat yang teramati, bukan kebijakan pembayaran resmi dan bukan jaminan tidak ada pembayaran setelahnya.
Ada dua parameter persentase yang sering tertukar. Pertama, porsi unit eligible yang beralih ke autodebit: 25 persen atau 6.188 unit. Kedua, tingkat keberhasilan: berapa bagian dari efek terkendali 26,59 poin yang benar-benar terjadi: 25, 50, atau 100 persen.
Nominal per invoice NPI adalah rata-rata nominal NPI analisis per invoice NPI pada periode dasar, bukan rata-rata seluruh invoice.
Simulasi belum memasukkan biaya program, realisasi kas, dan kemungkinan self-selection, sehingga kami tidak mengklaim ROI.
ASAL ANGKA: sel [58] (parameter, periode dasar, unit eligible, hasil); sel [56] (26,59 dan 29,78); sel [26] (22 hari); Rp18,73 M dan Rp7,00 M dihitung dari data periode dasar.</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menyampaikan sumber dan keterbatasan secara terbuka, sekaligus data apa yang dibutuhkan untuk keputusan berikutnya.
NARASI (dibuka jika ditanya):
Semua angka berasal dari output notebook yang dijalankan pada lima CSV mentah dari database. Ada lima keterbatasan utama, masing-masing dengan data yang dibutuhkan dan pemilik validasinya.
Satu, status hanya per snapshot dan tanggalnya belum resmi: dibutuhkan tanggal ekstraksi resmi dan log riwayat status, divalidasi manajemen dan IT/ERP.
Dua, hubungan yang ditemukan adalah asosiasi: dibutuhkan hasil pilot dengan grup kontrol.
Tiga, aturan invoice utama dan batas air belum disahkan: dibutuhkan pengesahan IT/ERP serta log dan bukti meter dari Estate Ops.
Empat, efektivitas Collection belum terukur: dibutuhkan bukti pembayaran hasil aksi dan log kunjungan lapangan.
Lima, nominal NPI bukan kas dan biaya program belum ada: dibutuhkan mutasi bank dan biaya program dari Finance.
Data inilah syarat untuk membuktikan efektivitas pilot dan menghitung manfaat bersih.</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menerjemahkan faktor risiko menjadi alat prioritas yang sederhana.
YANG DITAMPILKAN:
- Grafik kiri: sumbu X = jumlah faktor risiko yang dimiliki invoice (0–4); sumbu Y = NPI rate (% invoice). Batang emas = skor 3–4.
- Grafik tengah: sumbu X sama; sumbu Y = nominal NPI analisis (Rp miliar).
- Tabel kanan: jumlah invoice per skor dan NPI per skor pada dua periode cohort.
ISTILAH: skor risiko = jumlah dari empat faktor yang tetap ada setelah pengendalian: unit vacant, pemilik luar kota/negeri, tanpa autodebit, dan cluster New Phase. Setiap faktor bernilai 1, sehingga skor berkisar 0 sampai 4.
NARASI (± 50 detik):
Kami menggabungkan empat faktor yang bertahan setelah pengendalian menjadi skor nol sampai empat, dengan bobot sama agar mudah dijelaskan kepada petugas.
Grafik kiri menunjukkan NPI naik bertahap: 4,93 persen pada skor 0, 23,63 persen pada skor 1, 37,51 persen pada skor 2, 56,31 persen pada skor 3, dan 67,10 persen pada skor 4.
Grafik tengah menunjukkan rupiahnya. Skor 2 justru menyumbang nominal terbesar, Rp62,31 miliar, karena jumlah invoicenya banyak, yaitu 254.315. Skor 3 dan 4 hanya 24,1 persen invoice, tetapi memegang 40,1 persen nominal atau Rp70,7 miliar.
Tabel kanan menunjukkan pola yang hampir sama pada cohort 2022–2023 dan cohort 2024.
ASAL ANGKA: notebook 6.1.1, sel [57] — NPI, jumlah invoice, dan nominal per skor; NPI per periode; porsi skor 3–4.
BATASAN: ini profil deskriptif atau heuristik dengan bobot sama, bukan model prediktif yang sudah divalidasi dan bukan probabilitas gagal bayar per unit. Konsistensi dua periode berlaku pada data ini, belum menjamin stabil di masa depan. Bobot dapat disempurnakan setelah hasil pilot tersedia.
PERTANYAAN YANG MUNGKIN MUNCUL: "Mengapa tidak memakai model machine learning?" Jawaban: untuk tahap ini skor sederhana lebih mudah dipakai dan dijelaskan di lapangan. Model prediktif dapat dibangun setelah ada riwayat status dan hasil pilot.
TRANSISI: "Skor ini juga menunjukkan bahwa risiko tertinggi tidak selalu sama dengan nominal terbesar."</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292347085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memisahkan faktor yang tetap berkaitan dengan NPI dari faktor yang selisihnya hanya mencerminkan komposisi pemilik.
YANG DITAMPILKAN:
- Grafik: sumbu Y = faktor yang diuji; sumbu X = selisih NPI dalam poin persentase. Garis sumbu di angka 0 memudahkan melihat nilai yang hampir nol atau negatif.
- Batang abu-abu = selisih awal (mentah); batang emas = selisih terkendali.
- Panel kanan: dua kelompok hasil.
ISTILAH: selisih terkendali = selisih NPI yang dihitung di dalam kelompok-kelompok yang faktor lainnya sama, lalu dirata-ratakan dengan bobot jumlah invoice. Contoh: untuk autodebit, kita membandingkan unit vacant tanpa autodebit dengan unit vacant dengan autodebit, pemilik jauh tanpa autodebit dengan pemilik jauh dengan autodebit, dan seterusnya.
NARASI (± 60 detik):
Selisih mentah dapat menyesatkan karena faktor-faktor saling berkaitan. Misalnya, unit tanpa kontak lebih sering vacant dan dimiliki pemilik yang jauh. Karena itu kami menghitung selisih terkendali.
Hasilnya ada dua kelompok. Kelompok pertama tetap menunjukkan selisih setelah dikontrol: tanpa autodebit turun sedikit dari 29,78 menjadi 26,59 poin, atau 89 persen tersisa; vacant dari 30,32 menjadi 23,28; cluster New Phase hampir tidak berubah, 7,23 menjadi 7,00; domisili jauh turun lebih banyak, dari 22,04 menjadi 10,14, karena sebagian selisihnya dijelaskan status vacant.
Kelompok kedua turun mendekati nol: kontak belum terverifikasi atau kosong menjadi 0,24 poin, Regional Hub 0,34, dan kanal cetak fisik minus 0,02. Selisih awal ketiganya terutama mencerminkan siapa pemiliknya.
ASAL ANGKA: notebook 5.9, sel [56]. Porsi tersisa = selisih terkendali ÷ selisih awal × 100.
CATATAN ANGKA YANG BERBEDA DENGAN SLIDE 16 (siapkan bila ditanya):
- Kontak: selisih awal 10,05 di sini karena kelompoknya "kontak kosong atau belum terverifikasi" dibandingkan "terverifikasi". H3 di slide 16 (11,91) membandingkan "tanpa nomor" saja dengan "terverifikasi".
- Kanal: selisih awal 7,26 di sini karena pembandingnya "semua kanal lain". H7 di slide 16 (8,66) membandingkan cetak fisik dengan portal saja.
BATASAN: pengendalian hanya mencakup tujuh faktor yang tersedia pada data. Faktor yang tidak tercatat, seperti kemampuan bayar atau kepuasan layanan, masih bisa berpengaruh. Kata "masih ada" berarti asosiasi bersyarat, bukan sebab-akibat.
PERTANYAAN YANG MUNGKIN MUNCUL: "Apakah verifikasi kontak tidak perlu?" Jawaban: tetap perlu, karena Collection tidak dapat menagih pemilik yang tidak bisa dihubungi. Manfaatnya diukur sebagai keterjangkauan, bukan penurunan NPI.
TRANSISI: "Faktor-faktor yang bertahan dapat digabung menjadi skor risiko sederhana."</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216527646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menjelaskan mengapa baseline NPI turun dari 36,96 persen menjadi 35,44 persen, dan bukti bahwa salinan memang tagihan ganda.
YANG DITAMPILKAN:
- Grafik kiri: sumbu X = perlakuan data (sebelum/setelah aturan duplikasi); sumbu Y = NPI rate dalam persen invoice. Abu-abu = sebelum, navy = setelah.
- Empat kartu kanan: bukti dan konsekuensi finansial.
NARASI (± 60 detik):
Pada Juni sampai September 2023, sistem menerbitkan tagihan dua kali untuk unit dan bulan yang sama. Kami menyebut setiap kejadian itu satu pasangan. Buktinya kuat: seratus persen dari 38.449 pasangan berisi tepat dua invoice yang nominal, pemakaian air, tarif, dan dendanya identik. Salah satu invoice selalu bernomor pola 9xxxx.
Kami juga memeriksa apakah ada pembayaran yang hanya tercatat pada salinan 9xxxx. Jawabannya nol. Jadi memilih invoice non-9xxxx sebagai invoice utama tidak menghilangkan catatan pembayaran apa pun.
Setelah salinan dikeluarkan, NPI turun dari 36,96 persen menjadi 35,44 persen, atau 1,52 poin persentase. Ini dampak aturan data, bukan dampak program.
Dua konsekuensi finansial: pertama, 25.881 salinan berstatus NPI dengan nominal Rp21,76 miliar. Ini nominal yang tercatat ganda, bukan piutang atau kewajiban baru. Kedua, ada 12.568 pasangan yang keduanya berstatus Paid, senilai sekitar Rp11,07 miliar. Ini baru indikasi pembayaran ganda; Finance perlu mencocokkannya dengan mutasi bank sebelum memutuskan pengembalian dana atau kredit.
ISTILAH: "pasangan" = dua invoice untuk unit dan bulan yang sama; "salinan" = invoice bernomor 9xxxx di dalam pasangan.
ASAL ANGKA:
- 36,96% dan 35,44%: sel [25]. 807.427 → 768.978: sel [20].
- 100% dan 0: sel [13].
- 25.881 dan Rp21,76 M: H18, sel [51].
- 12.568 dan Rp11,07 M: sel [13] dan [51].
PERTANYAAN YANG MUNGKIN MUNCUL: "Apakah salinan dihapus dari sistem?" Jawaban: tidak. Salinan hanya ditandai dan dikeluarkan dari perhitungan; barisnya tetap ada untuk audit.
TRANSISI: "Dengan data yang sudah dibersihkan, berikut besar masalah NPI."</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357521931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menyajikan hasil yang tidak mendukung hipotesis atau belum dapat diuji, karena hasil ini sama pentingnya untuk mencegah keputusan yang keliru.
YANG DITAMPILKAN: lima baris. Label berwarna menunjukkan status: abu-abu = tidak didukung data; biru = metrik tidak mencapai ambang; amber = belum dapat diuji; emas = asosiasi lemah. Kolom tengah berisi bukti angka; kolom kanan berisi artinya.
NARASI (± 60 detik):
Pertama, H9 jarak ke jatuh tempo tidak membedakan NPI: 35,46 persen dibandingkan 35,43 persen, p-value 0,776. Mengubah jarak jatuh tempo dalam rentang 32 sampai 45 hari bukan prioritas.
Kedua, H16 input meter Manual sekilas justru memiliki NPI lebih rendah. Penyebabnya, meter Otomatis hanya dipasang di cluster New Phase. Di dalam New Phase, NPI Manual dan Otomatis hampir sama, 40,0 dan 40,1 persen. Jadi tidak ada bukti bahwa input Manual meningkatkan NPI, walaupun kesalahan meter tetap memengaruhi nominal.
Ketiga, H13 tunggakan tidak terkonsentrasi di sedikit cluster. Lima puluh persen nominal tersebar di 40 dari 111 cluster, dan 20 persen cluster teratas hanya menyumbang 30,3 persen, di bawah ambang 50 persen yang diuji. Di level unit lebih terkonsentrasi: 6.771 unit memegang 50 persen nominal.
Keempat, H14 efektivitas jenis aksi belum dapat diuji. Seluruh 82.806 invoice yang pernah ditagih masih berstatus Overdue, sehingga tidak ada pembanding yang lunas.
Kelima, H17 invoice yang disengketakan memang lebih sering NPI, tetapi asosiasinya sangat lemah dan bisa dua arah: sengketa diajukan karena tagihannya sudah bermasalah.
ASAL ANGKA: H9 sel [37] dan [52]; H16 sel [47]–[48]; H13 sel [42]; H14 sel [44]; H17 sel [49] dan [52].
BATASAN: "tidak didukung" berarti data ini tidak menunjukkan perbedaan yang berarti; bukan bukti bahwa efeknya tidak pernah ada dalam situasi lain.
TRANSISI: "Sekarang kita lihat implikasinya bagi Collection dan Finance."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35418356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menunjukkan apa yang dapat dan belum dapat disimpulkan tentang penagihan yang berjalan.
YANG DITAMPILKAN:
- Grafik kiri: sumbu X = status aksi pada invoice Overdue (ditagih atau tidak); sumbu Y = persentase invoice bulan berikutnya dari unit yang sama yang belum dibayar.
- Grafik kanan: sumbu X = respons terakhir pemilik yang dicatat petugas; sumbu Y sama.
- Baris abu-abu: basis perhitungan.
CARA PERHITUNGAN: kami mengambil setiap invoice Overdue, lalu melihat invoice unit yang sama pada bulan berikutnya: dibayar atau tidak. Urutan waktu dijaga; hanya aksi yang terjadi sebelum periode tagihan berikutnya yang dipakai, agar aksi tidak "melihat masa depan".
NARASI (± 50 detik):
Grafik kiri: invoice bulan berikutnya dari unit yang ditagih tetap belum dibayar 72,4 persen, hampir sama dengan unit yang tidak ditagih, 71,2 persen. Jadi ada atau tidaknya aksi, secara umum, belum menunjukkan hubungan dengan pembayaran bulan berikutnya.
Grafik kanan: perbedaan terlihat menurut respons pemilik. Pemilik dengan respons terakhir "Lunas Setelah Kontak" membayar seluruh invoice bulan berikutnya, sehingga yang belum dibayar 0 persen. "Janji Bayar" 61,5 persen belum dibayar, sedangkan "Tidak Respon" 83,1 persen dan "Sengketa" 84,2 persen.
Interpretasinya: yang lebih berkaitan dengan pembayaran adalah apakah pemilik berhasil diajak berkomunikasi sampai berkomitmen. Ini mendukung kanal yang dapat direspons dan tindak lanjut khusus untuk "Janji Bayar".
ASAL ANGKA (notebook 6.6.4, sel [75]): 72,4% vs 71,2%; 0,0 / 61,5 / 83,1 / 84,2%; 186.415 invoice; 109.115 dari 126.772 aksi. Angka 5.580: sel [19].
BATASAN (sampaikan sebelum menyimpulkan):
- Ini asosiasi. Pemilik yang mau merespons kemungkinan memang lebih disiplin (selection bias).
- Respons mengacu pada aksi di invoice sebelumnya, bukan jaminan pembayaran invoice berikutnya.
- Ada 5.580 respons "Lunas Setelah Kontak" pada invoice yang ternyata belum Paid; respons petugas dan status billing tidak selalu sinkron. Karena itu collection rate harus diukur dari bukti pembayaran.
TRANSISI: "Selanjutnya, apa yang perlu dibereskan Finance."</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13354292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menyepakati KPI hasil yang menentukan berhasil atau tidaknya program.
YANG DITAMPILKAN: empat KPI hasil. Setiap baris berisi definisi dan sumber data, baseline historis, target usulan, frekuensi, dan pemilik.
NARASI (± 45 detik):
KPI utama adalah NPI cohort tagihan baru, dengan baseline 37,24 persen dan target usulan 34,8 persen. Kedua, nominal NPI baru per bulan, saat ini sekitar Rp7,00 miliar. Ketiga, kas yang benar-benar tertagih. Baseline-nya belum tersedia karena data realisasi kas tidak ada di database ini, sehingga Finance perlu menetapkannya dari mutasi bank. Keempat, jumlah item yang belum direkonsiliasi, dengan target nol.
Baseline adalah temuan historis; target adalah usulan yang disahkan setelah pilot.
DEFINISI OPERASIONAL:
- NPI cohort tagihan baru dibaca setelah cohort matang, yaitu setelah jatuh tempo + 22 hari, agar status tidak berubah lagi.
- Kas tertagih aktual dihitung dari mutasi bank, bukan dari status billing atau respons petugas.
- Item belum direkonsiliasi = 3.795 invoice NPI yang sudah dibatalkan penuh, 5.953 invoice Paid yang dibatalkan penuh, dan 12.568 pasangan Paid + Paid.
ASAL ANGKA: 37,24% dan 34,78%: sel [58]; ± Rp7,00 M: dihitung dari periode dasar (lihat slide 27); 3.795 dan 5.953: sel [65]; 12.568: sel [51]; batas 22 hari: sel [26].
PERTANYAAN YANG MUNGKIN MUNCUL: "Mengapa memakai NPI cohort, bukan NPI total?" Jawaban: NPI total (35,44 persen) didominasi tunggakan lama yang sulit berubah. NPI cohort tagihan baru lebih sensitif terhadap program dua kuartal.
TRANSISI: "Selain KPI hasil, ada indikator awal dan KPI kualitas data."</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80798904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menetapkan indikator yang bergerak lebih dulu dan KPI kualitas data, agar masalah terdeteksi sebelum NPI berubah.
YANG DITAMPILKAN: lima KPI dengan jenis, definisi, baseline historis, target usulan, dan pemilik.
NARASI (± 40 detik):
Ada dua indikator awal. Adopsi autodebit unit, saat ini 14,3 persen, dengan target 35,7 persen sesuai skenario. Lalu porsi unit dengan kontak terverifikasi, saat ini 69,0 persen. Indikator ini bergerak lebih dulu sebelum NPI berubah, sehingga dapat dipantau sejak bulan pertama pilot.
Tiga KPI kualitas data: invoice ganda baru, dengan target nol salinan baru per bulan; metode bayar di luar empat kode baku, target nol; dan anomali air yang sudah divalidasi, target 100 persen.
Catatan: angka 38.449 adalah kejadian historis pada Juni sampai September 2023, bukan angka per bulan. Targetnya adalah tidak ada salinan baru setiap bulan.
ASAL ANGKA: 14,3% → 35,7%: sel [58]; 69,0% = 19.919 unit terverifikasi ÷ 28.881 unit: sel [11]; 38.449: sel [12]; 9 variasi: sel [15]; 3.824 dan 3.789: sel [17].
TRANSISI: "Terakhir, keputusan yang kami minta hari ini."</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72528433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menutup dengan permintaan keputusan yang spesifik dan dapat dijawab langsung.
YANG DITAMPILKAN: panel navy = hal yang diminta disetujui; lima baris = penanggung jawab, waktu, checkpoint, KPI, dan prasyarat; panel krem kanan = rencana jika pilot gagal.
NARASI (± 45 detik, ucapkan permintaannya secara spesifik):
Kami meminta persetujuan untuk satu paket pilot: autodebit untuk unit yang belum autodebit dan penagihan terfokus Tier 1 dan Tier 2, dengan grup kontrol.
Head of Township Management menjadi sponsor; Finance dan Collection menjadi pelaksana; CS, IT/ERP, dan Estate Ops mendukung.
Persiapan dilakukan pada bulan pertama Q1, dan pilot berjalan pada bulan kedua dan ketiga Q1. Ada dua checkpoint: akhir bulan kedua untuk indikator awal seperti adopsi autodebit, dan akhir Q2 untuk membandingkan unit pilot dengan grup kontrol, setelah cohort tagihannya matang.
KPI utamanya NPI cohort tagihan baru, adopsi autodebit, kas tertagih aktual, dan biaya program. Prasyaratnya, biaya pilot dan pemilik anggaran disepakati sebelum pelaksanaan.
Jika pilot tidak menunjukkan perbaikan, program tidak diperluas. Kita mengevaluasi desain insentif, menguji kanal komunikasi lain untuk segmen berisiko, tetap menjalankan rekonsiliasi dan perbaikan data, dan mengkalibrasi ulang skor risiko.
MENGAPA EVALUASI SAMPAI AKHIR Q2: status tagihan bulan ketiga Q1 baru matang (jatuh tempo + 22 hari) pada awal Q2, sehingga perbandingan yang adil baru tersedia setelahnya.
PERTANYAAN YANG MUNGKIN MUNCUL: "Berapa biaya pilot?" Jawaban: biaya belum dapat dihitung dari data tagihan. Finance perlu menyusunnya, lalu membandingkannya dengan potensi NPI baru yang dicegah, sekitar Rp0,46 miliar per bulan pada skenario dasar (sel [58]).
TRANSISI: "Terima kasih; kami membuka sesi diskusi."</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28133856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ONTEN">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rtlCol="0"/>
          <a:lstStyle>
            <a:lvl1pPr marL="0" indent="0">
              <a:buNone/>
              <a:defRPr lang="en-US" sz="1100" b="1" kern="0" spc="200" dirty="0">
                <a:solidFill>
                  <a:schemeClr val="accent3"/>
                </a:solidFill>
              </a:defRPr>
            </a:lvl1pPr>
          </a:lstStyle>
          <a:p>
            <a:pPr marL="0" indent="0">
              <a:buNone/>
            </a:pP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rtlCol="0"/>
          <a:lstStyle>
            <a:lvl1pPr marL="0" indent="0" algn="l">
              <a:buNone/>
              <a:defRPr lang="en-US" sz="2600" b="1" dirty="0">
                <a:solidFill>
                  <a:schemeClr val="tx2"/>
                </a:solidFill>
              </a:defRPr>
            </a:lvl1pPr>
          </a:lstStyle>
          <a:p>
            <a:pPr marL="0" indent="0" algn="l">
              <a:buNone/>
            </a:pP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rtlCol="0"/>
          <a:lstStyle>
            <a:lvl1pPr marL="0" indent="0">
              <a:buNone/>
              <a:defRPr lang="en-US" sz="1000" dirty="0">
                <a:solidFill>
                  <a:schemeClr val="accent6"/>
                </a:solidFill>
              </a:defRPr>
            </a:lvl1pPr>
          </a:lstStyle>
          <a:p>
            <a:pPr marL="0" indent="0">
              <a:buNone/>
            </a:pPr>
            <a:endParaRPr lang="en-US" sz="10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EMBATAS">
    <p:bg>
      <p:bgPr>
        <a:solidFill>
          <a:srgbClr val="13294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788920"/>
            <a:ext cx="6949440" cy="118872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731520" y="4069080"/>
            <a:ext cx="6583680" cy="1097280"/>
          </a:xfrm>
          <a:prstGeom prst="rect">
            <a:avLst/>
          </a:prstGeom>
          <a:noFill/>
          <a:ln/>
        </p:spPr>
        <p:txBody>
          <a:bodyPr wrap="square" rtlCol="0"/>
          <a:lstStyle>
            <a:lvl1pPr marL="0" indent="0" algn="l">
              <a:buNone/>
              <a:defRPr lang="en-US" sz="1800" dirty="0">
                <a:solidFill>
                  <a:schemeClr val="bg1"/>
                </a:solidFill>
              </a:defRPr>
            </a:lvl1pPr>
          </a:lstStyle>
          <a:p>
            <a:pPr marL="0" indent="0" algn="l">
              <a:buNone/>
            </a:pPr>
            <a:endParaRPr lang="en-US" sz="18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C9D3E0"/>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AMPUL">
    <p:bg>
      <p:bgPr>
        <a:solidFill>
          <a:srgbClr val="13294B"/>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chart" Target="../charts/chart5.xml"/></Relationships>
</file>

<file path=ppt/slides/_rels/slide1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chart" Target="../charts/char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chart" Target="../charts/chart12.xml"/></Relationships>
</file>

<file path=ppt/slides/_rels/slide39.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chart" Target="../charts/chart1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lustrasi kota mandiri" descr="/home/claude/deck2/img/cover.jpg"/>
          <p:cNvPicPr>
            <a:picLocks noChangeAspect="1"/>
          </p:cNvPicPr>
          <p:nvPr/>
        </p:nvPicPr>
        <p:blipFill>
          <a:blip r:embed="rId3"/>
          <a:stretch>
            <a:fillRect/>
          </a:stretch>
        </p:blipFill>
        <p:spPr>
          <a:xfrm>
            <a:off x="0" y="0"/>
            <a:ext cx="12191695" cy="6858000"/>
          </a:xfrm>
          <a:prstGeom prst="rect">
            <a:avLst/>
          </a:prstGeom>
        </p:spPr>
      </p:pic>
      <p:sp>
        <p:nvSpPr>
          <p:cNvPr id="3" name="panel judul"/>
          <p:cNvSpPr/>
          <p:nvPr/>
        </p:nvSpPr>
        <p:spPr>
          <a:xfrm>
            <a:off x="0" y="0"/>
            <a:ext cx="8138160" cy="6858000"/>
          </a:xfrm>
          <a:prstGeom prst="rect">
            <a:avLst/>
          </a:prstGeom>
          <a:solidFill>
            <a:srgbClr val="13294B">
              <a:alpha val="94000"/>
            </a:srgbClr>
          </a:solidFill>
          <a:ln/>
        </p:spPr>
        <p:txBody>
          <a:bodyPr/>
          <a:lstStyle/>
          <a:p>
            <a:endParaRPr lang="en-US"/>
          </a:p>
        </p:txBody>
      </p:sp>
      <p:sp>
        <p:nvSpPr>
          <p:cNvPr id="4" name="Text 1"/>
          <p:cNvSpPr txBox="1"/>
          <p:nvPr/>
        </p:nvSpPr>
        <p:spPr>
          <a:xfrm>
            <a:off x="731520" y="822960"/>
            <a:ext cx="6949440" cy="320040"/>
          </a:xfrm>
          <a:prstGeom prst="rect">
            <a:avLst/>
          </a:prstGeom>
          <a:noFill/>
          <a:ln/>
        </p:spPr>
        <p:txBody>
          <a:bodyPr wrap="square" lIns="0" tIns="0" rIns="0" bIns="0" rtlCol="0" anchor="t"/>
          <a:lstStyle/>
          <a:p>
            <a:pPr marL="0" indent="0">
              <a:buNone/>
            </a:pPr>
            <a:r>
              <a:rPr lang="en-US" sz="1300" b="1" kern="0" spc="200" dirty="0">
                <a:solidFill>
                  <a:schemeClr val="accent2"/>
                </a:solidFill>
              </a:rPr>
              <a:t>ESTATE MANAGEMENT · ANALISIS DATA TAGIHAN IPL</a:t>
            </a:r>
            <a:endParaRPr lang="en-US" sz="1300" dirty="0"/>
          </a:p>
        </p:txBody>
      </p:sp>
      <p:sp>
        <p:nvSpPr>
          <p:cNvPr id="5" name="Text 2"/>
          <p:cNvSpPr txBox="1"/>
          <p:nvPr/>
        </p:nvSpPr>
        <p:spPr>
          <a:xfrm>
            <a:off x="731519" y="1371599"/>
            <a:ext cx="6858001" cy="1857539"/>
          </a:xfrm>
          <a:prstGeom prst="rect">
            <a:avLst/>
          </a:prstGeom>
          <a:noFill/>
          <a:ln/>
        </p:spPr>
        <p:txBody>
          <a:bodyPr wrap="square" lIns="0" tIns="0" rIns="0" bIns="0" rtlCol="0" anchor="t"/>
          <a:lstStyle/>
          <a:p>
            <a:pPr algn="just"/>
            <a:r>
              <a:rPr lang="sv-SE" sz="3600" b="1" dirty="0">
                <a:solidFill>
                  <a:schemeClr val="bg1"/>
                </a:solidFill>
              </a:rPr>
              <a:t>Satu dari Tiga Tagihan IPL</a:t>
            </a:r>
            <a:r>
              <a:rPr lang="id-ID" sz="3600" b="1" dirty="0">
                <a:solidFill>
                  <a:schemeClr val="bg1"/>
                </a:solidFill>
              </a:rPr>
              <a:t> Sinarmas Land</a:t>
            </a:r>
            <a:r>
              <a:rPr lang="sv-SE" sz="3600" b="1" dirty="0">
                <a:solidFill>
                  <a:schemeClr val="bg1"/>
                </a:solidFill>
              </a:rPr>
              <a:t> Belum Terbayar: Apa yang Bisa </a:t>
            </a:r>
            <a:r>
              <a:rPr lang="sv-SE" sz="3600" b="1" dirty="0" err="1">
                <a:solidFill>
                  <a:schemeClr val="bg1"/>
                </a:solidFill>
              </a:rPr>
              <a:t>Kita</a:t>
            </a:r>
            <a:r>
              <a:rPr lang="sv-SE" sz="3600" b="1" dirty="0">
                <a:solidFill>
                  <a:schemeClr val="bg1"/>
                </a:solidFill>
              </a:rPr>
              <a:t> </a:t>
            </a:r>
            <a:r>
              <a:rPr lang="sv-SE" sz="3600" b="1" dirty="0" err="1">
                <a:solidFill>
                  <a:schemeClr val="bg1"/>
                </a:solidFill>
              </a:rPr>
              <a:t>Lakukan</a:t>
            </a:r>
            <a:r>
              <a:rPr lang="sv-SE" sz="3600" b="1" dirty="0">
                <a:solidFill>
                  <a:schemeClr val="bg1"/>
                </a:solidFill>
              </a:rPr>
              <a:t>?</a:t>
            </a:r>
            <a:endParaRPr lang="en-US" sz="3600" dirty="0"/>
          </a:p>
        </p:txBody>
      </p:sp>
      <p:sp>
        <p:nvSpPr>
          <p:cNvPr id="6" name="Text 3"/>
          <p:cNvSpPr txBox="1"/>
          <p:nvPr/>
        </p:nvSpPr>
        <p:spPr>
          <a:xfrm>
            <a:off x="716280" y="3293147"/>
            <a:ext cx="6766560" cy="914400"/>
          </a:xfrm>
          <a:prstGeom prst="rect">
            <a:avLst/>
          </a:prstGeom>
          <a:noFill/>
          <a:ln/>
        </p:spPr>
        <p:txBody>
          <a:bodyPr wrap="square" lIns="0" tIns="0" rIns="0" bIns="0" rtlCol="0" anchor="t"/>
          <a:lstStyle/>
          <a:p>
            <a:r>
              <a:rPr lang="en-US" sz="1900" dirty="0" err="1">
                <a:solidFill>
                  <a:schemeClr val="accent2"/>
                </a:solidFill>
              </a:rPr>
              <a:t>Analisis</a:t>
            </a:r>
            <a:r>
              <a:rPr lang="en-US" sz="1900" dirty="0">
                <a:solidFill>
                  <a:schemeClr val="accent2"/>
                </a:solidFill>
              </a:rPr>
              <a:t> </a:t>
            </a:r>
            <a:r>
              <a:rPr lang="en-US" sz="1900" dirty="0" err="1">
                <a:solidFill>
                  <a:schemeClr val="accent2"/>
                </a:solidFill>
              </a:rPr>
              <a:t>risiko</a:t>
            </a:r>
            <a:r>
              <a:rPr lang="en-US" sz="1900" dirty="0">
                <a:solidFill>
                  <a:schemeClr val="accent2"/>
                </a:solidFill>
              </a:rPr>
              <a:t> NPI, </a:t>
            </a:r>
            <a:r>
              <a:rPr lang="en-US" sz="1900" dirty="0" err="1">
                <a:solidFill>
                  <a:schemeClr val="accent2"/>
                </a:solidFill>
              </a:rPr>
              <a:t>prioritas</a:t>
            </a:r>
            <a:r>
              <a:rPr lang="en-US" sz="1900" dirty="0">
                <a:solidFill>
                  <a:schemeClr val="accent2"/>
                </a:solidFill>
              </a:rPr>
              <a:t> </a:t>
            </a:r>
            <a:r>
              <a:rPr lang="en-US" sz="1900" dirty="0" err="1">
                <a:solidFill>
                  <a:schemeClr val="accent2"/>
                </a:solidFill>
              </a:rPr>
              <a:t>Penagihan</a:t>
            </a:r>
            <a:r>
              <a:rPr lang="en-US" sz="1900" dirty="0">
                <a:solidFill>
                  <a:schemeClr val="accent2"/>
                </a:solidFill>
              </a:rPr>
              <a:t>, dan strategi </a:t>
            </a:r>
            <a:r>
              <a:rPr lang="en-US" sz="1900" dirty="0" err="1">
                <a:solidFill>
                  <a:schemeClr val="accent2"/>
                </a:solidFill>
              </a:rPr>
              <a:t>pencegahan</a:t>
            </a:r>
            <a:r>
              <a:rPr lang="en-US" sz="1900" dirty="0">
                <a:solidFill>
                  <a:schemeClr val="accent2"/>
                </a:solidFill>
              </a:rPr>
              <a:t> </a:t>
            </a:r>
            <a:r>
              <a:rPr lang="en-US" sz="1900" dirty="0" err="1">
                <a:solidFill>
                  <a:schemeClr val="accent2"/>
                </a:solidFill>
              </a:rPr>
              <a:t>tunggakan</a:t>
            </a:r>
            <a:r>
              <a:rPr lang="en-US" sz="1900" dirty="0">
                <a:solidFill>
                  <a:schemeClr val="accent2"/>
                </a:solidFill>
              </a:rPr>
              <a:t> IPL</a:t>
            </a:r>
            <a:endParaRPr lang="en-US" sz="1900" dirty="0"/>
          </a:p>
        </p:txBody>
      </p:sp>
      <p:sp>
        <p:nvSpPr>
          <p:cNvPr id="7" name="Text 4"/>
          <p:cNvSpPr txBox="1"/>
          <p:nvPr/>
        </p:nvSpPr>
        <p:spPr>
          <a:xfrm>
            <a:off x="731520" y="4754880"/>
            <a:ext cx="2194560" cy="274320"/>
          </a:xfrm>
          <a:prstGeom prst="rect">
            <a:avLst/>
          </a:prstGeom>
          <a:noFill/>
          <a:ln/>
        </p:spPr>
        <p:txBody>
          <a:bodyPr wrap="square" lIns="0" tIns="0" rIns="0" bIns="0" rtlCol="0" anchor="t"/>
          <a:lstStyle/>
          <a:p>
            <a:pPr marL="0" indent="0">
              <a:buNone/>
            </a:pPr>
            <a:r>
              <a:rPr lang="en-US" sz="1000" b="1" kern="0" spc="100" dirty="0">
                <a:solidFill>
                  <a:schemeClr val="accent2"/>
                </a:solidFill>
              </a:rPr>
              <a:t>DISUSUN OLEH</a:t>
            </a:r>
            <a:endParaRPr lang="en-US" sz="1000" dirty="0"/>
          </a:p>
        </p:txBody>
      </p:sp>
      <p:sp>
        <p:nvSpPr>
          <p:cNvPr id="8" name="Text 5"/>
          <p:cNvSpPr txBox="1"/>
          <p:nvPr/>
        </p:nvSpPr>
        <p:spPr>
          <a:xfrm>
            <a:off x="731520" y="5056632"/>
            <a:ext cx="2194560" cy="822960"/>
          </a:xfrm>
          <a:prstGeom prst="rect">
            <a:avLst/>
          </a:prstGeom>
          <a:noFill/>
          <a:ln/>
        </p:spPr>
        <p:txBody>
          <a:bodyPr wrap="square" lIns="0" tIns="0" rIns="0" bIns="0" rtlCol="0" anchor="t"/>
          <a:lstStyle/>
          <a:p>
            <a:pPr marL="0" indent="0">
              <a:buNone/>
            </a:pPr>
            <a:r>
              <a:rPr lang="en-US" sz="1300" dirty="0">
                <a:solidFill>
                  <a:schemeClr val="bg1"/>
                </a:solidFill>
              </a:rPr>
              <a:t>Astro Lihardo Aloysius</a:t>
            </a:r>
            <a:endParaRPr lang="en-US" sz="1300" dirty="0"/>
          </a:p>
          <a:p>
            <a:pPr marL="0" indent="0">
              <a:buNone/>
            </a:pPr>
            <a:r>
              <a:rPr lang="en-US" sz="1300" dirty="0">
                <a:solidFill>
                  <a:schemeClr val="bg1"/>
                </a:solidFill>
              </a:rPr>
              <a:t>Raffy Reyhan</a:t>
            </a:r>
            <a:endParaRPr lang="en-US" sz="1300" dirty="0"/>
          </a:p>
        </p:txBody>
      </p:sp>
      <p:sp>
        <p:nvSpPr>
          <p:cNvPr id="9" name="Text 6"/>
          <p:cNvSpPr txBox="1"/>
          <p:nvPr/>
        </p:nvSpPr>
        <p:spPr>
          <a:xfrm>
            <a:off x="3063240" y="4754880"/>
            <a:ext cx="2194560" cy="274320"/>
          </a:xfrm>
          <a:prstGeom prst="rect">
            <a:avLst/>
          </a:prstGeom>
          <a:noFill/>
          <a:ln/>
        </p:spPr>
        <p:txBody>
          <a:bodyPr wrap="square" lIns="0" tIns="0" rIns="0" bIns="0" rtlCol="0" anchor="t"/>
          <a:lstStyle/>
          <a:p>
            <a:pPr marL="0" indent="0">
              <a:buNone/>
            </a:pPr>
            <a:r>
              <a:rPr lang="en-US" sz="1000" b="1" kern="0" spc="100" dirty="0">
                <a:solidFill>
                  <a:schemeClr val="accent2"/>
                </a:solidFill>
              </a:rPr>
              <a:t>CAKUPAN DATA</a:t>
            </a:r>
            <a:endParaRPr lang="en-US" sz="1000" dirty="0"/>
          </a:p>
        </p:txBody>
      </p:sp>
      <p:sp>
        <p:nvSpPr>
          <p:cNvPr id="10" name="Text 7"/>
          <p:cNvSpPr txBox="1"/>
          <p:nvPr/>
        </p:nvSpPr>
        <p:spPr>
          <a:xfrm>
            <a:off x="3063240" y="5056632"/>
            <a:ext cx="1783080" cy="822960"/>
          </a:xfrm>
          <a:prstGeom prst="rect">
            <a:avLst/>
          </a:prstGeom>
          <a:noFill/>
          <a:ln/>
        </p:spPr>
        <p:txBody>
          <a:bodyPr wrap="square" lIns="0" tIns="0" rIns="0" bIns="0" rtlCol="0" anchor="t"/>
          <a:lstStyle/>
          <a:p>
            <a:pPr marL="0" indent="0">
              <a:buNone/>
            </a:pPr>
            <a:r>
              <a:rPr lang="en-US" sz="1300" dirty="0" err="1">
                <a:solidFill>
                  <a:schemeClr val="bg1"/>
                </a:solidFill>
              </a:rPr>
              <a:t>Tagihan</a:t>
            </a:r>
            <a:r>
              <a:rPr lang="en-US" sz="1300" dirty="0">
                <a:solidFill>
                  <a:schemeClr val="bg1"/>
                </a:solidFill>
              </a:rPr>
              <a:t> Jul 2022 – Des 2024</a:t>
            </a:r>
            <a:endParaRPr lang="en-US" sz="1300" dirty="0"/>
          </a:p>
        </p:txBody>
      </p:sp>
      <p:sp>
        <p:nvSpPr>
          <p:cNvPr id="11" name="Text 8"/>
          <p:cNvSpPr txBox="1"/>
          <p:nvPr/>
        </p:nvSpPr>
        <p:spPr>
          <a:xfrm>
            <a:off x="5394960" y="4754880"/>
            <a:ext cx="2194560" cy="274320"/>
          </a:xfrm>
          <a:prstGeom prst="rect">
            <a:avLst/>
          </a:prstGeom>
          <a:noFill/>
          <a:ln/>
        </p:spPr>
        <p:txBody>
          <a:bodyPr wrap="square" lIns="0" tIns="0" rIns="0" bIns="0" rtlCol="0" anchor="t"/>
          <a:lstStyle/>
          <a:p>
            <a:pPr marL="0" indent="0">
              <a:buNone/>
            </a:pPr>
            <a:r>
              <a:rPr lang="id-ID" sz="1000" b="1" kern="0" spc="100" dirty="0">
                <a:solidFill>
                  <a:schemeClr val="accent2"/>
                </a:solidFill>
              </a:rPr>
              <a:t>Tanggal Presentasi</a:t>
            </a:r>
            <a:endParaRPr lang="en-US" sz="1000" dirty="0"/>
          </a:p>
        </p:txBody>
      </p:sp>
      <p:sp>
        <p:nvSpPr>
          <p:cNvPr id="12" name="Text 9"/>
          <p:cNvSpPr txBox="1"/>
          <p:nvPr/>
        </p:nvSpPr>
        <p:spPr>
          <a:xfrm>
            <a:off x="5394960" y="5056632"/>
            <a:ext cx="2194560" cy="822960"/>
          </a:xfrm>
          <a:prstGeom prst="rect">
            <a:avLst/>
          </a:prstGeom>
          <a:noFill/>
          <a:ln/>
        </p:spPr>
        <p:txBody>
          <a:bodyPr wrap="square" lIns="0" tIns="0" rIns="0" bIns="0" rtlCol="0" anchor="t"/>
          <a:lstStyle/>
          <a:p>
            <a:pPr marL="0" indent="0">
              <a:buNone/>
            </a:pPr>
            <a:r>
              <a:rPr lang="id-ID" sz="1300" dirty="0">
                <a:solidFill>
                  <a:schemeClr val="bg1"/>
                </a:solidFill>
              </a:rPr>
              <a:t>21 Oktober 2026</a:t>
            </a:r>
            <a:endParaRPr lang="en-US" sz="1300" dirty="0"/>
          </a:p>
        </p:txBody>
      </p:sp>
      <p:sp>
        <p:nvSpPr>
          <p:cNvPr id="13" name="Text 10"/>
          <p:cNvSpPr txBox="1"/>
          <p:nvPr/>
        </p:nvSpPr>
        <p:spPr>
          <a:xfrm>
            <a:off x="731520" y="5943600"/>
            <a:ext cx="6949440" cy="320040"/>
          </a:xfrm>
          <a:prstGeom prst="rect">
            <a:avLst/>
          </a:prstGeom>
          <a:noFill/>
          <a:ln/>
        </p:spPr>
        <p:txBody>
          <a:bodyPr wrap="square" lIns="0" tIns="0" rIns="0" bIns="0" rtlCol="0" anchor="t"/>
          <a:lstStyle/>
          <a:p>
            <a:pPr marL="0" indent="0">
              <a:buNone/>
            </a:pPr>
            <a:r>
              <a:rPr lang="en-US" sz="1300" dirty="0">
                <a:solidFill>
                  <a:srgbClr val="DCE3EE"/>
                </a:solidFill>
              </a:rPr>
              <a:t>Untuk: Head of Township Management &amp; tim terkait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AGENDA</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Alur </a:t>
            </a:r>
            <a:r>
              <a:rPr lang="en-US" sz="2600" b="1" dirty="0" err="1">
                <a:solidFill>
                  <a:schemeClr val="tx2"/>
                </a:solidFill>
              </a:rPr>
              <a:t>presentasi</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 </a:t>
            </a:r>
            <a:endParaRPr lang="en-US" sz="1000" dirty="0"/>
          </a:p>
        </p:txBody>
      </p:sp>
      <p:sp>
        <p:nvSpPr>
          <p:cNvPr id="5" name="pemisah agenda"/>
          <p:cNvSpPr/>
          <p:nvPr/>
        </p:nvSpPr>
        <p:spPr>
          <a:xfrm>
            <a:off x="548640" y="2240280"/>
            <a:ext cx="11064240" cy="0"/>
          </a:xfrm>
          <a:prstGeom prst="line">
            <a:avLst/>
          </a:prstGeom>
          <a:noFill/>
          <a:ln w="9525">
            <a:solidFill>
              <a:srgbClr val="DCE1E8"/>
            </a:solidFill>
            <a:prstDash val="solid"/>
          </a:ln>
        </p:spPr>
        <p:txBody>
          <a:bodyPr/>
          <a:lstStyle/>
          <a:p>
            <a:endParaRPr lang="en-US"/>
          </a:p>
        </p:txBody>
      </p:sp>
      <p:sp>
        <p:nvSpPr>
          <p:cNvPr id="6" name="Text 4"/>
          <p:cNvSpPr txBox="1"/>
          <p:nvPr/>
        </p:nvSpPr>
        <p:spPr>
          <a:xfrm>
            <a:off x="548640" y="1691640"/>
            <a:ext cx="822960" cy="457200"/>
          </a:xfrm>
          <a:prstGeom prst="rect">
            <a:avLst/>
          </a:prstGeom>
          <a:noFill/>
          <a:ln/>
        </p:spPr>
        <p:txBody>
          <a:bodyPr wrap="square" lIns="0" tIns="0" rIns="0" bIns="0" rtlCol="0" anchor="ctr"/>
          <a:lstStyle/>
          <a:p>
            <a:pPr marL="0" indent="0">
              <a:buNone/>
            </a:pPr>
            <a:r>
              <a:rPr lang="en-US" sz="2200" b="1" dirty="0">
                <a:solidFill>
                  <a:schemeClr val="accent2"/>
                </a:solidFill>
              </a:rPr>
              <a:t>01</a:t>
            </a:r>
            <a:endParaRPr lang="en-US" sz="2200" dirty="0"/>
          </a:p>
        </p:txBody>
      </p:sp>
      <p:sp>
        <p:nvSpPr>
          <p:cNvPr id="7" name="Text 5"/>
          <p:cNvSpPr txBox="1"/>
          <p:nvPr/>
        </p:nvSpPr>
        <p:spPr>
          <a:xfrm>
            <a:off x="1463040" y="1691640"/>
            <a:ext cx="4754880" cy="457200"/>
          </a:xfrm>
          <a:prstGeom prst="rect">
            <a:avLst/>
          </a:prstGeom>
          <a:noFill/>
          <a:ln/>
        </p:spPr>
        <p:txBody>
          <a:bodyPr wrap="square" lIns="0" tIns="0" rIns="0" bIns="0" rtlCol="0" anchor="ctr"/>
          <a:lstStyle/>
          <a:p>
            <a:pPr marL="0" indent="0">
              <a:buNone/>
            </a:pPr>
            <a:r>
              <a:rPr lang="en-US" sz="1700" b="1" dirty="0">
                <a:solidFill>
                  <a:schemeClr val="tx2"/>
                </a:solidFill>
              </a:rPr>
              <a:t>Konteks &amp; masalah bisnis</a:t>
            </a:r>
            <a:endParaRPr lang="en-US" sz="1700" dirty="0"/>
          </a:p>
        </p:txBody>
      </p:sp>
      <p:sp>
        <p:nvSpPr>
          <p:cNvPr id="8" name="Text 6"/>
          <p:cNvSpPr txBox="1"/>
          <p:nvPr/>
        </p:nvSpPr>
        <p:spPr>
          <a:xfrm>
            <a:off x="6309360" y="1691640"/>
            <a:ext cx="5303520" cy="457200"/>
          </a:xfrm>
          <a:prstGeom prst="rect">
            <a:avLst/>
          </a:prstGeom>
          <a:noFill/>
          <a:ln/>
        </p:spPr>
        <p:txBody>
          <a:bodyPr wrap="square" lIns="0" tIns="0" rIns="0" bIns="0" rtlCol="0" anchor="ctr"/>
          <a:lstStyle/>
          <a:p>
            <a:pPr marL="0" indent="0">
              <a:buNone/>
            </a:pPr>
            <a:r>
              <a:rPr lang="en-US" sz="1400" dirty="0">
                <a:solidFill>
                  <a:schemeClr val="accent6"/>
                </a:solidFill>
              </a:rPr>
              <a:t>Peran IPL, risiko arus kas, dan rumusan masalah</a:t>
            </a:r>
            <a:endParaRPr lang="en-US" sz="1400" dirty="0"/>
          </a:p>
        </p:txBody>
      </p:sp>
      <p:sp>
        <p:nvSpPr>
          <p:cNvPr id="9" name="pemisah agenda"/>
          <p:cNvSpPr/>
          <p:nvPr/>
        </p:nvSpPr>
        <p:spPr>
          <a:xfrm>
            <a:off x="548640" y="2852928"/>
            <a:ext cx="11064240" cy="0"/>
          </a:xfrm>
          <a:prstGeom prst="line">
            <a:avLst/>
          </a:prstGeom>
          <a:noFill/>
          <a:ln w="9525">
            <a:solidFill>
              <a:srgbClr val="DCE1E8"/>
            </a:solidFill>
            <a:prstDash val="solid"/>
          </a:ln>
        </p:spPr>
        <p:txBody>
          <a:bodyPr/>
          <a:lstStyle/>
          <a:p>
            <a:endParaRPr lang="en-US"/>
          </a:p>
        </p:txBody>
      </p:sp>
      <p:sp>
        <p:nvSpPr>
          <p:cNvPr id="10" name="Text 8"/>
          <p:cNvSpPr txBox="1"/>
          <p:nvPr/>
        </p:nvSpPr>
        <p:spPr>
          <a:xfrm>
            <a:off x="548640" y="2304288"/>
            <a:ext cx="822960" cy="457200"/>
          </a:xfrm>
          <a:prstGeom prst="rect">
            <a:avLst/>
          </a:prstGeom>
          <a:noFill/>
          <a:ln/>
        </p:spPr>
        <p:txBody>
          <a:bodyPr wrap="square" lIns="0" tIns="0" rIns="0" bIns="0" rtlCol="0" anchor="ctr"/>
          <a:lstStyle/>
          <a:p>
            <a:pPr marL="0" indent="0">
              <a:buNone/>
            </a:pPr>
            <a:r>
              <a:rPr lang="en-US" sz="2200" b="1" dirty="0">
                <a:solidFill>
                  <a:schemeClr val="accent2"/>
                </a:solidFill>
              </a:rPr>
              <a:t>02</a:t>
            </a:r>
            <a:endParaRPr lang="en-US" sz="2200" dirty="0"/>
          </a:p>
        </p:txBody>
      </p:sp>
      <p:sp>
        <p:nvSpPr>
          <p:cNvPr id="11" name="Text 9"/>
          <p:cNvSpPr txBox="1"/>
          <p:nvPr/>
        </p:nvSpPr>
        <p:spPr>
          <a:xfrm>
            <a:off x="1463040" y="2304288"/>
            <a:ext cx="4754880" cy="457200"/>
          </a:xfrm>
          <a:prstGeom prst="rect">
            <a:avLst/>
          </a:prstGeom>
          <a:noFill/>
          <a:ln/>
        </p:spPr>
        <p:txBody>
          <a:bodyPr wrap="square" lIns="0" tIns="0" rIns="0" bIns="0" rtlCol="0" anchor="ctr"/>
          <a:lstStyle/>
          <a:p>
            <a:pPr marL="0" indent="0">
              <a:buNone/>
            </a:pPr>
            <a:r>
              <a:rPr lang="en-US" sz="1700" b="1" dirty="0">
                <a:solidFill>
                  <a:schemeClr val="tx2"/>
                </a:solidFill>
              </a:rPr>
              <a:t>Data, metodologi &amp; kualitas data</a:t>
            </a:r>
            <a:endParaRPr lang="en-US" sz="1700" dirty="0"/>
          </a:p>
        </p:txBody>
      </p:sp>
      <p:sp>
        <p:nvSpPr>
          <p:cNvPr id="12" name="Text 10"/>
          <p:cNvSpPr txBox="1"/>
          <p:nvPr/>
        </p:nvSpPr>
        <p:spPr>
          <a:xfrm>
            <a:off x="6309360" y="2304288"/>
            <a:ext cx="5303520" cy="457200"/>
          </a:xfrm>
          <a:prstGeom prst="rect">
            <a:avLst/>
          </a:prstGeom>
          <a:noFill/>
          <a:ln/>
        </p:spPr>
        <p:txBody>
          <a:bodyPr wrap="square" lIns="0" tIns="0" rIns="0" bIns="0" rtlCol="0" anchor="ctr"/>
          <a:lstStyle/>
          <a:p>
            <a:pPr marL="0" indent="0">
              <a:buNone/>
            </a:pPr>
            <a:r>
              <a:rPr lang="en-US" sz="1400" dirty="0">
                <a:solidFill>
                  <a:schemeClr val="accent6"/>
                </a:solidFill>
              </a:rPr>
              <a:t>Cakupan data, unit analisis, dan temuan kualitas data</a:t>
            </a:r>
            <a:endParaRPr lang="en-US" sz="1400" dirty="0"/>
          </a:p>
        </p:txBody>
      </p:sp>
      <p:sp>
        <p:nvSpPr>
          <p:cNvPr id="13" name="pemisah agenda"/>
          <p:cNvSpPr/>
          <p:nvPr/>
        </p:nvSpPr>
        <p:spPr>
          <a:xfrm>
            <a:off x="548640" y="3465576"/>
            <a:ext cx="11064240" cy="0"/>
          </a:xfrm>
          <a:prstGeom prst="line">
            <a:avLst/>
          </a:prstGeom>
          <a:noFill/>
          <a:ln w="9525">
            <a:solidFill>
              <a:srgbClr val="DCE1E8"/>
            </a:solidFill>
            <a:prstDash val="solid"/>
          </a:ln>
        </p:spPr>
        <p:txBody>
          <a:bodyPr/>
          <a:lstStyle/>
          <a:p>
            <a:endParaRPr lang="en-US"/>
          </a:p>
        </p:txBody>
      </p:sp>
      <p:sp>
        <p:nvSpPr>
          <p:cNvPr id="14" name="Text 12"/>
          <p:cNvSpPr txBox="1"/>
          <p:nvPr/>
        </p:nvSpPr>
        <p:spPr>
          <a:xfrm>
            <a:off x="548640" y="2916936"/>
            <a:ext cx="822960" cy="457200"/>
          </a:xfrm>
          <a:prstGeom prst="rect">
            <a:avLst/>
          </a:prstGeom>
          <a:noFill/>
          <a:ln/>
        </p:spPr>
        <p:txBody>
          <a:bodyPr wrap="square" lIns="0" tIns="0" rIns="0" bIns="0" rtlCol="0" anchor="ctr"/>
          <a:lstStyle/>
          <a:p>
            <a:pPr marL="0" indent="0">
              <a:buNone/>
            </a:pPr>
            <a:r>
              <a:rPr lang="en-US" sz="2200" b="1" dirty="0">
                <a:solidFill>
                  <a:schemeClr val="accent2"/>
                </a:solidFill>
              </a:rPr>
              <a:t>03</a:t>
            </a:r>
            <a:endParaRPr lang="en-US" sz="2200" dirty="0"/>
          </a:p>
        </p:txBody>
      </p:sp>
      <p:sp>
        <p:nvSpPr>
          <p:cNvPr id="15" name="Text 13"/>
          <p:cNvSpPr txBox="1"/>
          <p:nvPr/>
        </p:nvSpPr>
        <p:spPr>
          <a:xfrm>
            <a:off x="1463040" y="2916936"/>
            <a:ext cx="4754880" cy="457200"/>
          </a:xfrm>
          <a:prstGeom prst="rect">
            <a:avLst/>
          </a:prstGeom>
          <a:noFill/>
          <a:ln/>
        </p:spPr>
        <p:txBody>
          <a:bodyPr wrap="square" lIns="0" tIns="0" rIns="0" bIns="0" rtlCol="0" anchor="ctr"/>
          <a:lstStyle/>
          <a:p>
            <a:pPr marL="0" indent="0">
              <a:buNone/>
            </a:pPr>
            <a:r>
              <a:rPr lang="en-US" sz="1700" b="1" dirty="0">
                <a:solidFill>
                  <a:schemeClr val="tx2"/>
                </a:solidFill>
              </a:rPr>
              <a:t>Besar masalah NPI</a:t>
            </a:r>
            <a:endParaRPr lang="en-US" sz="1700" dirty="0"/>
          </a:p>
        </p:txBody>
      </p:sp>
      <p:sp>
        <p:nvSpPr>
          <p:cNvPr id="16" name="Text 14"/>
          <p:cNvSpPr txBox="1"/>
          <p:nvPr/>
        </p:nvSpPr>
        <p:spPr>
          <a:xfrm>
            <a:off x="6309360" y="2916936"/>
            <a:ext cx="5303520" cy="457200"/>
          </a:xfrm>
          <a:prstGeom prst="rect">
            <a:avLst/>
          </a:prstGeom>
          <a:noFill/>
          <a:ln/>
        </p:spPr>
        <p:txBody>
          <a:bodyPr wrap="square" lIns="0" tIns="0" rIns="0" bIns="0" rtlCol="0" anchor="ctr"/>
          <a:lstStyle/>
          <a:p>
            <a:pPr marL="0" indent="0">
              <a:buNone/>
            </a:pPr>
            <a:r>
              <a:rPr lang="en-US" sz="1400" dirty="0">
                <a:solidFill>
                  <a:schemeClr val="accent6"/>
                </a:solidFill>
              </a:rPr>
              <a:t>Rata-rata dan nominal NPI per </a:t>
            </a:r>
            <a:r>
              <a:rPr lang="en-US" sz="1400" dirty="0" err="1">
                <a:solidFill>
                  <a:schemeClr val="accent6"/>
                </a:solidFill>
              </a:rPr>
              <a:t>bulan</a:t>
            </a:r>
            <a:endParaRPr lang="en-US" sz="1400" dirty="0"/>
          </a:p>
        </p:txBody>
      </p:sp>
      <p:sp>
        <p:nvSpPr>
          <p:cNvPr id="17" name="pemisah agenda"/>
          <p:cNvSpPr/>
          <p:nvPr/>
        </p:nvSpPr>
        <p:spPr>
          <a:xfrm>
            <a:off x="548640" y="4078224"/>
            <a:ext cx="11064240" cy="0"/>
          </a:xfrm>
          <a:prstGeom prst="line">
            <a:avLst/>
          </a:prstGeom>
          <a:noFill/>
          <a:ln w="9525">
            <a:solidFill>
              <a:srgbClr val="DCE1E8"/>
            </a:solidFill>
            <a:prstDash val="solid"/>
          </a:ln>
        </p:spPr>
        <p:txBody>
          <a:bodyPr/>
          <a:lstStyle/>
          <a:p>
            <a:endParaRPr lang="en-US"/>
          </a:p>
        </p:txBody>
      </p:sp>
      <p:sp>
        <p:nvSpPr>
          <p:cNvPr id="18" name="Text 16"/>
          <p:cNvSpPr txBox="1"/>
          <p:nvPr/>
        </p:nvSpPr>
        <p:spPr>
          <a:xfrm>
            <a:off x="548640" y="3529584"/>
            <a:ext cx="822960" cy="457200"/>
          </a:xfrm>
          <a:prstGeom prst="rect">
            <a:avLst/>
          </a:prstGeom>
          <a:noFill/>
          <a:ln/>
        </p:spPr>
        <p:txBody>
          <a:bodyPr wrap="square" lIns="0" tIns="0" rIns="0" bIns="0" rtlCol="0" anchor="ctr"/>
          <a:lstStyle/>
          <a:p>
            <a:pPr marL="0" indent="0">
              <a:buNone/>
            </a:pPr>
            <a:r>
              <a:rPr lang="en-US" sz="2200" b="1" dirty="0">
                <a:solidFill>
                  <a:schemeClr val="accent2"/>
                </a:solidFill>
              </a:rPr>
              <a:t>04</a:t>
            </a:r>
            <a:endParaRPr lang="en-US" sz="2200" dirty="0"/>
          </a:p>
        </p:txBody>
      </p:sp>
      <p:sp>
        <p:nvSpPr>
          <p:cNvPr id="19" name="Text 17"/>
          <p:cNvSpPr txBox="1"/>
          <p:nvPr/>
        </p:nvSpPr>
        <p:spPr>
          <a:xfrm>
            <a:off x="1463040" y="3529584"/>
            <a:ext cx="4754880" cy="457200"/>
          </a:xfrm>
          <a:prstGeom prst="rect">
            <a:avLst/>
          </a:prstGeom>
          <a:noFill/>
          <a:ln/>
        </p:spPr>
        <p:txBody>
          <a:bodyPr wrap="square" lIns="0" tIns="0" rIns="0" bIns="0" rtlCol="0" anchor="ctr"/>
          <a:lstStyle/>
          <a:p>
            <a:pPr marL="0" indent="0">
              <a:buNone/>
            </a:pPr>
            <a:r>
              <a:rPr lang="en-US" sz="1700" b="1" dirty="0">
                <a:solidFill>
                  <a:schemeClr val="tx2"/>
                </a:solidFill>
              </a:rPr>
              <a:t>Faktor </a:t>
            </a:r>
            <a:r>
              <a:rPr lang="en-US" sz="1700" b="1" dirty="0" err="1">
                <a:solidFill>
                  <a:schemeClr val="tx2"/>
                </a:solidFill>
              </a:rPr>
              <a:t>penyebab</a:t>
            </a:r>
            <a:r>
              <a:rPr lang="en-US" sz="1700" b="1" dirty="0">
                <a:solidFill>
                  <a:schemeClr val="tx2"/>
                </a:solidFill>
              </a:rPr>
              <a:t> </a:t>
            </a:r>
            <a:r>
              <a:rPr lang="en-US" sz="1700" b="1" dirty="0" err="1">
                <a:solidFill>
                  <a:schemeClr val="tx2"/>
                </a:solidFill>
              </a:rPr>
              <a:t>tunggakan</a:t>
            </a:r>
            <a:endParaRPr lang="en-US" sz="1700" dirty="0"/>
          </a:p>
        </p:txBody>
      </p:sp>
      <p:sp>
        <p:nvSpPr>
          <p:cNvPr id="20" name="Text 18"/>
          <p:cNvSpPr txBox="1"/>
          <p:nvPr/>
        </p:nvSpPr>
        <p:spPr>
          <a:xfrm>
            <a:off x="6309360" y="3529584"/>
            <a:ext cx="5303520" cy="457200"/>
          </a:xfrm>
          <a:prstGeom prst="rect">
            <a:avLst/>
          </a:prstGeom>
          <a:noFill/>
          <a:ln/>
        </p:spPr>
        <p:txBody>
          <a:bodyPr wrap="square" lIns="0" tIns="0" rIns="0" bIns="0" rtlCol="0" anchor="ctr"/>
          <a:lstStyle/>
          <a:p>
            <a:pPr marL="0" indent="0">
              <a:buNone/>
            </a:pPr>
            <a:r>
              <a:rPr lang="en-US" sz="1400" dirty="0">
                <a:solidFill>
                  <a:schemeClr val="accent6"/>
                </a:solidFill>
              </a:rPr>
              <a:t>Uji hipotesis, </a:t>
            </a:r>
            <a:r>
              <a:rPr lang="en-US" sz="1400" dirty="0" err="1">
                <a:solidFill>
                  <a:schemeClr val="accent6"/>
                </a:solidFill>
              </a:rPr>
              <a:t>pengendalian</a:t>
            </a:r>
            <a:r>
              <a:rPr lang="en-US" sz="1400" dirty="0">
                <a:solidFill>
                  <a:schemeClr val="accent6"/>
                </a:solidFill>
              </a:rPr>
              <a:t> </a:t>
            </a:r>
            <a:r>
              <a:rPr lang="en-US" sz="1400" dirty="0" err="1">
                <a:solidFill>
                  <a:schemeClr val="accent6"/>
                </a:solidFill>
              </a:rPr>
              <a:t>faktor</a:t>
            </a:r>
            <a:endParaRPr lang="en-US" sz="1400" dirty="0"/>
          </a:p>
        </p:txBody>
      </p:sp>
      <p:sp>
        <p:nvSpPr>
          <p:cNvPr id="21" name="pemisah agenda"/>
          <p:cNvSpPr/>
          <p:nvPr/>
        </p:nvSpPr>
        <p:spPr>
          <a:xfrm>
            <a:off x="548640" y="4690872"/>
            <a:ext cx="11064240" cy="0"/>
          </a:xfrm>
          <a:prstGeom prst="line">
            <a:avLst/>
          </a:prstGeom>
          <a:noFill/>
          <a:ln w="9525">
            <a:solidFill>
              <a:srgbClr val="DCE1E8"/>
            </a:solidFill>
            <a:prstDash val="solid"/>
          </a:ln>
        </p:spPr>
        <p:txBody>
          <a:bodyPr/>
          <a:lstStyle/>
          <a:p>
            <a:endParaRPr lang="en-US"/>
          </a:p>
        </p:txBody>
      </p:sp>
      <p:sp>
        <p:nvSpPr>
          <p:cNvPr id="22" name="Text 20"/>
          <p:cNvSpPr txBox="1"/>
          <p:nvPr/>
        </p:nvSpPr>
        <p:spPr>
          <a:xfrm>
            <a:off x="548640" y="4142232"/>
            <a:ext cx="822960" cy="457200"/>
          </a:xfrm>
          <a:prstGeom prst="rect">
            <a:avLst/>
          </a:prstGeom>
          <a:noFill/>
          <a:ln/>
        </p:spPr>
        <p:txBody>
          <a:bodyPr wrap="square" lIns="0" tIns="0" rIns="0" bIns="0" rtlCol="0" anchor="ctr"/>
          <a:lstStyle/>
          <a:p>
            <a:pPr marL="0" indent="0">
              <a:buNone/>
            </a:pPr>
            <a:r>
              <a:rPr lang="en-US" sz="2200" b="1" dirty="0">
                <a:solidFill>
                  <a:schemeClr val="accent2"/>
                </a:solidFill>
              </a:rPr>
              <a:t>05</a:t>
            </a:r>
            <a:endParaRPr lang="en-US" sz="2200" dirty="0"/>
          </a:p>
        </p:txBody>
      </p:sp>
      <p:sp>
        <p:nvSpPr>
          <p:cNvPr id="23" name="Text 21"/>
          <p:cNvSpPr txBox="1"/>
          <p:nvPr/>
        </p:nvSpPr>
        <p:spPr>
          <a:xfrm>
            <a:off x="1463040" y="4142232"/>
            <a:ext cx="4754880" cy="457200"/>
          </a:xfrm>
          <a:prstGeom prst="rect">
            <a:avLst/>
          </a:prstGeom>
          <a:noFill/>
          <a:ln/>
        </p:spPr>
        <p:txBody>
          <a:bodyPr wrap="square" lIns="0" tIns="0" rIns="0" bIns="0" rtlCol="0" anchor="ctr"/>
          <a:lstStyle/>
          <a:p>
            <a:pPr marL="0" indent="0">
              <a:buNone/>
            </a:pPr>
            <a:r>
              <a:rPr lang="en-US" sz="1700" b="1" dirty="0" err="1">
                <a:solidFill>
                  <a:schemeClr val="tx2"/>
                </a:solidFill>
              </a:rPr>
              <a:t>Durasi</a:t>
            </a:r>
            <a:r>
              <a:rPr lang="en-US" sz="1700" b="1" dirty="0">
                <a:solidFill>
                  <a:schemeClr val="tx2"/>
                </a:solidFill>
              </a:rPr>
              <a:t> tunggakan &amp; </a:t>
            </a:r>
            <a:r>
              <a:rPr lang="en-US" sz="1700" b="1" dirty="0" err="1">
                <a:solidFill>
                  <a:schemeClr val="tx2"/>
                </a:solidFill>
              </a:rPr>
              <a:t>prioritas</a:t>
            </a:r>
            <a:r>
              <a:rPr lang="en-US" sz="1700" b="1" dirty="0">
                <a:solidFill>
                  <a:schemeClr val="tx2"/>
                </a:solidFill>
              </a:rPr>
              <a:t> </a:t>
            </a:r>
            <a:r>
              <a:rPr lang="en-US" sz="1700" b="1" dirty="0" err="1">
                <a:solidFill>
                  <a:schemeClr val="tx2"/>
                </a:solidFill>
              </a:rPr>
              <a:t>penagihan</a:t>
            </a:r>
            <a:endParaRPr lang="en-US" sz="1700" dirty="0"/>
          </a:p>
        </p:txBody>
      </p:sp>
      <p:sp>
        <p:nvSpPr>
          <p:cNvPr id="24" name="Text 22"/>
          <p:cNvSpPr txBox="1"/>
          <p:nvPr/>
        </p:nvSpPr>
        <p:spPr>
          <a:xfrm>
            <a:off x="6309360" y="4142232"/>
            <a:ext cx="5303520" cy="457200"/>
          </a:xfrm>
          <a:prstGeom prst="rect">
            <a:avLst/>
          </a:prstGeom>
          <a:noFill/>
          <a:ln/>
        </p:spPr>
        <p:txBody>
          <a:bodyPr wrap="square" lIns="0" tIns="0" rIns="0" bIns="0" rtlCol="0" anchor="ctr"/>
          <a:lstStyle/>
          <a:p>
            <a:pPr marL="0" indent="0">
              <a:buNone/>
            </a:pPr>
            <a:r>
              <a:rPr lang="en-US" sz="1400" dirty="0" err="1">
                <a:solidFill>
                  <a:schemeClr val="accent6"/>
                </a:solidFill>
              </a:rPr>
              <a:t>Durasi</a:t>
            </a:r>
            <a:r>
              <a:rPr lang="en-US" sz="1400" dirty="0">
                <a:solidFill>
                  <a:schemeClr val="accent6"/>
                </a:solidFill>
              </a:rPr>
              <a:t> tunggakan, </a:t>
            </a:r>
            <a:r>
              <a:rPr lang="en-US" sz="1400" dirty="0" err="1">
                <a:solidFill>
                  <a:schemeClr val="accent6"/>
                </a:solidFill>
              </a:rPr>
              <a:t>prioritas</a:t>
            </a:r>
            <a:r>
              <a:rPr lang="en-US" sz="1400" dirty="0">
                <a:solidFill>
                  <a:schemeClr val="accent6"/>
                </a:solidFill>
              </a:rPr>
              <a:t> per stakeholder</a:t>
            </a:r>
            <a:endParaRPr lang="en-US" sz="1400" dirty="0"/>
          </a:p>
        </p:txBody>
      </p:sp>
      <p:sp>
        <p:nvSpPr>
          <p:cNvPr id="25" name="pemisah agenda"/>
          <p:cNvSpPr/>
          <p:nvPr/>
        </p:nvSpPr>
        <p:spPr>
          <a:xfrm>
            <a:off x="548640" y="5303520"/>
            <a:ext cx="11064240" cy="0"/>
          </a:xfrm>
          <a:prstGeom prst="line">
            <a:avLst/>
          </a:prstGeom>
          <a:noFill/>
          <a:ln w="9525">
            <a:solidFill>
              <a:srgbClr val="DCE1E8"/>
            </a:solidFill>
            <a:prstDash val="solid"/>
          </a:ln>
        </p:spPr>
        <p:txBody>
          <a:bodyPr/>
          <a:lstStyle/>
          <a:p>
            <a:endParaRPr lang="en-US"/>
          </a:p>
        </p:txBody>
      </p:sp>
      <p:sp>
        <p:nvSpPr>
          <p:cNvPr id="26" name="Text 24"/>
          <p:cNvSpPr txBox="1"/>
          <p:nvPr/>
        </p:nvSpPr>
        <p:spPr>
          <a:xfrm>
            <a:off x="548640" y="4754880"/>
            <a:ext cx="822960" cy="457200"/>
          </a:xfrm>
          <a:prstGeom prst="rect">
            <a:avLst/>
          </a:prstGeom>
          <a:noFill/>
          <a:ln/>
        </p:spPr>
        <p:txBody>
          <a:bodyPr wrap="square" lIns="0" tIns="0" rIns="0" bIns="0" rtlCol="0" anchor="ctr"/>
          <a:lstStyle/>
          <a:p>
            <a:pPr marL="0" indent="0">
              <a:buNone/>
            </a:pPr>
            <a:r>
              <a:rPr lang="en-US" sz="2200" b="1" dirty="0">
                <a:solidFill>
                  <a:schemeClr val="accent2"/>
                </a:solidFill>
              </a:rPr>
              <a:t>06</a:t>
            </a:r>
            <a:endParaRPr lang="en-US" sz="2200" dirty="0"/>
          </a:p>
        </p:txBody>
      </p:sp>
      <p:sp>
        <p:nvSpPr>
          <p:cNvPr id="27" name="Text 25"/>
          <p:cNvSpPr txBox="1"/>
          <p:nvPr/>
        </p:nvSpPr>
        <p:spPr>
          <a:xfrm>
            <a:off x="1463040" y="4754880"/>
            <a:ext cx="4754880" cy="457200"/>
          </a:xfrm>
          <a:prstGeom prst="rect">
            <a:avLst/>
          </a:prstGeom>
          <a:noFill/>
          <a:ln/>
        </p:spPr>
        <p:txBody>
          <a:bodyPr wrap="square" lIns="0" tIns="0" rIns="0" bIns="0" rtlCol="0" anchor="ctr"/>
          <a:lstStyle/>
          <a:p>
            <a:pPr marL="0" indent="0">
              <a:buNone/>
            </a:pPr>
            <a:r>
              <a:rPr lang="en-US" sz="1700" b="1" dirty="0">
                <a:solidFill>
                  <a:schemeClr val="tx2"/>
                </a:solidFill>
              </a:rPr>
              <a:t>Simulasi </a:t>
            </a:r>
            <a:r>
              <a:rPr lang="en-US" sz="1700" b="1" dirty="0" err="1">
                <a:solidFill>
                  <a:schemeClr val="tx2"/>
                </a:solidFill>
              </a:rPr>
              <a:t>pencegahan</a:t>
            </a:r>
            <a:r>
              <a:rPr lang="en-US" sz="1700" b="1" dirty="0">
                <a:solidFill>
                  <a:schemeClr val="tx2"/>
                </a:solidFill>
              </a:rPr>
              <a:t> </a:t>
            </a:r>
            <a:r>
              <a:rPr lang="en-US" sz="1700" b="1" dirty="0" err="1">
                <a:solidFill>
                  <a:schemeClr val="tx2"/>
                </a:solidFill>
              </a:rPr>
              <a:t>peningkatan</a:t>
            </a:r>
            <a:r>
              <a:rPr lang="en-US" sz="1700" b="1" dirty="0">
                <a:solidFill>
                  <a:schemeClr val="tx2"/>
                </a:solidFill>
              </a:rPr>
              <a:t> NPI</a:t>
            </a:r>
            <a:endParaRPr lang="en-US" sz="1700" dirty="0"/>
          </a:p>
        </p:txBody>
      </p:sp>
      <p:sp>
        <p:nvSpPr>
          <p:cNvPr id="28" name="Text 26"/>
          <p:cNvSpPr txBox="1"/>
          <p:nvPr/>
        </p:nvSpPr>
        <p:spPr>
          <a:xfrm>
            <a:off x="6309360" y="4754880"/>
            <a:ext cx="5303520" cy="457200"/>
          </a:xfrm>
          <a:prstGeom prst="rect">
            <a:avLst/>
          </a:prstGeom>
          <a:noFill/>
          <a:ln/>
        </p:spPr>
        <p:txBody>
          <a:bodyPr wrap="square" lIns="0" tIns="0" rIns="0" bIns="0" rtlCol="0" anchor="ctr"/>
          <a:lstStyle/>
          <a:p>
            <a:pPr marL="0" indent="0">
              <a:buNone/>
            </a:pPr>
            <a:r>
              <a:rPr lang="en-US" sz="1400" dirty="0" err="1">
                <a:solidFill>
                  <a:schemeClr val="accent6"/>
                </a:solidFill>
              </a:rPr>
              <a:t>Skenario</a:t>
            </a:r>
            <a:r>
              <a:rPr lang="en-US" sz="1400" dirty="0">
                <a:solidFill>
                  <a:schemeClr val="accent6"/>
                </a:solidFill>
              </a:rPr>
              <a:t> pilot project </a:t>
            </a:r>
            <a:r>
              <a:rPr lang="en-US" sz="1400" dirty="0" err="1">
                <a:solidFill>
                  <a:schemeClr val="accent6"/>
                </a:solidFill>
              </a:rPr>
              <a:t>autodebit</a:t>
            </a:r>
            <a:endParaRPr lang="en-US" sz="1400" dirty="0"/>
          </a:p>
        </p:txBody>
      </p:sp>
      <p:sp>
        <p:nvSpPr>
          <p:cNvPr id="29" name="pemisah agenda"/>
          <p:cNvSpPr/>
          <p:nvPr/>
        </p:nvSpPr>
        <p:spPr>
          <a:xfrm>
            <a:off x="548640" y="5916168"/>
            <a:ext cx="11064240" cy="0"/>
          </a:xfrm>
          <a:prstGeom prst="line">
            <a:avLst/>
          </a:prstGeom>
          <a:noFill/>
          <a:ln w="9525">
            <a:solidFill>
              <a:srgbClr val="DCE1E8"/>
            </a:solidFill>
            <a:prstDash val="solid"/>
          </a:ln>
        </p:spPr>
        <p:txBody>
          <a:bodyPr/>
          <a:lstStyle/>
          <a:p>
            <a:endParaRPr lang="en-US"/>
          </a:p>
        </p:txBody>
      </p:sp>
      <p:sp>
        <p:nvSpPr>
          <p:cNvPr id="30" name="Text 28"/>
          <p:cNvSpPr txBox="1"/>
          <p:nvPr/>
        </p:nvSpPr>
        <p:spPr>
          <a:xfrm>
            <a:off x="548640" y="5367528"/>
            <a:ext cx="822960" cy="457200"/>
          </a:xfrm>
          <a:prstGeom prst="rect">
            <a:avLst/>
          </a:prstGeom>
          <a:noFill/>
          <a:ln/>
        </p:spPr>
        <p:txBody>
          <a:bodyPr wrap="square" lIns="0" tIns="0" rIns="0" bIns="0" rtlCol="0" anchor="ctr"/>
          <a:lstStyle/>
          <a:p>
            <a:pPr marL="0" indent="0">
              <a:buNone/>
            </a:pPr>
            <a:r>
              <a:rPr lang="en-US" sz="2200" b="1" dirty="0">
                <a:solidFill>
                  <a:schemeClr val="accent2"/>
                </a:solidFill>
              </a:rPr>
              <a:t>07</a:t>
            </a:r>
            <a:endParaRPr lang="en-US" sz="2200" dirty="0"/>
          </a:p>
        </p:txBody>
      </p:sp>
      <p:sp>
        <p:nvSpPr>
          <p:cNvPr id="31" name="Text 29"/>
          <p:cNvSpPr txBox="1"/>
          <p:nvPr/>
        </p:nvSpPr>
        <p:spPr>
          <a:xfrm>
            <a:off x="1463040" y="5367528"/>
            <a:ext cx="4754880" cy="457200"/>
          </a:xfrm>
          <a:prstGeom prst="rect">
            <a:avLst/>
          </a:prstGeom>
          <a:noFill/>
          <a:ln/>
        </p:spPr>
        <p:txBody>
          <a:bodyPr wrap="square" lIns="0" tIns="0" rIns="0" bIns="0" rtlCol="0" anchor="ctr"/>
          <a:lstStyle/>
          <a:p>
            <a:pPr marL="0" indent="0">
              <a:buNone/>
            </a:pPr>
            <a:r>
              <a:rPr lang="en-US" sz="1700" b="1" dirty="0">
                <a:solidFill>
                  <a:schemeClr val="tx2"/>
                </a:solidFill>
              </a:rPr>
              <a:t>Rekomendasi, roadmap &amp; keputusan</a:t>
            </a:r>
            <a:endParaRPr lang="en-US" sz="1700" dirty="0"/>
          </a:p>
        </p:txBody>
      </p:sp>
      <p:sp>
        <p:nvSpPr>
          <p:cNvPr id="32" name="Text 30"/>
          <p:cNvSpPr txBox="1"/>
          <p:nvPr/>
        </p:nvSpPr>
        <p:spPr>
          <a:xfrm>
            <a:off x="6309360" y="5367528"/>
            <a:ext cx="5303520" cy="457200"/>
          </a:xfrm>
          <a:prstGeom prst="rect">
            <a:avLst/>
          </a:prstGeom>
          <a:noFill/>
          <a:ln/>
        </p:spPr>
        <p:txBody>
          <a:bodyPr wrap="square" lIns="0" tIns="0" rIns="0" bIns="0" rtlCol="0" anchor="ctr"/>
          <a:lstStyle/>
          <a:p>
            <a:pPr marL="0" indent="0">
              <a:buNone/>
            </a:pPr>
            <a:r>
              <a:rPr lang="en-US" sz="1400" dirty="0">
                <a:solidFill>
                  <a:schemeClr val="accent6"/>
                </a:solidFill>
              </a:rPr>
              <a:t>Peran stakeholder, KPI, dan keputusan manajemen</a:t>
            </a:r>
            <a:endParaRPr lang="en-US" sz="1400" dirty="0"/>
          </a:p>
        </p:txBody>
      </p:sp>
      <p:sp>
        <p:nvSpPr>
          <p:cNvPr id="33"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EXECUTIVE SUMMARY</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NPI </a:t>
            </a:r>
            <a:r>
              <a:rPr lang="en-US" sz="2600" b="1" dirty="0" err="1">
                <a:solidFill>
                  <a:schemeClr val="tx2"/>
                </a:solidFill>
              </a:rPr>
              <a:t>tinggi</a:t>
            </a:r>
            <a:r>
              <a:rPr lang="id-ID" sz="2600" b="1" dirty="0">
                <a:solidFill>
                  <a:schemeClr val="tx2"/>
                </a:solidFill>
              </a:rPr>
              <a:t>:</a:t>
            </a:r>
            <a:r>
              <a:rPr lang="en-US" sz="2600" b="1" dirty="0">
                <a:solidFill>
                  <a:schemeClr val="tx2"/>
                </a:solidFill>
              </a:rPr>
              <a:t> autodebit </a:t>
            </a:r>
            <a:r>
              <a:rPr lang="en-US" sz="2600" b="1" dirty="0" err="1">
                <a:solidFill>
                  <a:schemeClr val="tx2"/>
                </a:solidFill>
              </a:rPr>
              <a:t>menjadi</a:t>
            </a:r>
            <a:r>
              <a:rPr lang="en-US" sz="2600" b="1" dirty="0">
                <a:solidFill>
                  <a:schemeClr val="tx2"/>
                </a:solidFill>
              </a:rPr>
              <a:t> </a:t>
            </a:r>
            <a:r>
              <a:rPr lang="id-ID" sz="2600" b="1" dirty="0">
                <a:solidFill>
                  <a:schemeClr val="tx2"/>
                </a:solidFill>
              </a:rPr>
              <a:t>pilihan</a:t>
            </a:r>
            <a:r>
              <a:rPr lang="en-US" sz="2600" b="1" dirty="0">
                <a:solidFill>
                  <a:schemeClr val="tx2"/>
                </a:solidFill>
              </a:rPr>
              <a:t> utama untuk diuji </a:t>
            </a:r>
            <a:r>
              <a:rPr lang="en-US" sz="2600" b="1" dirty="0" err="1">
                <a:solidFill>
                  <a:schemeClr val="tx2"/>
                </a:solidFill>
              </a:rPr>
              <a:t>lewat</a:t>
            </a:r>
            <a:r>
              <a:rPr lang="en-US" sz="2600" b="1" dirty="0">
                <a:solidFill>
                  <a:schemeClr val="tx2"/>
                </a:solidFill>
              </a:rPr>
              <a:t> pilot</a:t>
            </a:r>
            <a:r>
              <a:rPr lang="id-ID" sz="2600" b="1" dirty="0">
                <a:solidFill>
                  <a:schemeClr val="tx2"/>
                </a:solidFill>
              </a:rPr>
              <a:t> project</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endParaRPr lang="en-US" sz="1000" dirty="0"/>
          </a:p>
        </p:txBody>
      </p:sp>
      <p:sp>
        <p:nvSpPr>
          <p:cNvPr id="5" name="kpi invoice utama berstatus Unpaid/Overdue (272.545 dari 768.978)"/>
          <p:cNvSpPr/>
          <p:nvPr/>
        </p:nvSpPr>
        <p:spPr>
          <a:xfrm>
            <a:off x="548640" y="1645920"/>
            <a:ext cx="2633472" cy="1463040"/>
          </a:xfrm>
          <a:prstGeom prst="roundRect">
            <a:avLst>
              <a:gd name="adj" fmla="val 5000"/>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6" name="Text 4"/>
          <p:cNvSpPr txBox="1"/>
          <p:nvPr/>
        </p:nvSpPr>
        <p:spPr>
          <a:xfrm>
            <a:off x="777240" y="1783080"/>
            <a:ext cx="2176272" cy="658368"/>
          </a:xfrm>
          <a:prstGeom prst="rect">
            <a:avLst/>
          </a:prstGeom>
          <a:noFill/>
          <a:ln/>
        </p:spPr>
        <p:txBody>
          <a:bodyPr wrap="square" lIns="0" tIns="0" rIns="0" bIns="0" rtlCol="0" anchor="ctr">
            <a:normAutofit/>
          </a:bodyPr>
          <a:lstStyle/>
          <a:p>
            <a:pPr marL="0" indent="0">
              <a:buNone/>
            </a:pPr>
            <a:r>
              <a:rPr lang="en-US" sz="2800" b="1" dirty="0">
                <a:solidFill>
                  <a:schemeClr val="tx2"/>
                </a:solidFill>
              </a:rPr>
              <a:t>35,44%</a:t>
            </a:r>
            <a:endParaRPr lang="en-US" sz="2800" dirty="0"/>
          </a:p>
        </p:txBody>
      </p:sp>
      <p:sp>
        <p:nvSpPr>
          <p:cNvPr id="7" name="Text 5"/>
          <p:cNvSpPr txBox="1"/>
          <p:nvPr/>
        </p:nvSpPr>
        <p:spPr>
          <a:xfrm>
            <a:off x="777240" y="2468880"/>
            <a:ext cx="2176272" cy="530352"/>
          </a:xfrm>
          <a:prstGeom prst="rect">
            <a:avLst/>
          </a:prstGeom>
          <a:noFill/>
          <a:ln/>
        </p:spPr>
        <p:txBody>
          <a:bodyPr wrap="square" lIns="0" tIns="0" rIns="0" bIns="0" rtlCol="0" anchor="t">
            <a:normAutofit lnSpcReduction="10000"/>
          </a:bodyPr>
          <a:lstStyle/>
          <a:p>
            <a:pPr marL="0" indent="0">
              <a:buNone/>
            </a:pPr>
            <a:r>
              <a:rPr lang="en-US" sz="1200" dirty="0">
                <a:solidFill>
                  <a:schemeClr val="accent6"/>
                </a:solidFill>
              </a:rPr>
              <a:t>invoice utama berstatus Unpaid/Overdue (272.545 dari 768.978)</a:t>
            </a:r>
            <a:endParaRPr lang="en-US" sz="1200" dirty="0"/>
          </a:p>
        </p:txBody>
      </p:sp>
      <p:sp>
        <p:nvSpPr>
          <p:cNvPr id="8" name="kpi nominal NPI analisis (bruto Rp224,64 miliar)"/>
          <p:cNvSpPr/>
          <p:nvPr/>
        </p:nvSpPr>
        <p:spPr>
          <a:xfrm>
            <a:off x="3364992" y="1645920"/>
            <a:ext cx="2633472" cy="1463040"/>
          </a:xfrm>
          <a:prstGeom prst="roundRect">
            <a:avLst>
              <a:gd name="adj" fmla="val 5000"/>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9" name="Text 7"/>
          <p:cNvSpPr txBox="1"/>
          <p:nvPr/>
        </p:nvSpPr>
        <p:spPr>
          <a:xfrm>
            <a:off x="3593592" y="1783080"/>
            <a:ext cx="2176272" cy="658368"/>
          </a:xfrm>
          <a:prstGeom prst="rect">
            <a:avLst/>
          </a:prstGeom>
          <a:noFill/>
          <a:ln/>
        </p:spPr>
        <p:txBody>
          <a:bodyPr wrap="square" lIns="0" tIns="0" rIns="0" bIns="0" rtlCol="0" anchor="ctr">
            <a:normAutofit/>
          </a:bodyPr>
          <a:lstStyle/>
          <a:p>
            <a:pPr marL="0" indent="0">
              <a:buNone/>
            </a:pPr>
            <a:r>
              <a:rPr lang="en-US" sz="2800" b="1" dirty="0">
                <a:solidFill>
                  <a:schemeClr val="tx2"/>
                </a:solidFill>
              </a:rPr>
              <a:t>Rp176,34 M</a:t>
            </a:r>
            <a:endParaRPr lang="en-US" sz="2800" dirty="0"/>
          </a:p>
        </p:txBody>
      </p:sp>
      <p:sp>
        <p:nvSpPr>
          <p:cNvPr id="10" name="Text 8"/>
          <p:cNvSpPr txBox="1"/>
          <p:nvPr/>
        </p:nvSpPr>
        <p:spPr>
          <a:xfrm>
            <a:off x="3593592" y="2468880"/>
            <a:ext cx="2176272" cy="530352"/>
          </a:xfrm>
          <a:prstGeom prst="rect">
            <a:avLst/>
          </a:prstGeom>
          <a:noFill/>
          <a:ln/>
        </p:spPr>
        <p:txBody>
          <a:bodyPr wrap="square" lIns="0" tIns="0" rIns="0" bIns="0" rtlCol="0" anchor="t">
            <a:normAutofit/>
          </a:bodyPr>
          <a:lstStyle/>
          <a:p>
            <a:pPr marL="0" indent="0">
              <a:buNone/>
            </a:pPr>
            <a:r>
              <a:rPr lang="en-US" sz="1200" dirty="0">
                <a:solidFill>
                  <a:schemeClr val="accent6"/>
                </a:solidFill>
              </a:rPr>
              <a:t>nominal NPI analisis (bruto Rp224,64 miliar)</a:t>
            </a:r>
            <a:endParaRPr lang="en-US" sz="1200" dirty="0"/>
          </a:p>
        </p:txBody>
      </p:sp>
      <p:sp>
        <p:nvSpPr>
          <p:cNvPr id="11" name="kpi NPI tagihan tanpa vs dengan autodebit"/>
          <p:cNvSpPr/>
          <p:nvPr/>
        </p:nvSpPr>
        <p:spPr>
          <a:xfrm>
            <a:off x="6181344" y="1645920"/>
            <a:ext cx="2633472" cy="1463040"/>
          </a:xfrm>
          <a:prstGeom prst="roundRect">
            <a:avLst>
              <a:gd name="adj" fmla="val 5000"/>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2" name="Text 10"/>
          <p:cNvSpPr txBox="1"/>
          <p:nvPr/>
        </p:nvSpPr>
        <p:spPr>
          <a:xfrm>
            <a:off x="6409944" y="1783080"/>
            <a:ext cx="2176272" cy="658368"/>
          </a:xfrm>
          <a:prstGeom prst="rect">
            <a:avLst/>
          </a:prstGeom>
          <a:noFill/>
          <a:ln/>
        </p:spPr>
        <p:txBody>
          <a:bodyPr wrap="square" lIns="0" tIns="0" rIns="0" bIns="0" rtlCol="0" anchor="ctr">
            <a:normAutofit/>
          </a:bodyPr>
          <a:lstStyle/>
          <a:p>
            <a:pPr marL="0" indent="0">
              <a:buNone/>
            </a:pPr>
            <a:r>
              <a:rPr lang="en-US" sz="2200" b="1" dirty="0">
                <a:solidFill>
                  <a:schemeClr val="accent3"/>
                </a:solidFill>
              </a:rPr>
              <a:t>39,71% vs 9,93%</a:t>
            </a:r>
            <a:endParaRPr lang="en-US" sz="2200" dirty="0"/>
          </a:p>
        </p:txBody>
      </p:sp>
      <p:sp>
        <p:nvSpPr>
          <p:cNvPr id="13" name="Text 11"/>
          <p:cNvSpPr txBox="1"/>
          <p:nvPr/>
        </p:nvSpPr>
        <p:spPr>
          <a:xfrm>
            <a:off x="6409944" y="2468880"/>
            <a:ext cx="2176272" cy="530352"/>
          </a:xfrm>
          <a:prstGeom prst="rect">
            <a:avLst/>
          </a:prstGeom>
          <a:noFill/>
          <a:ln/>
        </p:spPr>
        <p:txBody>
          <a:bodyPr wrap="square" lIns="0" tIns="0" rIns="0" bIns="0" rtlCol="0" anchor="t">
            <a:normAutofit/>
          </a:bodyPr>
          <a:lstStyle/>
          <a:p>
            <a:pPr marL="0" indent="0">
              <a:buNone/>
            </a:pPr>
            <a:r>
              <a:rPr lang="en-US" sz="1200" dirty="0">
                <a:solidFill>
                  <a:schemeClr val="accent6"/>
                </a:solidFill>
              </a:rPr>
              <a:t>NPI tagihan tanpa vs dengan autodebit</a:t>
            </a:r>
            <a:endParaRPr lang="en-US" sz="1200" dirty="0"/>
          </a:p>
        </p:txBody>
      </p:sp>
      <p:sp>
        <p:nvSpPr>
          <p:cNvPr id="14" name="kpi nominal NPI analisis berumur lebih dari 90 hari"/>
          <p:cNvSpPr/>
          <p:nvPr/>
        </p:nvSpPr>
        <p:spPr>
          <a:xfrm>
            <a:off x="8997696" y="1645920"/>
            <a:ext cx="2633472" cy="1463040"/>
          </a:xfrm>
          <a:prstGeom prst="roundRect">
            <a:avLst>
              <a:gd name="adj" fmla="val 5000"/>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5" name="Text 13"/>
          <p:cNvSpPr txBox="1"/>
          <p:nvPr/>
        </p:nvSpPr>
        <p:spPr>
          <a:xfrm>
            <a:off x="9226296" y="1783080"/>
            <a:ext cx="2176272" cy="658368"/>
          </a:xfrm>
          <a:prstGeom prst="rect">
            <a:avLst/>
          </a:prstGeom>
          <a:noFill/>
          <a:ln/>
        </p:spPr>
        <p:txBody>
          <a:bodyPr wrap="square" lIns="0" tIns="0" rIns="0" bIns="0" rtlCol="0" anchor="ctr">
            <a:normAutofit/>
          </a:bodyPr>
          <a:lstStyle/>
          <a:p>
            <a:pPr marL="0" indent="0">
              <a:buNone/>
            </a:pPr>
            <a:r>
              <a:rPr lang="en-US" sz="2800" b="1" dirty="0">
                <a:solidFill>
                  <a:schemeClr val="accent4"/>
                </a:solidFill>
              </a:rPr>
              <a:t>88%</a:t>
            </a:r>
            <a:endParaRPr lang="en-US" sz="2800" dirty="0"/>
          </a:p>
        </p:txBody>
      </p:sp>
      <p:sp>
        <p:nvSpPr>
          <p:cNvPr id="16" name="Text 14"/>
          <p:cNvSpPr txBox="1"/>
          <p:nvPr/>
        </p:nvSpPr>
        <p:spPr>
          <a:xfrm>
            <a:off x="9226296" y="2468880"/>
            <a:ext cx="2176272" cy="530352"/>
          </a:xfrm>
          <a:prstGeom prst="rect">
            <a:avLst/>
          </a:prstGeom>
          <a:noFill/>
          <a:ln/>
        </p:spPr>
        <p:txBody>
          <a:bodyPr wrap="square" lIns="0" tIns="0" rIns="0" bIns="0" rtlCol="0" anchor="t">
            <a:normAutofit/>
          </a:bodyPr>
          <a:lstStyle/>
          <a:p>
            <a:pPr marL="0" indent="0">
              <a:buNone/>
            </a:pPr>
            <a:r>
              <a:rPr lang="en-US" sz="1200" dirty="0">
                <a:solidFill>
                  <a:schemeClr val="accent6"/>
                </a:solidFill>
              </a:rPr>
              <a:t>nominal NPI </a:t>
            </a:r>
            <a:r>
              <a:rPr lang="en-US" sz="1200" dirty="0" err="1">
                <a:solidFill>
                  <a:schemeClr val="accent6"/>
                </a:solidFill>
              </a:rPr>
              <a:t>berumur</a:t>
            </a:r>
            <a:r>
              <a:rPr lang="en-US" sz="1200" dirty="0">
                <a:solidFill>
                  <a:schemeClr val="accent6"/>
                </a:solidFill>
              </a:rPr>
              <a:t> lebih dari 90 hari</a:t>
            </a:r>
            <a:endParaRPr lang="en-US" sz="1200" dirty="0"/>
          </a:p>
        </p:txBody>
      </p:sp>
      <p:sp>
        <p:nvSpPr>
          <p:cNvPr id="17" name="Text 15"/>
          <p:cNvSpPr txBox="1"/>
          <p:nvPr/>
        </p:nvSpPr>
        <p:spPr>
          <a:xfrm>
            <a:off x="548640" y="3383280"/>
            <a:ext cx="4572000" cy="274320"/>
          </a:xfrm>
          <a:prstGeom prst="rect">
            <a:avLst/>
          </a:prstGeom>
          <a:noFill/>
          <a:ln/>
        </p:spPr>
        <p:txBody>
          <a:bodyPr wrap="square" lIns="0" tIns="0" rIns="0" bIns="0" rtlCol="0" anchor="t"/>
          <a:lstStyle/>
          <a:p>
            <a:pPr marL="0" indent="0">
              <a:buNone/>
            </a:pPr>
            <a:r>
              <a:rPr lang="en-US" sz="1100" b="1" kern="0" spc="100" dirty="0">
                <a:solidFill>
                  <a:schemeClr val="accent3"/>
                </a:solidFill>
              </a:rPr>
              <a:t>TIGA PESAN UTAMA</a:t>
            </a:r>
            <a:endParaRPr lang="en-US" sz="1100" dirty="0"/>
          </a:p>
        </p:txBody>
      </p:sp>
      <p:sp>
        <p:nvSpPr>
          <p:cNvPr id="18" name="penanda 1"/>
          <p:cNvSpPr txBox="1"/>
          <p:nvPr/>
        </p:nvSpPr>
        <p:spPr>
          <a:xfrm>
            <a:off x="548640" y="3776472"/>
            <a:ext cx="365760" cy="365760"/>
          </a:xfrm>
          <a:prstGeom prst="ellipse">
            <a:avLst/>
          </a:prstGeom>
          <a:solidFill>
            <a:schemeClr val="tx2"/>
          </a:solid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9" name="Text 17"/>
          <p:cNvSpPr txBox="1"/>
          <p:nvPr/>
        </p:nvSpPr>
        <p:spPr>
          <a:xfrm>
            <a:off x="1051560" y="3730752"/>
            <a:ext cx="2103120" cy="731520"/>
          </a:xfrm>
          <a:prstGeom prst="rect">
            <a:avLst/>
          </a:prstGeom>
          <a:noFill/>
          <a:ln/>
        </p:spPr>
        <p:txBody>
          <a:bodyPr wrap="square" lIns="0" tIns="0" rIns="0" bIns="0" rtlCol="0" anchor="t"/>
          <a:lstStyle/>
          <a:p>
            <a:pPr marL="0" indent="0">
              <a:buNone/>
            </a:pPr>
            <a:r>
              <a:rPr lang="en-US" sz="1400" b="1" dirty="0">
                <a:solidFill>
                  <a:schemeClr val="tx2"/>
                </a:solidFill>
              </a:rPr>
              <a:t>Skala masalah</a:t>
            </a:r>
            <a:endParaRPr lang="en-US" sz="1400" dirty="0"/>
          </a:p>
        </p:txBody>
      </p:sp>
      <p:sp>
        <p:nvSpPr>
          <p:cNvPr id="20" name="Text 18"/>
          <p:cNvSpPr txBox="1"/>
          <p:nvPr/>
        </p:nvSpPr>
        <p:spPr>
          <a:xfrm>
            <a:off x="3108960" y="3730752"/>
            <a:ext cx="4754880" cy="777240"/>
          </a:xfrm>
          <a:prstGeom prst="rect">
            <a:avLst/>
          </a:prstGeom>
          <a:noFill/>
          <a:ln/>
        </p:spPr>
        <p:txBody>
          <a:bodyPr wrap="square" lIns="0" tIns="0" rIns="0" bIns="0" rtlCol="0" anchor="t"/>
          <a:lstStyle/>
          <a:p>
            <a:pPr marL="0" indent="0">
              <a:buNone/>
            </a:pPr>
            <a:r>
              <a:rPr lang="en-US" sz="1300" dirty="0">
                <a:solidFill>
                  <a:schemeClr val="tx1"/>
                </a:solidFill>
              </a:rPr>
              <a:t>Lebih dari sepertiga invoice utama belum </a:t>
            </a:r>
            <a:r>
              <a:rPr lang="en-US" sz="1300" dirty="0" err="1">
                <a:solidFill>
                  <a:schemeClr val="tx1"/>
                </a:solidFill>
              </a:rPr>
              <a:t>dibayar</a:t>
            </a:r>
            <a:r>
              <a:rPr lang="en-US" sz="1300" dirty="0">
                <a:solidFill>
                  <a:schemeClr val="tx1"/>
                </a:solidFill>
              </a:rPr>
              <a:t> </a:t>
            </a:r>
            <a:r>
              <a:rPr lang="en-US" sz="1300" dirty="0" err="1"/>
              <a:t>sampai</a:t>
            </a:r>
            <a:r>
              <a:rPr lang="en-US" sz="1300" dirty="0"/>
              <a:t> 27 Jan 2025.</a:t>
            </a:r>
            <a:r>
              <a:rPr lang="en-US" sz="1300" dirty="0">
                <a:solidFill>
                  <a:schemeClr val="tx1"/>
                </a:solidFill>
              </a:rPr>
              <a:t> </a:t>
            </a:r>
            <a:r>
              <a:rPr lang="en-US" sz="1300" dirty="0" err="1"/>
              <a:t>M</a:t>
            </a:r>
            <a:r>
              <a:rPr lang="en-US" sz="1300" dirty="0" err="1">
                <a:solidFill>
                  <a:schemeClr val="tx1"/>
                </a:solidFill>
              </a:rPr>
              <a:t>ayoritas</a:t>
            </a:r>
            <a:r>
              <a:rPr lang="en-US" sz="1300" dirty="0">
                <a:solidFill>
                  <a:schemeClr val="tx1"/>
                </a:solidFill>
              </a:rPr>
              <a:t> nominal </a:t>
            </a:r>
            <a:r>
              <a:rPr lang="en-US" sz="1300" dirty="0" err="1">
                <a:solidFill>
                  <a:schemeClr val="tx1"/>
                </a:solidFill>
              </a:rPr>
              <a:t>berumur</a:t>
            </a:r>
            <a:r>
              <a:rPr lang="en-US" sz="1300" dirty="0">
                <a:solidFill>
                  <a:schemeClr val="tx1"/>
                </a:solidFill>
              </a:rPr>
              <a:t> &gt; 90 </a:t>
            </a:r>
            <a:r>
              <a:rPr lang="en-US" sz="1300" dirty="0" err="1">
                <a:solidFill>
                  <a:schemeClr val="tx1"/>
                </a:solidFill>
              </a:rPr>
              <a:t>hari</a:t>
            </a:r>
            <a:r>
              <a:rPr lang="en-US" sz="1300" dirty="0">
                <a:solidFill>
                  <a:schemeClr val="tx1"/>
                </a:solidFill>
              </a:rPr>
              <a:t>.</a:t>
            </a:r>
            <a:endParaRPr lang="en-US" sz="1300" dirty="0"/>
          </a:p>
        </p:txBody>
      </p:sp>
      <p:sp>
        <p:nvSpPr>
          <p:cNvPr id="21" name="penanda 2"/>
          <p:cNvSpPr txBox="1"/>
          <p:nvPr/>
        </p:nvSpPr>
        <p:spPr>
          <a:xfrm>
            <a:off x="548640" y="4617720"/>
            <a:ext cx="365760" cy="365760"/>
          </a:xfrm>
          <a:prstGeom prst="ellipse">
            <a:avLst/>
          </a:prstGeom>
          <a:solidFill>
            <a:schemeClr val="accent2"/>
          </a:solidFill>
          <a:ln/>
        </p:spPr>
        <p:txBody>
          <a:bodyPr wrap="square" lIns="0" tIns="0" rIns="0" bIns="0" rtlCol="0" anchor="ctr"/>
          <a:lstStyle/>
          <a:p>
            <a:pPr marL="0" indent="0" algn="ctr">
              <a:buNone/>
            </a:pPr>
            <a:r>
              <a:rPr lang="en-US" sz="1300" b="1" dirty="0">
                <a:solidFill>
                  <a:schemeClr val="tx2"/>
                </a:solidFill>
              </a:rPr>
              <a:t>2</a:t>
            </a:r>
            <a:endParaRPr lang="en-US" sz="1300" dirty="0"/>
          </a:p>
        </p:txBody>
      </p:sp>
      <p:sp>
        <p:nvSpPr>
          <p:cNvPr id="22" name="Text 20"/>
          <p:cNvSpPr txBox="1"/>
          <p:nvPr/>
        </p:nvSpPr>
        <p:spPr>
          <a:xfrm>
            <a:off x="1051560" y="4572000"/>
            <a:ext cx="2103120" cy="731520"/>
          </a:xfrm>
          <a:prstGeom prst="rect">
            <a:avLst/>
          </a:prstGeom>
          <a:noFill/>
          <a:ln/>
        </p:spPr>
        <p:txBody>
          <a:bodyPr wrap="square" lIns="0" tIns="0" rIns="0" bIns="0" rtlCol="0" anchor="t"/>
          <a:lstStyle/>
          <a:p>
            <a:pPr marL="0" indent="0">
              <a:buNone/>
            </a:pPr>
            <a:r>
              <a:rPr lang="en-US" sz="1400" b="1" dirty="0">
                <a:solidFill>
                  <a:schemeClr val="tx2"/>
                </a:solidFill>
              </a:rPr>
              <a:t>Faktor paling berkaitan</a:t>
            </a:r>
            <a:endParaRPr lang="en-US" sz="1400" dirty="0"/>
          </a:p>
        </p:txBody>
      </p:sp>
      <p:sp>
        <p:nvSpPr>
          <p:cNvPr id="23" name="Text 21"/>
          <p:cNvSpPr txBox="1"/>
          <p:nvPr/>
        </p:nvSpPr>
        <p:spPr>
          <a:xfrm>
            <a:off x="3108535" y="4507992"/>
            <a:ext cx="4754880" cy="448056"/>
          </a:xfrm>
          <a:prstGeom prst="rect">
            <a:avLst/>
          </a:prstGeom>
          <a:noFill/>
          <a:ln/>
        </p:spPr>
        <p:txBody>
          <a:bodyPr wrap="square" lIns="0" tIns="0" rIns="0" bIns="0" rtlCol="0" anchor="t"/>
          <a:lstStyle/>
          <a:p>
            <a:pPr marL="0" indent="0">
              <a:buNone/>
            </a:pPr>
            <a:r>
              <a:rPr lang="en-US" sz="1300" dirty="0"/>
              <a:t>NPI </a:t>
            </a:r>
            <a:r>
              <a:rPr lang="en-US" sz="1300" dirty="0" err="1"/>
              <a:t>tanpa</a:t>
            </a:r>
            <a:r>
              <a:rPr lang="en-US" sz="1300" dirty="0"/>
              <a:t> </a:t>
            </a:r>
            <a:r>
              <a:rPr lang="en-US" sz="1300" dirty="0" err="1"/>
              <a:t>autodebit</a:t>
            </a:r>
            <a:r>
              <a:rPr lang="en-US" sz="1300" dirty="0"/>
              <a:t> </a:t>
            </a:r>
            <a:r>
              <a:rPr lang="en-US" sz="1300" dirty="0" err="1"/>
              <a:t>memberikan</a:t>
            </a:r>
            <a:r>
              <a:rPr lang="en-US" sz="1300" dirty="0"/>
              <a:t> financial exposure </a:t>
            </a:r>
            <a:r>
              <a:rPr lang="en-US" sz="1300" dirty="0" err="1"/>
              <a:t>dengan</a:t>
            </a:r>
            <a:r>
              <a:rPr lang="en-US" sz="1300" dirty="0"/>
              <a:t> nominal NPI </a:t>
            </a:r>
            <a:r>
              <a:rPr lang="en-US" sz="1300" dirty="0" err="1"/>
              <a:t>tertinggi</a:t>
            </a:r>
            <a:r>
              <a:rPr lang="en-US" sz="1300" dirty="0"/>
              <a:t> (Rp 169,29 M)</a:t>
            </a:r>
          </a:p>
        </p:txBody>
      </p:sp>
      <p:sp>
        <p:nvSpPr>
          <p:cNvPr id="24" name="penanda 3"/>
          <p:cNvSpPr txBox="1"/>
          <p:nvPr/>
        </p:nvSpPr>
        <p:spPr>
          <a:xfrm>
            <a:off x="548640" y="5458968"/>
            <a:ext cx="365760" cy="365760"/>
          </a:xfrm>
          <a:prstGeom prst="ellipse">
            <a:avLst/>
          </a:prstGeom>
          <a:solidFill>
            <a:schemeClr val="tx2"/>
          </a:solid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25" name="Text 23"/>
          <p:cNvSpPr txBox="1"/>
          <p:nvPr/>
        </p:nvSpPr>
        <p:spPr>
          <a:xfrm>
            <a:off x="1051560" y="5413248"/>
            <a:ext cx="2103120" cy="731520"/>
          </a:xfrm>
          <a:prstGeom prst="rect">
            <a:avLst/>
          </a:prstGeom>
          <a:noFill/>
          <a:ln/>
        </p:spPr>
        <p:txBody>
          <a:bodyPr wrap="square" lIns="0" tIns="0" rIns="0" bIns="0" rtlCol="0" anchor="t"/>
          <a:lstStyle/>
          <a:p>
            <a:pPr marL="0" indent="0">
              <a:buNone/>
            </a:pPr>
            <a:r>
              <a:rPr lang="en-US" sz="1400" b="1" dirty="0">
                <a:solidFill>
                  <a:schemeClr val="tx2"/>
                </a:solidFill>
              </a:rPr>
              <a:t>Fokus dua kuartal</a:t>
            </a:r>
            <a:endParaRPr lang="en-US" sz="1400" dirty="0"/>
          </a:p>
        </p:txBody>
      </p:sp>
      <p:sp>
        <p:nvSpPr>
          <p:cNvPr id="26" name="Text 24"/>
          <p:cNvSpPr txBox="1"/>
          <p:nvPr/>
        </p:nvSpPr>
        <p:spPr>
          <a:xfrm>
            <a:off x="3108960" y="5413248"/>
            <a:ext cx="4754880" cy="438912"/>
          </a:xfrm>
          <a:prstGeom prst="rect">
            <a:avLst/>
          </a:prstGeom>
          <a:noFill/>
          <a:ln/>
        </p:spPr>
        <p:txBody>
          <a:bodyPr wrap="square" lIns="0" tIns="0" rIns="0" bIns="0" rtlCol="0" anchor="t"/>
          <a:lstStyle/>
          <a:p>
            <a:pPr marL="0" indent="0">
              <a:buNone/>
            </a:pPr>
            <a:r>
              <a:rPr lang="en-US" sz="1300" dirty="0">
                <a:solidFill>
                  <a:schemeClr val="tx1"/>
                </a:solidFill>
              </a:rPr>
              <a:t>Mencegah tagihan baru menjadi NPI (± Rp7,0 miliar per </a:t>
            </a:r>
            <a:r>
              <a:rPr lang="en-US" sz="1300" dirty="0" err="1">
                <a:solidFill>
                  <a:schemeClr val="tx1"/>
                </a:solidFill>
              </a:rPr>
              <a:t>bulan</a:t>
            </a:r>
            <a:r>
              <a:rPr lang="en-US" sz="1300" dirty="0">
                <a:solidFill>
                  <a:schemeClr val="tx1"/>
                </a:solidFill>
              </a:rPr>
              <a:t>).</a:t>
            </a:r>
            <a:endParaRPr lang="en-US" sz="1300" dirty="0"/>
          </a:p>
        </p:txBody>
      </p:sp>
      <p:sp>
        <p:nvSpPr>
          <p:cNvPr id="27" name="panel keputusan"/>
          <p:cNvSpPr/>
          <p:nvPr/>
        </p:nvSpPr>
        <p:spPr>
          <a:xfrm>
            <a:off x="8229600" y="3383280"/>
            <a:ext cx="3410712" cy="2570953"/>
          </a:xfrm>
          <a:prstGeom prst="roundRect">
            <a:avLst>
              <a:gd name="adj" fmla="val 2581"/>
            </a:avLst>
          </a:prstGeom>
          <a:solidFill>
            <a:schemeClr val="tx2"/>
          </a:solidFill>
          <a:ln/>
        </p:spPr>
        <p:txBody>
          <a:bodyPr/>
          <a:lstStyle/>
          <a:p>
            <a:endParaRPr lang="en-US"/>
          </a:p>
        </p:txBody>
      </p:sp>
      <p:sp>
        <p:nvSpPr>
          <p:cNvPr id="28" name="Text 26"/>
          <p:cNvSpPr txBox="1"/>
          <p:nvPr/>
        </p:nvSpPr>
        <p:spPr>
          <a:xfrm>
            <a:off x="8503920" y="3566160"/>
            <a:ext cx="2926080" cy="274320"/>
          </a:xfrm>
          <a:prstGeom prst="rect">
            <a:avLst/>
          </a:prstGeom>
          <a:noFill/>
          <a:ln/>
        </p:spPr>
        <p:txBody>
          <a:bodyPr wrap="square" lIns="0" tIns="0" rIns="0" bIns="0" rtlCol="0" anchor="t"/>
          <a:lstStyle/>
          <a:p>
            <a:pPr marL="0" indent="0">
              <a:buNone/>
            </a:pPr>
            <a:r>
              <a:rPr lang="en-US" sz="1100" b="1" kern="0" spc="200" dirty="0">
                <a:solidFill>
                  <a:schemeClr val="accent2"/>
                </a:solidFill>
              </a:rPr>
              <a:t>USULAN:</a:t>
            </a:r>
            <a:endParaRPr lang="en-US" sz="1100" dirty="0"/>
          </a:p>
        </p:txBody>
      </p:sp>
      <p:sp>
        <p:nvSpPr>
          <p:cNvPr id="29" name="Text 27"/>
          <p:cNvSpPr txBox="1"/>
          <p:nvPr/>
        </p:nvSpPr>
        <p:spPr>
          <a:xfrm>
            <a:off x="8503920" y="3886200"/>
            <a:ext cx="2926080" cy="347472"/>
          </a:xfrm>
          <a:prstGeom prst="rect">
            <a:avLst/>
          </a:prstGeom>
          <a:noFill/>
          <a:ln/>
        </p:spPr>
        <p:txBody>
          <a:bodyPr wrap="square" lIns="0" tIns="0" rIns="0" bIns="0" rtlCol="0" anchor="t"/>
          <a:lstStyle/>
          <a:p>
            <a:pPr marL="0" indent="0">
              <a:buNone/>
            </a:pPr>
            <a:r>
              <a:rPr lang="en-US" sz="1600" b="1" dirty="0">
                <a:solidFill>
                  <a:schemeClr val="bg1"/>
                </a:solidFill>
              </a:rPr>
              <a:t>Pilot project </a:t>
            </a:r>
            <a:r>
              <a:rPr lang="en-US" sz="1600" b="1" dirty="0" err="1">
                <a:solidFill>
                  <a:schemeClr val="bg1"/>
                </a:solidFill>
              </a:rPr>
              <a:t>kampanye</a:t>
            </a:r>
            <a:r>
              <a:rPr lang="en-US" sz="1600" b="1" dirty="0">
                <a:solidFill>
                  <a:schemeClr val="bg1"/>
                </a:solidFill>
              </a:rPr>
              <a:t> </a:t>
            </a:r>
            <a:r>
              <a:rPr lang="en-US" sz="1600" b="1" dirty="0" err="1">
                <a:solidFill>
                  <a:schemeClr val="bg1"/>
                </a:solidFill>
              </a:rPr>
              <a:t>autodebit</a:t>
            </a:r>
            <a:endParaRPr lang="en-US" sz="1600" dirty="0"/>
          </a:p>
        </p:txBody>
      </p:sp>
      <p:sp>
        <p:nvSpPr>
          <p:cNvPr id="31" name="Text 29"/>
          <p:cNvSpPr txBox="1"/>
          <p:nvPr/>
        </p:nvSpPr>
        <p:spPr>
          <a:xfrm>
            <a:off x="8503920" y="4334256"/>
            <a:ext cx="2926080" cy="877824"/>
          </a:xfrm>
          <a:prstGeom prst="rect">
            <a:avLst/>
          </a:prstGeom>
          <a:noFill/>
          <a:ln/>
        </p:spPr>
        <p:txBody>
          <a:bodyPr wrap="square" lIns="0" tIns="0" rIns="0" bIns="0" rtlCol="0" anchor="t"/>
          <a:lstStyle/>
          <a:p>
            <a:pPr marL="0" indent="0" algn="just">
              <a:buNone/>
            </a:pPr>
            <a:r>
              <a:rPr lang="en-US" sz="1600" dirty="0" err="1">
                <a:solidFill>
                  <a:srgbClr val="DCE3EE"/>
                </a:solidFill>
              </a:rPr>
              <a:t>Estimasi</a:t>
            </a:r>
            <a:r>
              <a:rPr lang="en-US" sz="1600" dirty="0">
                <a:solidFill>
                  <a:srgbClr val="DCE3EE"/>
                </a:solidFill>
              </a:rPr>
              <a:t> NPI </a:t>
            </a:r>
            <a:r>
              <a:rPr lang="en-US" sz="1600" dirty="0" err="1">
                <a:solidFill>
                  <a:srgbClr val="DCE3EE"/>
                </a:solidFill>
              </a:rPr>
              <a:t>dari</a:t>
            </a:r>
            <a:r>
              <a:rPr lang="en-US" sz="1600" dirty="0">
                <a:solidFill>
                  <a:srgbClr val="DCE3EE"/>
                </a:solidFill>
              </a:rPr>
              <a:t> 37.2% </a:t>
            </a:r>
            <a:r>
              <a:rPr lang="en-US" sz="1600" dirty="0" err="1">
                <a:solidFill>
                  <a:srgbClr val="DCE3EE"/>
                </a:solidFill>
              </a:rPr>
              <a:t>menjadi</a:t>
            </a:r>
            <a:r>
              <a:rPr lang="en-US" sz="1600" dirty="0">
                <a:solidFill>
                  <a:srgbClr val="DCE3EE"/>
                </a:solidFill>
              </a:rPr>
              <a:t> 34.8% (</a:t>
            </a:r>
            <a:r>
              <a:rPr lang="en-US" sz="1600" b="1" dirty="0" err="1">
                <a:solidFill>
                  <a:schemeClr val="accent2"/>
                </a:solidFill>
              </a:rPr>
              <a:t>berkurang</a:t>
            </a:r>
            <a:r>
              <a:rPr lang="en-US" sz="1600" b="1" dirty="0">
                <a:solidFill>
                  <a:schemeClr val="accent2"/>
                </a:solidFill>
              </a:rPr>
              <a:t> </a:t>
            </a:r>
            <a:r>
              <a:rPr lang="en-US" sz="1600" b="1" u="sng" dirty="0">
                <a:solidFill>
                  <a:schemeClr val="accent2"/>
                </a:solidFill>
              </a:rPr>
              <a:t>+</a:t>
            </a:r>
            <a:r>
              <a:rPr lang="en-US" sz="1600" b="1" dirty="0">
                <a:solidFill>
                  <a:schemeClr val="accent2"/>
                </a:solidFill>
              </a:rPr>
              <a:t> 460 </a:t>
            </a:r>
            <a:r>
              <a:rPr lang="en-US" sz="1600" dirty="0" err="1">
                <a:solidFill>
                  <a:srgbClr val="DCE3EE"/>
                </a:solidFill>
              </a:rPr>
              <a:t>juta</a:t>
            </a:r>
            <a:r>
              <a:rPr lang="en-US" sz="1600" dirty="0">
                <a:solidFill>
                  <a:srgbClr val="DCE3EE"/>
                </a:solidFill>
              </a:rPr>
              <a:t>/</a:t>
            </a:r>
            <a:r>
              <a:rPr lang="en-US" sz="1600" dirty="0" err="1">
                <a:solidFill>
                  <a:srgbClr val="DCE3EE"/>
                </a:solidFill>
              </a:rPr>
              <a:t>bulan</a:t>
            </a:r>
            <a:r>
              <a:rPr lang="en-US" sz="1600" dirty="0">
                <a:solidFill>
                  <a:srgbClr val="DCE3EE"/>
                </a:solidFill>
              </a:rPr>
              <a:t>)</a:t>
            </a:r>
            <a:endParaRPr lang="en-US" sz="1600" dirty="0"/>
          </a:p>
        </p:txBody>
      </p:sp>
      <p:sp>
        <p:nvSpPr>
          <p:cNvPr id="32"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lustrasi kawasan" descr="/home/claude/deck2/img/div0.jpg"/>
          <p:cNvPicPr>
            <a:picLocks noChangeAspect="1"/>
          </p:cNvPicPr>
          <p:nvPr/>
        </p:nvPicPr>
        <p:blipFill>
          <a:blip r:embed="rId3"/>
          <a:stretch>
            <a:fillRect/>
          </a:stretch>
        </p:blipFill>
        <p:spPr>
          <a:xfrm>
            <a:off x="0" y="0"/>
            <a:ext cx="12191695" cy="6858000"/>
          </a:xfrm>
          <a:prstGeom prst="rect">
            <a:avLst/>
          </a:prstGeom>
        </p:spPr>
      </p:pic>
      <p:sp>
        <p:nvSpPr>
          <p:cNvPr id="3" name="panel gelap"/>
          <p:cNvSpPr/>
          <p:nvPr/>
        </p:nvSpPr>
        <p:spPr>
          <a:xfrm>
            <a:off x="0" y="0"/>
            <a:ext cx="8138160" cy="6858000"/>
          </a:xfrm>
          <a:prstGeom prst="rect">
            <a:avLst/>
          </a:prstGeom>
          <a:solidFill>
            <a:srgbClr val="13294B">
              <a:alpha val="90000"/>
            </a:srgbClr>
          </a:solidFill>
          <a:ln/>
        </p:spPr>
        <p:txBody>
          <a:bodyPr/>
          <a:lstStyle/>
          <a:p>
            <a:endParaRPr lang="en-US"/>
          </a:p>
        </p:txBody>
      </p:sp>
      <p:sp>
        <p:nvSpPr>
          <p:cNvPr id="4" name="Text 1"/>
          <p:cNvSpPr txBox="1"/>
          <p:nvPr/>
        </p:nvSpPr>
        <p:spPr>
          <a:xfrm>
            <a:off x="731520" y="1828800"/>
            <a:ext cx="2743200" cy="822960"/>
          </a:xfrm>
          <a:prstGeom prst="rect">
            <a:avLst/>
          </a:prstGeom>
          <a:noFill/>
          <a:ln/>
        </p:spPr>
        <p:txBody>
          <a:bodyPr wrap="square" lIns="0" tIns="0" rIns="0" bIns="0" rtlCol="0" anchor="t"/>
          <a:lstStyle/>
          <a:p>
            <a:pPr marL="0" indent="0">
              <a:buNone/>
            </a:pPr>
            <a:r>
              <a:rPr lang="en-US" sz="4800" b="1" dirty="0">
                <a:solidFill>
                  <a:schemeClr val="accent2"/>
                </a:solidFill>
              </a:rPr>
              <a:t>01</a:t>
            </a:r>
            <a:endParaRPr lang="en-US" sz="4800" dirty="0"/>
          </a:p>
        </p:txBody>
      </p:sp>
      <p:sp>
        <p:nvSpPr>
          <p:cNvPr id="5" name="Text 0"/>
          <p:cNvSpPr>
            <a:spLocks noGrp="1"/>
          </p:cNvSpPr>
          <p:nvPr>
            <p:ph type="title" idx="100" hasCustomPrompt="1"/>
          </p:nvPr>
        </p:nvSpPr>
        <p:spPr>
          <a:xfrm>
            <a:off x="731520" y="2788920"/>
            <a:ext cx="6949440" cy="1188720"/>
          </a:xfrm>
          <a:prstGeom prst="rect">
            <a:avLst/>
          </a:prstGeom>
          <a:noFill/>
          <a:ln/>
        </p:spPr>
        <p:txBody>
          <a:bodyPr wrap="square" lIns="0" tIns="0" rIns="0" bIns="0" rtlCol="0" anchor="t"/>
          <a:lstStyle/>
          <a:p>
            <a:pPr marL="0" indent="0" algn="l">
              <a:buNone/>
            </a:pPr>
            <a:r>
              <a:rPr lang="en-US" sz="4000" b="1" dirty="0">
                <a:solidFill>
                  <a:schemeClr val="bg1"/>
                </a:solidFill>
              </a:rPr>
              <a:t>Konteks &amp; masalah bisnis</a:t>
            </a:r>
            <a:endParaRPr lang="en-US" sz="4000" dirty="0"/>
          </a:p>
        </p:txBody>
      </p:sp>
      <p:sp>
        <p:nvSpPr>
          <p:cNvPr id="6" name="Text 0"/>
          <p:cNvSpPr>
            <a:spLocks noGrp="1"/>
          </p:cNvSpPr>
          <p:nvPr>
            <p:ph type="body" idx="101" hasCustomPrompt="1"/>
          </p:nvPr>
        </p:nvSpPr>
        <p:spPr>
          <a:xfrm>
            <a:off x="731520" y="4069080"/>
            <a:ext cx="6583680" cy="1097280"/>
          </a:xfrm>
          <a:prstGeom prst="rect">
            <a:avLst/>
          </a:prstGeom>
          <a:noFill/>
          <a:ln/>
        </p:spPr>
        <p:txBody>
          <a:bodyPr wrap="square" lIns="0" tIns="0" rIns="0" bIns="0" rtlCol="0" anchor="t"/>
          <a:lstStyle/>
          <a:p>
            <a:pPr marL="0" indent="0" algn="l">
              <a:buNone/>
            </a:pPr>
            <a:r>
              <a:rPr lang="en-US" sz="1800" dirty="0">
                <a:solidFill>
                  <a:schemeClr val="bg1"/>
                </a:solidFill>
              </a:rPr>
              <a:t>Mengapa tunggakan IPL dapat menekan arus kas operasional kawasan?</a:t>
            </a:r>
            <a:endParaRPr lang="en-US" sz="18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C9D3E0"/>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KONTEKS BISNIS</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IPL </a:t>
            </a:r>
            <a:r>
              <a:rPr lang="en-US" sz="2600" b="1" dirty="0" err="1">
                <a:solidFill>
                  <a:schemeClr val="tx2"/>
                </a:solidFill>
              </a:rPr>
              <a:t>membiayai</a:t>
            </a:r>
            <a:r>
              <a:rPr lang="en-US" sz="2600" b="1" dirty="0">
                <a:solidFill>
                  <a:schemeClr val="tx2"/>
                </a:solidFill>
              </a:rPr>
              <a:t> </a:t>
            </a:r>
            <a:r>
              <a:rPr lang="en-US" sz="2600" b="1" dirty="0" err="1">
                <a:solidFill>
                  <a:schemeClr val="tx2"/>
                </a:solidFill>
              </a:rPr>
              <a:t>biaya</a:t>
            </a:r>
            <a:r>
              <a:rPr lang="en-US" sz="2600" b="1" dirty="0">
                <a:solidFill>
                  <a:schemeClr val="tx2"/>
                </a:solidFill>
              </a:rPr>
              <a:t> </a:t>
            </a:r>
            <a:r>
              <a:rPr lang="en-US" sz="2600" b="1" dirty="0" err="1">
                <a:solidFill>
                  <a:schemeClr val="tx2"/>
                </a:solidFill>
              </a:rPr>
              <a:t>operasional</a:t>
            </a:r>
            <a:r>
              <a:rPr lang="en-US" dirty="0"/>
              <a:t>, </a:t>
            </a:r>
            <a:r>
              <a:rPr lang="en-US" sz="2600" b="1" dirty="0" err="1">
                <a:solidFill>
                  <a:schemeClr val="tx2"/>
                </a:solidFill>
              </a:rPr>
              <a:t>tunggakan</a:t>
            </a:r>
            <a:r>
              <a:rPr lang="en-US" sz="2600" b="1" dirty="0">
                <a:solidFill>
                  <a:schemeClr val="tx2"/>
                </a:solidFill>
              </a:rPr>
              <a:t> </a:t>
            </a:r>
            <a:r>
              <a:rPr lang="en-US" sz="2600" b="1" dirty="0" err="1">
                <a:solidFill>
                  <a:schemeClr val="tx2"/>
                </a:solidFill>
              </a:rPr>
              <a:t>akan</a:t>
            </a:r>
            <a:r>
              <a:rPr lang="en-US" sz="2600" b="1" dirty="0">
                <a:solidFill>
                  <a:schemeClr val="tx2"/>
                </a:solidFill>
              </a:rPr>
              <a:t> </a:t>
            </a:r>
            <a:r>
              <a:rPr lang="en-US" sz="2600" b="1" dirty="0" err="1">
                <a:solidFill>
                  <a:schemeClr val="tx2"/>
                </a:solidFill>
              </a:rPr>
              <a:t>meningkatkan</a:t>
            </a:r>
            <a:r>
              <a:rPr lang="en-US" sz="2600" b="1" dirty="0">
                <a:solidFill>
                  <a:schemeClr val="tx2"/>
                </a:solidFill>
              </a:rPr>
              <a:t> risiko arus kas</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endParaRPr lang="en-US" sz="1000" dirty="0"/>
          </a:p>
        </p:txBody>
      </p:sp>
      <p:sp>
        <p:nvSpPr>
          <p:cNvPr id="5" name="alur Masalah"/>
          <p:cNvSpPr/>
          <p:nvPr/>
        </p:nvSpPr>
        <p:spPr>
          <a:xfrm>
            <a:off x="2866542" y="1393922"/>
            <a:ext cx="2560320" cy="2331720"/>
          </a:xfrm>
          <a:prstGeom prst="roundRect">
            <a:avLst>
              <a:gd name="adj" fmla="val 3137"/>
            </a:avLst>
          </a:prstGeom>
          <a:solidFill>
            <a:schemeClr val="bg1"/>
          </a:solidFill>
          <a:ln w="38100">
            <a:solidFill>
              <a:schemeClr val="accent1"/>
            </a:solidFill>
            <a:prstDash val="solid"/>
          </a:ln>
          <a:effectLst>
            <a:outerShdw blurRad="76200" dist="25400" dir="5400000" algn="bl" rotWithShape="0">
              <a:srgbClr val="13294B">
                <a:alpha val="10000"/>
              </a:srgbClr>
            </a:outerShdw>
          </a:effectLst>
        </p:spPr>
        <p:txBody>
          <a:bodyPr/>
          <a:lstStyle/>
          <a:p>
            <a:endParaRPr lang="en-US" dirty="0"/>
          </a:p>
        </p:txBody>
      </p:sp>
      <p:sp>
        <p:nvSpPr>
          <p:cNvPr id="6" name="penanda 1"/>
          <p:cNvSpPr txBox="1"/>
          <p:nvPr/>
        </p:nvSpPr>
        <p:spPr>
          <a:xfrm>
            <a:off x="3095142" y="1595090"/>
            <a:ext cx="384048" cy="384048"/>
          </a:xfrm>
          <a:prstGeom prst="ellipse">
            <a:avLst/>
          </a:prstGeom>
          <a:solidFill>
            <a:schemeClr val="tx2"/>
          </a:solid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7" name="Text 5"/>
          <p:cNvSpPr txBox="1"/>
          <p:nvPr/>
        </p:nvSpPr>
        <p:spPr>
          <a:xfrm>
            <a:off x="3598062" y="1595090"/>
            <a:ext cx="1737360" cy="384048"/>
          </a:xfrm>
          <a:prstGeom prst="rect">
            <a:avLst/>
          </a:prstGeom>
          <a:noFill/>
          <a:ln/>
        </p:spPr>
        <p:txBody>
          <a:bodyPr wrap="square" lIns="0" tIns="0" rIns="0" bIns="0" rtlCol="0" anchor="ctr"/>
          <a:lstStyle/>
          <a:p>
            <a:pPr marL="0" indent="0">
              <a:buNone/>
            </a:pPr>
            <a:r>
              <a:rPr lang="en-US" sz="2000" b="1" dirty="0">
                <a:solidFill>
                  <a:schemeClr val="tx2"/>
                </a:solidFill>
              </a:rPr>
              <a:t>Masalah</a:t>
            </a:r>
            <a:endParaRPr lang="en-US" sz="2000" dirty="0"/>
          </a:p>
        </p:txBody>
      </p:sp>
      <p:sp>
        <p:nvSpPr>
          <p:cNvPr id="8" name="Text 6"/>
          <p:cNvSpPr txBox="1"/>
          <p:nvPr/>
        </p:nvSpPr>
        <p:spPr>
          <a:xfrm>
            <a:off x="3095142" y="2171162"/>
            <a:ext cx="2148840" cy="1463040"/>
          </a:xfrm>
          <a:prstGeom prst="rect">
            <a:avLst/>
          </a:prstGeom>
          <a:noFill/>
          <a:ln/>
        </p:spPr>
        <p:txBody>
          <a:bodyPr wrap="square" lIns="0" tIns="0" rIns="0" bIns="0" rtlCol="0" anchor="t"/>
          <a:lstStyle/>
          <a:p>
            <a:pPr marL="0" indent="0">
              <a:buNone/>
            </a:pPr>
            <a:r>
              <a:rPr lang="en-US" sz="1400" dirty="0">
                <a:solidFill>
                  <a:schemeClr val="tx1"/>
                </a:solidFill>
              </a:rPr>
              <a:t>Brief: lebih dari 25% tagihan IPL diperkirakan berstatus Unpaid/Overdue (NPI)</a:t>
            </a:r>
            <a:endParaRPr lang="en-US" sz="1400" dirty="0"/>
          </a:p>
        </p:txBody>
      </p:sp>
      <p:sp>
        <p:nvSpPr>
          <p:cNvPr id="9" name="panah"/>
          <p:cNvSpPr/>
          <p:nvPr/>
        </p:nvSpPr>
        <p:spPr>
          <a:xfrm>
            <a:off x="5454294" y="2399762"/>
            <a:ext cx="219456" cy="292608"/>
          </a:xfrm>
          <a:prstGeom prst="rightArrow">
            <a:avLst/>
          </a:prstGeom>
          <a:solidFill>
            <a:schemeClr val="accent2"/>
          </a:solidFill>
          <a:ln/>
        </p:spPr>
        <p:txBody>
          <a:bodyPr/>
          <a:lstStyle/>
          <a:p>
            <a:endParaRPr lang="en-US" sz="1400"/>
          </a:p>
        </p:txBody>
      </p:sp>
      <p:sp>
        <p:nvSpPr>
          <p:cNvPr id="10" name="alur Dampak"/>
          <p:cNvSpPr/>
          <p:nvPr/>
        </p:nvSpPr>
        <p:spPr>
          <a:xfrm>
            <a:off x="5701182" y="1393922"/>
            <a:ext cx="2560320" cy="2331720"/>
          </a:xfrm>
          <a:prstGeom prst="roundRect">
            <a:avLst>
              <a:gd name="adj" fmla="val 3137"/>
            </a:avLst>
          </a:prstGeom>
          <a:solidFill>
            <a:schemeClr val="bg1"/>
          </a:solidFill>
          <a:ln w="38100">
            <a:solidFill>
              <a:schemeClr val="accent1"/>
            </a:solidFill>
            <a:prstDash val="solid"/>
          </a:ln>
          <a:effectLst>
            <a:outerShdw blurRad="76200" dist="25400" dir="5400000" algn="bl" rotWithShape="0">
              <a:srgbClr val="13294B">
                <a:alpha val="10000"/>
              </a:srgbClr>
            </a:outerShdw>
          </a:effectLst>
        </p:spPr>
        <p:txBody>
          <a:bodyPr/>
          <a:lstStyle/>
          <a:p>
            <a:endParaRPr lang="en-US"/>
          </a:p>
        </p:txBody>
      </p:sp>
      <p:sp>
        <p:nvSpPr>
          <p:cNvPr id="11" name="penanda 2"/>
          <p:cNvSpPr txBox="1"/>
          <p:nvPr/>
        </p:nvSpPr>
        <p:spPr>
          <a:xfrm>
            <a:off x="5929782" y="1595090"/>
            <a:ext cx="384048" cy="384048"/>
          </a:xfrm>
          <a:prstGeom prst="ellipse">
            <a:avLst/>
          </a:prstGeom>
          <a:solidFill>
            <a:schemeClr val="accent5"/>
          </a:solid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12" name="Text 10"/>
          <p:cNvSpPr txBox="1"/>
          <p:nvPr/>
        </p:nvSpPr>
        <p:spPr>
          <a:xfrm>
            <a:off x="6432702" y="1595090"/>
            <a:ext cx="1737360" cy="384048"/>
          </a:xfrm>
          <a:prstGeom prst="rect">
            <a:avLst/>
          </a:prstGeom>
          <a:noFill/>
          <a:ln/>
        </p:spPr>
        <p:txBody>
          <a:bodyPr wrap="square" lIns="0" tIns="0" rIns="0" bIns="0" rtlCol="0" anchor="ctr"/>
          <a:lstStyle/>
          <a:p>
            <a:pPr marL="0" indent="0">
              <a:buNone/>
            </a:pPr>
            <a:r>
              <a:rPr lang="en-US" sz="2000" b="1" dirty="0">
                <a:solidFill>
                  <a:schemeClr val="tx2"/>
                </a:solidFill>
              </a:rPr>
              <a:t>Dampak</a:t>
            </a:r>
            <a:endParaRPr lang="en-US" sz="2000" dirty="0"/>
          </a:p>
        </p:txBody>
      </p:sp>
      <p:sp>
        <p:nvSpPr>
          <p:cNvPr id="13" name="Text 11"/>
          <p:cNvSpPr txBox="1"/>
          <p:nvPr/>
        </p:nvSpPr>
        <p:spPr>
          <a:xfrm>
            <a:off x="5929782" y="2171162"/>
            <a:ext cx="2148840" cy="1463040"/>
          </a:xfrm>
          <a:prstGeom prst="rect">
            <a:avLst/>
          </a:prstGeom>
          <a:noFill/>
          <a:ln/>
        </p:spPr>
        <p:txBody>
          <a:bodyPr wrap="square" lIns="0" tIns="0" rIns="0" bIns="0" rtlCol="0" anchor="t"/>
          <a:lstStyle/>
          <a:p>
            <a:pPr marL="0" indent="0">
              <a:buNone/>
            </a:pPr>
            <a:r>
              <a:rPr lang="en-US" sz="1400" dirty="0">
                <a:solidFill>
                  <a:schemeClr val="tx1"/>
                </a:solidFill>
              </a:rPr>
              <a:t>Dana operasional tertahan; risiko ketergantungan pada </a:t>
            </a:r>
            <a:r>
              <a:rPr lang="en-US" sz="1400" dirty="0" err="1">
                <a:solidFill>
                  <a:schemeClr val="tx1"/>
                </a:solidFill>
              </a:rPr>
              <a:t>subsidi</a:t>
            </a:r>
            <a:r>
              <a:rPr lang="en-US" sz="1400" dirty="0">
                <a:solidFill>
                  <a:schemeClr val="tx1"/>
                </a:solidFill>
              </a:rPr>
              <a:t> </a:t>
            </a:r>
            <a:r>
              <a:rPr lang="en-US" sz="1400" dirty="0" err="1">
                <a:solidFill>
                  <a:schemeClr val="tx1"/>
                </a:solidFill>
              </a:rPr>
              <a:t>induk</a:t>
            </a:r>
            <a:endParaRPr lang="en-US" sz="1400" dirty="0"/>
          </a:p>
        </p:txBody>
      </p:sp>
      <p:sp>
        <p:nvSpPr>
          <p:cNvPr id="14" name="panah"/>
          <p:cNvSpPr/>
          <p:nvPr/>
        </p:nvSpPr>
        <p:spPr>
          <a:xfrm rot="5400000">
            <a:off x="6894474" y="3695123"/>
            <a:ext cx="219456" cy="292608"/>
          </a:xfrm>
          <a:prstGeom prst="rightArrow">
            <a:avLst/>
          </a:prstGeom>
          <a:solidFill>
            <a:schemeClr val="accent2"/>
          </a:solidFill>
          <a:ln/>
        </p:spPr>
        <p:txBody>
          <a:bodyPr/>
          <a:lstStyle/>
          <a:p>
            <a:endParaRPr lang="en-US"/>
          </a:p>
        </p:txBody>
      </p:sp>
      <p:sp>
        <p:nvSpPr>
          <p:cNvPr id="15" name="alur Dugaan yang diuji"/>
          <p:cNvSpPr/>
          <p:nvPr/>
        </p:nvSpPr>
        <p:spPr>
          <a:xfrm>
            <a:off x="5701182" y="3965515"/>
            <a:ext cx="2560320" cy="2331720"/>
          </a:xfrm>
          <a:prstGeom prst="roundRect">
            <a:avLst>
              <a:gd name="adj" fmla="val 3137"/>
            </a:avLst>
          </a:prstGeom>
          <a:solidFill>
            <a:schemeClr val="bg1"/>
          </a:solidFill>
          <a:ln w="38100">
            <a:solidFill>
              <a:schemeClr val="accent1"/>
            </a:solidFill>
            <a:prstDash val="solid"/>
          </a:ln>
          <a:effectLst>
            <a:outerShdw blurRad="76200" dist="25400" dir="5400000" algn="bl" rotWithShape="0">
              <a:srgbClr val="13294B">
                <a:alpha val="10000"/>
              </a:srgbClr>
            </a:outerShdw>
          </a:effectLst>
        </p:spPr>
        <p:txBody>
          <a:bodyPr/>
          <a:lstStyle/>
          <a:p>
            <a:endParaRPr lang="en-US"/>
          </a:p>
        </p:txBody>
      </p:sp>
      <p:sp>
        <p:nvSpPr>
          <p:cNvPr id="16" name="penanda 3"/>
          <p:cNvSpPr txBox="1"/>
          <p:nvPr/>
        </p:nvSpPr>
        <p:spPr>
          <a:xfrm>
            <a:off x="5929782" y="4166683"/>
            <a:ext cx="384048" cy="384048"/>
          </a:xfrm>
          <a:prstGeom prst="ellipse">
            <a:avLst/>
          </a:prstGeom>
          <a:solidFill>
            <a:schemeClr val="accent1"/>
          </a:solid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17" name="Text 15"/>
          <p:cNvSpPr txBox="1"/>
          <p:nvPr/>
        </p:nvSpPr>
        <p:spPr>
          <a:xfrm>
            <a:off x="6432702" y="4166683"/>
            <a:ext cx="1737360" cy="384048"/>
          </a:xfrm>
          <a:prstGeom prst="rect">
            <a:avLst/>
          </a:prstGeom>
          <a:noFill/>
          <a:ln/>
        </p:spPr>
        <p:txBody>
          <a:bodyPr wrap="square" lIns="0" tIns="0" rIns="0" bIns="0" rtlCol="0" anchor="ctr"/>
          <a:lstStyle/>
          <a:p>
            <a:pPr marL="0" indent="0">
              <a:buNone/>
            </a:pPr>
            <a:r>
              <a:rPr lang="en-US" sz="2000" b="1" dirty="0">
                <a:solidFill>
                  <a:schemeClr val="tx2"/>
                </a:solidFill>
              </a:rPr>
              <a:t>Dugaan yang diuji</a:t>
            </a:r>
            <a:endParaRPr lang="en-US" sz="2000" dirty="0"/>
          </a:p>
        </p:txBody>
      </p:sp>
      <p:sp>
        <p:nvSpPr>
          <p:cNvPr id="18" name="Text 16"/>
          <p:cNvSpPr txBox="1"/>
          <p:nvPr/>
        </p:nvSpPr>
        <p:spPr>
          <a:xfrm>
            <a:off x="5929782" y="4742755"/>
            <a:ext cx="2148840" cy="1463040"/>
          </a:xfrm>
          <a:prstGeom prst="rect">
            <a:avLst/>
          </a:prstGeom>
          <a:noFill/>
          <a:ln/>
        </p:spPr>
        <p:txBody>
          <a:bodyPr wrap="square" lIns="0" tIns="0" rIns="0" bIns="0" rtlCol="0" anchor="t"/>
          <a:lstStyle/>
          <a:p>
            <a:pPr marL="0" indent="0">
              <a:buNone/>
            </a:pPr>
            <a:r>
              <a:rPr lang="en-US" sz="1400" dirty="0">
                <a:solidFill>
                  <a:schemeClr val="tx1"/>
                </a:solidFill>
              </a:rPr>
              <a:t>Unit </a:t>
            </a:r>
            <a:r>
              <a:rPr lang="id-ID" sz="1400" dirty="0"/>
              <a:t>kosong</a:t>
            </a:r>
            <a:r>
              <a:rPr lang="en-US" sz="1400" dirty="0">
                <a:solidFill>
                  <a:schemeClr val="tx1"/>
                </a:solidFill>
              </a:rPr>
              <a:t>, pemilik jauh, kontak tidak lengkap, autodebit rendah, </a:t>
            </a:r>
            <a:r>
              <a:rPr lang="en-US" sz="1400" dirty="0" err="1">
                <a:solidFill>
                  <a:schemeClr val="tx1"/>
                </a:solidFill>
              </a:rPr>
              <a:t>kualitas</a:t>
            </a:r>
            <a:r>
              <a:rPr lang="en-US" sz="1400" dirty="0">
                <a:solidFill>
                  <a:schemeClr val="tx1"/>
                </a:solidFill>
              </a:rPr>
              <a:t> </a:t>
            </a:r>
            <a:r>
              <a:rPr lang="id-ID" sz="1400" dirty="0"/>
              <a:t>pembayaran</a:t>
            </a:r>
            <a:endParaRPr lang="en-US" sz="1400" dirty="0"/>
          </a:p>
        </p:txBody>
      </p:sp>
      <p:sp>
        <p:nvSpPr>
          <p:cNvPr id="19" name="panah"/>
          <p:cNvSpPr/>
          <p:nvPr/>
        </p:nvSpPr>
        <p:spPr>
          <a:xfrm rot="10800000">
            <a:off x="5451742" y="4850892"/>
            <a:ext cx="219456" cy="292608"/>
          </a:xfrm>
          <a:prstGeom prst="rightArrow">
            <a:avLst/>
          </a:prstGeom>
          <a:solidFill>
            <a:schemeClr val="accent2"/>
          </a:solidFill>
          <a:ln/>
        </p:spPr>
        <p:txBody>
          <a:bodyPr/>
          <a:lstStyle/>
          <a:p>
            <a:endParaRPr lang="en-US" sz="1600"/>
          </a:p>
        </p:txBody>
      </p:sp>
      <p:sp>
        <p:nvSpPr>
          <p:cNvPr id="20" name="alur Keputusan"/>
          <p:cNvSpPr/>
          <p:nvPr/>
        </p:nvSpPr>
        <p:spPr>
          <a:xfrm>
            <a:off x="2861438" y="3977640"/>
            <a:ext cx="2560320" cy="2331720"/>
          </a:xfrm>
          <a:prstGeom prst="roundRect">
            <a:avLst>
              <a:gd name="adj" fmla="val 3137"/>
            </a:avLst>
          </a:prstGeom>
          <a:solidFill>
            <a:schemeClr val="bg1"/>
          </a:solidFill>
          <a:ln w="38100">
            <a:solidFill>
              <a:schemeClr val="accent1"/>
            </a:solidFill>
            <a:prstDash val="solid"/>
          </a:ln>
          <a:effectLst>
            <a:outerShdw blurRad="76200" dist="25400" dir="5400000" algn="bl" rotWithShape="0">
              <a:srgbClr val="13294B">
                <a:alpha val="10000"/>
              </a:srgbClr>
            </a:outerShdw>
          </a:effectLst>
        </p:spPr>
        <p:txBody>
          <a:bodyPr/>
          <a:lstStyle/>
          <a:p>
            <a:endParaRPr lang="en-US"/>
          </a:p>
        </p:txBody>
      </p:sp>
      <p:sp>
        <p:nvSpPr>
          <p:cNvPr id="21" name="penanda 4"/>
          <p:cNvSpPr txBox="1"/>
          <p:nvPr/>
        </p:nvSpPr>
        <p:spPr>
          <a:xfrm>
            <a:off x="3090038" y="4178808"/>
            <a:ext cx="384048" cy="384048"/>
          </a:xfrm>
          <a:prstGeom prst="ellipse">
            <a:avLst/>
          </a:prstGeom>
          <a:solidFill>
            <a:schemeClr val="accent3"/>
          </a:solidFill>
          <a:ln/>
        </p:spPr>
        <p:txBody>
          <a:bodyPr wrap="square" lIns="0" tIns="0" rIns="0" bIns="0" rtlCol="0" anchor="ctr"/>
          <a:lstStyle/>
          <a:p>
            <a:pPr marL="0" indent="0" algn="ctr">
              <a:buNone/>
            </a:pPr>
            <a:r>
              <a:rPr lang="en-US" sz="2000" b="1" dirty="0">
                <a:solidFill>
                  <a:schemeClr val="bg1"/>
                </a:solidFill>
              </a:rPr>
              <a:t>4</a:t>
            </a:r>
            <a:endParaRPr lang="en-US" sz="2000" dirty="0"/>
          </a:p>
        </p:txBody>
      </p:sp>
      <p:sp>
        <p:nvSpPr>
          <p:cNvPr id="22" name="Text 20"/>
          <p:cNvSpPr txBox="1"/>
          <p:nvPr/>
        </p:nvSpPr>
        <p:spPr>
          <a:xfrm>
            <a:off x="3592958" y="4178808"/>
            <a:ext cx="1737360" cy="384048"/>
          </a:xfrm>
          <a:prstGeom prst="rect">
            <a:avLst/>
          </a:prstGeom>
          <a:noFill/>
          <a:ln/>
        </p:spPr>
        <p:txBody>
          <a:bodyPr wrap="square" lIns="0" tIns="0" rIns="0" bIns="0" rtlCol="0" anchor="ctr"/>
          <a:lstStyle/>
          <a:p>
            <a:pPr marL="0" indent="0">
              <a:buNone/>
            </a:pPr>
            <a:r>
              <a:rPr lang="en-US" sz="2000" b="1" dirty="0">
                <a:solidFill>
                  <a:schemeClr val="tx2"/>
                </a:solidFill>
              </a:rPr>
              <a:t>Keputusan</a:t>
            </a:r>
            <a:endParaRPr lang="en-US" sz="2000" dirty="0"/>
          </a:p>
        </p:txBody>
      </p:sp>
      <p:sp>
        <p:nvSpPr>
          <p:cNvPr id="23" name="Text 21"/>
          <p:cNvSpPr txBox="1"/>
          <p:nvPr/>
        </p:nvSpPr>
        <p:spPr>
          <a:xfrm>
            <a:off x="3090038" y="4754880"/>
            <a:ext cx="2148840" cy="1463040"/>
          </a:xfrm>
          <a:prstGeom prst="rect">
            <a:avLst/>
          </a:prstGeom>
          <a:noFill/>
          <a:ln/>
        </p:spPr>
        <p:txBody>
          <a:bodyPr wrap="square" lIns="0" tIns="0" rIns="0" bIns="0" rtlCol="0" anchor="t"/>
          <a:lstStyle/>
          <a:p>
            <a:pPr marL="0" indent="0">
              <a:buNone/>
            </a:pPr>
            <a:r>
              <a:rPr lang="en-US" sz="1400" dirty="0">
                <a:solidFill>
                  <a:schemeClr val="tx1"/>
                </a:solidFill>
              </a:rPr>
              <a:t>Prioritas penagihan, program pencegahan, rekonsiliasi, dan perbaikan sistem</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PROBLEM STATEMENT &amp; TUJUAN</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id-ID" dirty="0"/>
              <a:t>B</a:t>
            </a:r>
            <a:r>
              <a:rPr lang="en-US" sz="2600" b="1" dirty="0" err="1">
                <a:solidFill>
                  <a:schemeClr val="tx2"/>
                </a:solidFill>
              </a:rPr>
              <a:t>agaimana</a:t>
            </a:r>
            <a:r>
              <a:rPr lang="en-US" sz="2600" b="1" dirty="0">
                <a:solidFill>
                  <a:schemeClr val="tx2"/>
                </a:solidFill>
              </a:rPr>
              <a:t> menurunkan NPI dalam dua kuartal?</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endParaRPr lang="en-US" sz="1000" dirty="0"/>
          </a:p>
        </p:txBody>
      </p:sp>
      <p:sp>
        <p:nvSpPr>
          <p:cNvPr id="5" name="problem statement"/>
          <p:cNvSpPr/>
          <p:nvPr/>
        </p:nvSpPr>
        <p:spPr>
          <a:xfrm>
            <a:off x="548640" y="1645920"/>
            <a:ext cx="11091672" cy="1051560"/>
          </a:xfrm>
          <a:prstGeom prst="roundRect">
            <a:avLst>
              <a:gd name="adj" fmla="val 6957"/>
            </a:avLst>
          </a:prstGeom>
          <a:solidFill>
            <a:schemeClr val="tx2"/>
          </a:solidFill>
          <a:ln/>
        </p:spPr>
        <p:txBody>
          <a:bodyPr/>
          <a:lstStyle/>
          <a:p>
            <a:endParaRPr lang="en-US"/>
          </a:p>
        </p:txBody>
      </p:sp>
      <p:sp>
        <p:nvSpPr>
          <p:cNvPr id="6" name="Text 4"/>
          <p:cNvSpPr txBox="1"/>
          <p:nvPr/>
        </p:nvSpPr>
        <p:spPr>
          <a:xfrm>
            <a:off x="822960" y="1755648"/>
            <a:ext cx="10607040" cy="822960"/>
          </a:xfrm>
          <a:prstGeom prst="rect">
            <a:avLst/>
          </a:prstGeom>
          <a:noFill/>
          <a:ln/>
        </p:spPr>
        <p:txBody>
          <a:bodyPr wrap="square" lIns="0" tIns="0" rIns="0" bIns="0" rtlCol="0" anchor="ctr"/>
          <a:lstStyle/>
          <a:p>
            <a:pPr marL="0" indent="0">
              <a:buNone/>
            </a:pPr>
            <a:r>
              <a:rPr lang="en-US" sz="1600" b="1" dirty="0">
                <a:solidFill>
                  <a:schemeClr val="accent2"/>
                </a:solidFill>
              </a:rPr>
              <a:t>Problem statement: </a:t>
            </a:r>
            <a:r>
              <a:rPr lang="en-US" sz="1600" dirty="0">
                <a:solidFill>
                  <a:schemeClr val="bg1"/>
                </a:solidFill>
              </a:rPr>
              <a:t>Bagaimana Head of Township Management menurunkan NPI rate tagihan IPL di 5 township dalam 2 kuartal, melalui tindakan yang dapat </a:t>
            </a:r>
            <a:r>
              <a:rPr lang="en-US" sz="1600" dirty="0" err="1">
                <a:solidFill>
                  <a:schemeClr val="bg1"/>
                </a:solidFill>
              </a:rPr>
              <a:t>dijalankan</a:t>
            </a:r>
            <a:r>
              <a:rPr lang="en-US" sz="1600" dirty="0">
                <a:solidFill>
                  <a:schemeClr val="bg1"/>
                </a:solidFill>
              </a:rPr>
              <a:t> Collection?</a:t>
            </a:r>
            <a:endParaRPr lang="en-US" sz="1600" dirty="0"/>
          </a:p>
        </p:txBody>
      </p:sp>
      <p:sp>
        <p:nvSpPr>
          <p:cNvPr id="7" name="tujuan T1"/>
          <p:cNvSpPr/>
          <p:nvPr/>
        </p:nvSpPr>
        <p:spPr>
          <a:xfrm>
            <a:off x="548640" y="2926080"/>
            <a:ext cx="3228040" cy="2103120"/>
          </a:xfrm>
          <a:prstGeom prst="roundRect">
            <a:avLst>
              <a:gd name="adj" fmla="val 3478"/>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sz="2000"/>
          </a:p>
        </p:txBody>
      </p:sp>
      <p:sp>
        <p:nvSpPr>
          <p:cNvPr id="8" name="Text 6"/>
          <p:cNvSpPr txBox="1"/>
          <p:nvPr/>
        </p:nvSpPr>
        <p:spPr>
          <a:xfrm>
            <a:off x="1064327" y="3090672"/>
            <a:ext cx="1242938" cy="365760"/>
          </a:xfrm>
          <a:prstGeom prst="rect">
            <a:avLst/>
          </a:prstGeom>
          <a:noFill/>
          <a:ln/>
        </p:spPr>
        <p:txBody>
          <a:bodyPr wrap="square" lIns="0" tIns="0" rIns="0" bIns="0" rtlCol="0" anchor="t"/>
          <a:lstStyle/>
          <a:p>
            <a:pPr marL="0" indent="0">
              <a:buNone/>
            </a:pPr>
            <a:r>
              <a:rPr lang="en-US" sz="2400" b="1" dirty="0">
                <a:solidFill>
                  <a:schemeClr val="accent2"/>
                </a:solidFill>
              </a:rPr>
              <a:t>Tujuan 1</a:t>
            </a:r>
            <a:endParaRPr lang="en-US" sz="2400" dirty="0"/>
          </a:p>
        </p:txBody>
      </p:sp>
      <p:sp>
        <p:nvSpPr>
          <p:cNvPr id="9" name="Text 7"/>
          <p:cNvSpPr txBox="1"/>
          <p:nvPr/>
        </p:nvSpPr>
        <p:spPr>
          <a:xfrm>
            <a:off x="1064327" y="3493008"/>
            <a:ext cx="2194560" cy="594360"/>
          </a:xfrm>
          <a:prstGeom prst="rect">
            <a:avLst/>
          </a:prstGeom>
          <a:noFill/>
          <a:ln/>
        </p:spPr>
        <p:txBody>
          <a:bodyPr wrap="square" lIns="0" tIns="0" rIns="0" bIns="0" rtlCol="0" anchor="t"/>
          <a:lstStyle/>
          <a:p>
            <a:pPr marL="0" indent="0">
              <a:buNone/>
            </a:pPr>
            <a:r>
              <a:rPr lang="en-US" sz="1600" b="1" dirty="0">
                <a:solidFill>
                  <a:schemeClr val="tx2"/>
                </a:solidFill>
              </a:rPr>
              <a:t>Segmen penyumbang NPI</a:t>
            </a:r>
            <a:endParaRPr lang="en-US" sz="1600" dirty="0"/>
          </a:p>
        </p:txBody>
      </p:sp>
      <p:sp>
        <p:nvSpPr>
          <p:cNvPr id="10" name="Text 8"/>
          <p:cNvSpPr txBox="1"/>
          <p:nvPr/>
        </p:nvSpPr>
        <p:spPr>
          <a:xfrm>
            <a:off x="1064327" y="4114800"/>
            <a:ext cx="2194560" cy="868680"/>
          </a:xfrm>
          <a:prstGeom prst="rect">
            <a:avLst/>
          </a:prstGeom>
          <a:noFill/>
          <a:ln/>
        </p:spPr>
        <p:txBody>
          <a:bodyPr wrap="square" lIns="0" tIns="0" rIns="0" bIns="0" rtlCol="0" anchor="t"/>
          <a:lstStyle/>
          <a:p>
            <a:pPr marL="0" indent="0">
              <a:buNone/>
            </a:pPr>
            <a:r>
              <a:rPr lang="en-US" sz="1400" dirty="0">
                <a:solidFill>
                  <a:schemeClr val="tx1"/>
                </a:solidFill>
              </a:rPr>
              <a:t>Karakteristik unit dan kawasan sebagai dasar prioritas Collection</a:t>
            </a:r>
            <a:endParaRPr lang="en-US" sz="1400" dirty="0"/>
          </a:p>
        </p:txBody>
      </p:sp>
      <p:sp>
        <p:nvSpPr>
          <p:cNvPr id="11" name="tujuan T2"/>
          <p:cNvSpPr/>
          <p:nvPr/>
        </p:nvSpPr>
        <p:spPr>
          <a:xfrm>
            <a:off x="4161581" y="2926080"/>
            <a:ext cx="3228040" cy="2103120"/>
          </a:xfrm>
          <a:prstGeom prst="roundRect">
            <a:avLst>
              <a:gd name="adj" fmla="val 3478"/>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sz="2000"/>
          </a:p>
        </p:txBody>
      </p:sp>
      <p:sp>
        <p:nvSpPr>
          <p:cNvPr id="12" name="Text 10"/>
          <p:cNvSpPr txBox="1"/>
          <p:nvPr/>
        </p:nvSpPr>
        <p:spPr>
          <a:xfrm>
            <a:off x="4728302" y="3090672"/>
            <a:ext cx="1367697" cy="365760"/>
          </a:xfrm>
          <a:prstGeom prst="rect">
            <a:avLst/>
          </a:prstGeom>
          <a:noFill/>
          <a:ln/>
        </p:spPr>
        <p:txBody>
          <a:bodyPr wrap="square" lIns="0" tIns="0" rIns="0" bIns="0" rtlCol="0" anchor="t"/>
          <a:lstStyle/>
          <a:p>
            <a:pPr marL="0" indent="0">
              <a:buNone/>
            </a:pPr>
            <a:r>
              <a:rPr lang="en-US" sz="2400" b="1" dirty="0">
                <a:solidFill>
                  <a:schemeClr val="accent2"/>
                </a:solidFill>
              </a:rPr>
              <a:t>Tujuan 2</a:t>
            </a:r>
            <a:endParaRPr lang="en-US" sz="2400" dirty="0"/>
          </a:p>
        </p:txBody>
      </p:sp>
      <p:sp>
        <p:nvSpPr>
          <p:cNvPr id="13" name="Text 11"/>
          <p:cNvSpPr txBox="1"/>
          <p:nvPr/>
        </p:nvSpPr>
        <p:spPr>
          <a:xfrm>
            <a:off x="4728303" y="3493008"/>
            <a:ext cx="2194560" cy="594360"/>
          </a:xfrm>
          <a:prstGeom prst="rect">
            <a:avLst/>
          </a:prstGeom>
          <a:noFill/>
          <a:ln/>
        </p:spPr>
        <p:txBody>
          <a:bodyPr wrap="square" lIns="0" tIns="0" rIns="0" bIns="0" rtlCol="0" anchor="t"/>
          <a:lstStyle/>
          <a:p>
            <a:pPr marL="0" indent="0">
              <a:buNone/>
            </a:pPr>
            <a:r>
              <a:rPr lang="en-US" sz="1600" b="1" dirty="0">
                <a:solidFill>
                  <a:schemeClr val="tx2"/>
                </a:solidFill>
              </a:rPr>
              <a:t>Nominal &amp; umur tunggakan</a:t>
            </a:r>
            <a:endParaRPr lang="en-US" sz="1600" dirty="0"/>
          </a:p>
        </p:txBody>
      </p:sp>
      <p:sp>
        <p:nvSpPr>
          <p:cNvPr id="14" name="Text 12"/>
          <p:cNvSpPr txBox="1"/>
          <p:nvPr/>
        </p:nvSpPr>
        <p:spPr>
          <a:xfrm>
            <a:off x="4728303" y="4114800"/>
            <a:ext cx="2194560" cy="868680"/>
          </a:xfrm>
          <a:prstGeom prst="rect">
            <a:avLst/>
          </a:prstGeom>
          <a:noFill/>
          <a:ln/>
        </p:spPr>
        <p:txBody>
          <a:bodyPr wrap="square" lIns="0" tIns="0" rIns="0" bIns="0" rtlCol="0" anchor="t"/>
          <a:lstStyle/>
          <a:p>
            <a:pPr marL="0" indent="0">
              <a:buNone/>
            </a:pPr>
            <a:r>
              <a:rPr lang="en-US" sz="1400" dirty="0">
                <a:solidFill>
                  <a:schemeClr val="tx1"/>
                </a:solidFill>
              </a:rPr>
              <a:t>Nilai yang tertahan dan risiko tunggakan berkepanjangan</a:t>
            </a:r>
            <a:endParaRPr lang="en-US" sz="1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
        <p:nvSpPr>
          <p:cNvPr id="26" name="panel keputusan">
            <a:extLst>
              <a:ext uri="{FF2B5EF4-FFF2-40B4-BE49-F238E27FC236}">
                <a16:creationId xmlns:a16="http://schemas.microsoft.com/office/drawing/2014/main" id="{7F95C7C3-67D9-1099-3541-EACB28F4594B}"/>
              </a:ext>
            </a:extLst>
          </p:cNvPr>
          <p:cNvSpPr/>
          <p:nvPr/>
        </p:nvSpPr>
        <p:spPr>
          <a:xfrm>
            <a:off x="7740502" y="2834641"/>
            <a:ext cx="3872378" cy="2194560"/>
          </a:xfrm>
          <a:prstGeom prst="roundRect">
            <a:avLst>
              <a:gd name="adj" fmla="val 2581"/>
            </a:avLst>
          </a:prstGeom>
          <a:solidFill>
            <a:schemeClr val="tx2"/>
          </a:solidFill>
          <a:ln/>
        </p:spPr>
        <p:txBody>
          <a:bodyPr/>
          <a:lstStyle/>
          <a:p>
            <a:r>
              <a:rPr lang="en-US" sz="1600" b="1" dirty="0">
                <a:solidFill>
                  <a:schemeClr val="bg1"/>
                </a:solidFill>
              </a:rPr>
              <a:t>NPI rate: </a:t>
            </a:r>
          </a:p>
          <a:p>
            <a:r>
              <a:rPr lang="en-US" sz="1600" dirty="0">
                <a:solidFill>
                  <a:schemeClr val="bg1"/>
                </a:solidFill>
              </a:rPr>
              <a:t>(Invoice </a:t>
            </a:r>
            <a:r>
              <a:rPr lang="en-US" sz="1600" dirty="0" err="1">
                <a:solidFill>
                  <a:schemeClr val="bg1"/>
                </a:solidFill>
              </a:rPr>
              <a:t>utama</a:t>
            </a:r>
            <a:r>
              <a:rPr lang="en-US" sz="1600" dirty="0">
                <a:solidFill>
                  <a:schemeClr val="bg1"/>
                </a:solidFill>
              </a:rPr>
              <a:t> </a:t>
            </a:r>
            <a:r>
              <a:rPr lang="en-US" sz="1600" dirty="0" err="1">
                <a:solidFill>
                  <a:schemeClr val="bg1"/>
                </a:solidFill>
              </a:rPr>
              <a:t>berstatus</a:t>
            </a:r>
            <a:r>
              <a:rPr lang="en-US" sz="1600" dirty="0">
                <a:solidFill>
                  <a:schemeClr val="bg1"/>
                </a:solidFill>
              </a:rPr>
              <a:t> Unpaid </a:t>
            </a:r>
            <a:r>
              <a:rPr lang="en-US" sz="1600" dirty="0" err="1">
                <a:solidFill>
                  <a:schemeClr val="bg1"/>
                </a:solidFill>
              </a:rPr>
              <a:t>atau</a:t>
            </a:r>
            <a:r>
              <a:rPr lang="en-US" sz="1600" dirty="0">
                <a:solidFill>
                  <a:schemeClr val="bg1"/>
                </a:solidFill>
              </a:rPr>
              <a:t> Overdue) ÷ </a:t>
            </a:r>
            <a:r>
              <a:rPr lang="en-US" sz="1600" dirty="0" err="1">
                <a:solidFill>
                  <a:schemeClr val="bg1"/>
                </a:solidFill>
              </a:rPr>
              <a:t>seluruh</a:t>
            </a:r>
            <a:r>
              <a:rPr lang="en-US" sz="1600" dirty="0">
                <a:solidFill>
                  <a:schemeClr val="bg1"/>
                </a:solidFill>
              </a:rPr>
              <a:t> invoice </a:t>
            </a:r>
            <a:r>
              <a:rPr lang="en-US" sz="1600" dirty="0" err="1">
                <a:solidFill>
                  <a:schemeClr val="bg1"/>
                </a:solidFill>
              </a:rPr>
              <a:t>utama</a:t>
            </a:r>
            <a:r>
              <a:rPr lang="en-US" sz="1600" dirty="0">
                <a:solidFill>
                  <a:schemeClr val="bg1"/>
                </a:solidFill>
              </a:rPr>
              <a:t>.</a:t>
            </a:r>
          </a:p>
          <a:p>
            <a:r>
              <a:rPr lang="en-US" sz="1400" dirty="0">
                <a:solidFill>
                  <a:schemeClr val="bg1"/>
                </a:solidFill>
              </a:rPr>
              <a:t>Note:</a:t>
            </a:r>
          </a:p>
          <a:p>
            <a:pPr marL="285750" indent="-285750">
              <a:buFont typeface="Arial" panose="020B0604020202020204" pitchFamily="34" charset="0"/>
              <a:buChar char="•"/>
            </a:pPr>
            <a:r>
              <a:rPr lang="en-US" sz="1400" dirty="0">
                <a:solidFill>
                  <a:schemeClr val="bg1"/>
                </a:solidFill>
              </a:rPr>
              <a:t>Status per 27 Jan 2025. </a:t>
            </a:r>
          </a:p>
          <a:p>
            <a:pPr marL="285750" indent="-285750">
              <a:buFont typeface="Arial" panose="020B0604020202020204" pitchFamily="34" charset="0"/>
              <a:buChar char="•"/>
            </a:pPr>
            <a:r>
              <a:rPr lang="en-US" sz="1400" dirty="0">
                <a:solidFill>
                  <a:schemeClr val="bg1"/>
                </a:solidFill>
              </a:rPr>
              <a:t>Satu baris = </a:t>
            </a:r>
            <a:r>
              <a:rPr lang="en-US" sz="1400" dirty="0" err="1">
                <a:solidFill>
                  <a:schemeClr val="bg1"/>
                </a:solidFill>
              </a:rPr>
              <a:t>satu</a:t>
            </a:r>
            <a:r>
              <a:rPr lang="en-US" sz="1400" dirty="0">
                <a:solidFill>
                  <a:schemeClr val="bg1"/>
                </a:solidFill>
              </a:rPr>
              <a:t> invoice </a:t>
            </a:r>
            <a:r>
              <a:rPr lang="en-US" sz="1400" dirty="0" err="1">
                <a:solidFill>
                  <a:schemeClr val="bg1"/>
                </a:solidFill>
              </a:rPr>
              <a:t>utama</a:t>
            </a:r>
            <a:r>
              <a:rPr lang="en-US" sz="1400" dirty="0">
                <a:solidFill>
                  <a:schemeClr val="bg1"/>
                </a:solidFill>
              </a:rPr>
              <a:t> per unit per </a:t>
            </a:r>
            <a:r>
              <a:rPr lang="en-US" sz="1400" dirty="0" err="1">
                <a:solidFill>
                  <a:schemeClr val="bg1"/>
                </a:solidFill>
              </a:rPr>
              <a:t>bulan</a:t>
            </a:r>
            <a:r>
              <a:rPr lang="en-US" sz="1400" dirty="0">
                <a:solidFill>
                  <a:schemeClr val="bg1"/>
                </a:solidFill>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lustrasi kawasan" descr="/home/claude/deck2/img/div1.jpg"/>
          <p:cNvPicPr>
            <a:picLocks noChangeAspect="1"/>
          </p:cNvPicPr>
          <p:nvPr/>
        </p:nvPicPr>
        <p:blipFill>
          <a:blip r:embed="rId3"/>
          <a:stretch>
            <a:fillRect/>
          </a:stretch>
        </p:blipFill>
        <p:spPr>
          <a:xfrm>
            <a:off x="0" y="0"/>
            <a:ext cx="12191695" cy="6858000"/>
          </a:xfrm>
          <a:prstGeom prst="rect">
            <a:avLst/>
          </a:prstGeom>
        </p:spPr>
      </p:pic>
      <p:sp>
        <p:nvSpPr>
          <p:cNvPr id="3" name="panel gelap"/>
          <p:cNvSpPr/>
          <p:nvPr/>
        </p:nvSpPr>
        <p:spPr>
          <a:xfrm>
            <a:off x="0" y="0"/>
            <a:ext cx="8138160" cy="6858000"/>
          </a:xfrm>
          <a:prstGeom prst="rect">
            <a:avLst/>
          </a:prstGeom>
          <a:solidFill>
            <a:srgbClr val="13294B">
              <a:alpha val="90000"/>
            </a:srgbClr>
          </a:solidFill>
          <a:ln/>
        </p:spPr>
        <p:txBody>
          <a:bodyPr/>
          <a:lstStyle/>
          <a:p>
            <a:endParaRPr lang="en-US"/>
          </a:p>
        </p:txBody>
      </p:sp>
      <p:sp>
        <p:nvSpPr>
          <p:cNvPr id="4" name="Text 1"/>
          <p:cNvSpPr txBox="1"/>
          <p:nvPr/>
        </p:nvSpPr>
        <p:spPr>
          <a:xfrm>
            <a:off x="731520" y="1828800"/>
            <a:ext cx="2743200" cy="822960"/>
          </a:xfrm>
          <a:prstGeom prst="rect">
            <a:avLst/>
          </a:prstGeom>
          <a:noFill/>
          <a:ln/>
        </p:spPr>
        <p:txBody>
          <a:bodyPr wrap="square" lIns="0" tIns="0" rIns="0" bIns="0" rtlCol="0" anchor="t"/>
          <a:lstStyle/>
          <a:p>
            <a:pPr marL="0" indent="0">
              <a:buNone/>
            </a:pPr>
            <a:r>
              <a:rPr lang="en-US" sz="4800" b="1" dirty="0">
                <a:solidFill>
                  <a:schemeClr val="accent2"/>
                </a:solidFill>
              </a:rPr>
              <a:t>02</a:t>
            </a:r>
            <a:endParaRPr lang="en-US" sz="4800" dirty="0"/>
          </a:p>
        </p:txBody>
      </p:sp>
      <p:sp>
        <p:nvSpPr>
          <p:cNvPr id="5" name="Text 0"/>
          <p:cNvSpPr>
            <a:spLocks noGrp="1"/>
          </p:cNvSpPr>
          <p:nvPr>
            <p:ph type="title" idx="100" hasCustomPrompt="1"/>
          </p:nvPr>
        </p:nvSpPr>
        <p:spPr>
          <a:xfrm>
            <a:off x="731520" y="2788920"/>
            <a:ext cx="6949440" cy="1188720"/>
          </a:xfrm>
          <a:prstGeom prst="rect">
            <a:avLst/>
          </a:prstGeom>
          <a:noFill/>
          <a:ln/>
        </p:spPr>
        <p:txBody>
          <a:bodyPr wrap="square" lIns="0" tIns="0" rIns="0" bIns="0" rtlCol="0" anchor="t"/>
          <a:lstStyle/>
          <a:p>
            <a:pPr marL="0" indent="0" algn="l">
              <a:buNone/>
            </a:pPr>
            <a:r>
              <a:rPr lang="en-US" sz="4000" b="1" dirty="0">
                <a:solidFill>
                  <a:schemeClr val="bg1"/>
                </a:solidFill>
              </a:rPr>
              <a:t>Data, metodologi &amp; kualitas data</a:t>
            </a:r>
            <a:endParaRPr lang="en-US" sz="4000" dirty="0"/>
          </a:p>
        </p:txBody>
      </p:sp>
      <p:sp>
        <p:nvSpPr>
          <p:cNvPr id="6" name="Text 0"/>
          <p:cNvSpPr>
            <a:spLocks noGrp="1"/>
          </p:cNvSpPr>
          <p:nvPr>
            <p:ph type="body" idx="101" hasCustomPrompt="1"/>
          </p:nvPr>
        </p:nvSpPr>
        <p:spPr>
          <a:xfrm>
            <a:off x="731520" y="4069080"/>
            <a:ext cx="6583680" cy="1097280"/>
          </a:xfrm>
          <a:prstGeom prst="rect">
            <a:avLst/>
          </a:prstGeom>
          <a:noFill/>
          <a:ln/>
        </p:spPr>
        <p:txBody>
          <a:bodyPr wrap="square" lIns="0" tIns="0" rIns="0" bIns="0" rtlCol="0" anchor="t"/>
          <a:lstStyle/>
          <a:p>
            <a:pPr marL="0" indent="0" algn="l">
              <a:buNone/>
            </a:pPr>
            <a:r>
              <a:rPr lang="en-US" sz="1800" dirty="0">
                <a:solidFill>
                  <a:schemeClr val="bg1"/>
                </a:solidFill>
              </a:rPr>
              <a:t>Cakupan data, unit analisis, dan kualitas data yang memengaruhi angka</a:t>
            </a:r>
            <a:endParaRPr lang="en-US" sz="18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C9D3E0"/>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DATA SCOPE</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dirty="0" err="1"/>
              <a:t>Terdapat</a:t>
            </a:r>
            <a:r>
              <a:rPr lang="en-US" dirty="0"/>
              <a:t> 5 Dataset </a:t>
            </a:r>
            <a:r>
              <a:rPr lang="en-US" dirty="0" err="1"/>
              <a:t>Terkait</a:t>
            </a:r>
            <a:r>
              <a:rPr lang="en-US" dirty="0"/>
              <a:t> NPI</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endParaRPr lang="en-US" sz="1000" dirty="0"/>
          </a:p>
        </p:txBody>
      </p:sp>
      <p:sp>
        <p:nvSpPr>
          <p:cNvPr id="5" name="kpi township"/>
          <p:cNvSpPr/>
          <p:nvPr/>
        </p:nvSpPr>
        <p:spPr>
          <a:xfrm>
            <a:off x="548640" y="1645920"/>
            <a:ext cx="2011680" cy="1188720"/>
          </a:xfrm>
          <a:prstGeom prst="roundRect">
            <a:avLst>
              <a:gd name="adj" fmla="val 6154"/>
            </a:avLst>
          </a:prstGeom>
          <a:solidFill>
            <a:schemeClr val="bg1"/>
          </a:solidFill>
          <a:ln w="9525">
            <a:solidFill>
              <a:schemeClr val="accent1"/>
            </a:solidFill>
            <a:prstDash val="solid"/>
          </a:ln>
          <a:effectLst>
            <a:outerShdw blurRad="76200" dist="25400" dir="5400000" algn="bl" rotWithShape="0">
              <a:srgbClr val="13294B">
                <a:alpha val="10000"/>
              </a:srgbClr>
            </a:outerShdw>
          </a:effectLst>
        </p:spPr>
        <p:txBody>
          <a:bodyPr/>
          <a:lstStyle/>
          <a:p>
            <a:endParaRPr lang="en-US"/>
          </a:p>
        </p:txBody>
      </p:sp>
      <p:sp>
        <p:nvSpPr>
          <p:cNvPr id="6" name="Text 4"/>
          <p:cNvSpPr txBox="1"/>
          <p:nvPr/>
        </p:nvSpPr>
        <p:spPr>
          <a:xfrm>
            <a:off x="777240" y="1783080"/>
            <a:ext cx="1554480" cy="534924"/>
          </a:xfrm>
          <a:prstGeom prst="rect">
            <a:avLst/>
          </a:prstGeom>
          <a:noFill/>
          <a:ln/>
        </p:spPr>
        <p:txBody>
          <a:bodyPr wrap="square" lIns="0" tIns="0" rIns="0" bIns="0" rtlCol="0" anchor="ctr">
            <a:normAutofit/>
          </a:bodyPr>
          <a:lstStyle/>
          <a:p>
            <a:pPr marL="0" indent="0">
              <a:buNone/>
            </a:pPr>
            <a:r>
              <a:rPr lang="en-US" sz="2800" b="1" dirty="0">
                <a:solidFill>
                  <a:schemeClr val="tx2"/>
                </a:solidFill>
              </a:rPr>
              <a:t>5</a:t>
            </a:r>
            <a:endParaRPr lang="en-US" sz="2800" dirty="0"/>
          </a:p>
        </p:txBody>
      </p:sp>
      <p:sp>
        <p:nvSpPr>
          <p:cNvPr id="7" name="Text 5"/>
          <p:cNvSpPr txBox="1"/>
          <p:nvPr/>
        </p:nvSpPr>
        <p:spPr>
          <a:xfrm>
            <a:off x="777240" y="2345436"/>
            <a:ext cx="1554480" cy="379476"/>
          </a:xfrm>
          <a:prstGeom prst="rect">
            <a:avLst/>
          </a:prstGeom>
          <a:noFill/>
          <a:ln/>
        </p:spPr>
        <p:txBody>
          <a:bodyPr wrap="square" lIns="0" tIns="0" rIns="0" bIns="0" rtlCol="0" anchor="t">
            <a:normAutofit/>
          </a:bodyPr>
          <a:lstStyle/>
          <a:p>
            <a:pPr marL="0" indent="0">
              <a:buNone/>
            </a:pPr>
            <a:r>
              <a:rPr lang="en-US" sz="1200" dirty="0">
                <a:solidFill>
                  <a:schemeClr val="accent6"/>
                </a:solidFill>
              </a:rPr>
              <a:t>township</a:t>
            </a:r>
            <a:endParaRPr lang="en-US" sz="1200" dirty="0"/>
          </a:p>
        </p:txBody>
      </p:sp>
      <p:sp>
        <p:nvSpPr>
          <p:cNvPr id="8" name="kpi cluster"/>
          <p:cNvSpPr/>
          <p:nvPr/>
        </p:nvSpPr>
        <p:spPr>
          <a:xfrm>
            <a:off x="2788920" y="1645920"/>
            <a:ext cx="2011680" cy="1188720"/>
          </a:xfrm>
          <a:prstGeom prst="roundRect">
            <a:avLst>
              <a:gd name="adj" fmla="val 6154"/>
            </a:avLst>
          </a:prstGeom>
          <a:solidFill>
            <a:schemeClr val="bg1"/>
          </a:solidFill>
          <a:ln w="9525">
            <a:solidFill>
              <a:schemeClr val="accent1"/>
            </a:solidFill>
            <a:prstDash val="solid"/>
          </a:ln>
          <a:effectLst>
            <a:outerShdw blurRad="76200" dist="25400" dir="5400000" algn="bl" rotWithShape="0">
              <a:srgbClr val="13294B">
                <a:alpha val="10000"/>
              </a:srgbClr>
            </a:outerShdw>
          </a:effectLst>
        </p:spPr>
        <p:txBody>
          <a:bodyPr/>
          <a:lstStyle/>
          <a:p>
            <a:endParaRPr lang="en-US"/>
          </a:p>
        </p:txBody>
      </p:sp>
      <p:sp>
        <p:nvSpPr>
          <p:cNvPr id="9" name="Text 7"/>
          <p:cNvSpPr txBox="1"/>
          <p:nvPr/>
        </p:nvSpPr>
        <p:spPr>
          <a:xfrm>
            <a:off x="3017520" y="1783080"/>
            <a:ext cx="1554480" cy="534924"/>
          </a:xfrm>
          <a:prstGeom prst="rect">
            <a:avLst/>
          </a:prstGeom>
          <a:noFill/>
          <a:ln/>
        </p:spPr>
        <p:txBody>
          <a:bodyPr wrap="square" lIns="0" tIns="0" rIns="0" bIns="0" rtlCol="0" anchor="ctr">
            <a:normAutofit/>
          </a:bodyPr>
          <a:lstStyle/>
          <a:p>
            <a:pPr marL="0" indent="0">
              <a:buNone/>
            </a:pPr>
            <a:r>
              <a:rPr lang="en-US" sz="2800" b="1" dirty="0">
                <a:solidFill>
                  <a:schemeClr val="tx2"/>
                </a:solidFill>
              </a:rPr>
              <a:t>111</a:t>
            </a:r>
            <a:endParaRPr lang="en-US" sz="2800" dirty="0"/>
          </a:p>
        </p:txBody>
      </p:sp>
      <p:sp>
        <p:nvSpPr>
          <p:cNvPr id="10" name="Text 8"/>
          <p:cNvSpPr txBox="1"/>
          <p:nvPr/>
        </p:nvSpPr>
        <p:spPr>
          <a:xfrm>
            <a:off x="3017520" y="2345436"/>
            <a:ext cx="1554480" cy="379476"/>
          </a:xfrm>
          <a:prstGeom prst="rect">
            <a:avLst/>
          </a:prstGeom>
          <a:noFill/>
          <a:ln/>
        </p:spPr>
        <p:txBody>
          <a:bodyPr wrap="square" lIns="0" tIns="0" rIns="0" bIns="0" rtlCol="0" anchor="t">
            <a:normAutofit/>
          </a:bodyPr>
          <a:lstStyle/>
          <a:p>
            <a:pPr marL="0" indent="0">
              <a:buNone/>
            </a:pPr>
            <a:r>
              <a:rPr lang="en-US" sz="1200" dirty="0">
                <a:solidFill>
                  <a:schemeClr val="accent6"/>
                </a:solidFill>
              </a:rPr>
              <a:t>cluster</a:t>
            </a:r>
            <a:endParaRPr lang="en-US" sz="1200" dirty="0"/>
          </a:p>
        </p:txBody>
      </p:sp>
      <p:sp>
        <p:nvSpPr>
          <p:cNvPr id="11" name="kpi unit"/>
          <p:cNvSpPr/>
          <p:nvPr/>
        </p:nvSpPr>
        <p:spPr>
          <a:xfrm>
            <a:off x="5029200" y="1645920"/>
            <a:ext cx="2011680" cy="1188720"/>
          </a:xfrm>
          <a:prstGeom prst="roundRect">
            <a:avLst>
              <a:gd name="adj" fmla="val 6154"/>
            </a:avLst>
          </a:prstGeom>
          <a:solidFill>
            <a:schemeClr val="bg1"/>
          </a:solidFill>
          <a:ln w="9525">
            <a:solidFill>
              <a:schemeClr val="accent1"/>
            </a:solidFill>
            <a:prstDash val="solid"/>
          </a:ln>
          <a:effectLst>
            <a:outerShdw blurRad="76200" dist="25400" dir="5400000" algn="bl" rotWithShape="0">
              <a:srgbClr val="13294B">
                <a:alpha val="10000"/>
              </a:srgbClr>
            </a:outerShdw>
          </a:effectLst>
        </p:spPr>
        <p:txBody>
          <a:bodyPr/>
          <a:lstStyle/>
          <a:p>
            <a:endParaRPr lang="en-US"/>
          </a:p>
        </p:txBody>
      </p:sp>
      <p:sp>
        <p:nvSpPr>
          <p:cNvPr id="12" name="Text 10"/>
          <p:cNvSpPr txBox="1"/>
          <p:nvPr/>
        </p:nvSpPr>
        <p:spPr>
          <a:xfrm>
            <a:off x="5257800" y="1783080"/>
            <a:ext cx="1554480" cy="534924"/>
          </a:xfrm>
          <a:prstGeom prst="rect">
            <a:avLst/>
          </a:prstGeom>
          <a:noFill/>
          <a:ln/>
        </p:spPr>
        <p:txBody>
          <a:bodyPr wrap="square" lIns="0" tIns="0" rIns="0" bIns="0" rtlCol="0" anchor="ctr">
            <a:normAutofit/>
          </a:bodyPr>
          <a:lstStyle/>
          <a:p>
            <a:pPr marL="0" indent="0">
              <a:buNone/>
            </a:pPr>
            <a:r>
              <a:rPr lang="en-US" sz="2800" b="1" dirty="0">
                <a:solidFill>
                  <a:schemeClr val="tx2"/>
                </a:solidFill>
              </a:rPr>
              <a:t>28.881</a:t>
            </a:r>
            <a:endParaRPr lang="en-US" sz="2800" dirty="0"/>
          </a:p>
        </p:txBody>
      </p:sp>
      <p:sp>
        <p:nvSpPr>
          <p:cNvPr id="13" name="Text 11"/>
          <p:cNvSpPr txBox="1"/>
          <p:nvPr/>
        </p:nvSpPr>
        <p:spPr>
          <a:xfrm>
            <a:off x="5257800" y="2345436"/>
            <a:ext cx="1554480" cy="379476"/>
          </a:xfrm>
          <a:prstGeom prst="rect">
            <a:avLst/>
          </a:prstGeom>
          <a:noFill/>
          <a:ln/>
        </p:spPr>
        <p:txBody>
          <a:bodyPr wrap="square" lIns="0" tIns="0" rIns="0" bIns="0" rtlCol="0" anchor="t">
            <a:normAutofit/>
          </a:bodyPr>
          <a:lstStyle/>
          <a:p>
            <a:pPr marL="0" indent="0">
              <a:buNone/>
            </a:pPr>
            <a:r>
              <a:rPr lang="en-US" sz="1200" dirty="0">
                <a:solidFill>
                  <a:schemeClr val="accent6"/>
                </a:solidFill>
              </a:rPr>
              <a:t>unit</a:t>
            </a:r>
            <a:endParaRPr lang="en-US" sz="1200" dirty="0"/>
          </a:p>
        </p:txBody>
      </p:sp>
      <p:sp>
        <p:nvSpPr>
          <p:cNvPr id="14" name="kpi baris billing awal"/>
          <p:cNvSpPr/>
          <p:nvPr/>
        </p:nvSpPr>
        <p:spPr>
          <a:xfrm>
            <a:off x="7269480" y="1645920"/>
            <a:ext cx="2011680" cy="1188720"/>
          </a:xfrm>
          <a:prstGeom prst="roundRect">
            <a:avLst>
              <a:gd name="adj" fmla="val 6154"/>
            </a:avLst>
          </a:prstGeom>
          <a:solidFill>
            <a:schemeClr val="bg1"/>
          </a:solidFill>
          <a:ln w="9525">
            <a:solidFill>
              <a:schemeClr val="accent1"/>
            </a:solidFill>
            <a:prstDash val="solid"/>
          </a:ln>
          <a:effectLst>
            <a:outerShdw blurRad="76200" dist="25400" dir="5400000" algn="bl" rotWithShape="0">
              <a:srgbClr val="13294B">
                <a:alpha val="10000"/>
              </a:srgbClr>
            </a:outerShdw>
          </a:effectLst>
        </p:spPr>
        <p:txBody>
          <a:bodyPr/>
          <a:lstStyle/>
          <a:p>
            <a:endParaRPr lang="en-US"/>
          </a:p>
        </p:txBody>
      </p:sp>
      <p:sp>
        <p:nvSpPr>
          <p:cNvPr id="15" name="Text 13"/>
          <p:cNvSpPr txBox="1"/>
          <p:nvPr/>
        </p:nvSpPr>
        <p:spPr>
          <a:xfrm>
            <a:off x="7498080" y="1783080"/>
            <a:ext cx="1554480" cy="534924"/>
          </a:xfrm>
          <a:prstGeom prst="rect">
            <a:avLst/>
          </a:prstGeom>
          <a:noFill/>
          <a:ln/>
        </p:spPr>
        <p:txBody>
          <a:bodyPr wrap="square" lIns="0" tIns="0" rIns="0" bIns="0" rtlCol="0" anchor="ctr">
            <a:normAutofit/>
          </a:bodyPr>
          <a:lstStyle/>
          <a:p>
            <a:pPr marL="0" indent="0">
              <a:buNone/>
            </a:pPr>
            <a:r>
              <a:rPr lang="en-US" sz="2800" b="1" dirty="0">
                <a:solidFill>
                  <a:schemeClr val="tx2"/>
                </a:solidFill>
              </a:rPr>
              <a:t>807.427</a:t>
            </a:r>
            <a:endParaRPr lang="en-US" sz="2800" dirty="0"/>
          </a:p>
        </p:txBody>
      </p:sp>
      <p:sp>
        <p:nvSpPr>
          <p:cNvPr id="16" name="Text 14"/>
          <p:cNvSpPr txBox="1"/>
          <p:nvPr/>
        </p:nvSpPr>
        <p:spPr>
          <a:xfrm>
            <a:off x="7498080" y="2345436"/>
            <a:ext cx="1554480" cy="379476"/>
          </a:xfrm>
          <a:prstGeom prst="rect">
            <a:avLst/>
          </a:prstGeom>
          <a:noFill/>
          <a:ln/>
        </p:spPr>
        <p:txBody>
          <a:bodyPr wrap="square" lIns="0" tIns="0" rIns="0" bIns="0" rtlCol="0" anchor="t">
            <a:normAutofit/>
          </a:bodyPr>
          <a:lstStyle/>
          <a:p>
            <a:pPr marL="0" indent="0">
              <a:buNone/>
            </a:pPr>
            <a:r>
              <a:rPr lang="en-US" sz="1200" dirty="0">
                <a:solidFill>
                  <a:schemeClr val="accent6"/>
                </a:solidFill>
              </a:rPr>
              <a:t>baris billing awal</a:t>
            </a:r>
            <a:endParaRPr lang="en-US" sz="1200" dirty="0"/>
          </a:p>
        </p:txBody>
      </p:sp>
      <p:sp>
        <p:nvSpPr>
          <p:cNvPr id="17" name="kpi invoice utama dianalisis"/>
          <p:cNvSpPr/>
          <p:nvPr/>
        </p:nvSpPr>
        <p:spPr>
          <a:xfrm>
            <a:off x="9509760" y="1645920"/>
            <a:ext cx="2011680" cy="1188720"/>
          </a:xfrm>
          <a:prstGeom prst="roundRect">
            <a:avLst>
              <a:gd name="adj" fmla="val 6154"/>
            </a:avLst>
          </a:prstGeom>
          <a:solidFill>
            <a:schemeClr val="bg1"/>
          </a:solidFill>
          <a:ln w="9525">
            <a:solidFill>
              <a:schemeClr val="accent1"/>
            </a:solidFill>
            <a:prstDash val="solid"/>
          </a:ln>
          <a:effectLst>
            <a:outerShdw blurRad="76200" dist="25400" dir="5400000" algn="bl" rotWithShape="0">
              <a:srgbClr val="13294B">
                <a:alpha val="10000"/>
              </a:srgbClr>
            </a:outerShdw>
          </a:effectLst>
        </p:spPr>
        <p:txBody>
          <a:bodyPr/>
          <a:lstStyle/>
          <a:p>
            <a:endParaRPr lang="en-US"/>
          </a:p>
        </p:txBody>
      </p:sp>
      <p:sp>
        <p:nvSpPr>
          <p:cNvPr id="18" name="Text 16"/>
          <p:cNvSpPr txBox="1"/>
          <p:nvPr/>
        </p:nvSpPr>
        <p:spPr>
          <a:xfrm>
            <a:off x="9738360" y="1783080"/>
            <a:ext cx="1554480" cy="534924"/>
          </a:xfrm>
          <a:prstGeom prst="rect">
            <a:avLst/>
          </a:prstGeom>
          <a:noFill/>
          <a:ln/>
        </p:spPr>
        <p:txBody>
          <a:bodyPr wrap="square" lIns="0" tIns="0" rIns="0" bIns="0" rtlCol="0" anchor="ctr">
            <a:normAutofit/>
          </a:bodyPr>
          <a:lstStyle/>
          <a:p>
            <a:pPr marL="0" indent="0">
              <a:buNone/>
            </a:pPr>
            <a:r>
              <a:rPr lang="en-US" sz="2800" b="1" dirty="0">
                <a:solidFill>
                  <a:schemeClr val="accent3"/>
                </a:solidFill>
              </a:rPr>
              <a:t>768.978</a:t>
            </a:r>
            <a:endParaRPr lang="en-US" sz="2800" dirty="0"/>
          </a:p>
        </p:txBody>
      </p:sp>
      <p:sp>
        <p:nvSpPr>
          <p:cNvPr id="19" name="Text 17"/>
          <p:cNvSpPr txBox="1"/>
          <p:nvPr/>
        </p:nvSpPr>
        <p:spPr>
          <a:xfrm>
            <a:off x="9738360" y="2345436"/>
            <a:ext cx="1554480" cy="379476"/>
          </a:xfrm>
          <a:prstGeom prst="rect">
            <a:avLst/>
          </a:prstGeom>
          <a:noFill/>
          <a:ln/>
        </p:spPr>
        <p:txBody>
          <a:bodyPr wrap="square" lIns="0" tIns="0" rIns="0" bIns="0" rtlCol="0" anchor="t">
            <a:normAutofit/>
          </a:bodyPr>
          <a:lstStyle/>
          <a:p>
            <a:pPr marL="0" indent="0">
              <a:buNone/>
            </a:pPr>
            <a:r>
              <a:rPr lang="en-US" sz="1200" dirty="0">
                <a:solidFill>
                  <a:schemeClr val="accent6"/>
                </a:solidFill>
              </a:rPr>
              <a:t>invoice utama dianalisis</a:t>
            </a:r>
            <a:endParaRPr lang="en-US" sz="1200" dirty="0"/>
          </a:p>
        </p:txBody>
      </p:sp>
      <p:sp>
        <p:nvSpPr>
          <p:cNvPr id="20" name="tabel sml_clusters"/>
          <p:cNvSpPr/>
          <p:nvPr/>
        </p:nvSpPr>
        <p:spPr>
          <a:xfrm>
            <a:off x="548640" y="3291840"/>
            <a:ext cx="1783080" cy="960120"/>
          </a:xfrm>
          <a:prstGeom prst="roundRect">
            <a:avLst>
              <a:gd name="adj" fmla="val 7619"/>
            </a:avLst>
          </a:prstGeom>
          <a:solidFill>
            <a:schemeClr val="bg1"/>
          </a:solidFill>
          <a:ln w="9525">
            <a:solidFill>
              <a:schemeClr val="accent1"/>
            </a:solidFill>
            <a:prstDash val="solid"/>
          </a:ln>
          <a:effectLst>
            <a:outerShdw blurRad="76200" dist="25400" dir="5400000" algn="bl" rotWithShape="0">
              <a:srgbClr val="13294B">
                <a:alpha val="10000"/>
              </a:srgbClr>
            </a:outerShdw>
          </a:effectLst>
        </p:spPr>
        <p:txBody>
          <a:bodyPr/>
          <a:lstStyle/>
          <a:p>
            <a:endParaRPr lang="en-US"/>
          </a:p>
        </p:txBody>
      </p:sp>
      <p:sp>
        <p:nvSpPr>
          <p:cNvPr id="21" name="Text 19"/>
          <p:cNvSpPr txBox="1"/>
          <p:nvPr/>
        </p:nvSpPr>
        <p:spPr>
          <a:xfrm>
            <a:off x="658368" y="3383280"/>
            <a:ext cx="1600200" cy="320040"/>
          </a:xfrm>
          <a:prstGeom prst="rect">
            <a:avLst/>
          </a:prstGeom>
          <a:noFill/>
          <a:ln/>
        </p:spPr>
        <p:txBody>
          <a:bodyPr wrap="square" lIns="0" tIns="0" rIns="0" bIns="0" rtlCol="0" anchor="t">
            <a:normAutofit/>
          </a:bodyPr>
          <a:lstStyle/>
          <a:p>
            <a:pPr marL="0" indent="0">
              <a:buNone/>
            </a:pPr>
            <a:r>
              <a:rPr lang="en-US" sz="1200" b="1" dirty="0">
                <a:solidFill>
                  <a:schemeClr val="tx2"/>
                </a:solidFill>
              </a:rPr>
              <a:t>sml_clusters</a:t>
            </a:r>
            <a:endParaRPr lang="en-US" sz="1200" dirty="0"/>
          </a:p>
        </p:txBody>
      </p:sp>
      <p:sp>
        <p:nvSpPr>
          <p:cNvPr id="22" name="Text 20"/>
          <p:cNvSpPr txBox="1"/>
          <p:nvPr/>
        </p:nvSpPr>
        <p:spPr>
          <a:xfrm>
            <a:off x="658368" y="3721608"/>
            <a:ext cx="1600200" cy="457200"/>
          </a:xfrm>
          <a:prstGeom prst="rect">
            <a:avLst/>
          </a:prstGeom>
          <a:noFill/>
          <a:ln/>
        </p:spPr>
        <p:txBody>
          <a:bodyPr wrap="square" lIns="0" tIns="0" rIns="0" bIns="0" rtlCol="0" anchor="t"/>
          <a:lstStyle/>
          <a:p>
            <a:pPr marL="0" indent="0">
              <a:buNone/>
            </a:pPr>
            <a:r>
              <a:rPr lang="en-US" sz="1000" dirty="0" err="1">
                <a:solidFill>
                  <a:schemeClr val="accent6"/>
                </a:solidFill>
              </a:rPr>
              <a:t>kawasan</a:t>
            </a:r>
            <a:r>
              <a:rPr lang="en-US" sz="1000" dirty="0">
                <a:solidFill>
                  <a:schemeClr val="accent6"/>
                </a:solidFill>
              </a:rPr>
              <a:t> (PK cluster_id)</a:t>
            </a:r>
            <a:endParaRPr lang="en-US" sz="1000" dirty="0"/>
          </a:p>
        </p:txBody>
      </p:sp>
      <p:sp>
        <p:nvSpPr>
          <p:cNvPr id="23" name="tabel sml_units"/>
          <p:cNvSpPr/>
          <p:nvPr/>
        </p:nvSpPr>
        <p:spPr>
          <a:xfrm>
            <a:off x="2697480" y="3291840"/>
            <a:ext cx="1783080" cy="960120"/>
          </a:xfrm>
          <a:prstGeom prst="roundRect">
            <a:avLst>
              <a:gd name="adj" fmla="val 7619"/>
            </a:avLst>
          </a:prstGeom>
          <a:solidFill>
            <a:schemeClr val="bg1"/>
          </a:solidFill>
          <a:ln w="9525">
            <a:solidFill>
              <a:schemeClr val="accent1"/>
            </a:solidFill>
            <a:prstDash val="solid"/>
          </a:ln>
          <a:effectLst>
            <a:outerShdw blurRad="76200" dist="25400" dir="5400000" algn="bl" rotWithShape="0">
              <a:srgbClr val="13294B">
                <a:alpha val="10000"/>
              </a:srgbClr>
            </a:outerShdw>
          </a:effectLst>
        </p:spPr>
        <p:txBody>
          <a:bodyPr/>
          <a:lstStyle/>
          <a:p>
            <a:endParaRPr lang="en-US"/>
          </a:p>
        </p:txBody>
      </p:sp>
      <p:sp>
        <p:nvSpPr>
          <p:cNvPr id="24" name="Text 22"/>
          <p:cNvSpPr txBox="1"/>
          <p:nvPr/>
        </p:nvSpPr>
        <p:spPr>
          <a:xfrm>
            <a:off x="2807208" y="3383280"/>
            <a:ext cx="1600200" cy="320040"/>
          </a:xfrm>
          <a:prstGeom prst="rect">
            <a:avLst/>
          </a:prstGeom>
          <a:noFill/>
          <a:ln/>
        </p:spPr>
        <p:txBody>
          <a:bodyPr wrap="square" lIns="0" tIns="0" rIns="0" bIns="0" rtlCol="0" anchor="t">
            <a:normAutofit/>
          </a:bodyPr>
          <a:lstStyle/>
          <a:p>
            <a:pPr marL="0" indent="0">
              <a:buNone/>
            </a:pPr>
            <a:r>
              <a:rPr lang="en-US" sz="1200" b="1" dirty="0">
                <a:solidFill>
                  <a:schemeClr val="tx2"/>
                </a:solidFill>
              </a:rPr>
              <a:t>sml_units</a:t>
            </a:r>
            <a:endParaRPr lang="en-US" sz="1200" dirty="0"/>
          </a:p>
        </p:txBody>
      </p:sp>
      <p:sp>
        <p:nvSpPr>
          <p:cNvPr id="25" name="Text 23"/>
          <p:cNvSpPr txBox="1"/>
          <p:nvPr/>
        </p:nvSpPr>
        <p:spPr>
          <a:xfrm>
            <a:off x="2807208" y="3721608"/>
            <a:ext cx="1600200" cy="457200"/>
          </a:xfrm>
          <a:prstGeom prst="rect">
            <a:avLst/>
          </a:prstGeom>
          <a:noFill/>
          <a:ln/>
        </p:spPr>
        <p:txBody>
          <a:bodyPr wrap="square" lIns="0" tIns="0" rIns="0" bIns="0" rtlCol="0" anchor="t"/>
          <a:lstStyle/>
          <a:p>
            <a:pPr marL="0" indent="0">
              <a:buNone/>
            </a:pPr>
            <a:r>
              <a:rPr lang="en-US" sz="1000" dirty="0">
                <a:solidFill>
                  <a:schemeClr val="accent6"/>
                </a:solidFill>
              </a:rPr>
              <a:t>unit &amp; pemilik (PK unit_id)</a:t>
            </a:r>
            <a:endParaRPr lang="en-US" sz="1000" dirty="0"/>
          </a:p>
        </p:txBody>
      </p:sp>
      <p:sp>
        <p:nvSpPr>
          <p:cNvPr id="26" name="tabel sml_ipl_billings"/>
          <p:cNvSpPr/>
          <p:nvPr/>
        </p:nvSpPr>
        <p:spPr>
          <a:xfrm>
            <a:off x="4846320" y="3291840"/>
            <a:ext cx="1783080" cy="960120"/>
          </a:xfrm>
          <a:prstGeom prst="roundRect">
            <a:avLst>
              <a:gd name="adj" fmla="val 7619"/>
            </a:avLst>
          </a:prstGeom>
          <a:solidFill>
            <a:srgbClr val="F3E7BF"/>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27" name="Text 25"/>
          <p:cNvSpPr txBox="1"/>
          <p:nvPr/>
        </p:nvSpPr>
        <p:spPr>
          <a:xfrm>
            <a:off x="4956048" y="3383280"/>
            <a:ext cx="1600200" cy="320040"/>
          </a:xfrm>
          <a:prstGeom prst="rect">
            <a:avLst/>
          </a:prstGeom>
          <a:noFill/>
          <a:ln/>
        </p:spPr>
        <p:txBody>
          <a:bodyPr wrap="square" lIns="0" tIns="0" rIns="0" bIns="0" rtlCol="0" anchor="t">
            <a:normAutofit/>
          </a:bodyPr>
          <a:lstStyle/>
          <a:p>
            <a:pPr marL="0" indent="0">
              <a:buNone/>
            </a:pPr>
            <a:r>
              <a:rPr lang="en-US" sz="1200" b="1" dirty="0">
                <a:solidFill>
                  <a:schemeClr val="tx2"/>
                </a:solidFill>
              </a:rPr>
              <a:t>sml_ipl_billings</a:t>
            </a:r>
            <a:endParaRPr lang="en-US" sz="1200" dirty="0"/>
          </a:p>
        </p:txBody>
      </p:sp>
      <p:sp>
        <p:nvSpPr>
          <p:cNvPr id="28" name="Text 26"/>
          <p:cNvSpPr txBox="1"/>
          <p:nvPr/>
        </p:nvSpPr>
        <p:spPr>
          <a:xfrm>
            <a:off x="4956048" y="3721608"/>
            <a:ext cx="1600200" cy="457200"/>
          </a:xfrm>
          <a:prstGeom prst="rect">
            <a:avLst/>
          </a:prstGeom>
          <a:noFill/>
          <a:ln/>
        </p:spPr>
        <p:txBody>
          <a:bodyPr wrap="square" lIns="0" tIns="0" rIns="0" bIns="0" rtlCol="0" anchor="t"/>
          <a:lstStyle/>
          <a:p>
            <a:pPr marL="0" indent="0">
              <a:buNone/>
            </a:pPr>
            <a:r>
              <a:rPr lang="en-US" sz="1000" dirty="0">
                <a:solidFill>
                  <a:schemeClr val="accent6"/>
                </a:solidFill>
              </a:rPr>
              <a:t>Fakta tagihan bulanan (PK invoice_id)</a:t>
            </a:r>
            <a:endParaRPr lang="en-US" sz="1000" dirty="0"/>
          </a:p>
        </p:txBody>
      </p:sp>
      <p:sp>
        <p:nvSpPr>
          <p:cNvPr id="29" name="tabel sml_collection_actions"/>
          <p:cNvSpPr/>
          <p:nvPr/>
        </p:nvSpPr>
        <p:spPr>
          <a:xfrm>
            <a:off x="3749040" y="4892040"/>
            <a:ext cx="1783080" cy="960120"/>
          </a:xfrm>
          <a:prstGeom prst="roundRect">
            <a:avLst>
              <a:gd name="adj" fmla="val 7619"/>
            </a:avLst>
          </a:prstGeom>
          <a:solidFill>
            <a:schemeClr val="bg1"/>
          </a:solidFill>
          <a:ln w="9525">
            <a:solidFill>
              <a:schemeClr val="accent1"/>
            </a:solidFill>
            <a:prstDash val="solid"/>
          </a:ln>
          <a:effectLst>
            <a:outerShdw blurRad="76200" dist="25400" dir="5400000" algn="bl" rotWithShape="0">
              <a:srgbClr val="13294B">
                <a:alpha val="10000"/>
              </a:srgbClr>
            </a:outerShdw>
          </a:effectLst>
        </p:spPr>
        <p:txBody>
          <a:bodyPr/>
          <a:lstStyle/>
          <a:p>
            <a:endParaRPr lang="en-US"/>
          </a:p>
        </p:txBody>
      </p:sp>
      <p:sp>
        <p:nvSpPr>
          <p:cNvPr id="30" name="Text 28"/>
          <p:cNvSpPr txBox="1"/>
          <p:nvPr/>
        </p:nvSpPr>
        <p:spPr>
          <a:xfrm>
            <a:off x="3858768" y="4983480"/>
            <a:ext cx="1600200" cy="320040"/>
          </a:xfrm>
          <a:prstGeom prst="rect">
            <a:avLst/>
          </a:prstGeom>
          <a:noFill/>
          <a:ln/>
        </p:spPr>
        <p:txBody>
          <a:bodyPr wrap="square" lIns="0" tIns="0" rIns="0" bIns="0" rtlCol="0" anchor="t">
            <a:normAutofit/>
          </a:bodyPr>
          <a:lstStyle/>
          <a:p>
            <a:pPr marL="0" indent="0">
              <a:buNone/>
            </a:pPr>
            <a:r>
              <a:rPr lang="en-US" sz="1200" b="1" dirty="0">
                <a:solidFill>
                  <a:schemeClr val="tx2"/>
                </a:solidFill>
              </a:rPr>
              <a:t>sml_collection_actions</a:t>
            </a:r>
            <a:endParaRPr lang="en-US" sz="1200" dirty="0"/>
          </a:p>
        </p:txBody>
      </p:sp>
      <p:sp>
        <p:nvSpPr>
          <p:cNvPr id="31" name="Text 29"/>
          <p:cNvSpPr txBox="1"/>
          <p:nvPr/>
        </p:nvSpPr>
        <p:spPr>
          <a:xfrm>
            <a:off x="3858768" y="5321808"/>
            <a:ext cx="1600200" cy="457200"/>
          </a:xfrm>
          <a:prstGeom prst="rect">
            <a:avLst/>
          </a:prstGeom>
          <a:noFill/>
          <a:ln/>
        </p:spPr>
        <p:txBody>
          <a:bodyPr wrap="square" lIns="0" tIns="0" rIns="0" bIns="0" rtlCol="0" anchor="t"/>
          <a:lstStyle/>
          <a:p>
            <a:pPr marL="0" indent="0">
              <a:buNone/>
            </a:pPr>
            <a:r>
              <a:rPr lang="en-US" sz="1000" dirty="0">
                <a:solidFill>
                  <a:schemeClr val="accent6"/>
                </a:solidFill>
              </a:rPr>
              <a:t>Aksi penagihan (FK invoice_id)</a:t>
            </a:r>
            <a:endParaRPr lang="en-US" sz="1000" dirty="0"/>
          </a:p>
        </p:txBody>
      </p:sp>
      <p:sp>
        <p:nvSpPr>
          <p:cNvPr id="32" name="tabel sml_payment_disputes"/>
          <p:cNvSpPr/>
          <p:nvPr/>
        </p:nvSpPr>
        <p:spPr>
          <a:xfrm>
            <a:off x="5806440" y="4892040"/>
            <a:ext cx="1783080" cy="960120"/>
          </a:xfrm>
          <a:prstGeom prst="roundRect">
            <a:avLst>
              <a:gd name="adj" fmla="val 7619"/>
            </a:avLst>
          </a:prstGeom>
          <a:solidFill>
            <a:schemeClr val="bg1"/>
          </a:solidFill>
          <a:ln w="9525">
            <a:solidFill>
              <a:schemeClr val="accent1"/>
            </a:solidFill>
            <a:prstDash val="solid"/>
          </a:ln>
          <a:effectLst>
            <a:outerShdw blurRad="76200" dist="25400" dir="5400000" algn="bl" rotWithShape="0">
              <a:srgbClr val="13294B">
                <a:alpha val="10000"/>
              </a:srgbClr>
            </a:outerShdw>
          </a:effectLst>
        </p:spPr>
        <p:txBody>
          <a:bodyPr/>
          <a:lstStyle/>
          <a:p>
            <a:endParaRPr lang="en-US"/>
          </a:p>
        </p:txBody>
      </p:sp>
      <p:sp>
        <p:nvSpPr>
          <p:cNvPr id="33" name="Text 31"/>
          <p:cNvSpPr txBox="1"/>
          <p:nvPr/>
        </p:nvSpPr>
        <p:spPr>
          <a:xfrm>
            <a:off x="5916168" y="4983480"/>
            <a:ext cx="1600200" cy="320040"/>
          </a:xfrm>
          <a:prstGeom prst="rect">
            <a:avLst/>
          </a:prstGeom>
          <a:noFill/>
          <a:ln/>
        </p:spPr>
        <p:txBody>
          <a:bodyPr wrap="square" lIns="0" tIns="0" rIns="0" bIns="0" rtlCol="0" anchor="t">
            <a:normAutofit/>
          </a:bodyPr>
          <a:lstStyle/>
          <a:p>
            <a:pPr marL="0" indent="0">
              <a:buNone/>
            </a:pPr>
            <a:r>
              <a:rPr lang="en-US" sz="1200" b="1" dirty="0">
                <a:solidFill>
                  <a:schemeClr val="tx2"/>
                </a:solidFill>
              </a:rPr>
              <a:t>sml_payment_disputes</a:t>
            </a:r>
            <a:endParaRPr lang="en-US" sz="1200" dirty="0"/>
          </a:p>
        </p:txBody>
      </p:sp>
      <p:sp>
        <p:nvSpPr>
          <p:cNvPr id="34" name="Text 32"/>
          <p:cNvSpPr txBox="1"/>
          <p:nvPr/>
        </p:nvSpPr>
        <p:spPr>
          <a:xfrm>
            <a:off x="5916168" y="5321808"/>
            <a:ext cx="1600200" cy="457200"/>
          </a:xfrm>
          <a:prstGeom prst="rect">
            <a:avLst/>
          </a:prstGeom>
          <a:noFill/>
          <a:ln/>
        </p:spPr>
        <p:txBody>
          <a:bodyPr wrap="square" lIns="0" tIns="0" rIns="0" bIns="0" rtlCol="0" anchor="t"/>
          <a:lstStyle/>
          <a:p>
            <a:pPr marL="0" indent="0">
              <a:buNone/>
            </a:pPr>
            <a:r>
              <a:rPr lang="en-US" sz="1000" dirty="0">
                <a:solidFill>
                  <a:schemeClr val="accent6"/>
                </a:solidFill>
              </a:rPr>
              <a:t>Sengketa tagihan (FK invoice_id)</a:t>
            </a:r>
            <a:endParaRPr lang="en-US" sz="1000" dirty="0"/>
          </a:p>
        </p:txBody>
      </p:sp>
      <p:sp>
        <p:nvSpPr>
          <p:cNvPr id="35" name="relasi"/>
          <p:cNvSpPr/>
          <p:nvPr/>
        </p:nvSpPr>
        <p:spPr>
          <a:xfrm>
            <a:off x="2331720" y="3767328"/>
            <a:ext cx="365760" cy="0"/>
          </a:xfrm>
          <a:prstGeom prst="line">
            <a:avLst/>
          </a:prstGeom>
          <a:noFill/>
          <a:ln w="15875">
            <a:solidFill>
              <a:srgbClr val="7B8494"/>
            </a:solidFill>
            <a:prstDash val="solid"/>
            <a:tailEnd type="triangle"/>
          </a:ln>
        </p:spPr>
        <p:txBody>
          <a:bodyPr/>
          <a:lstStyle/>
          <a:p>
            <a:endParaRPr lang="en-US"/>
          </a:p>
        </p:txBody>
      </p:sp>
      <p:sp>
        <p:nvSpPr>
          <p:cNvPr id="36" name="relasi"/>
          <p:cNvSpPr/>
          <p:nvPr/>
        </p:nvSpPr>
        <p:spPr>
          <a:xfrm>
            <a:off x="4480560" y="3767328"/>
            <a:ext cx="365760" cy="0"/>
          </a:xfrm>
          <a:prstGeom prst="line">
            <a:avLst/>
          </a:prstGeom>
          <a:noFill/>
          <a:ln w="15875">
            <a:solidFill>
              <a:srgbClr val="7B8494"/>
            </a:solidFill>
            <a:prstDash val="solid"/>
            <a:tailEnd type="triangle"/>
          </a:ln>
        </p:spPr>
        <p:txBody>
          <a:bodyPr/>
          <a:lstStyle/>
          <a:p>
            <a:endParaRPr lang="en-US"/>
          </a:p>
        </p:txBody>
      </p:sp>
      <p:sp>
        <p:nvSpPr>
          <p:cNvPr id="37" name="relasi"/>
          <p:cNvSpPr/>
          <p:nvPr/>
        </p:nvSpPr>
        <p:spPr>
          <a:xfrm flipH="1">
            <a:off x="4640580" y="4251960"/>
            <a:ext cx="1097280" cy="640080"/>
          </a:xfrm>
          <a:prstGeom prst="line">
            <a:avLst/>
          </a:prstGeom>
          <a:noFill/>
          <a:ln w="15875">
            <a:solidFill>
              <a:srgbClr val="7B8494"/>
            </a:solidFill>
            <a:prstDash val="solid"/>
            <a:tailEnd type="triangle"/>
          </a:ln>
        </p:spPr>
        <p:txBody>
          <a:bodyPr/>
          <a:lstStyle/>
          <a:p>
            <a:endParaRPr lang="en-US"/>
          </a:p>
        </p:txBody>
      </p:sp>
      <p:sp>
        <p:nvSpPr>
          <p:cNvPr id="38" name="relasi"/>
          <p:cNvSpPr/>
          <p:nvPr/>
        </p:nvSpPr>
        <p:spPr>
          <a:xfrm>
            <a:off x="5737860" y="4251960"/>
            <a:ext cx="960120" cy="640080"/>
          </a:xfrm>
          <a:prstGeom prst="line">
            <a:avLst/>
          </a:prstGeom>
          <a:noFill/>
          <a:ln w="15875">
            <a:solidFill>
              <a:srgbClr val="7B8494"/>
            </a:solidFill>
            <a:prstDash val="solid"/>
            <a:tailEnd type="triangle"/>
          </a:ln>
        </p:spPr>
        <p:txBody>
          <a:bodyPr/>
          <a:lstStyle/>
          <a:p>
            <a:endParaRPr lang="en-US"/>
          </a:p>
        </p:txBody>
      </p:sp>
      <p:sp>
        <p:nvSpPr>
          <p:cNvPr id="39" name="Text 37"/>
          <p:cNvSpPr txBox="1"/>
          <p:nvPr/>
        </p:nvSpPr>
        <p:spPr>
          <a:xfrm>
            <a:off x="2374135" y="3508432"/>
            <a:ext cx="457200" cy="228600"/>
          </a:xfrm>
          <a:prstGeom prst="rect">
            <a:avLst/>
          </a:prstGeom>
          <a:noFill/>
          <a:ln/>
        </p:spPr>
        <p:txBody>
          <a:bodyPr wrap="square" lIns="0" tIns="0" rIns="0" bIns="0" rtlCol="0" anchor="t"/>
          <a:lstStyle/>
          <a:p>
            <a:pPr marL="0" indent="0">
              <a:buNone/>
            </a:pPr>
            <a:r>
              <a:rPr lang="en-US" sz="1000" dirty="0">
                <a:solidFill>
                  <a:schemeClr val="accent6"/>
                </a:solidFill>
              </a:rPr>
              <a:t>1 : N</a:t>
            </a:r>
            <a:endParaRPr lang="en-US" sz="1000" dirty="0"/>
          </a:p>
        </p:txBody>
      </p:sp>
      <p:sp>
        <p:nvSpPr>
          <p:cNvPr id="40" name="Text 38"/>
          <p:cNvSpPr txBox="1"/>
          <p:nvPr/>
        </p:nvSpPr>
        <p:spPr>
          <a:xfrm>
            <a:off x="4526280" y="3493008"/>
            <a:ext cx="457200" cy="228600"/>
          </a:xfrm>
          <a:prstGeom prst="rect">
            <a:avLst/>
          </a:prstGeom>
          <a:noFill/>
          <a:ln/>
        </p:spPr>
        <p:txBody>
          <a:bodyPr wrap="square" lIns="0" tIns="0" rIns="0" bIns="0" rtlCol="0" anchor="t"/>
          <a:lstStyle/>
          <a:p>
            <a:pPr marL="0" indent="0">
              <a:buNone/>
            </a:pPr>
            <a:r>
              <a:rPr lang="en-US" sz="1000" dirty="0">
                <a:solidFill>
                  <a:schemeClr val="accent6"/>
                </a:solidFill>
              </a:rPr>
              <a:t>1 : N</a:t>
            </a:r>
            <a:endParaRPr lang="en-US" sz="1000" dirty="0"/>
          </a:p>
        </p:txBody>
      </p:sp>
      <p:sp>
        <p:nvSpPr>
          <p:cNvPr id="41" name="Text 39"/>
          <p:cNvSpPr txBox="1"/>
          <p:nvPr/>
        </p:nvSpPr>
        <p:spPr>
          <a:xfrm>
            <a:off x="4434840" y="4389120"/>
            <a:ext cx="731520" cy="228600"/>
          </a:xfrm>
          <a:prstGeom prst="rect">
            <a:avLst/>
          </a:prstGeom>
          <a:noFill/>
          <a:ln/>
        </p:spPr>
        <p:txBody>
          <a:bodyPr wrap="square" lIns="0" tIns="0" rIns="0" bIns="0" rtlCol="0" anchor="t"/>
          <a:lstStyle/>
          <a:p>
            <a:pPr marL="0" indent="0">
              <a:buNone/>
            </a:pPr>
            <a:r>
              <a:rPr lang="en-US" sz="1000" dirty="0">
                <a:solidFill>
                  <a:schemeClr val="accent6"/>
                </a:solidFill>
              </a:rPr>
              <a:t>1 : 0..N</a:t>
            </a:r>
            <a:endParaRPr lang="en-US" sz="1000" dirty="0"/>
          </a:p>
        </p:txBody>
      </p:sp>
      <p:sp>
        <p:nvSpPr>
          <p:cNvPr id="42" name="Text 40"/>
          <p:cNvSpPr txBox="1"/>
          <p:nvPr/>
        </p:nvSpPr>
        <p:spPr>
          <a:xfrm>
            <a:off x="6355080" y="4389120"/>
            <a:ext cx="731520" cy="228600"/>
          </a:xfrm>
          <a:prstGeom prst="rect">
            <a:avLst/>
          </a:prstGeom>
          <a:noFill/>
          <a:ln/>
        </p:spPr>
        <p:txBody>
          <a:bodyPr wrap="square" lIns="0" tIns="0" rIns="0" bIns="0" rtlCol="0" anchor="t"/>
          <a:lstStyle/>
          <a:p>
            <a:pPr marL="0" indent="0">
              <a:buNone/>
            </a:pPr>
            <a:r>
              <a:rPr lang="en-US" sz="1000" dirty="0">
                <a:solidFill>
                  <a:schemeClr val="accent6"/>
                </a:solidFill>
              </a:rPr>
              <a:t>1 : 0..N</a:t>
            </a:r>
            <a:endParaRPr lang="en-US" sz="1000" dirty="0"/>
          </a:p>
        </p:txBody>
      </p:sp>
      <p:sp>
        <p:nvSpPr>
          <p:cNvPr id="44" name="catatan cakupan"/>
          <p:cNvSpPr/>
          <p:nvPr/>
        </p:nvSpPr>
        <p:spPr>
          <a:xfrm>
            <a:off x="7863840" y="3291840"/>
            <a:ext cx="3776472" cy="2880360"/>
          </a:xfrm>
          <a:prstGeom prst="roundRect">
            <a:avLst>
              <a:gd name="adj" fmla="val 2540"/>
            </a:avLst>
          </a:prstGeom>
          <a:solidFill>
            <a:srgbClr val="F7F5F0"/>
          </a:solidFill>
          <a:ln w="9525">
            <a:solidFill>
              <a:srgbClr val="DCE1E8"/>
            </a:solidFill>
            <a:prstDash val="solid"/>
          </a:ln>
        </p:spPr>
        <p:txBody>
          <a:bodyPr/>
          <a:lstStyle/>
          <a:p>
            <a:endParaRPr lang="en-US"/>
          </a:p>
        </p:txBody>
      </p:sp>
      <p:sp>
        <p:nvSpPr>
          <p:cNvPr id="45" name="Text 43"/>
          <p:cNvSpPr txBox="1"/>
          <p:nvPr/>
        </p:nvSpPr>
        <p:spPr>
          <a:xfrm>
            <a:off x="8092440" y="3474720"/>
            <a:ext cx="3657600" cy="274320"/>
          </a:xfrm>
          <a:prstGeom prst="rect">
            <a:avLst/>
          </a:prstGeom>
          <a:noFill/>
          <a:ln/>
        </p:spPr>
        <p:txBody>
          <a:bodyPr wrap="square" lIns="0" tIns="0" rIns="0" bIns="0" rtlCol="0" anchor="t"/>
          <a:lstStyle/>
          <a:p>
            <a:pPr marL="0" indent="0">
              <a:buNone/>
            </a:pPr>
            <a:r>
              <a:rPr lang="en-US" sz="1100" b="1" kern="0" spc="100" dirty="0">
                <a:solidFill>
                  <a:schemeClr val="accent3"/>
                </a:solidFill>
              </a:rPr>
              <a:t>CATATAN CAKUPAN</a:t>
            </a:r>
            <a:endParaRPr lang="en-US" sz="1100" dirty="0"/>
          </a:p>
        </p:txBody>
      </p:sp>
      <p:sp>
        <p:nvSpPr>
          <p:cNvPr id="46" name="Text 44"/>
          <p:cNvSpPr txBox="1"/>
          <p:nvPr/>
        </p:nvSpPr>
        <p:spPr>
          <a:xfrm>
            <a:off x="8092440" y="3840480"/>
            <a:ext cx="3383280" cy="22402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Tagihan terbit Juli 2022 – Desember 2024 (30 bulan).</a:t>
            </a:r>
            <a:endParaRPr lang="en-US" sz="1300" dirty="0"/>
          </a:p>
          <a:p>
            <a:pPr marL="342900" indent="-342900">
              <a:spcAft>
                <a:spcPts val="600"/>
              </a:spcAft>
              <a:buSzPct val="100000"/>
              <a:buChar char="•"/>
            </a:pPr>
            <a:r>
              <a:rPr lang="en-US" sz="1300" dirty="0">
                <a:solidFill>
                  <a:schemeClr val="tx1"/>
                </a:solidFill>
              </a:rPr>
              <a:t>807.427 baris awal − 38.449 </a:t>
            </a:r>
            <a:r>
              <a:rPr lang="en-US" sz="1300" dirty="0" err="1">
                <a:solidFill>
                  <a:schemeClr val="tx1"/>
                </a:solidFill>
              </a:rPr>
              <a:t>salinan</a:t>
            </a:r>
            <a:r>
              <a:rPr lang="en-US" sz="1300" dirty="0">
                <a:solidFill>
                  <a:schemeClr val="tx1"/>
                </a:solidFill>
              </a:rPr>
              <a:t> </a:t>
            </a:r>
            <a:r>
              <a:rPr lang="en-US" sz="1300" dirty="0" err="1">
                <a:solidFill>
                  <a:schemeClr val="tx1"/>
                </a:solidFill>
              </a:rPr>
              <a:t>difilter</a:t>
            </a:r>
            <a:r>
              <a:rPr lang="en-US" sz="1300" dirty="0">
                <a:solidFill>
                  <a:schemeClr val="tx1"/>
                </a:solidFill>
              </a:rPr>
              <a:t> = 768.978 invoice utama.</a:t>
            </a:r>
            <a:endParaRPr lang="en-US" sz="1300" dirty="0"/>
          </a:p>
          <a:p>
            <a:pPr marL="342900" indent="-342900">
              <a:spcAft>
                <a:spcPts val="600"/>
              </a:spcAft>
              <a:buSzPct val="100000"/>
              <a:buChar char="•"/>
            </a:pPr>
            <a:r>
              <a:rPr lang="en-US" sz="1300" dirty="0">
                <a:solidFill>
                  <a:schemeClr val="tx1"/>
                </a:solidFill>
              </a:rPr>
              <a:t>Status per 27 Januari 2025.</a:t>
            </a:r>
            <a:endParaRPr lang="en-US" sz="1300" dirty="0"/>
          </a:p>
        </p:txBody>
      </p:sp>
      <p:sp>
        <p:nvSpPr>
          <p:cNvPr id="47"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METODOLOGI</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Alur analisis: validasi data, uji hipotesis, dan simulasi</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endParaRPr lang="en-US" sz="1000" dirty="0"/>
          </a:p>
        </p:txBody>
      </p:sp>
      <p:sp>
        <p:nvSpPr>
          <p:cNvPr id="5" name="tahap Snapshot data"/>
          <p:cNvSpPr/>
          <p:nvPr/>
        </p:nvSpPr>
        <p:spPr>
          <a:xfrm>
            <a:off x="644337" y="1978721"/>
            <a:ext cx="1719072" cy="2514600"/>
          </a:xfrm>
          <a:prstGeom prst="roundRect">
            <a:avLst>
              <a:gd name="adj" fmla="val 4255"/>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6" name="penanda 1"/>
          <p:cNvSpPr txBox="1"/>
          <p:nvPr/>
        </p:nvSpPr>
        <p:spPr>
          <a:xfrm>
            <a:off x="808929" y="2143313"/>
            <a:ext cx="365760" cy="365760"/>
          </a:xfrm>
          <a:prstGeom prst="ellipse">
            <a:avLst/>
          </a:prstGeom>
          <a:solidFill>
            <a:schemeClr val="tx2"/>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7" name="Text 5"/>
          <p:cNvSpPr txBox="1"/>
          <p:nvPr/>
        </p:nvSpPr>
        <p:spPr>
          <a:xfrm>
            <a:off x="808929" y="2618801"/>
            <a:ext cx="1463040" cy="640080"/>
          </a:xfrm>
          <a:prstGeom prst="rect">
            <a:avLst/>
          </a:prstGeom>
          <a:noFill/>
          <a:ln/>
        </p:spPr>
        <p:txBody>
          <a:bodyPr wrap="square" lIns="0" tIns="0" rIns="0" bIns="0" rtlCol="0" anchor="t"/>
          <a:lstStyle/>
          <a:p>
            <a:pPr marL="0" indent="0">
              <a:buNone/>
            </a:pPr>
            <a:r>
              <a:rPr lang="en-US" sz="1600" b="1" dirty="0" err="1">
                <a:solidFill>
                  <a:schemeClr val="tx2"/>
                </a:solidFill>
              </a:rPr>
              <a:t>Sumber</a:t>
            </a:r>
            <a:r>
              <a:rPr lang="en-US" sz="1600" b="1" dirty="0">
                <a:solidFill>
                  <a:schemeClr val="tx2"/>
                </a:solidFill>
              </a:rPr>
              <a:t> data</a:t>
            </a:r>
            <a:endParaRPr lang="en-US" sz="1600" dirty="0"/>
          </a:p>
        </p:txBody>
      </p:sp>
      <p:sp>
        <p:nvSpPr>
          <p:cNvPr id="8" name="Text 6"/>
          <p:cNvSpPr txBox="1"/>
          <p:nvPr/>
        </p:nvSpPr>
        <p:spPr>
          <a:xfrm>
            <a:off x="808929" y="3258881"/>
            <a:ext cx="1463040" cy="1188720"/>
          </a:xfrm>
          <a:prstGeom prst="rect">
            <a:avLst/>
          </a:prstGeom>
          <a:noFill/>
          <a:ln/>
        </p:spPr>
        <p:txBody>
          <a:bodyPr wrap="square" lIns="0" tIns="0" rIns="0" bIns="0" rtlCol="0" anchor="t"/>
          <a:lstStyle/>
          <a:p>
            <a:pPr marL="0" indent="0">
              <a:buNone/>
            </a:pPr>
            <a:r>
              <a:rPr lang="en-US" sz="1400" dirty="0">
                <a:solidFill>
                  <a:schemeClr val="tx1"/>
                </a:solidFill>
              </a:rPr>
              <a:t>Lima Dataset </a:t>
            </a:r>
            <a:r>
              <a:rPr lang="en-US" sz="1400" dirty="0" err="1">
                <a:solidFill>
                  <a:schemeClr val="tx1"/>
                </a:solidFill>
              </a:rPr>
              <a:t>SinarmasLand</a:t>
            </a:r>
            <a:r>
              <a:rPr lang="en-US" sz="1400" dirty="0">
                <a:solidFill>
                  <a:schemeClr val="tx1"/>
                </a:solidFill>
              </a:rPr>
              <a:t> (Jul 2022 – Dec 2024)</a:t>
            </a:r>
            <a:endParaRPr lang="en-US" sz="1400" dirty="0"/>
          </a:p>
        </p:txBody>
      </p:sp>
      <p:sp>
        <p:nvSpPr>
          <p:cNvPr id="9" name="panah"/>
          <p:cNvSpPr/>
          <p:nvPr/>
        </p:nvSpPr>
        <p:spPr>
          <a:xfrm>
            <a:off x="2501305" y="3085677"/>
            <a:ext cx="319522" cy="209780"/>
          </a:xfrm>
          <a:prstGeom prst="rightArrow">
            <a:avLst/>
          </a:prstGeom>
          <a:solidFill>
            <a:schemeClr val="accent2"/>
          </a:solidFill>
          <a:ln/>
        </p:spPr>
        <p:txBody>
          <a:bodyPr/>
          <a:lstStyle/>
          <a:p>
            <a:endParaRPr lang="en-US" sz="2000"/>
          </a:p>
        </p:txBody>
      </p:sp>
      <p:sp>
        <p:nvSpPr>
          <p:cNvPr id="10" name="tahap Validasi kualitas"/>
          <p:cNvSpPr/>
          <p:nvPr/>
        </p:nvSpPr>
        <p:spPr>
          <a:xfrm>
            <a:off x="2816570" y="1978721"/>
            <a:ext cx="1719072" cy="2514600"/>
          </a:xfrm>
          <a:prstGeom prst="roundRect">
            <a:avLst>
              <a:gd name="adj" fmla="val 4255"/>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1" name="penanda 2"/>
          <p:cNvSpPr txBox="1"/>
          <p:nvPr/>
        </p:nvSpPr>
        <p:spPr>
          <a:xfrm>
            <a:off x="2981162" y="2143313"/>
            <a:ext cx="365760" cy="365760"/>
          </a:xfrm>
          <a:prstGeom prst="ellipse">
            <a:avLst/>
          </a:prstGeom>
          <a:solidFill>
            <a:schemeClr val="tx2"/>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2" name="Text 10"/>
          <p:cNvSpPr txBox="1"/>
          <p:nvPr/>
        </p:nvSpPr>
        <p:spPr>
          <a:xfrm>
            <a:off x="2981162" y="2618801"/>
            <a:ext cx="1463040" cy="640080"/>
          </a:xfrm>
          <a:prstGeom prst="rect">
            <a:avLst/>
          </a:prstGeom>
          <a:noFill/>
          <a:ln/>
        </p:spPr>
        <p:txBody>
          <a:bodyPr wrap="square" lIns="0" tIns="0" rIns="0" bIns="0" rtlCol="0" anchor="t"/>
          <a:lstStyle/>
          <a:p>
            <a:pPr marL="0" indent="0">
              <a:buNone/>
            </a:pPr>
            <a:r>
              <a:rPr lang="en-US" sz="1600" b="1" dirty="0">
                <a:solidFill>
                  <a:schemeClr val="tx2"/>
                </a:solidFill>
              </a:rPr>
              <a:t>Validasi kualitas</a:t>
            </a:r>
            <a:endParaRPr lang="en-US" sz="1600" dirty="0"/>
          </a:p>
        </p:txBody>
      </p:sp>
      <p:sp>
        <p:nvSpPr>
          <p:cNvPr id="13" name="Text 11"/>
          <p:cNvSpPr txBox="1"/>
          <p:nvPr/>
        </p:nvSpPr>
        <p:spPr>
          <a:xfrm>
            <a:off x="2981162" y="3258881"/>
            <a:ext cx="1463040" cy="1188720"/>
          </a:xfrm>
          <a:prstGeom prst="rect">
            <a:avLst/>
          </a:prstGeom>
          <a:noFill/>
          <a:ln/>
        </p:spPr>
        <p:txBody>
          <a:bodyPr wrap="square" lIns="0" tIns="0" rIns="0" bIns="0" rtlCol="0" anchor="t"/>
          <a:lstStyle/>
          <a:p>
            <a:pPr marL="0" indent="0">
              <a:buNone/>
            </a:pPr>
            <a:r>
              <a:rPr lang="en-US" sz="1400" dirty="0">
                <a:solidFill>
                  <a:schemeClr val="tx1"/>
                </a:solidFill>
              </a:rPr>
              <a:t>Relasi antartabel, data kosong, duplikasi, dan anomali</a:t>
            </a:r>
            <a:endParaRPr lang="en-US" sz="1400" dirty="0"/>
          </a:p>
        </p:txBody>
      </p:sp>
      <p:sp>
        <p:nvSpPr>
          <p:cNvPr id="15" name="tahap Flag &amp; cleaning"/>
          <p:cNvSpPr/>
          <p:nvPr/>
        </p:nvSpPr>
        <p:spPr>
          <a:xfrm>
            <a:off x="5180192" y="1978721"/>
            <a:ext cx="1719072" cy="2514600"/>
          </a:xfrm>
          <a:prstGeom prst="roundRect">
            <a:avLst>
              <a:gd name="adj" fmla="val 4255"/>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6" name="penanda 3"/>
          <p:cNvSpPr txBox="1"/>
          <p:nvPr/>
        </p:nvSpPr>
        <p:spPr>
          <a:xfrm>
            <a:off x="5344784" y="2143313"/>
            <a:ext cx="365760" cy="365760"/>
          </a:xfrm>
          <a:prstGeom prst="ellipse">
            <a:avLst/>
          </a:prstGeom>
          <a:solidFill>
            <a:schemeClr val="tx2"/>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7" name="Text 15"/>
          <p:cNvSpPr txBox="1"/>
          <p:nvPr/>
        </p:nvSpPr>
        <p:spPr>
          <a:xfrm>
            <a:off x="5344784" y="2618801"/>
            <a:ext cx="1463040" cy="640080"/>
          </a:xfrm>
          <a:prstGeom prst="rect">
            <a:avLst/>
          </a:prstGeom>
          <a:noFill/>
          <a:ln/>
        </p:spPr>
        <p:txBody>
          <a:bodyPr wrap="square" lIns="0" tIns="0" rIns="0" bIns="0" rtlCol="0" anchor="t"/>
          <a:lstStyle/>
          <a:p>
            <a:pPr marL="0" indent="0">
              <a:buNone/>
            </a:pPr>
            <a:r>
              <a:rPr lang="en-US" sz="1600" b="1" dirty="0">
                <a:solidFill>
                  <a:schemeClr val="tx2"/>
                </a:solidFill>
              </a:rPr>
              <a:t>Flag &amp; cleaning</a:t>
            </a:r>
            <a:endParaRPr lang="en-US" sz="1600" dirty="0"/>
          </a:p>
        </p:txBody>
      </p:sp>
      <p:sp>
        <p:nvSpPr>
          <p:cNvPr id="18" name="Text 16"/>
          <p:cNvSpPr txBox="1"/>
          <p:nvPr/>
        </p:nvSpPr>
        <p:spPr>
          <a:xfrm>
            <a:off x="5344784" y="3258881"/>
            <a:ext cx="1463040" cy="1188720"/>
          </a:xfrm>
          <a:prstGeom prst="rect">
            <a:avLst/>
          </a:prstGeom>
          <a:noFill/>
          <a:ln/>
        </p:spPr>
        <p:txBody>
          <a:bodyPr wrap="square" lIns="0" tIns="0" rIns="0" bIns="0" rtlCol="0" anchor="t"/>
          <a:lstStyle/>
          <a:p>
            <a:pPr marL="0" indent="0">
              <a:buNone/>
            </a:pPr>
            <a:r>
              <a:rPr lang="en-US" sz="1400" dirty="0">
                <a:solidFill>
                  <a:schemeClr val="tx1"/>
                </a:solidFill>
              </a:rPr>
              <a:t>Tandai, bukan hapus; tetapkan satu invoice utama per unit-bulan</a:t>
            </a:r>
            <a:endParaRPr lang="en-US" sz="1400" dirty="0"/>
          </a:p>
        </p:txBody>
      </p:sp>
      <p:sp>
        <p:nvSpPr>
          <p:cNvPr id="20" name="tahap Uji hipotesis &amp; kontrol faktor"/>
          <p:cNvSpPr/>
          <p:nvPr/>
        </p:nvSpPr>
        <p:spPr>
          <a:xfrm>
            <a:off x="7533183" y="1978721"/>
            <a:ext cx="1719072" cy="2514600"/>
          </a:xfrm>
          <a:prstGeom prst="roundRect">
            <a:avLst>
              <a:gd name="adj" fmla="val 4255"/>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21" name="penanda 4"/>
          <p:cNvSpPr txBox="1"/>
          <p:nvPr/>
        </p:nvSpPr>
        <p:spPr>
          <a:xfrm>
            <a:off x="7697775" y="2143313"/>
            <a:ext cx="365760" cy="365760"/>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tx2"/>
                </a:solidFill>
              </a:rPr>
              <a:t>4</a:t>
            </a:r>
            <a:endParaRPr lang="en-US" sz="1400" dirty="0"/>
          </a:p>
        </p:txBody>
      </p:sp>
      <p:sp>
        <p:nvSpPr>
          <p:cNvPr id="22" name="Text 20"/>
          <p:cNvSpPr txBox="1"/>
          <p:nvPr/>
        </p:nvSpPr>
        <p:spPr>
          <a:xfrm>
            <a:off x="7697775" y="2618801"/>
            <a:ext cx="1463040" cy="640080"/>
          </a:xfrm>
          <a:prstGeom prst="rect">
            <a:avLst/>
          </a:prstGeom>
          <a:noFill/>
          <a:ln/>
        </p:spPr>
        <p:txBody>
          <a:bodyPr wrap="square" lIns="0" tIns="0" rIns="0" bIns="0" rtlCol="0" anchor="t"/>
          <a:lstStyle/>
          <a:p>
            <a:pPr marL="0" indent="0">
              <a:buNone/>
            </a:pPr>
            <a:r>
              <a:rPr lang="en-US" sz="1600" b="1" dirty="0">
                <a:solidFill>
                  <a:schemeClr val="tx2"/>
                </a:solidFill>
              </a:rPr>
              <a:t>Analisa Data</a:t>
            </a:r>
            <a:endParaRPr lang="en-US" sz="1600" dirty="0"/>
          </a:p>
        </p:txBody>
      </p:sp>
      <p:sp>
        <p:nvSpPr>
          <p:cNvPr id="23" name="Text 21"/>
          <p:cNvSpPr txBox="1"/>
          <p:nvPr/>
        </p:nvSpPr>
        <p:spPr>
          <a:xfrm>
            <a:off x="7697775" y="3258881"/>
            <a:ext cx="1463040" cy="1188720"/>
          </a:xfrm>
          <a:prstGeom prst="rect">
            <a:avLst/>
          </a:prstGeom>
          <a:noFill/>
          <a:ln/>
        </p:spPr>
        <p:txBody>
          <a:bodyPr wrap="square" lIns="0" tIns="0" rIns="0" bIns="0" rtlCol="0" anchor="t"/>
          <a:lstStyle/>
          <a:p>
            <a:pPr marL="0" indent="0">
              <a:buNone/>
            </a:pPr>
            <a:r>
              <a:rPr lang="en-US" sz="1400" dirty="0" err="1">
                <a:solidFill>
                  <a:schemeClr val="tx1"/>
                </a:solidFill>
              </a:rPr>
              <a:t>Durasi</a:t>
            </a:r>
            <a:r>
              <a:rPr lang="en-US" sz="1400" dirty="0">
                <a:solidFill>
                  <a:schemeClr val="tx1"/>
                </a:solidFill>
              </a:rPr>
              <a:t> NPI, </a:t>
            </a:r>
            <a:r>
              <a:rPr lang="en-US" sz="1400" dirty="0" err="1">
                <a:solidFill>
                  <a:schemeClr val="tx1"/>
                </a:solidFill>
              </a:rPr>
              <a:t>Prioritas</a:t>
            </a:r>
            <a:r>
              <a:rPr lang="en-US" sz="1400" dirty="0">
                <a:solidFill>
                  <a:schemeClr val="tx1"/>
                </a:solidFill>
              </a:rPr>
              <a:t> Stakeholder, </a:t>
            </a:r>
            <a:r>
              <a:rPr lang="en-US" sz="1400" dirty="0" err="1">
                <a:solidFill>
                  <a:schemeClr val="tx1"/>
                </a:solidFill>
              </a:rPr>
              <a:t>Tindak</a:t>
            </a:r>
            <a:r>
              <a:rPr lang="en-US" sz="1400" dirty="0">
                <a:solidFill>
                  <a:schemeClr val="tx1"/>
                </a:solidFill>
              </a:rPr>
              <a:t> </a:t>
            </a:r>
            <a:r>
              <a:rPr lang="en-US" sz="1400" dirty="0" err="1">
                <a:solidFill>
                  <a:schemeClr val="tx1"/>
                </a:solidFill>
              </a:rPr>
              <a:t>Lanjut</a:t>
            </a:r>
            <a:r>
              <a:rPr lang="en-US" sz="1400" dirty="0">
                <a:solidFill>
                  <a:schemeClr val="tx1"/>
                </a:solidFill>
              </a:rPr>
              <a:t> </a:t>
            </a:r>
            <a:r>
              <a:rPr lang="en-US" sz="1400" dirty="0" err="1">
                <a:solidFill>
                  <a:schemeClr val="tx1"/>
                </a:solidFill>
              </a:rPr>
              <a:t>Penagihan</a:t>
            </a:r>
            <a:r>
              <a:rPr lang="en-US" sz="1400" dirty="0">
                <a:solidFill>
                  <a:schemeClr val="tx1"/>
                </a:solidFill>
              </a:rPr>
              <a:t> </a:t>
            </a:r>
            <a:endParaRPr lang="en-US" sz="1400" dirty="0"/>
          </a:p>
        </p:txBody>
      </p:sp>
      <p:sp>
        <p:nvSpPr>
          <p:cNvPr id="30" name="tahap Simulasi &amp; rekomendasi"/>
          <p:cNvSpPr/>
          <p:nvPr/>
        </p:nvSpPr>
        <p:spPr>
          <a:xfrm>
            <a:off x="9921240" y="1978721"/>
            <a:ext cx="1719072" cy="2514600"/>
          </a:xfrm>
          <a:prstGeom prst="roundRect">
            <a:avLst>
              <a:gd name="adj" fmla="val 4255"/>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31" name="penanda 6"/>
          <p:cNvSpPr txBox="1"/>
          <p:nvPr/>
        </p:nvSpPr>
        <p:spPr>
          <a:xfrm>
            <a:off x="10085832" y="2143313"/>
            <a:ext cx="365760" cy="365760"/>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tx2"/>
                </a:solidFill>
              </a:rPr>
              <a:t>5</a:t>
            </a:r>
            <a:endParaRPr lang="en-US" sz="1400" dirty="0"/>
          </a:p>
        </p:txBody>
      </p:sp>
      <p:sp>
        <p:nvSpPr>
          <p:cNvPr id="32" name="Text 30"/>
          <p:cNvSpPr txBox="1"/>
          <p:nvPr/>
        </p:nvSpPr>
        <p:spPr>
          <a:xfrm>
            <a:off x="10085832" y="2618801"/>
            <a:ext cx="1463040" cy="640080"/>
          </a:xfrm>
          <a:prstGeom prst="rect">
            <a:avLst/>
          </a:prstGeom>
          <a:noFill/>
          <a:ln/>
        </p:spPr>
        <p:txBody>
          <a:bodyPr wrap="square" lIns="0" tIns="0" rIns="0" bIns="0" rtlCol="0" anchor="t"/>
          <a:lstStyle/>
          <a:p>
            <a:pPr marL="0" indent="0">
              <a:buNone/>
            </a:pPr>
            <a:r>
              <a:rPr lang="en-US" sz="1600" b="1" dirty="0">
                <a:solidFill>
                  <a:schemeClr val="tx2"/>
                </a:solidFill>
              </a:rPr>
              <a:t>Simulasi &amp; rekomendasi</a:t>
            </a:r>
            <a:endParaRPr lang="en-US" sz="1600" dirty="0"/>
          </a:p>
        </p:txBody>
      </p:sp>
      <p:sp>
        <p:nvSpPr>
          <p:cNvPr id="33" name="Text 31"/>
          <p:cNvSpPr txBox="1"/>
          <p:nvPr/>
        </p:nvSpPr>
        <p:spPr>
          <a:xfrm>
            <a:off x="10085832" y="3258881"/>
            <a:ext cx="1463040" cy="1188720"/>
          </a:xfrm>
          <a:prstGeom prst="rect">
            <a:avLst/>
          </a:prstGeom>
          <a:noFill/>
          <a:ln/>
        </p:spPr>
        <p:txBody>
          <a:bodyPr wrap="square" lIns="0" tIns="0" rIns="0" bIns="0" rtlCol="0" anchor="t"/>
          <a:lstStyle/>
          <a:p>
            <a:pPr marL="0" indent="0">
              <a:buNone/>
            </a:pPr>
            <a:r>
              <a:rPr lang="en-US" sz="1400" dirty="0">
                <a:solidFill>
                  <a:schemeClr val="tx1"/>
                </a:solidFill>
              </a:rPr>
              <a:t>Skenario autodebit 25% / 50% / 100% keberhasilan; KPI dan roadmap</a:t>
            </a:r>
            <a:endParaRPr lang="en-US" sz="1400" dirty="0"/>
          </a:p>
        </p:txBody>
      </p:sp>
      <p:sp>
        <p:nvSpPr>
          <p:cNvPr id="42"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
        <p:nvSpPr>
          <p:cNvPr id="43" name="panah">
            <a:extLst>
              <a:ext uri="{FF2B5EF4-FFF2-40B4-BE49-F238E27FC236}">
                <a16:creationId xmlns:a16="http://schemas.microsoft.com/office/drawing/2014/main" id="{B3CE4A6A-91B2-C0DB-3E88-CC8A90CE696F}"/>
              </a:ext>
            </a:extLst>
          </p:cNvPr>
          <p:cNvSpPr/>
          <p:nvPr/>
        </p:nvSpPr>
        <p:spPr>
          <a:xfrm>
            <a:off x="4685045" y="3099127"/>
            <a:ext cx="319522" cy="209780"/>
          </a:xfrm>
          <a:prstGeom prst="rightArrow">
            <a:avLst/>
          </a:prstGeom>
          <a:solidFill>
            <a:schemeClr val="accent2"/>
          </a:solidFill>
          <a:ln/>
        </p:spPr>
        <p:txBody>
          <a:bodyPr/>
          <a:lstStyle/>
          <a:p>
            <a:endParaRPr lang="en-US" sz="2000"/>
          </a:p>
        </p:txBody>
      </p:sp>
      <p:sp>
        <p:nvSpPr>
          <p:cNvPr id="44" name="panah">
            <a:extLst>
              <a:ext uri="{FF2B5EF4-FFF2-40B4-BE49-F238E27FC236}">
                <a16:creationId xmlns:a16="http://schemas.microsoft.com/office/drawing/2014/main" id="{E8361A17-47EB-F543-DD4D-B6C8242CFD15}"/>
              </a:ext>
            </a:extLst>
          </p:cNvPr>
          <p:cNvSpPr/>
          <p:nvPr/>
        </p:nvSpPr>
        <p:spPr>
          <a:xfrm>
            <a:off x="7034139" y="3085677"/>
            <a:ext cx="319522" cy="209780"/>
          </a:xfrm>
          <a:prstGeom prst="rightArrow">
            <a:avLst/>
          </a:prstGeom>
          <a:solidFill>
            <a:schemeClr val="accent2"/>
          </a:solidFill>
          <a:ln/>
        </p:spPr>
        <p:txBody>
          <a:bodyPr/>
          <a:lstStyle/>
          <a:p>
            <a:endParaRPr lang="en-US" sz="2000"/>
          </a:p>
        </p:txBody>
      </p:sp>
      <p:sp>
        <p:nvSpPr>
          <p:cNvPr id="45" name="panah">
            <a:extLst>
              <a:ext uri="{FF2B5EF4-FFF2-40B4-BE49-F238E27FC236}">
                <a16:creationId xmlns:a16="http://schemas.microsoft.com/office/drawing/2014/main" id="{F9695F28-27C1-3A8F-B6F0-26229DC2AC3C}"/>
              </a:ext>
            </a:extLst>
          </p:cNvPr>
          <p:cNvSpPr/>
          <p:nvPr/>
        </p:nvSpPr>
        <p:spPr>
          <a:xfrm>
            <a:off x="9416847" y="3099127"/>
            <a:ext cx="319522" cy="209780"/>
          </a:xfrm>
          <a:prstGeom prst="rightArrow">
            <a:avLst/>
          </a:prstGeom>
          <a:solidFill>
            <a:schemeClr val="accent2"/>
          </a:solidFill>
          <a:ln/>
        </p:spPr>
        <p:txBody>
          <a:bodyPr/>
          <a:lstStyle/>
          <a:p>
            <a:endParaRPr lang="en-US" sz="2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DATA QUALITY</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Enam temuan kualitas data, dalam tiga kelompok, memengaruhi akurasi NPI</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endParaRPr lang="en-US" sz="1000" dirty="0"/>
          </a:p>
        </p:txBody>
      </p:sp>
      <p:sp>
        <p:nvSpPr>
          <p:cNvPr id="5" name="kelompok Duplikasi tagihan"/>
          <p:cNvSpPr/>
          <p:nvPr/>
        </p:nvSpPr>
        <p:spPr>
          <a:xfrm>
            <a:off x="548640" y="1645920"/>
            <a:ext cx="3547872" cy="2649633"/>
          </a:xfrm>
          <a:prstGeom prst="roundRect">
            <a:avLst>
              <a:gd name="adj" fmla="val 2078"/>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6" name="aksen"/>
          <p:cNvSpPr/>
          <p:nvPr/>
        </p:nvSpPr>
        <p:spPr>
          <a:xfrm>
            <a:off x="548640" y="1645920"/>
            <a:ext cx="3547872" cy="91440"/>
          </a:xfrm>
          <a:prstGeom prst="rect">
            <a:avLst/>
          </a:prstGeom>
          <a:solidFill>
            <a:schemeClr val="tx2"/>
          </a:solidFill>
          <a:ln/>
        </p:spPr>
        <p:txBody>
          <a:bodyPr/>
          <a:lstStyle/>
          <a:p>
            <a:endParaRPr lang="en-US"/>
          </a:p>
        </p:txBody>
      </p:sp>
      <p:sp>
        <p:nvSpPr>
          <p:cNvPr id="7" name="Text 5"/>
          <p:cNvSpPr txBox="1"/>
          <p:nvPr/>
        </p:nvSpPr>
        <p:spPr>
          <a:xfrm>
            <a:off x="777240" y="1828800"/>
            <a:ext cx="3108960" cy="365760"/>
          </a:xfrm>
          <a:prstGeom prst="rect">
            <a:avLst/>
          </a:prstGeom>
          <a:noFill/>
          <a:ln/>
        </p:spPr>
        <p:txBody>
          <a:bodyPr wrap="square" lIns="0" tIns="0" rIns="0" bIns="0" rtlCol="0" anchor="t"/>
          <a:lstStyle/>
          <a:p>
            <a:pPr marL="0" indent="0">
              <a:buNone/>
            </a:pPr>
            <a:r>
              <a:rPr lang="en-US" sz="1600" b="1" dirty="0">
                <a:solidFill>
                  <a:schemeClr val="tx2"/>
                </a:solidFill>
              </a:rPr>
              <a:t>Duplikasi tagihan</a:t>
            </a:r>
            <a:endParaRPr lang="en-US" sz="1600" dirty="0"/>
          </a:p>
        </p:txBody>
      </p:sp>
      <p:sp>
        <p:nvSpPr>
          <p:cNvPr id="8" name="Text 6"/>
          <p:cNvSpPr txBox="1"/>
          <p:nvPr/>
        </p:nvSpPr>
        <p:spPr>
          <a:xfrm>
            <a:off x="777240" y="2286000"/>
            <a:ext cx="960120" cy="411480"/>
          </a:xfrm>
          <a:prstGeom prst="rect">
            <a:avLst/>
          </a:prstGeom>
          <a:noFill/>
          <a:ln/>
        </p:spPr>
        <p:txBody>
          <a:bodyPr wrap="square" lIns="0" tIns="0" rIns="0" bIns="0" rtlCol="0" anchor="ctr">
            <a:normAutofit/>
          </a:bodyPr>
          <a:lstStyle/>
          <a:p>
            <a:pPr marL="0" indent="0">
              <a:buNone/>
            </a:pPr>
            <a:r>
              <a:rPr lang="en-US" sz="1800" b="1" dirty="0">
                <a:solidFill>
                  <a:schemeClr val="tx2"/>
                </a:solidFill>
              </a:rPr>
              <a:t>38.449</a:t>
            </a:r>
            <a:endParaRPr lang="en-US" sz="1800" dirty="0"/>
          </a:p>
        </p:txBody>
      </p:sp>
      <p:sp>
        <p:nvSpPr>
          <p:cNvPr id="9" name="Text 7"/>
          <p:cNvSpPr txBox="1"/>
          <p:nvPr/>
        </p:nvSpPr>
        <p:spPr>
          <a:xfrm>
            <a:off x="1783080" y="2286000"/>
            <a:ext cx="2148840" cy="411480"/>
          </a:xfrm>
          <a:prstGeom prst="rect">
            <a:avLst/>
          </a:prstGeom>
          <a:noFill/>
          <a:ln/>
        </p:spPr>
        <p:txBody>
          <a:bodyPr wrap="square" lIns="0" tIns="0" rIns="0" bIns="0" rtlCol="0" anchor="ctr"/>
          <a:lstStyle/>
          <a:p>
            <a:pPr marL="0" indent="0">
              <a:buNone/>
            </a:pPr>
            <a:r>
              <a:rPr lang="en-US" sz="1200" dirty="0">
                <a:solidFill>
                  <a:schemeClr val="tx1"/>
                </a:solidFill>
              </a:rPr>
              <a:t>salinan tagihan terbit ganda (Jun–Sep 2023)</a:t>
            </a:r>
            <a:endParaRPr lang="en-US" sz="1200" dirty="0"/>
          </a:p>
        </p:txBody>
      </p:sp>
      <p:sp>
        <p:nvSpPr>
          <p:cNvPr id="11" name="Text 9"/>
          <p:cNvSpPr txBox="1"/>
          <p:nvPr/>
        </p:nvSpPr>
        <p:spPr>
          <a:xfrm>
            <a:off x="777240" y="3708632"/>
            <a:ext cx="3108960" cy="685800"/>
          </a:xfrm>
          <a:prstGeom prst="rect">
            <a:avLst/>
          </a:prstGeom>
          <a:noFill/>
          <a:ln/>
        </p:spPr>
        <p:txBody>
          <a:bodyPr wrap="square" lIns="0" tIns="0" rIns="0" bIns="0" rtlCol="0" anchor="t"/>
          <a:lstStyle/>
          <a:p>
            <a:pPr marL="0" indent="0">
              <a:buNone/>
            </a:pPr>
            <a:r>
              <a:rPr lang="en-US" sz="1200" b="1" dirty="0">
                <a:solidFill>
                  <a:schemeClr val="accent3"/>
                </a:solidFill>
              </a:rPr>
              <a:t>Tindakan: </a:t>
            </a:r>
            <a:r>
              <a:rPr lang="en-US" sz="1200" dirty="0" err="1">
                <a:solidFill>
                  <a:schemeClr val="tx1"/>
                </a:solidFill>
              </a:rPr>
              <a:t>Ditandai</a:t>
            </a:r>
            <a:r>
              <a:rPr lang="en-US" sz="1200" dirty="0">
                <a:solidFill>
                  <a:schemeClr val="tx1"/>
                </a:solidFill>
              </a:rPr>
              <a:t> &amp; keluarkan </a:t>
            </a:r>
            <a:r>
              <a:rPr lang="en-US" sz="1200" dirty="0" err="1">
                <a:solidFill>
                  <a:schemeClr val="tx1"/>
                </a:solidFill>
              </a:rPr>
              <a:t>dari</a:t>
            </a:r>
            <a:r>
              <a:rPr lang="en-US" sz="1200" dirty="0">
                <a:solidFill>
                  <a:schemeClr val="tx1"/>
                </a:solidFill>
              </a:rPr>
              <a:t> NPI</a:t>
            </a:r>
            <a:endParaRPr lang="en-US" sz="1200" dirty="0"/>
          </a:p>
        </p:txBody>
      </p:sp>
      <p:sp>
        <p:nvSpPr>
          <p:cNvPr id="12" name="kelompok Anomali meter &amp; tanggal"/>
          <p:cNvSpPr/>
          <p:nvPr/>
        </p:nvSpPr>
        <p:spPr>
          <a:xfrm>
            <a:off x="4297680" y="1645920"/>
            <a:ext cx="3547872" cy="2649633"/>
          </a:xfrm>
          <a:prstGeom prst="roundRect">
            <a:avLst>
              <a:gd name="adj" fmla="val 2078"/>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3" name="aksen"/>
          <p:cNvSpPr/>
          <p:nvPr/>
        </p:nvSpPr>
        <p:spPr>
          <a:xfrm>
            <a:off x="4297680" y="1645920"/>
            <a:ext cx="3547872" cy="91440"/>
          </a:xfrm>
          <a:prstGeom prst="rect">
            <a:avLst/>
          </a:prstGeom>
          <a:solidFill>
            <a:schemeClr val="accent5"/>
          </a:solidFill>
          <a:ln/>
        </p:spPr>
        <p:txBody>
          <a:bodyPr/>
          <a:lstStyle/>
          <a:p>
            <a:endParaRPr lang="en-US"/>
          </a:p>
        </p:txBody>
      </p:sp>
      <p:sp>
        <p:nvSpPr>
          <p:cNvPr id="14" name="Text 12"/>
          <p:cNvSpPr txBox="1"/>
          <p:nvPr/>
        </p:nvSpPr>
        <p:spPr>
          <a:xfrm>
            <a:off x="4526280" y="1828800"/>
            <a:ext cx="3108960" cy="365760"/>
          </a:xfrm>
          <a:prstGeom prst="rect">
            <a:avLst/>
          </a:prstGeom>
          <a:noFill/>
          <a:ln/>
        </p:spPr>
        <p:txBody>
          <a:bodyPr wrap="square" lIns="0" tIns="0" rIns="0" bIns="0" rtlCol="0" anchor="t"/>
          <a:lstStyle/>
          <a:p>
            <a:pPr marL="0" indent="0">
              <a:buNone/>
            </a:pPr>
            <a:r>
              <a:rPr lang="en-US" sz="1600" b="1" dirty="0">
                <a:solidFill>
                  <a:schemeClr val="tx2"/>
                </a:solidFill>
              </a:rPr>
              <a:t>Anomali meter &amp; tanggal</a:t>
            </a:r>
            <a:endParaRPr lang="en-US" sz="1600" dirty="0"/>
          </a:p>
        </p:txBody>
      </p:sp>
      <p:sp>
        <p:nvSpPr>
          <p:cNvPr id="15" name="Text 13"/>
          <p:cNvSpPr txBox="1"/>
          <p:nvPr/>
        </p:nvSpPr>
        <p:spPr>
          <a:xfrm>
            <a:off x="4526280" y="2286000"/>
            <a:ext cx="960120" cy="411480"/>
          </a:xfrm>
          <a:prstGeom prst="rect">
            <a:avLst/>
          </a:prstGeom>
          <a:noFill/>
          <a:ln/>
        </p:spPr>
        <p:txBody>
          <a:bodyPr wrap="square" lIns="0" tIns="0" rIns="0" bIns="0" rtlCol="0" anchor="ctr">
            <a:normAutofit/>
          </a:bodyPr>
          <a:lstStyle/>
          <a:p>
            <a:pPr marL="0" indent="0">
              <a:buNone/>
            </a:pPr>
            <a:r>
              <a:rPr lang="en-US" sz="1800" b="1" dirty="0">
                <a:solidFill>
                  <a:schemeClr val="accent5"/>
                </a:solidFill>
              </a:rPr>
              <a:t>3.824</a:t>
            </a:r>
            <a:endParaRPr lang="en-US" sz="1800" dirty="0"/>
          </a:p>
        </p:txBody>
      </p:sp>
      <p:sp>
        <p:nvSpPr>
          <p:cNvPr id="16" name="Text 14"/>
          <p:cNvSpPr txBox="1"/>
          <p:nvPr/>
        </p:nvSpPr>
        <p:spPr>
          <a:xfrm>
            <a:off x="5532120" y="2286000"/>
            <a:ext cx="2148840" cy="411480"/>
          </a:xfrm>
          <a:prstGeom prst="rect">
            <a:avLst/>
          </a:prstGeom>
          <a:noFill/>
          <a:ln/>
        </p:spPr>
        <p:txBody>
          <a:bodyPr wrap="square" lIns="0" tIns="0" rIns="0" bIns="0" rtlCol="0" anchor="ctr"/>
          <a:lstStyle/>
          <a:p>
            <a:pPr marL="0" indent="0">
              <a:buNone/>
            </a:pPr>
            <a:r>
              <a:rPr lang="en-US" sz="1200" dirty="0">
                <a:solidFill>
                  <a:schemeClr val="tx1"/>
                </a:solidFill>
              </a:rPr>
              <a:t>pemakaian air negatif</a:t>
            </a:r>
            <a:endParaRPr lang="en-US" sz="1200" dirty="0"/>
          </a:p>
        </p:txBody>
      </p:sp>
      <p:sp>
        <p:nvSpPr>
          <p:cNvPr id="17" name="Text 15"/>
          <p:cNvSpPr txBox="1"/>
          <p:nvPr/>
        </p:nvSpPr>
        <p:spPr>
          <a:xfrm>
            <a:off x="4526280" y="2743200"/>
            <a:ext cx="960120" cy="411480"/>
          </a:xfrm>
          <a:prstGeom prst="rect">
            <a:avLst/>
          </a:prstGeom>
          <a:noFill/>
          <a:ln/>
        </p:spPr>
        <p:txBody>
          <a:bodyPr wrap="square" lIns="0" tIns="0" rIns="0" bIns="0" rtlCol="0" anchor="ctr">
            <a:normAutofit/>
          </a:bodyPr>
          <a:lstStyle/>
          <a:p>
            <a:pPr marL="0" indent="0">
              <a:buNone/>
            </a:pPr>
            <a:r>
              <a:rPr lang="en-US" sz="1800" b="1" dirty="0">
                <a:solidFill>
                  <a:schemeClr val="accent5"/>
                </a:solidFill>
              </a:rPr>
              <a:t>3.789</a:t>
            </a:r>
            <a:endParaRPr lang="en-US" sz="1800" dirty="0"/>
          </a:p>
        </p:txBody>
      </p:sp>
      <p:sp>
        <p:nvSpPr>
          <p:cNvPr id="18" name="Text 16"/>
          <p:cNvSpPr txBox="1"/>
          <p:nvPr/>
        </p:nvSpPr>
        <p:spPr>
          <a:xfrm>
            <a:off x="5532120" y="2743200"/>
            <a:ext cx="2148840" cy="411480"/>
          </a:xfrm>
          <a:prstGeom prst="rect">
            <a:avLst/>
          </a:prstGeom>
          <a:noFill/>
          <a:ln/>
        </p:spPr>
        <p:txBody>
          <a:bodyPr wrap="square" lIns="0" tIns="0" rIns="0" bIns="0" rtlCol="0" anchor="ctr"/>
          <a:lstStyle/>
          <a:p>
            <a:pPr marL="0" indent="0">
              <a:buNone/>
            </a:pPr>
            <a:r>
              <a:rPr lang="en-US" sz="1200" dirty="0">
                <a:solidFill>
                  <a:schemeClr val="tx1"/>
                </a:solidFill>
              </a:rPr>
              <a:t>pemakaian air &gt; 97,8 m³ (semua input Manual)</a:t>
            </a:r>
            <a:endParaRPr lang="en-US" sz="1200" dirty="0"/>
          </a:p>
        </p:txBody>
      </p:sp>
      <p:sp>
        <p:nvSpPr>
          <p:cNvPr id="19" name="Text 17"/>
          <p:cNvSpPr txBox="1"/>
          <p:nvPr/>
        </p:nvSpPr>
        <p:spPr>
          <a:xfrm>
            <a:off x="4526280" y="3200400"/>
            <a:ext cx="960120" cy="411480"/>
          </a:xfrm>
          <a:prstGeom prst="rect">
            <a:avLst/>
          </a:prstGeom>
          <a:noFill/>
          <a:ln/>
        </p:spPr>
        <p:txBody>
          <a:bodyPr wrap="square" lIns="0" tIns="0" rIns="0" bIns="0" rtlCol="0" anchor="ctr">
            <a:normAutofit/>
          </a:bodyPr>
          <a:lstStyle/>
          <a:p>
            <a:pPr marL="0" indent="0">
              <a:buNone/>
            </a:pPr>
            <a:r>
              <a:rPr lang="en-US" sz="1800" b="1" dirty="0">
                <a:solidFill>
                  <a:schemeClr val="accent5"/>
                </a:solidFill>
              </a:rPr>
              <a:t>11.236</a:t>
            </a:r>
            <a:endParaRPr lang="en-US" sz="1800" dirty="0"/>
          </a:p>
        </p:txBody>
      </p:sp>
      <p:sp>
        <p:nvSpPr>
          <p:cNvPr id="20" name="Text 18"/>
          <p:cNvSpPr txBox="1"/>
          <p:nvPr/>
        </p:nvSpPr>
        <p:spPr>
          <a:xfrm>
            <a:off x="5532120" y="3200400"/>
            <a:ext cx="2148840" cy="411480"/>
          </a:xfrm>
          <a:prstGeom prst="rect">
            <a:avLst/>
          </a:prstGeom>
          <a:noFill/>
          <a:ln/>
        </p:spPr>
        <p:txBody>
          <a:bodyPr wrap="square" lIns="0" tIns="0" rIns="0" bIns="0" rtlCol="0" anchor="ctr"/>
          <a:lstStyle/>
          <a:p>
            <a:pPr marL="0" indent="0">
              <a:buNone/>
            </a:pPr>
            <a:r>
              <a:rPr lang="en-US" sz="1200" dirty="0">
                <a:solidFill>
                  <a:schemeClr val="tx1"/>
                </a:solidFill>
              </a:rPr>
              <a:t>tanggal bayar sebelum periode tagihan</a:t>
            </a:r>
            <a:endParaRPr lang="en-US" sz="1200" dirty="0"/>
          </a:p>
        </p:txBody>
      </p:sp>
      <p:sp>
        <p:nvSpPr>
          <p:cNvPr id="22" name="Text 20"/>
          <p:cNvSpPr txBox="1"/>
          <p:nvPr/>
        </p:nvSpPr>
        <p:spPr>
          <a:xfrm>
            <a:off x="4462486" y="3703321"/>
            <a:ext cx="3108960" cy="685800"/>
          </a:xfrm>
          <a:prstGeom prst="rect">
            <a:avLst/>
          </a:prstGeom>
          <a:noFill/>
          <a:ln/>
        </p:spPr>
        <p:txBody>
          <a:bodyPr wrap="square" lIns="0" tIns="0" rIns="0" bIns="0" rtlCol="0" anchor="t"/>
          <a:lstStyle/>
          <a:p>
            <a:pPr marL="0" indent="0">
              <a:buNone/>
            </a:pPr>
            <a:r>
              <a:rPr lang="en-US" sz="1200" b="1" dirty="0">
                <a:solidFill>
                  <a:schemeClr val="accent3"/>
                </a:solidFill>
              </a:rPr>
              <a:t>Tindakan: </a:t>
            </a:r>
            <a:r>
              <a:rPr lang="en-US" sz="1200" dirty="0" err="1"/>
              <a:t>Ditandai</a:t>
            </a:r>
            <a:r>
              <a:rPr lang="en-US" sz="1200" dirty="0">
                <a:solidFill>
                  <a:schemeClr val="tx1"/>
                </a:solidFill>
              </a:rPr>
              <a:t>; validasi bukti meter oleh Estate Ops</a:t>
            </a:r>
            <a:endParaRPr lang="en-US" sz="1200" dirty="0"/>
          </a:p>
        </p:txBody>
      </p:sp>
      <p:sp>
        <p:nvSpPr>
          <p:cNvPr id="23" name="kelompok Kontak &amp; metode bayar"/>
          <p:cNvSpPr/>
          <p:nvPr/>
        </p:nvSpPr>
        <p:spPr>
          <a:xfrm>
            <a:off x="8046720" y="1645920"/>
            <a:ext cx="3547872" cy="2649633"/>
          </a:xfrm>
          <a:prstGeom prst="roundRect">
            <a:avLst>
              <a:gd name="adj" fmla="val 2078"/>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24" name="aksen"/>
          <p:cNvSpPr/>
          <p:nvPr/>
        </p:nvSpPr>
        <p:spPr>
          <a:xfrm>
            <a:off x="8046720" y="1645920"/>
            <a:ext cx="3547872" cy="91440"/>
          </a:xfrm>
          <a:prstGeom prst="rect">
            <a:avLst/>
          </a:prstGeom>
          <a:solidFill>
            <a:schemeClr val="accent1"/>
          </a:solidFill>
          <a:ln/>
        </p:spPr>
        <p:txBody>
          <a:bodyPr/>
          <a:lstStyle/>
          <a:p>
            <a:endParaRPr lang="en-US"/>
          </a:p>
        </p:txBody>
      </p:sp>
      <p:sp>
        <p:nvSpPr>
          <p:cNvPr id="25" name="Text 23"/>
          <p:cNvSpPr txBox="1"/>
          <p:nvPr/>
        </p:nvSpPr>
        <p:spPr>
          <a:xfrm>
            <a:off x="8275320" y="1828800"/>
            <a:ext cx="3108960" cy="365760"/>
          </a:xfrm>
          <a:prstGeom prst="rect">
            <a:avLst/>
          </a:prstGeom>
          <a:noFill/>
          <a:ln/>
        </p:spPr>
        <p:txBody>
          <a:bodyPr wrap="square" lIns="0" tIns="0" rIns="0" bIns="0" rtlCol="0" anchor="t"/>
          <a:lstStyle/>
          <a:p>
            <a:pPr marL="0" indent="0">
              <a:buNone/>
            </a:pPr>
            <a:r>
              <a:rPr lang="en-US" sz="1600" b="1" dirty="0">
                <a:solidFill>
                  <a:schemeClr val="tx2"/>
                </a:solidFill>
              </a:rPr>
              <a:t>Kontak &amp; metode bayar</a:t>
            </a:r>
            <a:endParaRPr lang="en-US" sz="1600" dirty="0"/>
          </a:p>
        </p:txBody>
      </p:sp>
      <p:sp>
        <p:nvSpPr>
          <p:cNvPr id="26" name="Text 24"/>
          <p:cNvSpPr txBox="1"/>
          <p:nvPr/>
        </p:nvSpPr>
        <p:spPr>
          <a:xfrm>
            <a:off x="8275320" y="2286000"/>
            <a:ext cx="960120" cy="411480"/>
          </a:xfrm>
          <a:prstGeom prst="rect">
            <a:avLst/>
          </a:prstGeom>
          <a:noFill/>
          <a:ln/>
        </p:spPr>
        <p:txBody>
          <a:bodyPr wrap="square" lIns="0" tIns="0" rIns="0" bIns="0" rtlCol="0" anchor="ctr">
            <a:normAutofit/>
          </a:bodyPr>
          <a:lstStyle/>
          <a:p>
            <a:pPr marL="0" indent="0">
              <a:buNone/>
            </a:pPr>
            <a:r>
              <a:rPr lang="en-US" sz="1800" b="1" dirty="0">
                <a:solidFill>
                  <a:schemeClr val="accent1"/>
                </a:solidFill>
              </a:rPr>
              <a:t>4.978</a:t>
            </a:r>
            <a:endParaRPr lang="en-US" sz="1800" dirty="0"/>
          </a:p>
        </p:txBody>
      </p:sp>
      <p:sp>
        <p:nvSpPr>
          <p:cNvPr id="27" name="Text 25"/>
          <p:cNvSpPr txBox="1"/>
          <p:nvPr/>
        </p:nvSpPr>
        <p:spPr>
          <a:xfrm>
            <a:off x="9281160" y="2286000"/>
            <a:ext cx="2148840" cy="411480"/>
          </a:xfrm>
          <a:prstGeom prst="rect">
            <a:avLst/>
          </a:prstGeom>
          <a:noFill/>
          <a:ln/>
        </p:spPr>
        <p:txBody>
          <a:bodyPr wrap="square" lIns="0" tIns="0" rIns="0" bIns="0" rtlCol="0" anchor="ctr"/>
          <a:lstStyle/>
          <a:p>
            <a:pPr marL="0" indent="0">
              <a:buNone/>
            </a:pPr>
            <a:r>
              <a:rPr lang="en-US" sz="1200" dirty="0">
                <a:solidFill>
                  <a:schemeClr val="tx1"/>
                </a:solidFill>
              </a:rPr>
              <a:t>unit (17,24%) tanpa nomor kontak</a:t>
            </a:r>
            <a:endParaRPr lang="en-US" sz="1200" dirty="0"/>
          </a:p>
        </p:txBody>
      </p:sp>
      <p:sp>
        <p:nvSpPr>
          <p:cNvPr id="28" name="Text 26"/>
          <p:cNvSpPr txBox="1"/>
          <p:nvPr/>
        </p:nvSpPr>
        <p:spPr>
          <a:xfrm>
            <a:off x="8275320" y="2743200"/>
            <a:ext cx="960120" cy="411480"/>
          </a:xfrm>
          <a:prstGeom prst="rect">
            <a:avLst/>
          </a:prstGeom>
          <a:noFill/>
          <a:ln/>
        </p:spPr>
        <p:txBody>
          <a:bodyPr wrap="square" lIns="0" tIns="0" rIns="0" bIns="0" rtlCol="0" anchor="ctr">
            <a:normAutofit/>
          </a:bodyPr>
          <a:lstStyle/>
          <a:p>
            <a:pPr marL="0" indent="0">
              <a:buNone/>
            </a:pPr>
            <a:r>
              <a:rPr lang="en-US" sz="1800" b="1" dirty="0">
                <a:solidFill>
                  <a:schemeClr val="accent1"/>
                </a:solidFill>
              </a:rPr>
              <a:t>9 → 4</a:t>
            </a:r>
            <a:endParaRPr lang="en-US" sz="1800" dirty="0"/>
          </a:p>
        </p:txBody>
      </p:sp>
      <p:sp>
        <p:nvSpPr>
          <p:cNvPr id="29" name="Text 27"/>
          <p:cNvSpPr txBox="1"/>
          <p:nvPr/>
        </p:nvSpPr>
        <p:spPr>
          <a:xfrm>
            <a:off x="9281160" y="2743200"/>
            <a:ext cx="2148840" cy="411480"/>
          </a:xfrm>
          <a:prstGeom prst="rect">
            <a:avLst/>
          </a:prstGeom>
          <a:noFill/>
          <a:ln/>
        </p:spPr>
        <p:txBody>
          <a:bodyPr wrap="square" lIns="0" tIns="0" rIns="0" bIns="0" rtlCol="0" anchor="ctr"/>
          <a:lstStyle/>
          <a:p>
            <a:pPr marL="0" indent="0">
              <a:buNone/>
            </a:pPr>
            <a:r>
              <a:rPr lang="en-US" sz="1200" dirty="0">
                <a:solidFill>
                  <a:schemeClr val="tx1"/>
                </a:solidFill>
              </a:rPr>
              <a:t>variasi penulisan metode bayar → kode baku</a:t>
            </a:r>
            <a:endParaRPr lang="en-US" sz="1200" dirty="0"/>
          </a:p>
        </p:txBody>
      </p:sp>
      <p:sp>
        <p:nvSpPr>
          <p:cNvPr id="31" name="Text 29"/>
          <p:cNvSpPr txBox="1"/>
          <p:nvPr/>
        </p:nvSpPr>
        <p:spPr>
          <a:xfrm>
            <a:off x="8305800" y="3703321"/>
            <a:ext cx="3108960" cy="685800"/>
          </a:xfrm>
          <a:prstGeom prst="rect">
            <a:avLst/>
          </a:prstGeom>
          <a:noFill/>
          <a:ln/>
        </p:spPr>
        <p:txBody>
          <a:bodyPr wrap="square" lIns="0" tIns="0" rIns="0" bIns="0" rtlCol="0" anchor="t"/>
          <a:lstStyle/>
          <a:p>
            <a:pPr marL="0" indent="0">
              <a:buNone/>
            </a:pPr>
            <a:r>
              <a:rPr lang="en-US" sz="1200" b="1" dirty="0">
                <a:solidFill>
                  <a:schemeClr val="accent3"/>
                </a:solidFill>
              </a:rPr>
              <a:t>Tindakan: </a:t>
            </a:r>
            <a:r>
              <a:rPr lang="en-US" sz="1200" dirty="0">
                <a:solidFill>
                  <a:schemeClr val="tx1"/>
                </a:solidFill>
              </a:rPr>
              <a:t>Verifikasi kontak; </a:t>
            </a:r>
            <a:r>
              <a:rPr lang="en-US" sz="1200" dirty="0" err="1">
                <a:solidFill>
                  <a:schemeClr val="tx1"/>
                </a:solidFill>
              </a:rPr>
              <a:t>standarisasi</a:t>
            </a:r>
            <a:r>
              <a:rPr lang="en-US" sz="1200" dirty="0">
                <a:solidFill>
                  <a:schemeClr val="tx1"/>
                </a:solidFill>
              </a:rPr>
              <a:t> </a:t>
            </a:r>
            <a:r>
              <a:rPr lang="en-US" sz="1200" dirty="0" err="1">
                <a:solidFill>
                  <a:schemeClr val="tx1"/>
                </a:solidFill>
              </a:rPr>
              <a:t>metode</a:t>
            </a:r>
            <a:r>
              <a:rPr lang="en-US" sz="1200" dirty="0">
                <a:solidFill>
                  <a:schemeClr val="tx1"/>
                </a:solidFill>
              </a:rPr>
              <a:t> </a:t>
            </a:r>
            <a:r>
              <a:rPr lang="en-US" sz="1200" dirty="0" err="1">
                <a:solidFill>
                  <a:schemeClr val="tx1"/>
                </a:solidFill>
              </a:rPr>
              <a:t>bayar</a:t>
            </a:r>
            <a:endParaRPr lang="en-US" sz="1200" dirty="0"/>
          </a:p>
        </p:txBody>
      </p:sp>
      <p:sp>
        <p:nvSpPr>
          <p:cNvPr id="34"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lustrasi kawasan" descr="/home/claude/deck2/img/div2.jpg"/>
          <p:cNvPicPr>
            <a:picLocks noChangeAspect="1"/>
          </p:cNvPicPr>
          <p:nvPr/>
        </p:nvPicPr>
        <p:blipFill>
          <a:blip r:embed="rId3"/>
          <a:stretch>
            <a:fillRect/>
          </a:stretch>
        </p:blipFill>
        <p:spPr>
          <a:xfrm>
            <a:off x="0" y="0"/>
            <a:ext cx="12191695" cy="6858000"/>
          </a:xfrm>
          <a:prstGeom prst="rect">
            <a:avLst/>
          </a:prstGeom>
        </p:spPr>
      </p:pic>
      <p:sp>
        <p:nvSpPr>
          <p:cNvPr id="3" name="panel gelap"/>
          <p:cNvSpPr/>
          <p:nvPr/>
        </p:nvSpPr>
        <p:spPr>
          <a:xfrm>
            <a:off x="0" y="0"/>
            <a:ext cx="8138160" cy="6858000"/>
          </a:xfrm>
          <a:prstGeom prst="rect">
            <a:avLst/>
          </a:prstGeom>
          <a:solidFill>
            <a:srgbClr val="13294B">
              <a:alpha val="90000"/>
            </a:srgbClr>
          </a:solidFill>
          <a:ln/>
        </p:spPr>
        <p:txBody>
          <a:bodyPr/>
          <a:lstStyle/>
          <a:p>
            <a:endParaRPr lang="en-US"/>
          </a:p>
        </p:txBody>
      </p:sp>
      <p:sp>
        <p:nvSpPr>
          <p:cNvPr id="4" name="Text 1"/>
          <p:cNvSpPr txBox="1"/>
          <p:nvPr/>
        </p:nvSpPr>
        <p:spPr>
          <a:xfrm>
            <a:off x="731520" y="1828800"/>
            <a:ext cx="2743200" cy="822960"/>
          </a:xfrm>
          <a:prstGeom prst="rect">
            <a:avLst/>
          </a:prstGeom>
          <a:noFill/>
          <a:ln/>
        </p:spPr>
        <p:txBody>
          <a:bodyPr wrap="square" lIns="0" tIns="0" rIns="0" bIns="0" rtlCol="0" anchor="t"/>
          <a:lstStyle/>
          <a:p>
            <a:pPr marL="0" indent="0">
              <a:buNone/>
            </a:pPr>
            <a:r>
              <a:rPr lang="en-US" sz="4800" b="1" dirty="0">
                <a:solidFill>
                  <a:schemeClr val="accent2"/>
                </a:solidFill>
              </a:rPr>
              <a:t>03</a:t>
            </a:r>
            <a:endParaRPr lang="en-US" sz="4800" dirty="0"/>
          </a:p>
        </p:txBody>
      </p:sp>
      <p:sp>
        <p:nvSpPr>
          <p:cNvPr id="5" name="Text 0"/>
          <p:cNvSpPr>
            <a:spLocks noGrp="1"/>
          </p:cNvSpPr>
          <p:nvPr>
            <p:ph type="title" idx="100" hasCustomPrompt="1"/>
          </p:nvPr>
        </p:nvSpPr>
        <p:spPr>
          <a:xfrm>
            <a:off x="731520" y="2788920"/>
            <a:ext cx="6949440" cy="1188720"/>
          </a:xfrm>
          <a:prstGeom prst="rect">
            <a:avLst/>
          </a:prstGeom>
          <a:noFill/>
          <a:ln/>
        </p:spPr>
        <p:txBody>
          <a:bodyPr wrap="square" lIns="0" tIns="0" rIns="0" bIns="0" rtlCol="0" anchor="t"/>
          <a:lstStyle/>
          <a:p>
            <a:pPr marL="0" indent="0" algn="l">
              <a:buNone/>
            </a:pPr>
            <a:r>
              <a:rPr lang="en-US" sz="4000" b="1" dirty="0">
                <a:solidFill>
                  <a:schemeClr val="bg1"/>
                </a:solidFill>
              </a:rPr>
              <a:t>Besar masalah NPI</a:t>
            </a:r>
            <a:endParaRPr lang="en-US" sz="4000" dirty="0"/>
          </a:p>
        </p:txBody>
      </p:sp>
      <p:sp>
        <p:nvSpPr>
          <p:cNvPr id="6" name="Text 0"/>
          <p:cNvSpPr>
            <a:spLocks noGrp="1"/>
          </p:cNvSpPr>
          <p:nvPr>
            <p:ph type="body" idx="101" hasCustomPrompt="1"/>
          </p:nvPr>
        </p:nvSpPr>
        <p:spPr>
          <a:xfrm>
            <a:off x="731520" y="4069080"/>
            <a:ext cx="6583680" cy="1097280"/>
          </a:xfrm>
          <a:prstGeom prst="rect">
            <a:avLst/>
          </a:prstGeom>
          <a:noFill/>
          <a:ln/>
        </p:spPr>
        <p:txBody>
          <a:bodyPr wrap="square" lIns="0" tIns="0" rIns="0" bIns="0" rtlCol="0" anchor="t"/>
          <a:lstStyle/>
          <a:p>
            <a:pPr marL="0" indent="0" algn="l">
              <a:buNone/>
            </a:pPr>
            <a:r>
              <a:rPr lang="en-US" sz="1800" dirty="0">
                <a:solidFill>
                  <a:schemeClr val="bg1"/>
                </a:solidFill>
              </a:rPr>
              <a:t>Seberapa besar tagihan bermasalah, dari sisi jumlah invoice dan nominal rupiah?</a:t>
            </a:r>
            <a:endParaRPr lang="en-US" sz="18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C9D3E0"/>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BASELINE NPI</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35,44% invoice utama </a:t>
            </a:r>
            <a:r>
              <a:rPr lang="en-US" sz="2600" b="1" dirty="0" err="1">
                <a:solidFill>
                  <a:schemeClr val="tx2"/>
                </a:solidFill>
              </a:rPr>
              <a:t>berstatus</a:t>
            </a:r>
            <a:r>
              <a:rPr lang="en-US" sz="2600" b="1" dirty="0">
                <a:solidFill>
                  <a:schemeClr val="tx2"/>
                </a:solidFill>
              </a:rPr>
              <a:t> NPI</a:t>
            </a:r>
            <a:r>
              <a:rPr lang="id-ID" sz="2600" b="1" dirty="0">
                <a:solidFill>
                  <a:schemeClr val="tx2"/>
                </a:solidFill>
              </a:rPr>
              <a:t>:</a:t>
            </a:r>
            <a:r>
              <a:rPr lang="en-US" sz="2600" b="1" dirty="0">
                <a:solidFill>
                  <a:schemeClr val="tx2"/>
                </a:solidFill>
              </a:rPr>
              <a:t> nominal analisisnya Rp176,34 miliar</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endParaRPr lang="en-US" sz="1000" dirty="0"/>
          </a:p>
        </p:txBody>
      </p:sp>
      <p:sp>
        <p:nvSpPr>
          <p:cNvPr id="5" name="kpi NPI jumlah = invoice NPI ÷ invoice utama (272.545 ÷ 768.978)"/>
          <p:cNvSpPr/>
          <p:nvPr/>
        </p:nvSpPr>
        <p:spPr>
          <a:xfrm>
            <a:off x="548640" y="1645920"/>
            <a:ext cx="3520440" cy="1508760"/>
          </a:xfrm>
          <a:prstGeom prst="roundRect">
            <a:avLst>
              <a:gd name="adj" fmla="val 4848"/>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6" name="Text 4"/>
          <p:cNvSpPr txBox="1"/>
          <p:nvPr/>
        </p:nvSpPr>
        <p:spPr>
          <a:xfrm>
            <a:off x="777240" y="1783080"/>
            <a:ext cx="3063240" cy="678942"/>
          </a:xfrm>
          <a:prstGeom prst="rect">
            <a:avLst/>
          </a:prstGeom>
          <a:noFill/>
          <a:ln/>
        </p:spPr>
        <p:txBody>
          <a:bodyPr wrap="square" lIns="0" tIns="0" rIns="0" bIns="0" rtlCol="0" anchor="ctr">
            <a:normAutofit/>
          </a:bodyPr>
          <a:lstStyle/>
          <a:p>
            <a:pPr marL="0" indent="0">
              <a:buNone/>
            </a:pPr>
            <a:r>
              <a:rPr lang="en-US" sz="4000" b="1" dirty="0">
                <a:solidFill>
                  <a:schemeClr val="tx2"/>
                </a:solidFill>
              </a:rPr>
              <a:t>35,44%</a:t>
            </a:r>
            <a:endParaRPr lang="en-US" sz="4000" dirty="0"/>
          </a:p>
        </p:txBody>
      </p:sp>
      <p:sp>
        <p:nvSpPr>
          <p:cNvPr id="7" name="Text 5"/>
          <p:cNvSpPr txBox="1"/>
          <p:nvPr/>
        </p:nvSpPr>
        <p:spPr>
          <a:xfrm>
            <a:off x="777240" y="2489454"/>
            <a:ext cx="3063240" cy="555498"/>
          </a:xfrm>
          <a:prstGeom prst="rect">
            <a:avLst/>
          </a:prstGeom>
          <a:noFill/>
          <a:ln/>
        </p:spPr>
        <p:txBody>
          <a:bodyPr wrap="square" lIns="0" tIns="0" rIns="0" bIns="0" rtlCol="0" anchor="t">
            <a:normAutofit/>
          </a:bodyPr>
          <a:lstStyle/>
          <a:p>
            <a:pPr marL="0" indent="0">
              <a:buNone/>
            </a:pPr>
            <a:r>
              <a:rPr lang="en-US" sz="1200" dirty="0">
                <a:solidFill>
                  <a:schemeClr val="accent6"/>
                </a:solidFill>
              </a:rPr>
              <a:t>NPI jumlah = invoice NPI ÷ invoice total</a:t>
            </a:r>
          </a:p>
          <a:p>
            <a:pPr marL="0" indent="0">
              <a:buNone/>
            </a:pPr>
            <a:r>
              <a:rPr lang="en-US" sz="1200" dirty="0">
                <a:solidFill>
                  <a:schemeClr val="accent6"/>
                </a:solidFill>
              </a:rPr>
              <a:t> (272.545 ÷ 768.978)</a:t>
            </a:r>
            <a:endParaRPr lang="en-US" sz="1200" dirty="0"/>
          </a:p>
        </p:txBody>
      </p:sp>
      <p:sp>
        <p:nvSpPr>
          <p:cNvPr id="8" name="kpi NPI nominal = nominal NPI analisis ÷ total nilai tagihan analisis"/>
          <p:cNvSpPr/>
          <p:nvPr/>
        </p:nvSpPr>
        <p:spPr>
          <a:xfrm>
            <a:off x="4343400" y="1645920"/>
            <a:ext cx="3520440" cy="1508760"/>
          </a:xfrm>
          <a:prstGeom prst="roundRect">
            <a:avLst>
              <a:gd name="adj" fmla="val 4848"/>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9" name="Text 7"/>
          <p:cNvSpPr txBox="1"/>
          <p:nvPr/>
        </p:nvSpPr>
        <p:spPr>
          <a:xfrm>
            <a:off x="4572000" y="1783080"/>
            <a:ext cx="3063240" cy="678942"/>
          </a:xfrm>
          <a:prstGeom prst="rect">
            <a:avLst/>
          </a:prstGeom>
          <a:noFill/>
          <a:ln/>
        </p:spPr>
        <p:txBody>
          <a:bodyPr wrap="square" lIns="0" tIns="0" rIns="0" bIns="0" rtlCol="0" anchor="ctr">
            <a:normAutofit/>
          </a:bodyPr>
          <a:lstStyle/>
          <a:p>
            <a:pPr marL="0" indent="0">
              <a:buNone/>
            </a:pPr>
            <a:r>
              <a:rPr lang="en-US" sz="4000" b="1" dirty="0">
                <a:solidFill>
                  <a:schemeClr val="tx2"/>
                </a:solidFill>
              </a:rPr>
              <a:t>35,55%</a:t>
            </a:r>
            <a:endParaRPr lang="en-US" sz="4000" dirty="0"/>
          </a:p>
        </p:txBody>
      </p:sp>
      <p:sp>
        <p:nvSpPr>
          <p:cNvPr id="10" name="Text 8"/>
          <p:cNvSpPr txBox="1"/>
          <p:nvPr/>
        </p:nvSpPr>
        <p:spPr>
          <a:xfrm>
            <a:off x="4572000" y="2489454"/>
            <a:ext cx="3063240" cy="555498"/>
          </a:xfrm>
          <a:prstGeom prst="rect">
            <a:avLst/>
          </a:prstGeom>
          <a:noFill/>
          <a:ln/>
        </p:spPr>
        <p:txBody>
          <a:bodyPr wrap="square" lIns="0" tIns="0" rIns="0" bIns="0" rtlCol="0" anchor="t">
            <a:normAutofit/>
          </a:bodyPr>
          <a:lstStyle/>
          <a:p>
            <a:pPr marL="0" indent="0">
              <a:buNone/>
            </a:pPr>
            <a:r>
              <a:rPr lang="en-US" sz="1200" dirty="0">
                <a:solidFill>
                  <a:schemeClr val="accent6"/>
                </a:solidFill>
              </a:rPr>
              <a:t>NPI nominal = nominal NPI ÷ total </a:t>
            </a:r>
            <a:r>
              <a:rPr lang="en-US" sz="1200" dirty="0" err="1">
                <a:solidFill>
                  <a:schemeClr val="accent6"/>
                </a:solidFill>
              </a:rPr>
              <a:t>nilai</a:t>
            </a:r>
            <a:r>
              <a:rPr lang="en-US" sz="1200" dirty="0">
                <a:solidFill>
                  <a:schemeClr val="accent6"/>
                </a:solidFill>
              </a:rPr>
              <a:t> </a:t>
            </a:r>
            <a:r>
              <a:rPr lang="en-US" sz="1200" dirty="0" err="1">
                <a:solidFill>
                  <a:schemeClr val="accent6"/>
                </a:solidFill>
              </a:rPr>
              <a:t>tagihan</a:t>
            </a:r>
            <a:endParaRPr lang="en-US" sz="1200" dirty="0"/>
          </a:p>
        </p:txBody>
      </p:sp>
      <p:sp>
        <p:nvSpPr>
          <p:cNvPr id="14" name="lapisan Nominal NPI bruto"/>
          <p:cNvSpPr/>
          <p:nvPr/>
        </p:nvSpPr>
        <p:spPr>
          <a:xfrm>
            <a:off x="548640" y="3429000"/>
            <a:ext cx="3520440" cy="1828800"/>
          </a:xfrm>
          <a:prstGeom prst="roundRect">
            <a:avLst>
              <a:gd name="adj" fmla="val 4000"/>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5" name="Text 13"/>
          <p:cNvSpPr txBox="1"/>
          <p:nvPr/>
        </p:nvSpPr>
        <p:spPr>
          <a:xfrm>
            <a:off x="777240" y="3611880"/>
            <a:ext cx="3108960" cy="274320"/>
          </a:xfrm>
          <a:prstGeom prst="rect">
            <a:avLst/>
          </a:prstGeom>
          <a:noFill/>
          <a:ln/>
        </p:spPr>
        <p:txBody>
          <a:bodyPr wrap="square" lIns="0" tIns="0" rIns="0" bIns="0" rtlCol="0" anchor="t"/>
          <a:lstStyle/>
          <a:p>
            <a:pPr marL="0" indent="0">
              <a:buNone/>
            </a:pPr>
            <a:r>
              <a:rPr lang="en-US" sz="1100" b="1" kern="0" spc="100" dirty="0">
                <a:solidFill>
                  <a:schemeClr val="tx2"/>
                </a:solidFill>
              </a:rPr>
              <a:t>NOMINAL NPI BRUTO</a:t>
            </a:r>
            <a:endParaRPr lang="en-US" sz="1100" dirty="0"/>
          </a:p>
        </p:txBody>
      </p:sp>
      <p:sp>
        <p:nvSpPr>
          <p:cNvPr id="16" name="Text 14"/>
          <p:cNvSpPr txBox="1"/>
          <p:nvPr/>
        </p:nvSpPr>
        <p:spPr>
          <a:xfrm>
            <a:off x="777240" y="3931920"/>
            <a:ext cx="3108960" cy="548640"/>
          </a:xfrm>
          <a:prstGeom prst="rect">
            <a:avLst/>
          </a:prstGeom>
          <a:noFill/>
          <a:ln/>
        </p:spPr>
        <p:txBody>
          <a:bodyPr wrap="square" lIns="0" tIns="0" rIns="0" bIns="0" rtlCol="0" anchor="ctr">
            <a:normAutofit/>
          </a:bodyPr>
          <a:lstStyle/>
          <a:p>
            <a:pPr marL="0" indent="0">
              <a:buNone/>
            </a:pPr>
            <a:r>
              <a:rPr lang="en-US" sz="2600" b="1" dirty="0">
                <a:solidFill>
                  <a:schemeClr val="tx2"/>
                </a:solidFill>
              </a:rPr>
              <a:t>Rp224,64 miliar</a:t>
            </a:r>
            <a:endParaRPr lang="en-US" sz="2600" dirty="0"/>
          </a:p>
        </p:txBody>
      </p:sp>
      <p:sp>
        <p:nvSpPr>
          <p:cNvPr id="17" name="Text 15"/>
          <p:cNvSpPr txBox="1"/>
          <p:nvPr/>
        </p:nvSpPr>
        <p:spPr>
          <a:xfrm>
            <a:off x="777240" y="4526280"/>
            <a:ext cx="3108960" cy="658368"/>
          </a:xfrm>
          <a:prstGeom prst="rect">
            <a:avLst/>
          </a:prstGeom>
          <a:noFill/>
          <a:ln/>
        </p:spPr>
        <p:txBody>
          <a:bodyPr wrap="square" lIns="0" tIns="0" rIns="0" bIns="0" rtlCol="0" anchor="t"/>
          <a:lstStyle/>
          <a:p>
            <a:pPr marL="0" indent="0">
              <a:buNone/>
            </a:pPr>
            <a:r>
              <a:rPr lang="en-US" sz="1200" dirty="0">
                <a:solidFill>
                  <a:schemeClr val="accent6"/>
                </a:solidFill>
              </a:rPr>
              <a:t>Total tagihan seluruh invoice NPI </a:t>
            </a:r>
            <a:r>
              <a:rPr lang="en-US" sz="1200" dirty="0" err="1">
                <a:solidFill>
                  <a:schemeClr val="accent6"/>
                </a:solidFill>
              </a:rPr>
              <a:t>bruto</a:t>
            </a:r>
            <a:endParaRPr lang="en-US" sz="1200" dirty="0"/>
          </a:p>
        </p:txBody>
      </p:sp>
      <p:sp>
        <p:nvSpPr>
          <p:cNvPr id="18" name="lapisan Komponen air perlu validasi"/>
          <p:cNvSpPr/>
          <p:nvPr/>
        </p:nvSpPr>
        <p:spPr>
          <a:xfrm>
            <a:off x="4343400" y="3429000"/>
            <a:ext cx="3520440" cy="1828800"/>
          </a:xfrm>
          <a:prstGeom prst="roundRect">
            <a:avLst>
              <a:gd name="adj" fmla="val 4000"/>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9" name="Text 17"/>
          <p:cNvSpPr txBox="1"/>
          <p:nvPr/>
        </p:nvSpPr>
        <p:spPr>
          <a:xfrm>
            <a:off x="4572000" y="3611880"/>
            <a:ext cx="3108960" cy="274320"/>
          </a:xfrm>
          <a:prstGeom prst="rect">
            <a:avLst/>
          </a:prstGeom>
          <a:noFill/>
          <a:ln/>
        </p:spPr>
        <p:txBody>
          <a:bodyPr wrap="square" lIns="0" tIns="0" rIns="0" bIns="0" rtlCol="0" anchor="t"/>
          <a:lstStyle/>
          <a:p>
            <a:pPr marL="0" indent="0">
              <a:buNone/>
            </a:pPr>
            <a:r>
              <a:rPr lang="en-US" sz="1100" b="1" kern="0" spc="100" dirty="0">
                <a:solidFill>
                  <a:schemeClr val="accent5"/>
                </a:solidFill>
              </a:rPr>
              <a:t>KOMPONEN AIR PERLU VALIDASI</a:t>
            </a:r>
            <a:endParaRPr lang="en-US" sz="1100" dirty="0"/>
          </a:p>
        </p:txBody>
      </p:sp>
      <p:sp>
        <p:nvSpPr>
          <p:cNvPr id="20" name="Text 18"/>
          <p:cNvSpPr txBox="1"/>
          <p:nvPr/>
        </p:nvSpPr>
        <p:spPr>
          <a:xfrm>
            <a:off x="4572000" y="3931920"/>
            <a:ext cx="3108960" cy="548640"/>
          </a:xfrm>
          <a:prstGeom prst="rect">
            <a:avLst/>
          </a:prstGeom>
          <a:noFill/>
          <a:ln/>
        </p:spPr>
        <p:txBody>
          <a:bodyPr wrap="square" lIns="0" tIns="0" rIns="0" bIns="0" rtlCol="0" anchor="ctr">
            <a:normAutofit/>
          </a:bodyPr>
          <a:lstStyle/>
          <a:p>
            <a:pPr marL="0" indent="0">
              <a:buNone/>
            </a:pPr>
            <a:r>
              <a:rPr lang="en-US" sz="2600" b="1" dirty="0">
                <a:solidFill>
                  <a:schemeClr val="tx2"/>
                </a:solidFill>
              </a:rPr>
              <a:t>− Rp48,30 miliar</a:t>
            </a:r>
            <a:endParaRPr lang="en-US" sz="2600" dirty="0"/>
          </a:p>
        </p:txBody>
      </p:sp>
      <p:sp>
        <p:nvSpPr>
          <p:cNvPr id="21" name="Text 19"/>
          <p:cNvSpPr txBox="1"/>
          <p:nvPr/>
        </p:nvSpPr>
        <p:spPr>
          <a:xfrm>
            <a:off x="4572000" y="4526280"/>
            <a:ext cx="3108960" cy="658368"/>
          </a:xfrm>
          <a:prstGeom prst="rect">
            <a:avLst/>
          </a:prstGeom>
          <a:noFill/>
          <a:ln/>
        </p:spPr>
        <p:txBody>
          <a:bodyPr wrap="square" lIns="0" tIns="0" rIns="0" bIns="0" rtlCol="0" anchor="t"/>
          <a:lstStyle/>
          <a:p>
            <a:pPr marL="0" indent="0">
              <a:buNone/>
            </a:pPr>
            <a:r>
              <a:rPr lang="en-US" sz="1200" dirty="0">
                <a:solidFill>
                  <a:schemeClr val="accent6"/>
                </a:solidFill>
              </a:rPr>
              <a:t>Bagian air pada invoice NPI dengan air &gt; 97,8 m³; bukan kerugian pasti</a:t>
            </a:r>
            <a:endParaRPr lang="en-US" sz="1200" dirty="0"/>
          </a:p>
        </p:txBody>
      </p:sp>
      <p:sp>
        <p:nvSpPr>
          <p:cNvPr id="22" name="lapisan Nominal NPI analisis"/>
          <p:cNvSpPr/>
          <p:nvPr/>
        </p:nvSpPr>
        <p:spPr>
          <a:xfrm>
            <a:off x="8138160" y="2491740"/>
            <a:ext cx="3520440" cy="1828800"/>
          </a:xfrm>
          <a:prstGeom prst="roundRect">
            <a:avLst>
              <a:gd name="adj" fmla="val 4000"/>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23" name="Text 21"/>
          <p:cNvSpPr txBox="1"/>
          <p:nvPr/>
        </p:nvSpPr>
        <p:spPr>
          <a:xfrm>
            <a:off x="8366760" y="2674620"/>
            <a:ext cx="3108960" cy="274320"/>
          </a:xfrm>
          <a:prstGeom prst="rect">
            <a:avLst/>
          </a:prstGeom>
          <a:noFill/>
          <a:ln/>
        </p:spPr>
        <p:txBody>
          <a:bodyPr wrap="square" lIns="0" tIns="0" rIns="0" bIns="0" rtlCol="0" anchor="t"/>
          <a:lstStyle/>
          <a:p>
            <a:pPr marL="0" indent="0">
              <a:buNone/>
            </a:pPr>
            <a:r>
              <a:rPr lang="en-US" sz="1100" b="1" kern="0" spc="100" dirty="0">
                <a:solidFill>
                  <a:schemeClr val="accent3"/>
                </a:solidFill>
              </a:rPr>
              <a:t>NOMINAL NPI ANALISIS</a:t>
            </a:r>
            <a:endParaRPr lang="en-US" sz="1100" dirty="0"/>
          </a:p>
        </p:txBody>
      </p:sp>
      <p:sp>
        <p:nvSpPr>
          <p:cNvPr id="24" name="Text 22"/>
          <p:cNvSpPr txBox="1"/>
          <p:nvPr/>
        </p:nvSpPr>
        <p:spPr>
          <a:xfrm>
            <a:off x="8366760" y="2994660"/>
            <a:ext cx="3108960" cy="548640"/>
          </a:xfrm>
          <a:prstGeom prst="rect">
            <a:avLst/>
          </a:prstGeom>
          <a:noFill/>
          <a:ln/>
        </p:spPr>
        <p:txBody>
          <a:bodyPr wrap="square" lIns="0" tIns="0" rIns="0" bIns="0" rtlCol="0" anchor="ctr">
            <a:normAutofit/>
          </a:bodyPr>
          <a:lstStyle/>
          <a:p>
            <a:pPr marL="0" indent="0">
              <a:buNone/>
            </a:pPr>
            <a:r>
              <a:rPr lang="en-US" sz="2600" b="1" dirty="0">
                <a:solidFill>
                  <a:schemeClr val="tx2"/>
                </a:solidFill>
              </a:rPr>
              <a:t>Rp176,34 miliar</a:t>
            </a:r>
            <a:endParaRPr lang="en-US" sz="2600" dirty="0"/>
          </a:p>
        </p:txBody>
      </p:sp>
      <p:sp>
        <p:nvSpPr>
          <p:cNvPr id="25" name="Text 23"/>
          <p:cNvSpPr txBox="1"/>
          <p:nvPr/>
        </p:nvSpPr>
        <p:spPr>
          <a:xfrm>
            <a:off x="8366760" y="3589020"/>
            <a:ext cx="3108960" cy="658368"/>
          </a:xfrm>
          <a:prstGeom prst="rect">
            <a:avLst/>
          </a:prstGeom>
          <a:noFill/>
          <a:ln/>
        </p:spPr>
        <p:txBody>
          <a:bodyPr wrap="square" lIns="0" tIns="0" rIns="0" bIns="0" rtlCol="0" anchor="t"/>
          <a:lstStyle/>
          <a:p>
            <a:pPr marL="0" indent="0">
              <a:buNone/>
            </a:pPr>
            <a:r>
              <a:rPr lang="en-US" sz="1200" dirty="0">
                <a:solidFill>
                  <a:schemeClr val="accent6"/>
                </a:solidFill>
              </a:rPr>
              <a:t>Bruto dikurangi komponen air tersebut; IPL dan denda tetap dihitung</a:t>
            </a:r>
            <a:endParaRPr lang="en-US" sz="1200" dirty="0"/>
          </a:p>
        </p:txBody>
      </p:sp>
      <p:sp>
        <p:nvSpPr>
          <p:cNvPr id="26" name="catatan nominal"/>
          <p:cNvSpPr/>
          <p:nvPr/>
        </p:nvSpPr>
        <p:spPr>
          <a:xfrm>
            <a:off x="548640" y="5486400"/>
            <a:ext cx="11091672" cy="731520"/>
          </a:xfrm>
          <a:prstGeom prst="roundRect">
            <a:avLst>
              <a:gd name="adj" fmla="val 10000"/>
            </a:avLst>
          </a:prstGeom>
          <a:solidFill>
            <a:schemeClr val="tx2"/>
          </a:solidFill>
          <a:ln/>
        </p:spPr>
        <p:txBody>
          <a:bodyPr/>
          <a:lstStyle/>
          <a:p>
            <a:endParaRPr lang="en-US"/>
          </a:p>
        </p:txBody>
      </p:sp>
      <p:sp>
        <p:nvSpPr>
          <p:cNvPr id="27" name="Text 25"/>
          <p:cNvSpPr txBox="1"/>
          <p:nvPr/>
        </p:nvSpPr>
        <p:spPr>
          <a:xfrm>
            <a:off x="822960" y="5559552"/>
            <a:ext cx="10607040" cy="585216"/>
          </a:xfrm>
          <a:prstGeom prst="rect">
            <a:avLst/>
          </a:prstGeom>
          <a:noFill/>
          <a:ln/>
        </p:spPr>
        <p:txBody>
          <a:bodyPr wrap="square" lIns="0" tIns="0" rIns="0" bIns="0" rtlCol="0" anchor="ctr"/>
          <a:lstStyle/>
          <a:p>
            <a:pPr marL="0" indent="0">
              <a:buNone/>
            </a:pPr>
            <a:r>
              <a:rPr lang="en-US" sz="1500" b="1" dirty="0">
                <a:solidFill>
                  <a:schemeClr val="bg1"/>
                </a:solidFill>
              </a:rPr>
              <a:t>Nominal NPI = tagihan </a:t>
            </a:r>
            <a:r>
              <a:rPr lang="en-US" sz="1500" b="1" dirty="0" err="1">
                <a:solidFill>
                  <a:schemeClr val="bg1"/>
                </a:solidFill>
              </a:rPr>
              <a:t>berstatus</a:t>
            </a:r>
            <a:r>
              <a:rPr lang="en-US" sz="1500" b="1" dirty="0">
                <a:solidFill>
                  <a:schemeClr val="bg1"/>
                </a:solidFill>
              </a:rPr>
              <a:t> </a:t>
            </a:r>
            <a:r>
              <a:rPr lang="en-US" sz="1500" b="1" dirty="0" err="1">
                <a:solidFill>
                  <a:schemeClr val="bg1"/>
                </a:solidFill>
              </a:rPr>
              <a:t>bermasalah</a:t>
            </a:r>
            <a:r>
              <a:rPr lang="en-US" sz="1500" b="1" dirty="0">
                <a:solidFill>
                  <a:schemeClr val="bg1"/>
                </a:solidFill>
              </a:rPr>
              <a:t> (</a:t>
            </a:r>
            <a:r>
              <a:rPr lang="en-US" sz="1500" b="1" dirty="0" err="1">
                <a:solidFill>
                  <a:schemeClr val="bg1"/>
                </a:solidFill>
              </a:rPr>
              <a:t>bukan</a:t>
            </a:r>
            <a:r>
              <a:rPr lang="en-US" sz="1500" b="1" dirty="0">
                <a:solidFill>
                  <a:schemeClr val="bg1"/>
                </a:solidFill>
              </a:rPr>
              <a:t> kerugian permanen dan bukan kas yang </a:t>
            </a:r>
            <a:r>
              <a:rPr lang="en-US" sz="1500" b="1" dirty="0" err="1">
                <a:solidFill>
                  <a:schemeClr val="bg1"/>
                </a:solidFill>
              </a:rPr>
              <a:t>pasti</a:t>
            </a:r>
            <a:r>
              <a:rPr lang="en-US" sz="1500" b="1" dirty="0">
                <a:solidFill>
                  <a:schemeClr val="bg1"/>
                </a:solidFill>
              </a:rPr>
              <a:t> </a:t>
            </a:r>
            <a:r>
              <a:rPr lang="en-US" sz="1500" b="1" dirty="0" err="1">
                <a:solidFill>
                  <a:schemeClr val="bg1"/>
                </a:solidFill>
              </a:rPr>
              <a:t>tertagih</a:t>
            </a:r>
            <a:r>
              <a:rPr lang="en-US" sz="1500" b="1" dirty="0">
                <a:solidFill>
                  <a:schemeClr val="bg1"/>
                </a:solidFill>
              </a:rPr>
              <a:t>)</a:t>
            </a:r>
            <a:endParaRPr lang="en-US" sz="1500" dirty="0"/>
          </a:p>
        </p:txBody>
      </p:sp>
      <p:sp>
        <p:nvSpPr>
          <p:cNvPr id="28"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POLA PER COHORT</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id-ID" sz="2600" b="1" dirty="0">
                <a:solidFill>
                  <a:schemeClr val="tx2"/>
                </a:solidFill>
              </a:rPr>
              <a:t>Rata-rata NPI perbulan</a:t>
            </a:r>
            <a:r>
              <a:rPr lang="en-US" sz="2600" b="1" dirty="0">
                <a:solidFill>
                  <a:schemeClr val="tx2"/>
                </a:solidFill>
              </a:rPr>
              <a:t> naik dari 20,03% (Jul 2022) dan bertahan di kisaran 35–38% sejak 2023</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endParaRPr lang="en-US" sz="1000" dirty="0"/>
          </a:p>
        </p:txBody>
      </p:sp>
      <p:graphicFrame>
        <p:nvGraphicFramePr>
          <p:cNvPr id="5" name="grafik cohort"/>
          <p:cNvGraphicFramePr/>
          <p:nvPr>
            <p:extLst>
              <p:ext uri="{D42A27DB-BD31-4B8C-83A1-F6EECF244321}">
                <p14:modId xmlns:p14="http://schemas.microsoft.com/office/powerpoint/2010/main" val="450367186"/>
              </p:ext>
            </p:extLst>
          </p:nvPr>
        </p:nvGraphicFramePr>
        <p:xfrm>
          <a:off x="548640" y="1572768"/>
          <a:ext cx="7406640" cy="239572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grafik nominal cohort"/>
          <p:cNvGraphicFramePr/>
          <p:nvPr>
            <p:extLst>
              <p:ext uri="{D42A27DB-BD31-4B8C-83A1-F6EECF244321}">
                <p14:modId xmlns:p14="http://schemas.microsoft.com/office/powerpoint/2010/main" val="2460199884"/>
              </p:ext>
            </p:extLst>
          </p:nvPr>
        </p:nvGraphicFramePr>
        <p:xfrm>
          <a:off x="548640" y="3986784"/>
          <a:ext cx="7406640" cy="2286000"/>
        </p:xfrm>
        <a:graphic>
          <a:graphicData uri="http://schemas.openxmlformats.org/drawingml/2006/chart">
            <c:chart xmlns:c="http://schemas.openxmlformats.org/drawingml/2006/chart" xmlns:r="http://schemas.openxmlformats.org/officeDocument/2006/relationships" r:id="rId4"/>
          </a:graphicData>
        </a:graphic>
      </p:graphicFrame>
      <p:sp>
        <p:nvSpPr>
          <p:cNvPr id="7" name="panel key takeaway"/>
          <p:cNvSpPr/>
          <p:nvPr/>
        </p:nvSpPr>
        <p:spPr>
          <a:xfrm>
            <a:off x="8183880" y="1572768"/>
            <a:ext cx="3456432" cy="4690872"/>
          </a:xfrm>
          <a:prstGeom prst="roundRect">
            <a:avLst>
              <a:gd name="adj" fmla="val 2116"/>
            </a:avLst>
          </a:prstGeom>
          <a:solidFill>
            <a:schemeClr val="tx2"/>
          </a:solidFill>
          <a:ln/>
        </p:spPr>
        <p:txBody>
          <a:bodyPr/>
          <a:lstStyle/>
          <a:p>
            <a:endParaRPr lang="en-US"/>
          </a:p>
        </p:txBody>
      </p:sp>
      <p:sp>
        <p:nvSpPr>
          <p:cNvPr id="8" name="Text 4"/>
          <p:cNvSpPr txBox="1"/>
          <p:nvPr/>
        </p:nvSpPr>
        <p:spPr>
          <a:xfrm>
            <a:off x="8458200" y="1783080"/>
            <a:ext cx="2926080" cy="274320"/>
          </a:xfrm>
          <a:prstGeom prst="rect">
            <a:avLst/>
          </a:prstGeom>
          <a:noFill/>
          <a:ln/>
        </p:spPr>
        <p:txBody>
          <a:bodyPr wrap="square" lIns="0" tIns="0" rIns="0" bIns="0" rtlCol="0" anchor="t"/>
          <a:lstStyle/>
          <a:p>
            <a:pPr marL="0" indent="0">
              <a:buNone/>
            </a:pPr>
            <a:r>
              <a:rPr lang="en-US" sz="1100" b="1" kern="0" spc="200" dirty="0">
                <a:solidFill>
                  <a:schemeClr val="accent2"/>
                </a:solidFill>
              </a:rPr>
              <a:t>KEY TAKEAWAY</a:t>
            </a:r>
            <a:endParaRPr lang="en-US" sz="1100" dirty="0"/>
          </a:p>
        </p:txBody>
      </p:sp>
      <p:sp>
        <p:nvSpPr>
          <p:cNvPr id="9" name="Text 5"/>
          <p:cNvSpPr txBox="1"/>
          <p:nvPr/>
        </p:nvSpPr>
        <p:spPr>
          <a:xfrm>
            <a:off x="8458200" y="2148840"/>
            <a:ext cx="2926080" cy="256032"/>
          </a:xfrm>
          <a:prstGeom prst="rect">
            <a:avLst/>
          </a:prstGeom>
          <a:noFill/>
          <a:ln/>
        </p:spPr>
        <p:txBody>
          <a:bodyPr wrap="square" lIns="0" tIns="0" rIns="0" bIns="0" rtlCol="0" anchor="t"/>
          <a:lstStyle/>
          <a:p>
            <a:pPr marL="0" indent="0">
              <a:buNone/>
            </a:pPr>
            <a:r>
              <a:rPr lang="en-US" sz="1100" b="1" dirty="0" err="1">
                <a:solidFill>
                  <a:srgbClr val="C9D3E0"/>
                </a:solidFill>
              </a:rPr>
              <a:t>Persentase</a:t>
            </a:r>
            <a:r>
              <a:rPr lang="en-US" sz="1100" b="1" dirty="0">
                <a:solidFill>
                  <a:srgbClr val="C9D3E0"/>
                </a:solidFill>
              </a:rPr>
              <a:t> NPI</a:t>
            </a:r>
            <a:endParaRPr lang="en-US" sz="1100" dirty="0"/>
          </a:p>
        </p:txBody>
      </p:sp>
      <p:sp>
        <p:nvSpPr>
          <p:cNvPr id="10" name="Text 6"/>
          <p:cNvSpPr txBox="1"/>
          <p:nvPr/>
        </p:nvSpPr>
        <p:spPr>
          <a:xfrm>
            <a:off x="8458200" y="2395728"/>
            <a:ext cx="2926080" cy="365760"/>
          </a:xfrm>
          <a:prstGeom prst="rect">
            <a:avLst/>
          </a:prstGeom>
          <a:noFill/>
          <a:ln/>
        </p:spPr>
        <p:txBody>
          <a:bodyPr wrap="square" lIns="0" tIns="0" rIns="0" bIns="0" rtlCol="0" anchor="t">
            <a:normAutofit/>
          </a:bodyPr>
          <a:lstStyle/>
          <a:p>
            <a:pPr marL="0" indent="0">
              <a:buNone/>
            </a:pPr>
            <a:r>
              <a:rPr lang="en-US" sz="1900" b="1" dirty="0">
                <a:solidFill>
                  <a:schemeClr val="bg1"/>
                </a:solidFill>
              </a:rPr>
              <a:t>30,14% → 37,24%</a:t>
            </a:r>
            <a:endParaRPr lang="en-US" sz="1900" dirty="0"/>
          </a:p>
        </p:txBody>
      </p:sp>
      <p:sp>
        <p:nvSpPr>
          <p:cNvPr id="11" name="Text 7"/>
          <p:cNvSpPr txBox="1"/>
          <p:nvPr/>
        </p:nvSpPr>
        <p:spPr>
          <a:xfrm>
            <a:off x="8458200" y="2761488"/>
            <a:ext cx="2926080" cy="384048"/>
          </a:xfrm>
          <a:prstGeom prst="rect">
            <a:avLst/>
          </a:prstGeom>
          <a:noFill/>
          <a:ln/>
        </p:spPr>
        <p:txBody>
          <a:bodyPr wrap="square" lIns="0" tIns="0" rIns="0" bIns="0" rtlCol="0" anchor="t"/>
          <a:lstStyle/>
          <a:p>
            <a:pPr marL="0" indent="0">
              <a:buNone/>
            </a:pPr>
            <a:r>
              <a:rPr lang="en-US" sz="1100" dirty="0">
                <a:solidFill>
                  <a:srgbClr val="DCE3EE"/>
                </a:solidFill>
              </a:rPr>
              <a:t>Rata-rata </a:t>
            </a:r>
            <a:r>
              <a:rPr lang="id-ID" sz="1100" dirty="0">
                <a:solidFill>
                  <a:srgbClr val="DCE3EE"/>
                </a:solidFill>
              </a:rPr>
              <a:t>NPI </a:t>
            </a:r>
            <a:r>
              <a:rPr lang="en-US" sz="1100" dirty="0">
                <a:solidFill>
                  <a:srgbClr val="DCE3EE"/>
                </a:solidFill>
              </a:rPr>
              <a:t>6 </a:t>
            </a:r>
            <a:r>
              <a:rPr lang="id-ID" sz="1100" dirty="0">
                <a:solidFill>
                  <a:srgbClr val="DCE3EE"/>
                </a:solidFill>
              </a:rPr>
              <a:t>bulan </a:t>
            </a:r>
            <a:r>
              <a:rPr lang="en-US" sz="1100" dirty="0" err="1">
                <a:solidFill>
                  <a:srgbClr val="DCE3EE"/>
                </a:solidFill>
              </a:rPr>
              <a:t>pertama</a:t>
            </a:r>
            <a:r>
              <a:rPr lang="en-US" sz="1100" dirty="0">
                <a:solidFill>
                  <a:srgbClr val="DCE3EE"/>
                </a:solidFill>
              </a:rPr>
              <a:t> → </a:t>
            </a:r>
            <a:r>
              <a:rPr lang="id-ID" sz="1100" dirty="0">
                <a:solidFill>
                  <a:srgbClr val="DCE3EE"/>
                </a:solidFill>
              </a:rPr>
              <a:t>Rata-rata NPI </a:t>
            </a:r>
            <a:r>
              <a:rPr lang="en-US" sz="1100" dirty="0">
                <a:solidFill>
                  <a:srgbClr val="DCE3EE"/>
                </a:solidFill>
              </a:rPr>
              <a:t>6 </a:t>
            </a:r>
            <a:r>
              <a:rPr lang="id-ID" sz="1100" dirty="0">
                <a:solidFill>
                  <a:srgbClr val="DCE3EE"/>
                </a:solidFill>
              </a:rPr>
              <a:t>bulan </a:t>
            </a:r>
            <a:r>
              <a:rPr lang="en-US" sz="1100" dirty="0" err="1">
                <a:solidFill>
                  <a:srgbClr val="DCE3EE"/>
                </a:solidFill>
              </a:rPr>
              <a:t>terakhir</a:t>
            </a:r>
            <a:endParaRPr lang="en-US" sz="1100" dirty="0"/>
          </a:p>
        </p:txBody>
      </p:sp>
      <p:sp>
        <p:nvSpPr>
          <p:cNvPr id="12" name="Text 8"/>
          <p:cNvSpPr txBox="1"/>
          <p:nvPr/>
        </p:nvSpPr>
        <p:spPr>
          <a:xfrm>
            <a:off x="8458200" y="3172968"/>
            <a:ext cx="2926080" cy="256032"/>
          </a:xfrm>
          <a:prstGeom prst="rect">
            <a:avLst/>
          </a:prstGeom>
          <a:noFill/>
          <a:ln/>
        </p:spPr>
        <p:txBody>
          <a:bodyPr wrap="square" lIns="0" tIns="0" rIns="0" bIns="0" rtlCol="0" anchor="t"/>
          <a:lstStyle/>
          <a:p>
            <a:pPr marL="0" indent="0">
              <a:buNone/>
            </a:pPr>
            <a:r>
              <a:rPr lang="en-US" sz="1100" b="1" dirty="0">
                <a:solidFill>
                  <a:srgbClr val="C9D3E0"/>
                </a:solidFill>
              </a:rPr>
              <a:t>Nominal </a:t>
            </a:r>
            <a:r>
              <a:rPr lang="id-ID" sz="1100" b="1" dirty="0">
                <a:solidFill>
                  <a:srgbClr val="C9D3E0"/>
                </a:solidFill>
              </a:rPr>
              <a:t>rata-rata NPI perbulan</a:t>
            </a:r>
            <a:endParaRPr lang="en-US" sz="1100" dirty="0"/>
          </a:p>
        </p:txBody>
      </p:sp>
      <p:sp>
        <p:nvSpPr>
          <p:cNvPr id="13" name="Text 9"/>
          <p:cNvSpPr txBox="1"/>
          <p:nvPr/>
        </p:nvSpPr>
        <p:spPr>
          <a:xfrm>
            <a:off x="8458200" y="3419856"/>
            <a:ext cx="2926080" cy="365760"/>
          </a:xfrm>
          <a:prstGeom prst="rect">
            <a:avLst/>
          </a:prstGeom>
          <a:noFill/>
          <a:ln/>
        </p:spPr>
        <p:txBody>
          <a:bodyPr wrap="square" lIns="0" tIns="0" rIns="0" bIns="0" rtlCol="0" anchor="t">
            <a:normAutofit/>
          </a:bodyPr>
          <a:lstStyle/>
          <a:p>
            <a:pPr marL="0" indent="0">
              <a:buNone/>
            </a:pPr>
            <a:r>
              <a:rPr lang="en-US" sz="1900" b="1" dirty="0">
                <a:solidFill>
                  <a:schemeClr val="bg1"/>
                </a:solidFill>
              </a:rPr>
              <a:t>Rp2,4 M → Rp6,9 M</a:t>
            </a:r>
            <a:endParaRPr lang="en-US" sz="1900" dirty="0"/>
          </a:p>
        </p:txBody>
      </p:sp>
      <p:sp>
        <p:nvSpPr>
          <p:cNvPr id="14" name="Text 10"/>
          <p:cNvSpPr txBox="1"/>
          <p:nvPr/>
        </p:nvSpPr>
        <p:spPr>
          <a:xfrm>
            <a:off x="8458200" y="3785616"/>
            <a:ext cx="2926080" cy="384048"/>
          </a:xfrm>
          <a:prstGeom prst="rect">
            <a:avLst/>
          </a:prstGeom>
          <a:noFill/>
          <a:ln/>
        </p:spPr>
        <p:txBody>
          <a:bodyPr wrap="square" lIns="0" tIns="0" rIns="0" bIns="0" rtlCol="0" anchor="t"/>
          <a:lstStyle/>
          <a:p>
            <a:pPr marL="0" indent="0">
              <a:buNone/>
            </a:pPr>
            <a:r>
              <a:rPr lang="id-ID" sz="1100" dirty="0">
                <a:solidFill>
                  <a:srgbClr val="DCE3EE"/>
                </a:solidFill>
              </a:rPr>
              <a:t>Nominal NPI  bulan</a:t>
            </a:r>
            <a:r>
              <a:rPr lang="en-US" sz="1100" dirty="0">
                <a:solidFill>
                  <a:srgbClr val="DCE3EE"/>
                </a:solidFill>
              </a:rPr>
              <a:t> Jul 2022 → rata-rata </a:t>
            </a:r>
            <a:r>
              <a:rPr lang="id-ID" sz="1100" dirty="0">
                <a:solidFill>
                  <a:srgbClr val="DCE3EE"/>
                </a:solidFill>
              </a:rPr>
              <a:t>NPI</a:t>
            </a:r>
            <a:r>
              <a:rPr lang="en-US" sz="1100" dirty="0">
                <a:solidFill>
                  <a:srgbClr val="DCE3EE"/>
                </a:solidFill>
              </a:rPr>
              <a:t>  12 </a:t>
            </a:r>
            <a:r>
              <a:rPr lang="id-ID" sz="1100" dirty="0">
                <a:solidFill>
                  <a:srgbClr val="DCE3EE"/>
                </a:solidFill>
              </a:rPr>
              <a:t>bulan</a:t>
            </a:r>
            <a:r>
              <a:rPr lang="en-US" sz="1100" dirty="0">
                <a:solidFill>
                  <a:srgbClr val="DCE3EE"/>
                </a:solidFill>
              </a:rPr>
              <a:t> terakhir</a:t>
            </a:r>
            <a:endParaRPr lang="en-US" sz="1100" dirty="0"/>
          </a:p>
        </p:txBody>
      </p:sp>
      <p:sp>
        <p:nvSpPr>
          <p:cNvPr id="15" name="Text 11"/>
          <p:cNvSpPr txBox="1"/>
          <p:nvPr/>
        </p:nvSpPr>
        <p:spPr>
          <a:xfrm>
            <a:off x="8458200" y="4197096"/>
            <a:ext cx="2926080" cy="256032"/>
          </a:xfrm>
          <a:prstGeom prst="rect">
            <a:avLst/>
          </a:prstGeom>
          <a:noFill/>
          <a:ln/>
        </p:spPr>
        <p:txBody>
          <a:bodyPr wrap="square" lIns="0" tIns="0" rIns="0" bIns="0" rtlCol="0" anchor="t"/>
          <a:lstStyle/>
          <a:p>
            <a:pPr marL="0" indent="0">
              <a:buNone/>
            </a:pPr>
            <a:r>
              <a:rPr lang="en-US" sz="1100" b="1" dirty="0">
                <a:solidFill>
                  <a:srgbClr val="C9D3E0"/>
                </a:solidFill>
              </a:rPr>
              <a:t>Jumlah invoice</a:t>
            </a:r>
            <a:endParaRPr lang="en-US" sz="1100" dirty="0"/>
          </a:p>
        </p:txBody>
      </p:sp>
      <p:sp>
        <p:nvSpPr>
          <p:cNvPr id="16" name="Text 12"/>
          <p:cNvSpPr txBox="1"/>
          <p:nvPr/>
        </p:nvSpPr>
        <p:spPr>
          <a:xfrm>
            <a:off x="8458200" y="4443984"/>
            <a:ext cx="2926080" cy="365760"/>
          </a:xfrm>
          <a:prstGeom prst="rect">
            <a:avLst/>
          </a:prstGeom>
          <a:noFill/>
          <a:ln/>
        </p:spPr>
        <p:txBody>
          <a:bodyPr wrap="square" lIns="0" tIns="0" rIns="0" bIns="0" rtlCol="0" anchor="t">
            <a:normAutofit/>
          </a:bodyPr>
          <a:lstStyle/>
          <a:p>
            <a:pPr marL="0" indent="0">
              <a:buNone/>
            </a:pPr>
            <a:r>
              <a:rPr lang="en-US" sz="1900" b="1" dirty="0">
                <a:solidFill>
                  <a:schemeClr val="bg1"/>
                </a:solidFill>
              </a:rPr>
              <a:t>19.882 → 28.881</a:t>
            </a:r>
            <a:endParaRPr lang="en-US" sz="1900" dirty="0"/>
          </a:p>
        </p:txBody>
      </p:sp>
      <p:sp>
        <p:nvSpPr>
          <p:cNvPr id="17" name="Text 13"/>
          <p:cNvSpPr txBox="1"/>
          <p:nvPr/>
        </p:nvSpPr>
        <p:spPr>
          <a:xfrm>
            <a:off x="8458200" y="4809744"/>
            <a:ext cx="2926080" cy="384048"/>
          </a:xfrm>
          <a:prstGeom prst="rect">
            <a:avLst/>
          </a:prstGeom>
          <a:noFill/>
          <a:ln/>
        </p:spPr>
        <p:txBody>
          <a:bodyPr wrap="square" lIns="0" tIns="0" rIns="0" bIns="0" rtlCol="0" anchor="t"/>
          <a:lstStyle/>
          <a:p>
            <a:pPr marL="0" indent="0">
              <a:buNone/>
            </a:pPr>
            <a:r>
              <a:rPr lang="en-US" sz="1100" dirty="0">
                <a:solidFill>
                  <a:srgbClr val="DCE3EE"/>
                </a:solidFill>
              </a:rPr>
              <a:t>invoice per bulan, Jul 2022 → Des 2024</a:t>
            </a:r>
            <a:endParaRPr lang="en-US" sz="11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lustrasi kawasan" descr="/home/claude/deck2/img/div3.jpg"/>
          <p:cNvPicPr>
            <a:picLocks noChangeAspect="1"/>
          </p:cNvPicPr>
          <p:nvPr/>
        </p:nvPicPr>
        <p:blipFill>
          <a:blip r:embed="rId3"/>
          <a:stretch>
            <a:fillRect/>
          </a:stretch>
        </p:blipFill>
        <p:spPr>
          <a:xfrm>
            <a:off x="0" y="0"/>
            <a:ext cx="12191695" cy="6858000"/>
          </a:xfrm>
          <a:prstGeom prst="rect">
            <a:avLst/>
          </a:prstGeom>
        </p:spPr>
      </p:pic>
      <p:sp>
        <p:nvSpPr>
          <p:cNvPr id="3" name="panel gelap"/>
          <p:cNvSpPr/>
          <p:nvPr/>
        </p:nvSpPr>
        <p:spPr>
          <a:xfrm>
            <a:off x="0" y="0"/>
            <a:ext cx="8138160" cy="6858000"/>
          </a:xfrm>
          <a:prstGeom prst="rect">
            <a:avLst/>
          </a:prstGeom>
          <a:solidFill>
            <a:srgbClr val="13294B">
              <a:alpha val="90000"/>
            </a:srgbClr>
          </a:solidFill>
          <a:ln/>
        </p:spPr>
        <p:txBody>
          <a:bodyPr/>
          <a:lstStyle/>
          <a:p>
            <a:endParaRPr lang="en-US"/>
          </a:p>
        </p:txBody>
      </p:sp>
      <p:sp>
        <p:nvSpPr>
          <p:cNvPr id="4" name="Text 1"/>
          <p:cNvSpPr txBox="1"/>
          <p:nvPr/>
        </p:nvSpPr>
        <p:spPr>
          <a:xfrm>
            <a:off x="731520" y="1828800"/>
            <a:ext cx="2743200" cy="822960"/>
          </a:xfrm>
          <a:prstGeom prst="rect">
            <a:avLst/>
          </a:prstGeom>
          <a:noFill/>
          <a:ln/>
        </p:spPr>
        <p:txBody>
          <a:bodyPr wrap="square" lIns="0" tIns="0" rIns="0" bIns="0" rtlCol="0" anchor="t"/>
          <a:lstStyle/>
          <a:p>
            <a:pPr marL="0" indent="0">
              <a:buNone/>
            </a:pPr>
            <a:r>
              <a:rPr lang="en-US" sz="4800" b="1" dirty="0">
                <a:solidFill>
                  <a:schemeClr val="accent2"/>
                </a:solidFill>
              </a:rPr>
              <a:t>04</a:t>
            </a:r>
            <a:endParaRPr lang="en-US" sz="4800" dirty="0"/>
          </a:p>
        </p:txBody>
      </p:sp>
      <p:sp>
        <p:nvSpPr>
          <p:cNvPr id="5" name="Text 0"/>
          <p:cNvSpPr>
            <a:spLocks noGrp="1"/>
          </p:cNvSpPr>
          <p:nvPr>
            <p:ph type="title" idx="100" hasCustomPrompt="1"/>
          </p:nvPr>
        </p:nvSpPr>
        <p:spPr>
          <a:xfrm>
            <a:off x="731520" y="2788920"/>
            <a:ext cx="6949440" cy="1188720"/>
          </a:xfrm>
          <a:prstGeom prst="rect">
            <a:avLst/>
          </a:prstGeom>
          <a:noFill/>
          <a:ln/>
        </p:spPr>
        <p:txBody>
          <a:bodyPr wrap="square" lIns="0" tIns="0" rIns="0" bIns="0" rtlCol="0" anchor="t"/>
          <a:lstStyle/>
          <a:p>
            <a:pPr marL="0" indent="0" algn="l">
              <a:buNone/>
            </a:pPr>
            <a:r>
              <a:rPr lang="en-US" sz="4000" b="1" dirty="0">
                <a:solidFill>
                  <a:schemeClr val="bg1"/>
                </a:solidFill>
              </a:rPr>
              <a:t>Faktor risiko tunggakan</a:t>
            </a:r>
            <a:endParaRPr lang="en-US" sz="4000" dirty="0"/>
          </a:p>
        </p:txBody>
      </p:sp>
      <p:sp>
        <p:nvSpPr>
          <p:cNvPr id="6" name="Text 0"/>
          <p:cNvSpPr>
            <a:spLocks noGrp="1"/>
          </p:cNvSpPr>
          <p:nvPr>
            <p:ph type="body" idx="101" hasCustomPrompt="1"/>
          </p:nvPr>
        </p:nvSpPr>
        <p:spPr>
          <a:xfrm>
            <a:off x="731520" y="4069080"/>
            <a:ext cx="6583680" cy="1097280"/>
          </a:xfrm>
          <a:prstGeom prst="rect">
            <a:avLst/>
          </a:prstGeom>
          <a:noFill/>
          <a:ln/>
        </p:spPr>
        <p:txBody>
          <a:bodyPr wrap="square" lIns="0" tIns="0" rIns="0" bIns="0" rtlCol="0" anchor="t"/>
          <a:lstStyle/>
          <a:p>
            <a:pPr marL="0" indent="0" algn="l">
              <a:buNone/>
            </a:pPr>
            <a:r>
              <a:rPr lang="en-US" sz="1800" dirty="0">
                <a:solidFill>
                  <a:schemeClr val="bg1"/>
                </a:solidFill>
              </a:rPr>
              <a:t>Karakteristik mana yang berkaitan dengan NPI, dan mana yang tetap ada setelah faktor lain dikendalikan</a:t>
            </a:r>
            <a:endParaRPr lang="en-US" sz="18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C9D3E0"/>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HASIL UJI HIPOTESIS</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Vacant, tanpa autodebit, dan domisili jauh memiliki selisih NPI mentah terbesar</a:t>
            </a:r>
            <a:endParaRPr lang="en-US" sz="2600" dirty="0"/>
          </a:p>
        </p:txBody>
      </p:sp>
      <p:graphicFrame>
        <p:nvGraphicFramePr>
          <p:cNvPr id="17" name="tabel selisih"/>
          <p:cNvGraphicFramePr>
            <a:graphicFrameLocks noGrp="1"/>
          </p:cNvGraphicFramePr>
          <p:nvPr>
            <p:extLst>
              <p:ext uri="{D42A27DB-BD31-4B8C-83A1-F6EECF244321}">
                <p14:modId xmlns:p14="http://schemas.microsoft.com/office/powerpoint/2010/main" val="3364971591"/>
              </p:ext>
            </p:extLst>
          </p:nvPr>
        </p:nvGraphicFramePr>
        <p:xfrm>
          <a:off x="8786308" y="1783080"/>
          <a:ext cx="2156951" cy="1871472"/>
        </p:xfrm>
        <a:graphic>
          <a:graphicData uri="http://schemas.openxmlformats.org/drawingml/2006/table">
            <a:tbl>
              <a:tblPr/>
              <a:tblGrid>
                <a:gridCol w="1342103">
                  <a:extLst>
                    <a:ext uri="{9D8B030D-6E8A-4147-A177-3AD203B41FA5}">
                      <a16:colId xmlns:a16="http://schemas.microsoft.com/office/drawing/2014/main" val="20000"/>
                    </a:ext>
                  </a:extLst>
                </a:gridCol>
                <a:gridCol w="814848">
                  <a:extLst>
                    <a:ext uri="{9D8B030D-6E8A-4147-A177-3AD203B41FA5}">
                      <a16:colId xmlns:a16="http://schemas.microsoft.com/office/drawing/2014/main" val="20001"/>
                    </a:ext>
                  </a:extLst>
                </a:gridCol>
              </a:tblGrid>
              <a:tr h="365760">
                <a:tc>
                  <a:txBody>
                    <a:bodyPr/>
                    <a:lstStyle/>
                    <a:p>
                      <a:pPr marL="0" indent="0">
                        <a:buNone/>
                      </a:pPr>
                      <a:r>
                        <a:rPr lang="en-US" sz="1100" b="1" dirty="0">
                          <a:solidFill>
                            <a:schemeClr val="bg1"/>
                          </a:solidFill>
                        </a:rPr>
                        <a:t>Hipotesis</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Selisih (poin %)</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365760">
                <a:tc>
                  <a:txBody>
                    <a:bodyPr/>
                    <a:lstStyle/>
                    <a:p>
                      <a:pPr marL="0" indent="0">
                        <a:buNone/>
                      </a:pPr>
                      <a:r>
                        <a:rPr lang="en-US" sz="1100" dirty="0">
                          <a:solidFill>
                            <a:schemeClr val="tx1"/>
                          </a:solidFill>
                        </a:rPr>
                        <a:t>H1 Vacant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+30,32</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100" dirty="0">
                          <a:solidFill>
                            <a:schemeClr val="tx1"/>
                          </a:solidFill>
                        </a:rPr>
                        <a:t>H6 Tanpa autodebit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+29,78</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2"/>
                  </a:ext>
                </a:extLst>
              </a:tr>
              <a:tr h="365760">
                <a:tc>
                  <a:txBody>
                    <a:bodyPr/>
                    <a:lstStyle/>
                    <a:p>
                      <a:pPr marL="0" indent="0">
                        <a:buNone/>
                      </a:pPr>
                      <a:r>
                        <a:rPr lang="en-US" sz="1100" dirty="0">
                          <a:solidFill>
                            <a:schemeClr val="tx1"/>
                          </a:solidFill>
                        </a:rPr>
                        <a:t>H2 Domisili jauh</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+22,05</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100" dirty="0">
                          <a:solidFill>
                            <a:schemeClr val="tx1"/>
                          </a:solidFill>
                        </a:rPr>
                        <a:t>H3 Tanpa nomor</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+11,91</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15</a:t>
            </a:fld>
            <a:endParaRPr lang="en-US"/>
          </a:p>
        </p:txBody>
      </p:sp>
      <p:sp>
        <p:nvSpPr>
          <p:cNvPr id="8" name="Text Placeholder 7">
            <a:extLst>
              <a:ext uri="{FF2B5EF4-FFF2-40B4-BE49-F238E27FC236}">
                <a16:creationId xmlns:a16="http://schemas.microsoft.com/office/drawing/2014/main" id="{61E3A2A1-CF2E-4D28-887D-9FFD97D67A24}"/>
              </a:ext>
            </a:extLst>
          </p:cNvPr>
          <p:cNvSpPr>
            <a:spLocks noGrp="1"/>
          </p:cNvSpPr>
          <p:nvPr>
            <p:ph type="body" idx="102"/>
          </p:nvPr>
        </p:nvSpPr>
        <p:spPr/>
        <p:txBody>
          <a:bodyPr/>
          <a:lstStyle/>
          <a:p>
            <a:endParaRPr lang="id-ID"/>
          </a:p>
        </p:txBody>
      </p:sp>
      <p:pic>
        <p:nvPicPr>
          <p:cNvPr id="6" name="Picture 5">
            <a:extLst>
              <a:ext uri="{FF2B5EF4-FFF2-40B4-BE49-F238E27FC236}">
                <a16:creationId xmlns:a16="http://schemas.microsoft.com/office/drawing/2014/main" id="{A484E55E-0E5A-4F59-FBD8-CDAC7A2D7BEB}"/>
              </a:ext>
            </a:extLst>
          </p:cNvPr>
          <p:cNvPicPr>
            <a:picLocks noChangeAspect="1"/>
          </p:cNvPicPr>
          <p:nvPr/>
        </p:nvPicPr>
        <p:blipFill>
          <a:blip r:embed="rId3"/>
          <a:stretch>
            <a:fillRect/>
          </a:stretch>
        </p:blipFill>
        <p:spPr>
          <a:xfrm>
            <a:off x="662492" y="1673352"/>
            <a:ext cx="7862943" cy="303179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3659E-F1DD-C57B-089F-51625F1AFDE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736959E-DD8D-02EE-E5F4-60DCD2ABC8C7}"/>
              </a:ext>
            </a:extLst>
          </p:cNvPr>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PENGENDALIAN FAKTOR PENGGANGGU</a:t>
            </a:r>
            <a:endParaRPr lang="en-US" sz="1100" dirty="0"/>
          </a:p>
        </p:txBody>
      </p:sp>
      <p:sp>
        <p:nvSpPr>
          <p:cNvPr id="3" name="Text 0">
            <a:extLst>
              <a:ext uri="{FF2B5EF4-FFF2-40B4-BE49-F238E27FC236}">
                <a16:creationId xmlns:a16="http://schemas.microsoft.com/office/drawing/2014/main" id="{140445EB-221C-80BA-313A-F9C2170FFD7C}"/>
              </a:ext>
            </a:extLst>
          </p:cNvPr>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Setelah </a:t>
            </a:r>
            <a:r>
              <a:rPr lang="id-ID" sz="2600" b="1" dirty="0">
                <a:solidFill>
                  <a:schemeClr val="tx2"/>
                </a:solidFill>
              </a:rPr>
              <a:t>analisa</a:t>
            </a:r>
            <a:r>
              <a:rPr lang="en-US" sz="2600" b="1" dirty="0">
                <a:solidFill>
                  <a:schemeClr val="tx2"/>
                </a:solidFill>
              </a:rPr>
              <a:t>, autodebit, </a:t>
            </a:r>
            <a:r>
              <a:rPr lang="id-ID" dirty="0"/>
              <a:t>unit kosong</a:t>
            </a:r>
            <a:r>
              <a:rPr lang="en-US" sz="2600" b="1" dirty="0">
                <a:solidFill>
                  <a:schemeClr val="tx2"/>
                </a:solidFill>
              </a:rPr>
              <a:t>, </a:t>
            </a:r>
            <a:r>
              <a:rPr lang="id-ID" sz="2600" b="1" dirty="0">
                <a:solidFill>
                  <a:schemeClr val="tx2"/>
                </a:solidFill>
              </a:rPr>
              <a:t>pemilik luar kota/negeri</a:t>
            </a:r>
            <a:r>
              <a:rPr lang="en-US" sz="2600" b="1" dirty="0">
                <a:solidFill>
                  <a:schemeClr val="tx2"/>
                </a:solidFill>
              </a:rPr>
              <a:t>, dan </a:t>
            </a:r>
            <a:r>
              <a:rPr lang="id-ID" dirty="0"/>
              <a:t>cluster baru (2021-2023)</a:t>
            </a:r>
            <a:r>
              <a:rPr lang="en-US" sz="2600" b="1" dirty="0">
                <a:solidFill>
                  <a:schemeClr val="tx2"/>
                </a:solidFill>
              </a:rPr>
              <a:t> masih menunjukkan selisih NPI</a:t>
            </a:r>
            <a:endParaRPr lang="en-US" sz="2600" dirty="0"/>
          </a:p>
        </p:txBody>
      </p:sp>
      <p:graphicFrame>
        <p:nvGraphicFramePr>
          <p:cNvPr id="5" name="grafik pengendalian">
            <a:extLst>
              <a:ext uri="{FF2B5EF4-FFF2-40B4-BE49-F238E27FC236}">
                <a16:creationId xmlns:a16="http://schemas.microsoft.com/office/drawing/2014/main" id="{B0C9EA55-BED5-9455-ED42-7B918FA691C6}"/>
              </a:ext>
            </a:extLst>
          </p:cNvPr>
          <p:cNvGraphicFramePr/>
          <p:nvPr/>
        </p:nvGraphicFramePr>
        <p:xfrm>
          <a:off x="548640" y="1572768"/>
          <a:ext cx="740664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15" name="Text Placeholder 14">
            <a:extLst>
              <a:ext uri="{FF2B5EF4-FFF2-40B4-BE49-F238E27FC236}">
                <a16:creationId xmlns:a16="http://schemas.microsoft.com/office/drawing/2014/main" id="{D5699328-D7AE-B642-1CA3-1E0FC9A191D6}"/>
              </a:ext>
            </a:extLst>
          </p:cNvPr>
          <p:cNvSpPr>
            <a:spLocks noGrp="1"/>
          </p:cNvSpPr>
          <p:nvPr>
            <p:ph type="body" idx="102"/>
          </p:nvPr>
        </p:nvSpPr>
        <p:spPr/>
        <p:txBody>
          <a:bodyPr/>
          <a:lstStyle/>
          <a:p>
            <a:endParaRPr lang="id-ID"/>
          </a:p>
        </p:txBody>
      </p:sp>
    </p:spTree>
    <p:extLst>
      <p:ext uri="{BB962C8B-B14F-4D97-AF65-F5344CB8AC3E}">
        <p14:creationId xmlns:p14="http://schemas.microsoft.com/office/powerpoint/2010/main" val="31124069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RISK RATE VS FINANCIAL EXPOSURE</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Risiko tertinggi tidak selalu menyumbang nominal terbesar</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endParaRPr lang="en-US" sz="1000" dirty="0"/>
          </a:p>
        </p:txBody>
      </p:sp>
      <p:graphicFrame>
        <p:nvGraphicFramePr>
          <p:cNvPr id="5" name="grafik risk rate"/>
          <p:cNvGraphicFramePr/>
          <p:nvPr/>
        </p:nvGraphicFramePr>
        <p:xfrm>
          <a:off x="548640" y="1572768"/>
          <a:ext cx="4206240" cy="40690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grafik exposure"/>
          <p:cNvGraphicFramePr/>
          <p:nvPr/>
        </p:nvGraphicFramePr>
        <p:xfrm>
          <a:off x="4800600" y="1572768"/>
          <a:ext cx="3931920" cy="4069080"/>
        </p:xfrm>
        <a:graphic>
          <a:graphicData uri="http://schemas.openxmlformats.org/drawingml/2006/chart">
            <c:chart xmlns:c="http://schemas.openxmlformats.org/drawingml/2006/chart" xmlns:r="http://schemas.openxmlformats.org/officeDocument/2006/relationships" r:id="rId4"/>
          </a:graphicData>
        </a:graphic>
      </p:graphicFrame>
      <p:sp>
        <p:nvSpPr>
          <p:cNvPr id="7" name="panel key takeaway"/>
          <p:cNvSpPr/>
          <p:nvPr/>
        </p:nvSpPr>
        <p:spPr>
          <a:xfrm>
            <a:off x="8915400" y="1572768"/>
            <a:ext cx="2724912" cy="4069080"/>
          </a:xfrm>
          <a:prstGeom prst="roundRect">
            <a:avLst>
              <a:gd name="adj" fmla="val 2685"/>
            </a:avLst>
          </a:prstGeom>
          <a:solidFill>
            <a:schemeClr val="tx2"/>
          </a:solidFill>
          <a:ln/>
        </p:spPr>
        <p:txBody>
          <a:bodyPr/>
          <a:lstStyle/>
          <a:p>
            <a:endParaRPr lang="en-US"/>
          </a:p>
        </p:txBody>
      </p:sp>
      <p:sp>
        <p:nvSpPr>
          <p:cNvPr id="8" name="Text 4"/>
          <p:cNvSpPr txBox="1"/>
          <p:nvPr/>
        </p:nvSpPr>
        <p:spPr>
          <a:xfrm>
            <a:off x="9189720" y="1801368"/>
            <a:ext cx="2176272" cy="274320"/>
          </a:xfrm>
          <a:prstGeom prst="rect">
            <a:avLst/>
          </a:prstGeom>
          <a:noFill/>
          <a:ln/>
        </p:spPr>
        <p:txBody>
          <a:bodyPr wrap="square" lIns="0" tIns="0" rIns="0" bIns="0" rtlCol="0" anchor="t"/>
          <a:lstStyle/>
          <a:p>
            <a:pPr marL="0" indent="0">
              <a:buNone/>
            </a:pPr>
            <a:r>
              <a:rPr lang="en-US" sz="1100" b="1" kern="0" spc="200" dirty="0">
                <a:solidFill>
                  <a:schemeClr val="accent2"/>
                </a:solidFill>
              </a:rPr>
              <a:t>KEY TAKEAWAY</a:t>
            </a:r>
            <a:endParaRPr lang="en-US" sz="1100" dirty="0"/>
          </a:p>
        </p:txBody>
      </p:sp>
      <p:sp>
        <p:nvSpPr>
          <p:cNvPr id="9" name="Text 5"/>
          <p:cNvSpPr txBox="1"/>
          <p:nvPr/>
        </p:nvSpPr>
        <p:spPr>
          <a:xfrm>
            <a:off x="9189720" y="2121408"/>
            <a:ext cx="2176272" cy="960120"/>
          </a:xfrm>
          <a:prstGeom prst="rect">
            <a:avLst/>
          </a:prstGeom>
          <a:noFill/>
          <a:ln/>
        </p:spPr>
        <p:txBody>
          <a:bodyPr wrap="square" lIns="0" tIns="0" rIns="0" bIns="0" rtlCol="0" anchor="t">
            <a:normAutofit/>
          </a:bodyPr>
          <a:lstStyle/>
          <a:p>
            <a:pPr marL="0" indent="0">
              <a:buNone/>
            </a:pPr>
            <a:r>
              <a:rPr lang="en-US" sz="1600" b="1" dirty="0">
                <a:solidFill>
                  <a:schemeClr val="bg1"/>
                </a:solidFill>
              </a:rPr>
              <a:t>Faktor </a:t>
            </a:r>
            <a:r>
              <a:rPr lang="en-US" sz="1600" b="1" dirty="0" err="1">
                <a:solidFill>
                  <a:schemeClr val="bg1"/>
                </a:solidFill>
              </a:rPr>
              <a:t>autodebit</a:t>
            </a:r>
            <a:r>
              <a:rPr lang="en-US" sz="1600" b="1" dirty="0">
                <a:solidFill>
                  <a:schemeClr val="bg1"/>
                </a:solidFill>
              </a:rPr>
              <a:t> </a:t>
            </a:r>
            <a:r>
              <a:rPr lang="en-US" sz="1600" b="1" dirty="0" err="1">
                <a:solidFill>
                  <a:schemeClr val="bg1"/>
                </a:solidFill>
              </a:rPr>
              <a:t>menyumbang</a:t>
            </a:r>
            <a:r>
              <a:rPr lang="en-US" sz="1600" b="1" dirty="0">
                <a:solidFill>
                  <a:schemeClr val="bg1"/>
                </a:solidFill>
              </a:rPr>
              <a:t> 96,0% </a:t>
            </a:r>
            <a:r>
              <a:rPr lang="en-US" sz="1600" b="1" dirty="0" err="1">
                <a:solidFill>
                  <a:schemeClr val="bg1"/>
                </a:solidFill>
              </a:rPr>
              <a:t>dari</a:t>
            </a:r>
            <a:r>
              <a:rPr lang="en-US" sz="1600" b="1" dirty="0">
                <a:solidFill>
                  <a:schemeClr val="bg1"/>
                </a:solidFill>
              </a:rPr>
              <a:t> total nominal (176.34 M)</a:t>
            </a:r>
            <a:endParaRPr lang="en-US" sz="16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lustrasi kawasan" descr="/home/claude/deck2/img/div4.jpg"/>
          <p:cNvPicPr>
            <a:picLocks noChangeAspect="1"/>
          </p:cNvPicPr>
          <p:nvPr/>
        </p:nvPicPr>
        <p:blipFill>
          <a:blip r:embed="rId3"/>
          <a:stretch>
            <a:fillRect/>
          </a:stretch>
        </p:blipFill>
        <p:spPr>
          <a:xfrm>
            <a:off x="0" y="0"/>
            <a:ext cx="12191695" cy="6858000"/>
          </a:xfrm>
          <a:prstGeom prst="rect">
            <a:avLst/>
          </a:prstGeom>
        </p:spPr>
      </p:pic>
      <p:sp>
        <p:nvSpPr>
          <p:cNvPr id="3" name="panel gelap"/>
          <p:cNvSpPr/>
          <p:nvPr/>
        </p:nvSpPr>
        <p:spPr>
          <a:xfrm>
            <a:off x="0" y="0"/>
            <a:ext cx="8138160" cy="6858000"/>
          </a:xfrm>
          <a:prstGeom prst="rect">
            <a:avLst/>
          </a:prstGeom>
          <a:solidFill>
            <a:srgbClr val="13294B">
              <a:alpha val="90000"/>
            </a:srgbClr>
          </a:solidFill>
          <a:ln/>
        </p:spPr>
        <p:txBody>
          <a:bodyPr/>
          <a:lstStyle/>
          <a:p>
            <a:endParaRPr lang="en-US"/>
          </a:p>
        </p:txBody>
      </p:sp>
      <p:sp>
        <p:nvSpPr>
          <p:cNvPr id="4" name="Text 1"/>
          <p:cNvSpPr txBox="1"/>
          <p:nvPr/>
        </p:nvSpPr>
        <p:spPr>
          <a:xfrm>
            <a:off x="731520" y="1828800"/>
            <a:ext cx="2743200" cy="822960"/>
          </a:xfrm>
          <a:prstGeom prst="rect">
            <a:avLst/>
          </a:prstGeom>
          <a:noFill/>
          <a:ln/>
        </p:spPr>
        <p:txBody>
          <a:bodyPr wrap="square" lIns="0" tIns="0" rIns="0" bIns="0" rtlCol="0" anchor="t"/>
          <a:lstStyle/>
          <a:p>
            <a:pPr marL="0" indent="0">
              <a:buNone/>
            </a:pPr>
            <a:r>
              <a:rPr lang="en-US" sz="4800" b="1" dirty="0">
                <a:solidFill>
                  <a:schemeClr val="accent2"/>
                </a:solidFill>
              </a:rPr>
              <a:t>05</a:t>
            </a:r>
            <a:endParaRPr lang="en-US" sz="4800" dirty="0"/>
          </a:p>
        </p:txBody>
      </p:sp>
      <p:sp>
        <p:nvSpPr>
          <p:cNvPr id="5" name="Text 0"/>
          <p:cNvSpPr>
            <a:spLocks noGrp="1"/>
          </p:cNvSpPr>
          <p:nvPr>
            <p:ph type="title" idx="100" hasCustomPrompt="1"/>
          </p:nvPr>
        </p:nvSpPr>
        <p:spPr>
          <a:xfrm>
            <a:off x="731520" y="2788920"/>
            <a:ext cx="6949440" cy="1188720"/>
          </a:xfrm>
          <a:prstGeom prst="rect">
            <a:avLst/>
          </a:prstGeom>
          <a:noFill/>
          <a:ln/>
        </p:spPr>
        <p:txBody>
          <a:bodyPr wrap="square" lIns="0" tIns="0" rIns="0" bIns="0" rtlCol="0" anchor="t"/>
          <a:lstStyle/>
          <a:p>
            <a:pPr marL="0" indent="0" algn="l">
              <a:buNone/>
            </a:pPr>
            <a:r>
              <a:rPr lang="en-US" sz="4000" b="1" dirty="0" err="1">
                <a:solidFill>
                  <a:schemeClr val="bg1"/>
                </a:solidFill>
              </a:rPr>
              <a:t>Durasi</a:t>
            </a:r>
            <a:r>
              <a:rPr lang="en-US" sz="4000" b="1" dirty="0">
                <a:solidFill>
                  <a:schemeClr val="bg1"/>
                </a:solidFill>
              </a:rPr>
              <a:t> tunggakan &amp; </a:t>
            </a:r>
            <a:r>
              <a:rPr lang="en-US" sz="4000" b="1" dirty="0" err="1">
                <a:solidFill>
                  <a:schemeClr val="bg1"/>
                </a:solidFill>
              </a:rPr>
              <a:t>prioritas</a:t>
            </a:r>
            <a:r>
              <a:rPr lang="en-US" sz="4000" b="1" dirty="0">
                <a:solidFill>
                  <a:schemeClr val="bg1"/>
                </a:solidFill>
              </a:rPr>
              <a:t> </a:t>
            </a:r>
            <a:r>
              <a:rPr lang="en-US" sz="4000" b="1" dirty="0" err="1">
                <a:solidFill>
                  <a:schemeClr val="bg1"/>
                </a:solidFill>
              </a:rPr>
              <a:t>Penagihan</a:t>
            </a:r>
            <a:endParaRPr lang="en-US" sz="4000" dirty="0"/>
          </a:p>
        </p:txBody>
      </p:sp>
      <p:sp>
        <p:nvSpPr>
          <p:cNvPr id="6" name="Text 0"/>
          <p:cNvSpPr>
            <a:spLocks noGrp="1"/>
          </p:cNvSpPr>
          <p:nvPr>
            <p:ph type="body" idx="101" hasCustomPrompt="1"/>
          </p:nvPr>
        </p:nvSpPr>
        <p:spPr>
          <a:xfrm>
            <a:off x="731520" y="4069080"/>
            <a:ext cx="6583680" cy="1097280"/>
          </a:xfrm>
          <a:prstGeom prst="rect">
            <a:avLst/>
          </a:prstGeom>
          <a:noFill/>
          <a:ln/>
        </p:spPr>
        <p:txBody>
          <a:bodyPr wrap="square" lIns="0" tIns="0" rIns="0" bIns="0" rtlCol="0" anchor="t"/>
          <a:lstStyle/>
          <a:p>
            <a:pPr marL="0" indent="0" algn="l">
              <a:buNone/>
            </a:pPr>
            <a:r>
              <a:rPr lang="en-US" sz="1800" dirty="0" err="1">
                <a:solidFill>
                  <a:schemeClr val="bg1"/>
                </a:solidFill>
              </a:rPr>
              <a:t>Durasi</a:t>
            </a:r>
            <a:r>
              <a:rPr lang="en-US" sz="1800" dirty="0">
                <a:solidFill>
                  <a:schemeClr val="bg1"/>
                </a:solidFill>
              </a:rPr>
              <a:t> tunggakan, </a:t>
            </a:r>
            <a:r>
              <a:rPr lang="en-US" sz="1800" dirty="0" err="1">
                <a:solidFill>
                  <a:schemeClr val="bg1"/>
                </a:solidFill>
              </a:rPr>
              <a:t>Prioritas</a:t>
            </a:r>
            <a:r>
              <a:rPr lang="en-US" sz="1800" dirty="0">
                <a:solidFill>
                  <a:schemeClr val="bg1"/>
                </a:solidFill>
              </a:rPr>
              <a:t> kerja unit, dan </a:t>
            </a:r>
            <a:r>
              <a:rPr lang="en-US" sz="1800" dirty="0" err="1">
                <a:solidFill>
                  <a:schemeClr val="bg1"/>
                </a:solidFill>
              </a:rPr>
              <a:t>Tindak</a:t>
            </a:r>
            <a:r>
              <a:rPr lang="en-US" sz="1800" dirty="0">
                <a:solidFill>
                  <a:schemeClr val="bg1"/>
                </a:solidFill>
              </a:rPr>
              <a:t> </a:t>
            </a:r>
            <a:r>
              <a:rPr lang="en-US" sz="1800" dirty="0" err="1">
                <a:solidFill>
                  <a:schemeClr val="bg1"/>
                </a:solidFill>
              </a:rPr>
              <a:t>Lanjut</a:t>
            </a:r>
            <a:r>
              <a:rPr lang="en-US" sz="1800" dirty="0">
                <a:solidFill>
                  <a:schemeClr val="bg1"/>
                </a:solidFill>
              </a:rPr>
              <a:t> Finance</a:t>
            </a:r>
            <a:endParaRPr lang="en-US" sz="18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C9D3E0"/>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ANALISIS UMUR TUNGGAKAN</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88% nominal NPI berumur lebih dari 90 hari; Rp93,5 miliar berumur lebih dari setahun</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endParaRPr lang="en-US" sz="1000" dirty="0"/>
          </a:p>
        </p:txBody>
      </p:sp>
      <p:graphicFrame>
        <p:nvGraphicFramePr>
          <p:cNvPr id="5" name="grafik aging"/>
          <p:cNvGraphicFramePr/>
          <p:nvPr>
            <p:extLst>
              <p:ext uri="{D42A27DB-BD31-4B8C-83A1-F6EECF244321}">
                <p14:modId xmlns:p14="http://schemas.microsoft.com/office/powerpoint/2010/main" val="1786079556"/>
              </p:ext>
            </p:extLst>
          </p:nvPr>
        </p:nvGraphicFramePr>
        <p:xfrm>
          <a:off x="548640" y="1572768"/>
          <a:ext cx="740664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7" name="panel key takeaway"/>
          <p:cNvSpPr/>
          <p:nvPr/>
        </p:nvSpPr>
        <p:spPr>
          <a:xfrm>
            <a:off x="8183880" y="1572768"/>
            <a:ext cx="3456432" cy="3931920"/>
          </a:xfrm>
          <a:prstGeom prst="roundRect">
            <a:avLst>
              <a:gd name="adj" fmla="val 2116"/>
            </a:avLst>
          </a:prstGeom>
          <a:solidFill>
            <a:schemeClr val="tx2"/>
          </a:solidFill>
          <a:ln/>
        </p:spPr>
        <p:txBody>
          <a:bodyPr/>
          <a:lstStyle/>
          <a:p>
            <a:endParaRPr lang="en-US"/>
          </a:p>
        </p:txBody>
      </p:sp>
      <p:sp>
        <p:nvSpPr>
          <p:cNvPr id="8" name="Text 5"/>
          <p:cNvSpPr txBox="1"/>
          <p:nvPr/>
        </p:nvSpPr>
        <p:spPr>
          <a:xfrm>
            <a:off x="8458200" y="1801368"/>
            <a:ext cx="2907792" cy="274320"/>
          </a:xfrm>
          <a:prstGeom prst="rect">
            <a:avLst/>
          </a:prstGeom>
          <a:noFill/>
          <a:ln/>
        </p:spPr>
        <p:txBody>
          <a:bodyPr wrap="square" lIns="0" tIns="0" rIns="0" bIns="0" rtlCol="0" anchor="t"/>
          <a:lstStyle/>
          <a:p>
            <a:pPr marL="0" indent="0">
              <a:buNone/>
            </a:pPr>
            <a:r>
              <a:rPr lang="en-US" sz="1100" b="1" kern="0" spc="200" dirty="0">
                <a:solidFill>
                  <a:schemeClr val="accent2"/>
                </a:solidFill>
              </a:rPr>
              <a:t>KEY TAKEAWAY</a:t>
            </a:r>
            <a:endParaRPr lang="en-US" sz="1100" dirty="0"/>
          </a:p>
        </p:txBody>
      </p:sp>
      <p:sp>
        <p:nvSpPr>
          <p:cNvPr id="9" name="Text 6"/>
          <p:cNvSpPr txBox="1"/>
          <p:nvPr/>
        </p:nvSpPr>
        <p:spPr>
          <a:xfrm>
            <a:off x="8458200" y="2121408"/>
            <a:ext cx="2907792" cy="960120"/>
          </a:xfrm>
          <a:prstGeom prst="rect">
            <a:avLst/>
          </a:prstGeom>
          <a:noFill/>
          <a:ln/>
        </p:spPr>
        <p:txBody>
          <a:bodyPr wrap="square" lIns="0" tIns="0" rIns="0" bIns="0" rtlCol="0" anchor="t">
            <a:normAutofit/>
          </a:bodyPr>
          <a:lstStyle/>
          <a:p>
            <a:pPr marL="0" indent="0">
              <a:buNone/>
            </a:pPr>
            <a:r>
              <a:rPr lang="en-US" sz="1600" b="1" dirty="0">
                <a:solidFill>
                  <a:schemeClr val="bg1"/>
                </a:solidFill>
              </a:rPr>
              <a:t>76,1% nominal NPI analisis berumur &gt; 180 hari</a:t>
            </a:r>
            <a:endParaRPr lang="en-US" sz="1600" dirty="0"/>
          </a:p>
        </p:txBody>
      </p:sp>
      <p:sp>
        <p:nvSpPr>
          <p:cNvPr id="10" name="Text 7"/>
          <p:cNvSpPr txBox="1"/>
          <p:nvPr/>
        </p:nvSpPr>
        <p:spPr>
          <a:xfrm>
            <a:off x="8458200" y="3127248"/>
            <a:ext cx="2907792" cy="1965960"/>
          </a:xfrm>
          <a:prstGeom prst="rect">
            <a:avLst/>
          </a:prstGeom>
          <a:noFill/>
          <a:ln/>
        </p:spPr>
        <p:txBody>
          <a:bodyPr wrap="square" lIns="0" tIns="0" rIns="0" bIns="0" rtlCol="0" anchor="t">
            <a:normAutofit/>
          </a:bodyPr>
          <a:lstStyle/>
          <a:p>
            <a:pPr marL="0" indent="0">
              <a:buNone/>
            </a:pPr>
            <a:r>
              <a:rPr lang="en-US" sz="1300" dirty="0">
                <a:solidFill>
                  <a:srgbClr val="DCE3EE"/>
                </a:solidFill>
              </a:rPr>
              <a:t>Tidak ada invoice NPI yang belum jatuh tempo </a:t>
            </a:r>
            <a:r>
              <a:rPr lang="id-ID" sz="1300" dirty="0">
                <a:solidFill>
                  <a:srgbClr val="DCE3EE"/>
                </a:solidFill>
              </a:rPr>
              <a:t>27 januari 2025</a:t>
            </a:r>
            <a:r>
              <a:rPr lang="en-US" sz="1300" dirty="0">
                <a:solidFill>
                  <a:srgbClr val="DCE3EE"/>
                </a:solidFill>
              </a:rPr>
              <a:t>. </a:t>
            </a:r>
            <a:r>
              <a:rPr lang="en-US" sz="1300" dirty="0" err="1">
                <a:solidFill>
                  <a:srgbClr val="DCE3EE"/>
                </a:solidFill>
              </a:rPr>
              <a:t>Pembayaran</a:t>
            </a:r>
            <a:r>
              <a:rPr lang="en-US" sz="1300" dirty="0">
                <a:solidFill>
                  <a:srgbClr val="DCE3EE"/>
                </a:solidFill>
              </a:rPr>
              <a:t> paling terlambat terjadi 22 hari setelah jatuh tempo.</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PRIORITAS DEPARTEMEN PENAGIHAN</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6.771 unit memegang 50% nominal NPI</a:t>
            </a:r>
            <a:r>
              <a:rPr lang="id-ID" sz="2600" b="1" dirty="0">
                <a:solidFill>
                  <a:schemeClr val="tx2"/>
                </a:solidFill>
              </a:rPr>
              <a:t>:</a:t>
            </a:r>
            <a:r>
              <a:rPr lang="en-US" sz="2600" b="1" dirty="0">
                <a:solidFill>
                  <a:schemeClr val="tx2"/>
                </a:solidFill>
              </a:rPr>
              <a:t> </a:t>
            </a:r>
            <a:r>
              <a:rPr lang="id-ID" sz="2600" b="1" dirty="0">
                <a:solidFill>
                  <a:schemeClr val="tx2"/>
                </a:solidFill>
              </a:rPr>
              <a:t>Rekomendasi</a:t>
            </a:r>
            <a:r>
              <a:rPr lang="en-US" sz="2600" b="1" dirty="0">
                <a:solidFill>
                  <a:schemeClr val="tx2"/>
                </a:solidFill>
              </a:rPr>
              <a:t> </a:t>
            </a:r>
            <a:r>
              <a:rPr lang="en-US" sz="2600" b="1" dirty="0" err="1">
                <a:solidFill>
                  <a:schemeClr val="tx2"/>
                </a:solidFill>
              </a:rPr>
              <a:t>dibagi</a:t>
            </a:r>
            <a:r>
              <a:rPr lang="en-US" sz="2600" b="1" dirty="0">
                <a:solidFill>
                  <a:schemeClr val="tx2"/>
                </a:solidFill>
              </a:rPr>
              <a:t> </a:t>
            </a:r>
            <a:r>
              <a:rPr lang="en-US" sz="2600" b="1" dirty="0" err="1">
                <a:solidFill>
                  <a:schemeClr val="tx2"/>
                </a:solidFill>
              </a:rPr>
              <a:t>menjadi</a:t>
            </a:r>
            <a:r>
              <a:rPr lang="en-US" sz="2600" b="1" dirty="0">
                <a:solidFill>
                  <a:schemeClr val="tx2"/>
                </a:solidFill>
              </a:rPr>
              <a:t> </a:t>
            </a:r>
            <a:r>
              <a:rPr lang="en-US" sz="2600" b="1" dirty="0" err="1">
                <a:solidFill>
                  <a:schemeClr val="tx2"/>
                </a:solidFill>
              </a:rPr>
              <a:t>empat</a:t>
            </a:r>
            <a:endParaRPr lang="en-US" sz="2600" dirty="0"/>
          </a:p>
        </p:txBody>
      </p:sp>
      <p:graphicFrame>
        <p:nvGraphicFramePr>
          <p:cNvPr id="24" name="tabel tier"/>
          <p:cNvGraphicFramePr>
            <a:graphicFrameLocks noGrp="1"/>
          </p:cNvGraphicFramePr>
          <p:nvPr>
            <p:extLst>
              <p:ext uri="{D42A27DB-BD31-4B8C-83A1-F6EECF244321}">
                <p14:modId xmlns:p14="http://schemas.microsoft.com/office/powerpoint/2010/main" val="138236722"/>
              </p:ext>
            </p:extLst>
          </p:nvPr>
        </p:nvGraphicFramePr>
        <p:xfrm>
          <a:off x="548640" y="1645920"/>
          <a:ext cx="9067352" cy="2834640"/>
        </p:xfrm>
        <a:graphic>
          <a:graphicData uri="http://schemas.openxmlformats.org/drawingml/2006/table">
            <a:tbl>
              <a:tblPr/>
              <a:tblGrid>
                <a:gridCol w="3476065">
                  <a:extLst>
                    <a:ext uri="{9D8B030D-6E8A-4147-A177-3AD203B41FA5}">
                      <a16:colId xmlns:a16="http://schemas.microsoft.com/office/drawing/2014/main" val="20000"/>
                    </a:ext>
                  </a:extLst>
                </a:gridCol>
                <a:gridCol w="1183341">
                  <a:extLst>
                    <a:ext uri="{9D8B030D-6E8A-4147-A177-3AD203B41FA5}">
                      <a16:colId xmlns:a16="http://schemas.microsoft.com/office/drawing/2014/main" val="20001"/>
                    </a:ext>
                  </a:extLst>
                </a:gridCol>
                <a:gridCol w="2292724">
                  <a:extLst>
                    <a:ext uri="{9D8B030D-6E8A-4147-A177-3AD203B41FA5}">
                      <a16:colId xmlns:a16="http://schemas.microsoft.com/office/drawing/2014/main" val="20002"/>
                    </a:ext>
                  </a:extLst>
                </a:gridCol>
                <a:gridCol w="2115222">
                  <a:extLst>
                    <a:ext uri="{9D8B030D-6E8A-4147-A177-3AD203B41FA5}">
                      <a16:colId xmlns:a16="http://schemas.microsoft.com/office/drawing/2014/main" val="20006"/>
                    </a:ext>
                  </a:extLst>
                </a:gridCol>
              </a:tblGrid>
              <a:tr h="566928">
                <a:tc>
                  <a:txBody>
                    <a:bodyPr/>
                    <a:lstStyle/>
                    <a:p>
                      <a:pPr marL="0" indent="0">
                        <a:buNone/>
                      </a:pPr>
                      <a:r>
                        <a:rPr lang="en-US" sz="1400" b="1" dirty="0" err="1">
                          <a:solidFill>
                            <a:schemeClr val="bg1"/>
                          </a:solidFill>
                        </a:rPr>
                        <a:t>Prioritas</a:t>
                      </a:r>
                      <a:r>
                        <a:rPr lang="en-US" sz="1400" b="1" dirty="0">
                          <a:solidFill>
                            <a:schemeClr val="bg1"/>
                          </a:solidFill>
                        </a:rPr>
                        <a:t> Tindakan</a:t>
                      </a:r>
                      <a:endParaRPr lang="en-US" sz="14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400" b="1" dirty="0">
                          <a:solidFill>
                            <a:schemeClr val="bg1"/>
                          </a:solidFill>
                        </a:rPr>
                        <a:t>Unit</a:t>
                      </a:r>
                      <a:endParaRPr lang="en-US" sz="14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400" b="1" dirty="0">
                          <a:solidFill>
                            <a:schemeClr val="bg1"/>
                          </a:solidFill>
                        </a:rPr>
                        <a:t>Nominal NPI</a:t>
                      </a:r>
                      <a:endParaRPr lang="en-US" sz="14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400" b="1" dirty="0">
                          <a:solidFill>
                            <a:schemeClr val="bg1"/>
                          </a:solidFill>
                        </a:rPr>
                        <a:t>KPI</a:t>
                      </a:r>
                      <a:endParaRPr lang="en-US" sz="14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566928">
                <a:tc>
                  <a:txBody>
                    <a:bodyPr/>
                    <a:lstStyle/>
                    <a:p>
                      <a:pPr marL="0" indent="0">
                        <a:buNone/>
                      </a:pPr>
                      <a:r>
                        <a:rPr lang="en-US" sz="1400" dirty="0">
                          <a:solidFill>
                            <a:schemeClr val="tx1"/>
                          </a:solidFill>
                        </a:rPr>
                        <a:t>Tagih langsung; tindak lanjuti janji bayar</a:t>
                      </a:r>
                      <a:endParaRPr lang="en-US" sz="14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rPr>
                        <a:t>3.743</a:t>
                      </a:r>
                      <a:endParaRPr lang="en-US" sz="14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rPr>
                        <a:t>Rp46,7 M (26,5%)</a:t>
                      </a:r>
                      <a:endParaRPr lang="en-US" sz="14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rPr>
                        <a:t>Collection rate 30/60/90 hari</a:t>
                      </a:r>
                      <a:endParaRPr lang="en-US" sz="14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400" dirty="0">
                          <a:solidFill>
                            <a:schemeClr val="tx1"/>
                          </a:solidFill>
                        </a:rPr>
                        <a:t>Verifikasi kontak, lalu tagih</a:t>
                      </a:r>
                      <a:endParaRPr lang="en-US" sz="14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400" dirty="0">
                          <a:solidFill>
                            <a:schemeClr val="tx1"/>
                          </a:solidFill>
                        </a:rPr>
                        <a:t>3.028</a:t>
                      </a:r>
                      <a:endParaRPr lang="en-US" sz="14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400" dirty="0">
                          <a:solidFill>
                            <a:schemeClr val="tx1"/>
                          </a:solidFill>
                        </a:rPr>
                        <a:t>Rp41,5 M (23,5%)</a:t>
                      </a:r>
                      <a:endParaRPr lang="en-US" sz="14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400" dirty="0">
                          <a:solidFill>
                            <a:schemeClr val="tx1"/>
                          </a:solidFill>
                        </a:rPr>
                        <a:t>% kontak terverifikasi</a:t>
                      </a:r>
                      <a:endParaRPr lang="en-US" sz="14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2"/>
                  </a:ext>
                </a:extLst>
              </a:tr>
              <a:tr h="566928">
                <a:tc>
                  <a:txBody>
                    <a:bodyPr/>
                    <a:lstStyle/>
                    <a:p>
                      <a:pPr marL="0" indent="0">
                        <a:buNone/>
                      </a:pPr>
                      <a:r>
                        <a:rPr lang="en-US" sz="1400" dirty="0">
                          <a:solidFill>
                            <a:schemeClr val="tx1"/>
                          </a:solidFill>
                        </a:rPr>
                        <a:t>Tawarkan pendaftaran autodebit</a:t>
                      </a:r>
                      <a:endParaRPr lang="en-US" sz="14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rPr>
                        <a:t>18.076</a:t>
                      </a:r>
                      <a:endParaRPr lang="en-US" sz="14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rPr>
                        <a:t>Rp75,5 M (42,8%)</a:t>
                      </a:r>
                      <a:endParaRPr lang="en-US" sz="14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400" dirty="0">
                          <a:solidFill>
                            <a:schemeClr val="tx1"/>
                          </a:solidFill>
                        </a:rPr>
                        <a:t>Adopsi autodebit unit</a:t>
                      </a:r>
                      <a:endParaRPr lang="en-US" sz="14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400" dirty="0">
                          <a:solidFill>
                            <a:schemeClr val="tx1"/>
                          </a:solidFill>
                        </a:rPr>
                        <a:t>Pengingat standar</a:t>
                      </a:r>
                      <a:endParaRPr lang="en-US" sz="14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400" dirty="0">
                          <a:solidFill>
                            <a:schemeClr val="tx1"/>
                          </a:solidFill>
                        </a:rPr>
                        <a:t>4.034</a:t>
                      </a:r>
                      <a:endParaRPr lang="en-US" sz="14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400" dirty="0">
                          <a:solidFill>
                            <a:schemeClr val="tx1"/>
                          </a:solidFill>
                        </a:rPr>
                        <a:t>Rp12,7 M (7,2%)</a:t>
                      </a:r>
                      <a:endParaRPr lang="en-US" sz="14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400" dirty="0">
                          <a:solidFill>
                            <a:schemeClr val="tx1"/>
                          </a:solidFill>
                        </a:rPr>
                        <a:t>NPI tagihan baru</a:t>
                      </a:r>
                      <a:endParaRPr lang="en-US" sz="14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20</a:t>
            </a:fld>
            <a:endParaRPr lang="en-US"/>
          </a:p>
        </p:txBody>
      </p:sp>
      <p:sp>
        <p:nvSpPr>
          <p:cNvPr id="15" name="Text Placeholder 14">
            <a:extLst>
              <a:ext uri="{FF2B5EF4-FFF2-40B4-BE49-F238E27FC236}">
                <a16:creationId xmlns:a16="http://schemas.microsoft.com/office/drawing/2014/main" id="{BB4D3648-6878-4EDF-B39C-56C09104A521}"/>
              </a:ext>
            </a:extLst>
          </p:cNvPr>
          <p:cNvSpPr>
            <a:spLocks noGrp="1"/>
          </p:cNvSpPr>
          <p:nvPr>
            <p:ph type="body" idx="102"/>
          </p:nvPr>
        </p:nvSpPr>
        <p:spPr/>
        <p:txBody>
          <a:bodyPr/>
          <a:lstStyle/>
          <a:p>
            <a:endParaRPr lang="id-ID"/>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REKONSILIASI FINANCE</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id-ID" sz="2600" b="1" dirty="0">
                <a:solidFill>
                  <a:schemeClr val="tx2"/>
                </a:solidFill>
              </a:rPr>
              <a:t>Menyelesaikan</a:t>
            </a:r>
            <a:r>
              <a:rPr lang="en-US" sz="2600" b="1" dirty="0">
                <a:solidFill>
                  <a:schemeClr val="tx2"/>
                </a:solidFill>
              </a:rPr>
              <a:t> tiga daftar </a:t>
            </a:r>
            <a:r>
              <a:rPr lang="en-US" sz="2600" b="1" dirty="0" err="1">
                <a:solidFill>
                  <a:schemeClr val="tx2"/>
                </a:solidFill>
              </a:rPr>
              <a:t>prioritas</a:t>
            </a:r>
            <a:r>
              <a:rPr lang="en-US" sz="2600" b="1" dirty="0">
                <a:solidFill>
                  <a:schemeClr val="tx2"/>
                </a:solidFill>
              </a:rPr>
              <a:t> sebelum menetapkan target keuangan</a:t>
            </a:r>
            <a:endParaRPr lang="en-US" sz="2600" dirty="0"/>
          </a:p>
        </p:txBody>
      </p:sp>
      <p:graphicFrame>
        <p:nvGraphicFramePr>
          <p:cNvPr id="5" name="grafik metode"/>
          <p:cNvGraphicFramePr/>
          <p:nvPr>
            <p:extLst>
              <p:ext uri="{D42A27DB-BD31-4B8C-83A1-F6EECF244321}">
                <p14:modId xmlns:p14="http://schemas.microsoft.com/office/powerpoint/2010/main" val="1737110982"/>
              </p:ext>
            </p:extLst>
          </p:nvPr>
        </p:nvGraphicFramePr>
        <p:xfrm>
          <a:off x="548640" y="2253253"/>
          <a:ext cx="4937760" cy="30632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6" name="tabel rekonsiliasi"/>
          <p:cNvGraphicFramePr>
            <a:graphicFrameLocks noGrp="1"/>
          </p:cNvGraphicFramePr>
          <p:nvPr>
            <p:extLst>
              <p:ext uri="{D42A27DB-BD31-4B8C-83A1-F6EECF244321}">
                <p14:modId xmlns:p14="http://schemas.microsoft.com/office/powerpoint/2010/main" val="104725116"/>
              </p:ext>
            </p:extLst>
          </p:nvPr>
        </p:nvGraphicFramePr>
        <p:xfrm>
          <a:off x="5715000" y="2326405"/>
          <a:ext cx="5925312" cy="2267712"/>
        </p:xfrm>
        <a:graphic>
          <a:graphicData uri="http://schemas.openxmlformats.org/drawingml/2006/table">
            <a:tbl>
              <a:tblPr/>
              <a:tblGrid>
                <a:gridCol w="224028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901952">
                  <a:extLst>
                    <a:ext uri="{9D8B030D-6E8A-4147-A177-3AD203B41FA5}">
                      <a16:colId xmlns:a16="http://schemas.microsoft.com/office/drawing/2014/main" val="20003"/>
                    </a:ext>
                  </a:extLst>
                </a:gridCol>
              </a:tblGrid>
              <a:tr h="566928">
                <a:tc>
                  <a:txBody>
                    <a:bodyPr/>
                    <a:lstStyle/>
                    <a:p>
                      <a:pPr marL="0" indent="0">
                        <a:buNone/>
                      </a:pPr>
                      <a:r>
                        <a:rPr lang="en-US" sz="1100" b="1" dirty="0">
                          <a:solidFill>
                            <a:schemeClr val="bg1"/>
                          </a:solidFill>
                        </a:rPr>
                        <a:t>Daftar </a:t>
                      </a:r>
                      <a:r>
                        <a:rPr lang="en-US" sz="1100" b="1" dirty="0" err="1">
                          <a:solidFill>
                            <a:schemeClr val="bg1"/>
                          </a:solidFill>
                        </a:rPr>
                        <a:t>Prioritas</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Jumlah</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Nominal</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Tindak lanjut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566928">
                <a:tc>
                  <a:txBody>
                    <a:bodyPr/>
                    <a:lstStyle/>
                    <a:p>
                      <a:pPr marL="0" indent="0">
                        <a:buNone/>
                      </a:pPr>
                      <a:r>
                        <a:rPr lang="en-US" sz="1100" dirty="0">
                          <a:solidFill>
                            <a:schemeClr val="tx1"/>
                          </a:solidFill>
                        </a:rPr>
                        <a:t>Invoice NPI yang telah dibatalkan penuh via sengketa</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3.795</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Rp11,94 M</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Tutup status NPI bila pembatalan disahkan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100" dirty="0">
                          <a:solidFill>
                            <a:schemeClr val="tx1"/>
                          </a:solidFill>
                        </a:rPr>
                        <a:t>Invoice Paid yang telah dibatalkan penuh</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5.953</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Rp21,78 M</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Periksa kewajiban pengembalian dana/kredit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2"/>
                  </a:ext>
                </a:extLst>
              </a:tr>
              <a:tr h="566928">
                <a:tc>
                  <a:txBody>
                    <a:bodyPr/>
                    <a:lstStyle/>
                    <a:p>
                      <a:pPr marL="0" indent="0">
                        <a:buNone/>
                      </a:pPr>
                      <a:r>
                        <a:rPr lang="en-US" sz="1100" dirty="0">
                          <a:solidFill>
                            <a:schemeClr val="tx1"/>
                          </a:solidFill>
                        </a:rPr>
                        <a:t>Pasangan tagihan ganda Paid + Paid (indikasi)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12.568</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Rp11,07 M</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Cocokkan dengan mutasi bank</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1" name="Text 7"/>
          <p:cNvSpPr txBox="1"/>
          <p:nvPr/>
        </p:nvSpPr>
        <p:spPr>
          <a:xfrm>
            <a:off x="5989320" y="4617720"/>
            <a:ext cx="5394960" cy="1097280"/>
          </a:xfrm>
          <a:prstGeom prst="rect">
            <a:avLst/>
          </a:prstGeom>
          <a:noFill/>
          <a:ln/>
        </p:spPr>
        <p:txBody>
          <a:bodyPr wrap="square" lIns="0" tIns="0" rIns="0" bIns="0" rtlCol="0" anchor="t"/>
          <a:lstStyle/>
          <a:p>
            <a:pPr marL="0" indent="0">
              <a:buNone/>
            </a:pPr>
            <a:r>
              <a:rPr lang="en-US" sz="1300" dirty="0">
                <a:solidFill>
                  <a:schemeClr val="bg1"/>
                </a:solidFill>
              </a:rPr>
              <a:t>Koreksi sengketa pada invoice utama Rp33,72 M tersebar pada invoice Paid (Rp21,78 M), Overdue (Rp9,25 M), dan Unpaid (Rp2,70 M). Cocokkan status dan mutasi bank per invoice sebelum koreksi dipakai mengurangi NPI.</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21</a:t>
            </a:fld>
            <a:endParaRPr lang="en-US"/>
          </a:p>
        </p:txBody>
      </p:sp>
      <p:sp>
        <p:nvSpPr>
          <p:cNvPr id="12" name="Text Placeholder 11">
            <a:extLst>
              <a:ext uri="{FF2B5EF4-FFF2-40B4-BE49-F238E27FC236}">
                <a16:creationId xmlns:a16="http://schemas.microsoft.com/office/drawing/2014/main" id="{24CBE95E-E252-4916-A2E4-CFEFCBED6EDC}"/>
              </a:ext>
            </a:extLst>
          </p:cNvPr>
          <p:cNvSpPr>
            <a:spLocks noGrp="1"/>
          </p:cNvSpPr>
          <p:nvPr>
            <p:ph type="body" idx="102"/>
          </p:nvPr>
        </p:nvSpPr>
        <p:spPr/>
        <p:txBody>
          <a:bodyPr/>
          <a:lstStyle/>
          <a:p>
            <a:endParaRPr lang="id-ID"/>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lustrasi kawasan" descr="/home/claude/deck2/img/div5.jpg"/>
          <p:cNvPicPr>
            <a:picLocks noChangeAspect="1"/>
          </p:cNvPicPr>
          <p:nvPr/>
        </p:nvPicPr>
        <p:blipFill>
          <a:blip r:embed="rId3"/>
          <a:stretch>
            <a:fillRect/>
          </a:stretch>
        </p:blipFill>
        <p:spPr>
          <a:xfrm>
            <a:off x="0" y="0"/>
            <a:ext cx="12191695" cy="6858000"/>
          </a:xfrm>
          <a:prstGeom prst="rect">
            <a:avLst/>
          </a:prstGeom>
        </p:spPr>
      </p:pic>
      <p:sp>
        <p:nvSpPr>
          <p:cNvPr id="3" name="panel gelap"/>
          <p:cNvSpPr/>
          <p:nvPr/>
        </p:nvSpPr>
        <p:spPr>
          <a:xfrm>
            <a:off x="0" y="0"/>
            <a:ext cx="8138160" cy="6858000"/>
          </a:xfrm>
          <a:prstGeom prst="rect">
            <a:avLst/>
          </a:prstGeom>
          <a:solidFill>
            <a:srgbClr val="13294B">
              <a:alpha val="90000"/>
            </a:srgbClr>
          </a:solidFill>
          <a:ln/>
        </p:spPr>
        <p:txBody>
          <a:bodyPr/>
          <a:lstStyle/>
          <a:p>
            <a:endParaRPr lang="en-US"/>
          </a:p>
        </p:txBody>
      </p:sp>
      <p:sp>
        <p:nvSpPr>
          <p:cNvPr id="4" name="Text 1"/>
          <p:cNvSpPr txBox="1"/>
          <p:nvPr/>
        </p:nvSpPr>
        <p:spPr>
          <a:xfrm>
            <a:off x="731520" y="1828800"/>
            <a:ext cx="2743200" cy="822960"/>
          </a:xfrm>
          <a:prstGeom prst="rect">
            <a:avLst/>
          </a:prstGeom>
          <a:noFill/>
          <a:ln/>
        </p:spPr>
        <p:txBody>
          <a:bodyPr wrap="square" lIns="0" tIns="0" rIns="0" bIns="0" rtlCol="0" anchor="t"/>
          <a:lstStyle/>
          <a:p>
            <a:pPr marL="0" indent="0">
              <a:buNone/>
            </a:pPr>
            <a:r>
              <a:rPr lang="en-US" sz="4800" b="1" dirty="0">
                <a:solidFill>
                  <a:schemeClr val="accent2"/>
                </a:solidFill>
              </a:rPr>
              <a:t>06</a:t>
            </a:r>
            <a:endParaRPr lang="en-US" sz="4800" dirty="0"/>
          </a:p>
        </p:txBody>
      </p:sp>
      <p:sp>
        <p:nvSpPr>
          <p:cNvPr id="5" name="Text 0"/>
          <p:cNvSpPr>
            <a:spLocks noGrp="1"/>
          </p:cNvSpPr>
          <p:nvPr>
            <p:ph type="title" idx="100" hasCustomPrompt="1"/>
          </p:nvPr>
        </p:nvSpPr>
        <p:spPr>
          <a:xfrm>
            <a:off x="731520" y="2788920"/>
            <a:ext cx="6949440" cy="1188720"/>
          </a:xfrm>
          <a:prstGeom prst="rect">
            <a:avLst/>
          </a:prstGeom>
          <a:noFill/>
          <a:ln/>
        </p:spPr>
        <p:txBody>
          <a:bodyPr wrap="square" lIns="0" tIns="0" rIns="0" bIns="0" rtlCol="0" anchor="t"/>
          <a:lstStyle/>
          <a:p>
            <a:pPr marL="0" indent="0" algn="l">
              <a:buNone/>
            </a:pPr>
            <a:r>
              <a:rPr lang="en-US" sz="4000" b="1" dirty="0">
                <a:solidFill>
                  <a:schemeClr val="bg1"/>
                </a:solidFill>
              </a:rPr>
              <a:t>Simulasi pencegahan NPI</a:t>
            </a:r>
            <a:endParaRPr lang="en-US" sz="4000" dirty="0"/>
          </a:p>
        </p:txBody>
      </p:sp>
      <p:sp>
        <p:nvSpPr>
          <p:cNvPr id="6" name="Text 0"/>
          <p:cNvSpPr>
            <a:spLocks noGrp="1"/>
          </p:cNvSpPr>
          <p:nvPr>
            <p:ph type="body" idx="101" hasCustomPrompt="1"/>
          </p:nvPr>
        </p:nvSpPr>
        <p:spPr>
          <a:xfrm>
            <a:off x="731520" y="4069080"/>
            <a:ext cx="6583680" cy="1097280"/>
          </a:xfrm>
          <a:prstGeom prst="rect">
            <a:avLst/>
          </a:prstGeom>
          <a:noFill/>
          <a:ln/>
        </p:spPr>
        <p:txBody>
          <a:bodyPr wrap="square" lIns="0" tIns="0" rIns="0" bIns="0" rtlCol="0" anchor="t"/>
          <a:lstStyle/>
          <a:p>
            <a:pPr marL="0" indent="0" algn="l">
              <a:buNone/>
            </a:pPr>
            <a:r>
              <a:rPr lang="en-US" sz="1800" dirty="0">
                <a:solidFill>
                  <a:schemeClr val="bg1"/>
                </a:solidFill>
              </a:rPr>
              <a:t>Berapa NPI baru yang berpotensi dicegah, dan apa batas estimasinya?</a:t>
            </a:r>
            <a:endParaRPr lang="en-US" sz="18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C9D3E0"/>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PERIODE DASAR SIMULASI</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err="1">
                <a:solidFill>
                  <a:schemeClr val="tx2"/>
                </a:solidFill>
              </a:rPr>
              <a:t>Estimasi</a:t>
            </a:r>
            <a:r>
              <a:rPr lang="en-US" sz="2600" b="1" dirty="0">
                <a:solidFill>
                  <a:schemeClr val="tx2"/>
                </a:solidFill>
              </a:rPr>
              <a:t> Rp42,0 miliar tagihan baru berpotensi menjadi NPI dalam </a:t>
            </a:r>
            <a:r>
              <a:rPr lang="en-US" sz="2600" b="1" dirty="0" err="1">
                <a:solidFill>
                  <a:schemeClr val="tx2"/>
                </a:solidFill>
              </a:rPr>
              <a:t>enam</a:t>
            </a:r>
            <a:r>
              <a:rPr lang="en-US" sz="2600" b="1" dirty="0">
                <a:solidFill>
                  <a:schemeClr val="tx2"/>
                </a:solidFill>
              </a:rPr>
              <a:t> </a:t>
            </a:r>
            <a:r>
              <a:rPr lang="en-US" sz="2600" b="1" dirty="0" err="1">
                <a:solidFill>
                  <a:schemeClr val="tx2"/>
                </a:solidFill>
              </a:rPr>
              <a:t>bulan</a:t>
            </a:r>
            <a:r>
              <a:rPr lang="en-US" sz="2600" b="1" dirty="0">
                <a:solidFill>
                  <a:schemeClr val="tx2"/>
                </a:solidFill>
              </a:rPr>
              <a:t> </a:t>
            </a:r>
            <a:r>
              <a:rPr lang="en-US" sz="2600" b="1" dirty="0" err="1">
                <a:solidFill>
                  <a:schemeClr val="tx2"/>
                </a:solidFill>
              </a:rPr>
              <a:t>ke</a:t>
            </a:r>
            <a:r>
              <a:rPr lang="en-US" sz="2600" b="1" dirty="0">
                <a:solidFill>
                  <a:schemeClr val="tx2"/>
                </a:solidFill>
              </a:rPr>
              <a:t> </a:t>
            </a:r>
            <a:r>
              <a:rPr lang="en-US" sz="2600" b="1" dirty="0" err="1">
                <a:solidFill>
                  <a:schemeClr val="tx2"/>
                </a:solidFill>
              </a:rPr>
              <a:t>depan</a:t>
            </a:r>
            <a:endParaRPr lang="en-US" sz="2600" dirty="0"/>
          </a:p>
        </p:txBody>
      </p:sp>
      <p:sp>
        <p:nvSpPr>
          <p:cNvPr id="5" name="kpi invoice terbit per bulan (rata-rata Jun–Nov 2024)"/>
          <p:cNvSpPr/>
          <p:nvPr/>
        </p:nvSpPr>
        <p:spPr>
          <a:xfrm>
            <a:off x="548640" y="1645920"/>
            <a:ext cx="2606040" cy="1463040"/>
          </a:xfrm>
          <a:prstGeom prst="roundRect">
            <a:avLst>
              <a:gd name="adj" fmla="val 5000"/>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6" name="Text 4"/>
          <p:cNvSpPr txBox="1"/>
          <p:nvPr/>
        </p:nvSpPr>
        <p:spPr>
          <a:xfrm>
            <a:off x="777240" y="1783080"/>
            <a:ext cx="2148840" cy="658368"/>
          </a:xfrm>
          <a:prstGeom prst="rect">
            <a:avLst/>
          </a:prstGeom>
          <a:noFill/>
          <a:ln/>
        </p:spPr>
        <p:txBody>
          <a:bodyPr wrap="square" lIns="0" tIns="0" rIns="0" bIns="0" rtlCol="0" anchor="ctr">
            <a:normAutofit/>
          </a:bodyPr>
          <a:lstStyle/>
          <a:p>
            <a:pPr marL="0" indent="0">
              <a:buNone/>
            </a:pPr>
            <a:r>
              <a:rPr lang="en-US" sz="3000" b="1" dirty="0">
                <a:solidFill>
                  <a:schemeClr val="tx2"/>
                </a:solidFill>
              </a:rPr>
              <a:t>28.548</a:t>
            </a:r>
            <a:endParaRPr lang="en-US" sz="3000" dirty="0"/>
          </a:p>
        </p:txBody>
      </p:sp>
      <p:sp>
        <p:nvSpPr>
          <p:cNvPr id="7" name="Text 5"/>
          <p:cNvSpPr txBox="1"/>
          <p:nvPr/>
        </p:nvSpPr>
        <p:spPr>
          <a:xfrm>
            <a:off x="777240" y="2468880"/>
            <a:ext cx="2148840" cy="530352"/>
          </a:xfrm>
          <a:prstGeom prst="rect">
            <a:avLst/>
          </a:prstGeom>
          <a:noFill/>
          <a:ln/>
        </p:spPr>
        <p:txBody>
          <a:bodyPr wrap="square" lIns="0" tIns="0" rIns="0" bIns="0" rtlCol="0" anchor="t">
            <a:normAutofit/>
          </a:bodyPr>
          <a:lstStyle/>
          <a:p>
            <a:pPr marL="0" indent="0">
              <a:buNone/>
            </a:pPr>
            <a:r>
              <a:rPr lang="en-US" sz="1200" dirty="0">
                <a:solidFill>
                  <a:schemeClr val="accent6"/>
                </a:solidFill>
              </a:rPr>
              <a:t>invoice terbit per bulan (rata-rata Jun–Nov 2024)</a:t>
            </a:r>
            <a:endParaRPr lang="en-US" sz="1200" dirty="0"/>
          </a:p>
        </p:txBody>
      </p:sp>
      <p:sp>
        <p:nvSpPr>
          <p:cNvPr id="8" name="kpi NPI cohort tagihan baru (6 cohort matang terakhir)"/>
          <p:cNvSpPr/>
          <p:nvPr/>
        </p:nvSpPr>
        <p:spPr>
          <a:xfrm>
            <a:off x="3383280" y="1645920"/>
            <a:ext cx="2606040" cy="1463040"/>
          </a:xfrm>
          <a:prstGeom prst="roundRect">
            <a:avLst>
              <a:gd name="adj" fmla="val 5000"/>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9" name="Text 7"/>
          <p:cNvSpPr txBox="1"/>
          <p:nvPr/>
        </p:nvSpPr>
        <p:spPr>
          <a:xfrm>
            <a:off x="3611880" y="1783080"/>
            <a:ext cx="2148840" cy="658368"/>
          </a:xfrm>
          <a:prstGeom prst="rect">
            <a:avLst/>
          </a:prstGeom>
          <a:noFill/>
          <a:ln/>
        </p:spPr>
        <p:txBody>
          <a:bodyPr wrap="square" lIns="0" tIns="0" rIns="0" bIns="0" rtlCol="0" anchor="ctr">
            <a:normAutofit/>
          </a:bodyPr>
          <a:lstStyle/>
          <a:p>
            <a:pPr marL="0" indent="0">
              <a:buNone/>
            </a:pPr>
            <a:r>
              <a:rPr lang="en-US" sz="3000" b="1" dirty="0">
                <a:solidFill>
                  <a:schemeClr val="tx2"/>
                </a:solidFill>
              </a:rPr>
              <a:t>37,24%</a:t>
            </a:r>
            <a:endParaRPr lang="en-US" sz="3000" dirty="0"/>
          </a:p>
        </p:txBody>
      </p:sp>
      <p:sp>
        <p:nvSpPr>
          <p:cNvPr id="10" name="Text 8"/>
          <p:cNvSpPr txBox="1"/>
          <p:nvPr/>
        </p:nvSpPr>
        <p:spPr>
          <a:xfrm>
            <a:off x="3611880" y="2468880"/>
            <a:ext cx="2148840" cy="530352"/>
          </a:xfrm>
          <a:prstGeom prst="rect">
            <a:avLst/>
          </a:prstGeom>
          <a:noFill/>
          <a:ln/>
        </p:spPr>
        <p:txBody>
          <a:bodyPr wrap="square" lIns="0" tIns="0" rIns="0" bIns="0" rtlCol="0" anchor="t">
            <a:normAutofit lnSpcReduction="10000"/>
          </a:bodyPr>
          <a:lstStyle/>
          <a:p>
            <a:pPr marL="0" indent="0">
              <a:buNone/>
            </a:pPr>
            <a:r>
              <a:rPr lang="id-ID" sz="1200" dirty="0">
                <a:solidFill>
                  <a:schemeClr val="accent6"/>
                </a:solidFill>
              </a:rPr>
              <a:t>Rata-rata </a:t>
            </a:r>
            <a:r>
              <a:rPr lang="en-US" sz="1200" dirty="0">
                <a:solidFill>
                  <a:schemeClr val="accent6"/>
                </a:solidFill>
              </a:rPr>
              <a:t>NPI</a:t>
            </a:r>
            <a:r>
              <a:rPr lang="id-ID" sz="1200" dirty="0">
                <a:solidFill>
                  <a:schemeClr val="accent6"/>
                </a:solidFill>
              </a:rPr>
              <a:t> perbulan</a:t>
            </a:r>
            <a:r>
              <a:rPr lang="en-US" sz="1200" dirty="0">
                <a:solidFill>
                  <a:schemeClr val="accent6"/>
                </a:solidFill>
              </a:rPr>
              <a:t> </a:t>
            </a:r>
            <a:r>
              <a:rPr lang="en-US" sz="1200" dirty="0" err="1">
                <a:solidFill>
                  <a:schemeClr val="accent6"/>
                </a:solidFill>
              </a:rPr>
              <a:t>tagihan</a:t>
            </a:r>
            <a:r>
              <a:rPr lang="en-US" sz="1200" dirty="0">
                <a:solidFill>
                  <a:schemeClr val="accent6"/>
                </a:solidFill>
              </a:rPr>
              <a:t> </a:t>
            </a:r>
            <a:r>
              <a:rPr lang="en-US" sz="1200" dirty="0" err="1">
                <a:solidFill>
                  <a:schemeClr val="accent6"/>
                </a:solidFill>
              </a:rPr>
              <a:t>baru</a:t>
            </a:r>
            <a:r>
              <a:rPr lang="en-US" sz="1200" dirty="0">
                <a:solidFill>
                  <a:schemeClr val="accent6"/>
                </a:solidFill>
              </a:rPr>
              <a:t> (</a:t>
            </a:r>
            <a:r>
              <a:rPr lang="id-ID" sz="1200" dirty="0">
                <a:solidFill>
                  <a:schemeClr val="accent6"/>
                </a:solidFill>
              </a:rPr>
              <a:t>rata-rata NPI </a:t>
            </a:r>
            <a:r>
              <a:rPr lang="en-US" sz="1200" dirty="0">
                <a:solidFill>
                  <a:schemeClr val="accent6"/>
                </a:solidFill>
              </a:rPr>
              <a:t>6</a:t>
            </a:r>
            <a:r>
              <a:rPr lang="id-ID" sz="1200" dirty="0">
                <a:solidFill>
                  <a:schemeClr val="accent6"/>
                </a:solidFill>
              </a:rPr>
              <a:t> bulan terakhir</a:t>
            </a:r>
            <a:r>
              <a:rPr lang="en-US" sz="1200" dirty="0">
                <a:solidFill>
                  <a:schemeClr val="accent6"/>
                </a:solidFill>
              </a:rPr>
              <a:t>)</a:t>
            </a:r>
            <a:endParaRPr lang="en-US" sz="1200" dirty="0"/>
          </a:p>
        </p:txBody>
      </p:sp>
      <p:sp>
        <p:nvSpPr>
          <p:cNvPr id="11" name="kpi nilai tagihan analisis yang terbit per bulan"/>
          <p:cNvSpPr/>
          <p:nvPr/>
        </p:nvSpPr>
        <p:spPr>
          <a:xfrm>
            <a:off x="6217920" y="1645920"/>
            <a:ext cx="2606040" cy="1463040"/>
          </a:xfrm>
          <a:prstGeom prst="roundRect">
            <a:avLst>
              <a:gd name="adj" fmla="val 5000"/>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2" name="Text 10"/>
          <p:cNvSpPr txBox="1"/>
          <p:nvPr/>
        </p:nvSpPr>
        <p:spPr>
          <a:xfrm>
            <a:off x="6446520" y="1783080"/>
            <a:ext cx="2148840" cy="658368"/>
          </a:xfrm>
          <a:prstGeom prst="rect">
            <a:avLst/>
          </a:prstGeom>
          <a:noFill/>
          <a:ln/>
        </p:spPr>
        <p:txBody>
          <a:bodyPr wrap="square" lIns="0" tIns="0" rIns="0" bIns="0" rtlCol="0" anchor="ctr">
            <a:normAutofit/>
          </a:bodyPr>
          <a:lstStyle/>
          <a:p>
            <a:pPr marL="0" indent="0">
              <a:buNone/>
            </a:pPr>
            <a:r>
              <a:rPr lang="en-US" sz="3000" b="1" dirty="0">
                <a:solidFill>
                  <a:schemeClr val="tx2"/>
                </a:solidFill>
              </a:rPr>
              <a:t>Rp18,73 M</a:t>
            </a:r>
            <a:endParaRPr lang="en-US" sz="3000" dirty="0"/>
          </a:p>
        </p:txBody>
      </p:sp>
      <p:sp>
        <p:nvSpPr>
          <p:cNvPr id="13" name="Text 11"/>
          <p:cNvSpPr txBox="1"/>
          <p:nvPr/>
        </p:nvSpPr>
        <p:spPr>
          <a:xfrm>
            <a:off x="6446520" y="2468880"/>
            <a:ext cx="2148840" cy="530352"/>
          </a:xfrm>
          <a:prstGeom prst="rect">
            <a:avLst/>
          </a:prstGeom>
          <a:noFill/>
          <a:ln/>
        </p:spPr>
        <p:txBody>
          <a:bodyPr wrap="square" lIns="0" tIns="0" rIns="0" bIns="0" rtlCol="0" anchor="t">
            <a:normAutofit/>
          </a:bodyPr>
          <a:lstStyle/>
          <a:p>
            <a:pPr marL="0" indent="0">
              <a:buNone/>
            </a:pPr>
            <a:r>
              <a:rPr lang="en-US" sz="1200" dirty="0">
                <a:solidFill>
                  <a:schemeClr val="accent6"/>
                </a:solidFill>
              </a:rPr>
              <a:t>nilai tagihan analisis yang terbit per bulan</a:t>
            </a:r>
            <a:endParaRPr lang="en-US" sz="1200" dirty="0"/>
          </a:p>
        </p:txBody>
      </p:sp>
      <p:sp>
        <p:nvSpPr>
          <p:cNvPr id="14" name="kpi nominal tagihan baru yang masih NPI per bulan"/>
          <p:cNvSpPr/>
          <p:nvPr/>
        </p:nvSpPr>
        <p:spPr>
          <a:xfrm>
            <a:off x="9052560" y="1645920"/>
            <a:ext cx="2587752" cy="1463040"/>
          </a:xfrm>
          <a:prstGeom prst="roundRect">
            <a:avLst>
              <a:gd name="adj" fmla="val 5000"/>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5" name="Text 13"/>
          <p:cNvSpPr txBox="1"/>
          <p:nvPr/>
        </p:nvSpPr>
        <p:spPr>
          <a:xfrm>
            <a:off x="9281160" y="1783080"/>
            <a:ext cx="2130552" cy="658368"/>
          </a:xfrm>
          <a:prstGeom prst="rect">
            <a:avLst/>
          </a:prstGeom>
          <a:noFill/>
          <a:ln/>
        </p:spPr>
        <p:txBody>
          <a:bodyPr wrap="square" lIns="0" tIns="0" rIns="0" bIns="0" rtlCol="0" anchor="ctr">
            <a:normAutofit/>
          </a:bodyPr>
          <a:lstStyle/>
          <a:p>
            <a:pPr marL="0" indent="0">
              <a:buNone/>
            </a:pPr>
            <a:r>
              <a:rPr lang="en-US" sz="3000" b="1" dirty="0">
                <a:solidFill>
                  <a:schemeClr val="accent4"/>
                </a:solidFill>
              </a:rPr>
              <a:t>Rp7,00 M</a:t>
            </a:r>
            <a:endParaRPr lang="en-US" sz="3000" dirty="0"/>
          </a:p>
        </p:txBody>
      </p:sp>
      <p:sp>
        <p:nvSpPr>
          <p:cNvPr id="16" name="Text 14"/>
          <p:cNvSpPr txBox="1"/>
          <p:nvPr/>
        </p:nvSpPr>
        <p:spPr>
          <a:xfrm>
            <a:off x="9281160" y="2468880"/>
            <a:ext cx="2130552" cy="530352"/>
          </a:xfrm>
          <a:prstGeom prst="rect">
            <a:avLst/>
          </a:prstGeom>
          <a:noFill/>
          <a:ln/>
        </p:spPr>
        <p:txBody>
          <a:bodyPr wrap="square" lIns="0" tIns="0" rIns="0" bIns="0" rtlCol="0" anchor="t">
            <a:normAutofit/>
          </a:bodyPr>
          <a:lstStyle/>
          <a:p>
            <a:pPr marL="0" indent="0">
              <a:buNone/>
            </a:pPr>
            <a:r>
              <a:rPr lang="en-US" sz="1200" dirty="0">
                <a:solidFill>
                  <a:schemeClr val="accent6"/>
                </a:solidFill>
              </a:rPr>
              <a:t>nominal tagihan baru yang masih NPI per bulan</a:t>
            </a:r>
            <a:endParaRPr lang="en-US" sz="1200" dirty="0"/>
          </a:p>
        </p:txBody>
      </p:sp>
      <p:graphicFrame>
        <p:nvGraphicFramePr>
          <p:cNvPr id="17" name="grafik kumulatif"/>
          <p:cNvGraphicFramePr/>
          <p:nvPr/>
        </p:nvGraphicFramePr>
        <p:xfrm>
          <a:off x="548640" y="3291840"/>
          <a:ext cx="7132320"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18" name="catatan ilustrasi"/>
          <p:cNvSpPr/>
          <p:nvPr/>
        </p:nvSpPr>
        <p:spPr>
          <a:xfrm>
            <a:off x="7909560" y="3291840"/>
            <a:ext cx="3730752" cy="2045704"/>
          </a:xfrm>
          <a:prstGeom prst="roundRect">
            <a:avLst>
              <a:gd name="adj" fmla="val 2500"/>
            </a:avLst>
          </a:prstGeom>
          <a:solidFill>
            <a:schemeClr val="tx2"/>
          </a:solidFill>
          <a:ln/>
        </p:spPr>
        <p:txBody>
          <a:bodyPr/>
          <a:lstStyle/>
          <a:p>
            <a:endParaRPr lang="en-US"/>
          </a:p>
        </p:txBody>
      </p:sp>
      <p:sp>
        <p:nvSpPr>
          <p:cNvPr id="19" name="Text 16"/>
          <p:cNvSpPr txBox="1"/>
          <p:nvPr/>
        </p:nvSpPr>
        <p:spPr>
          <a:xfrm>
            <a:off x="8183880" y="3493008"/>
            <a:ext cx="3291840" cy="274320"/>
          </a:xfrm>
          <a:prstGeom prst="rect">
            <a:avLst/>
          </a:prstGeom>
          <a:noFill/>
          <a:ln/>
        </p:spPr>
        <p:txBody>
          <a:bodyPr wrap="square" lIns="0" tIns="0" rIns="0" bIns="0" rtlCol="0" anchor="t"/>
          <a:lstStyle/>
          <a:p>
            <a:pPr marL="0" indent="0">
              <a:buNone/>
            </a:pPr>
            <a:r>
              <a:rPr lang="en-US" sz="1100" b="1" kern="0" spc="100" dirty="0">
                <a:solidFill>
                  <a:schemeClr val="accent2"/>
                </a:solidFill>
              </a:rPr>
              <a:t>ILUSTRASI, BUKAN FORECAST</a:t>
            </a:r>
            <a:endParaRPr lang="en-US" sz="1100" dirty="0"/>
          </a:p>
        </p:txBody>
      </p:sp>
      <p:sp>
        <p:nvSpPr>
          <p:cNvPr id="20" name="Text 17"/>
          <p:cNvSpPr txBox="1"/>
          <p:nvPr/>
        </p:nvSpPr>
        <p:spPr>
          <a:xfrm>
            <a:off x="8183880" y="3840480"/>
            <a:ext cx="3200400" cy="685800"/>
          </a:xfrm>
          <a:prstGeom prst="rect">
            <a:avLst/>
          </a:prstGeom>
          <a:noFill/>
          <a:ln/>
        </p:spPr>
        <p:txBody>
          <a:bodyPr wrap="square" lIns="0" tIns="0" rIns="0" bIns="0" rtlCol="0" anchor="t"/>
          <a:lstStyle/>
          <a:p>
            <a:pPr marL="0" indent="0">
              <a:buNone/>
            </a:pPr>
            <a:r>
              <a:rPr lang="en-US" sz="1600" b="1" dirty="0">
                <a:solidFill>
                  <a:schemeClr val="bg1"/>
                </a:solidFill>
              </a:rPr>
              <a:t>Pencegahan lebih bernilai daripada mengejar tunggakan lama.</a:t>
            </a:r>
            <a:endParaRPr lang="en-US" sz="1600" dirty="0"/>
          </a:p>
        </p:txBody>
      </p:sp>
      <p:sp>
        <p:nvSpPr>
          <p:cNvPr id="21" name="Text 18"/>
          <p:cNvSpPr txBox="1"/>
          <p:nvPr/>
        </p:nvSpPr>
        <p:spPr>
          <a:xfrm>
            <a:off x="8183880" y="4572000"/>
            <a:ext cx="3246120" cy="99669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DCE3EE"/>
                </a:solidFill>
              </a:rPr>
              <a:t>Volume dan NPI dianggap tetap seperti periode </a:t>
            </a:r>
            <a:r>
              <a:rPr lang="en-US" sz="1200" dirty="0" err="1">
                <a:solidFill>
                  <a:srgbClr val="DCE3EE"/>
                </a:solidFill>
              </a:rPr>
              <a:t>dasar</a:t>
            </a:r>
            <a:r>
              <a:rPr lang="en-US" sz="1200" dirty="0">
                <a:solidFill>
                  <a:srgbClr val="DCE3EE"/>
                </a:solidFill>
              </a:rPr>
              <a:t>.</a:t>
            </a:r>
            <a:endParaRPr lang="en-US" sz="12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23</a:t>
            </a:fld>
            <a:endParaRPr lang="en-US"/>
          </a:p>
        </p:txBody>
      </p:sp>
      <p:sp>
        <p:nvSpPr>
          <p:cNvPr id="23" name="Text Placeholder 22">
            <a:extLst>
              <a:ext uri="{FF2B5EF4-FFF2-40B4-BE49-F238E27FC236}">
                <a16:creationId xmlns:a16="http://schemas.microsoft.com/office/drawing/2014/main" id="{20A4611D-C1BB-4D31-83CD-77964C5479C5}"/>
              </a:ext>
            </a:extLst>
          </p:cNvPr>
          <p:cNvSpPr>
            <a:spLocks noGrp="1"/>
          </p:cNvSpPr>
          <p:nvPr>
            <p:ph type="body" idx="102"/>
          </p:nvPr>
        </p:nvSpPr>
        <p:spPr/>
        <p:txBody>
          <a:bodyPr/>
          <a:lstStyle/>
          <a:p>
            <a:endParaRPr lang="id-ID"/>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SKENARIO AUTODEBIT</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r>
              <a:rPr lang="en-US" sz="2600" b="1" dirty="0">
                <a:solidFill>
                  <a:schemeClr val="tx2"/>
                </a:solidFill>
              </a:rPr>
              <a:t>Skenario dasar: </a:t>
            </a:r>
            <a:r>
              <a:rPr lang="en-ID" dirty="0" err="1"/>
              <a:t>Konservatif</a:t>
            </a:r>
            <a:r>
              <a:rPr lang="en-ID" dirty="0"/>
              <a:t> (</a:t>
            </a:r>
            <a:r>
              <a:rPr lang="en-ID" dirty="0" err="1"/>
              <a:t>efek</a:t>
            </a:r>
            <a:r>
              <a:rPr lang="en-ID" dirty="0"/>
              <a:t> 25%)”, “Dasar (</a:t>
            </a:r>
            <a:r>
              <a:rPr lang="en-ID" dirty="0" err="1"/>
              <a:t>efek</a:t>
            </a:r>
            <a:r>
              <a:rPr lang="en-ID" dirty="0"/>
              <a:t> 50%)”, dan “</a:t>
            </a:r>
            <a:r>
              <a:rPr lang="en-ID" dirty="0" err="1"/>
              <a:t>Optimistis</a:t>
            </a:r>
            <a:r>
              <a:rPr lang="en-ID" dirty="0"/>
              <a:t> (</a:t>
            </a:r>
            <a:r>
              <a:rPr lang="en-ID" dirty="0" err="1"/>
              <a:t>efek</a:t>
            </a:r>
            <a:r>
              <a:rPr lang="en-ID" dirty="0"/>
              <a:t> 100%)</a:t>
            </a:r>
            <a:endParaRPr lang="en-US" sz="2600" dirty="0"/>
          </a:p>
        </p:txBody>
      </p:sp>
      <p:graphicFrame>
        <p:nvGraphicFramePr>
          <p:cNvPr id="5" name="grafik skenario npi"/>
          <p:cNvGraphicFramePr/>
          <p:nvPr>
            <p:extLst>
              <p:ext uri="{D42A27DB-BD31-4B8C-83A1-F6EECF244321}">
                <p14:modId xmlns:p14="http://schemas.microsoft.com/office/powerpoint/2010/main" val="4010432349"/>
              </p:ext>
            </p:extLst>
          </p:nvPr>
        </p:nvGraphicFramePr>
        <p:xfrm>
          <a:off x="548640" y="2029971"/>
          <a:ext cx="3977640" cy="33832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grafik skenario nominal"/>
          <p:cNvGraphicFramePr/>
          <p:nvPr>
            <p:extLst>
              <p:ext uri="{D42A27DB-BD31-4B8C-83A1-F6EECF244321}">
                <p14:modId xmlns:p14="http://schemas.microsoft.com/office/powerpoint/2010/main" val="229246079"/>
              </p:ext>
            </p:extLst>
          </p:nvPr>
        </p:nvGraphicFramePr>
        <p:xfrm>
          <a:off x="4617720" y="2029971"/>
          <a:ext cx="3429000" cy="338328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9" name="tabel asumsi skenario"/>
          <p:cNvGraphicFramePr>
            <a:graphicFrameLocks noGrp="1"/>
          </p:cNvGraphicFramePr>
          <p:nvPr>
            <p:extLst>
              <p:ext uri="{D42A27DB-BD31-4B8C-83A1-F6EECF244321}">
                <p14:modId xmlns:p14="http://schemas.microsoft.com/office/powerpoint/2010/main" val="3637882328"/>
              </p:ext>
            </p:extLst>
          </p:nvPr>
        </p:nvGraphicFramePr>
        <p:xfrm>
          <a:off x="8183880" y="2103123"/>
          <a:ext cx="3456432" cy="2286000"/>
        </p:xfrm>
        <a:graphic>
          <a:graphicData uri="http://schemas.openxmlformats.org/drawingml/2006/table">
            <a:tbl>
              <a:tblPr/>
              <a:tblGrid>
                <a:gridCol w="1920240">
                  <a:extLst>
                    <a:ext uri="{9D8B030D-6E8A-4147-A177-3AD203B41FA5}">
                      <a16:colId xmlns:a16="http://schemas.microsoft.com/office/drawing/2014/main" val="20000"/>
                    </a:ext>
                  </a:extLst>
                </a:gridCol>
                <a:gridCol w="1536192">
                  <a:extLst>
                    <a:ext uri="{9D8B030D-6E8A-4147-A177-3AD203B41FA5}">
                      <a16:colId xmlns:a16="http://schemas.microsoft.com/office/drawing/2014/main" val="20001"/>
                    </a:ext>
                  </a:extLst>
                </a:gridCol>
              </a:tblGrid>
              <a:tr h="457200">
                <a:tc>
                  <a:txBody>
                    <a:bodyPr/>
                    <a:lstStyle/>
                    <a:p>
                      <a:pPr marL="0" indent="0">
                        <a:buNone/>
                      </a:pPr>
                      <a:r>
                        <a:rPr lang="en-US" sz="1100" b="1" dirty="0">
                          <a:solidFill>
                            <a:schemeClr val="bg1"/>
                          </a:solidFill>
                        </a:rPr>
                        <a:t>Urutan asumsi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Nilai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457200">
                <a:tc>
                  <a:txBody>
                    <a:bodyPr/>
                    <a:lstStyle/>
                    <a:p>
                      <a:pPr marL="0" indent="0">
                        <a:buNone/>
                      </a:pPr>
                      <a:r>
                        <a:rPr lang="en-US" sz="1100" dirty="0">
                          <a:solidFill>
                            <a:schemeClr val="tx1"/>
                          </a:solidFill>
                        </a:rPr>
                        <a:t>1. Unit </a:t>
                      </a:r>
                      <a:r>
                        <a:rPr lang="en-US" sz="1100" dirty="0" err="1">
                          <a:solidFill>
                            <a:schemeClr val="tx1"/>
                          </a:solidFill>
                        </a:rPr>
                        <a:t>belum</a:t>
                      </a:r>
                      <a:r>
                        <a:rPr lang="en-US" sz="1100" dirty="0">
                          <a:solidFill>
                            <a:schemeClr val="tx1"/>
                          </a:solidFill>
                        </a:rPr>
                        <a:t> </a:t>
                      </a:r>
                      <a:r>
                        <a:rPr lang="en-US" sz="1100" dirty="0" err="1">
                          <a:solidFill>
                            <a:schemeClr val="tx1"/>
                          </a:solidFill>
                        </a:rPr>
                        <a:t>autodebit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24.754 unit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100" dirty="0">
                          <a:solidFill>
                            <a:schemeClr val="tx1"/>
                          </a:solidFill>
                        </a:rPr>
                        <a:t>2. Porsi unit </a:t>
                      </a:r>
                      <a:r>
                        <a:rPr lang="en-US" sz="1100" dirty="0" err="1">
                          <a:solidFill>
                            <a:schemeClr val="tx1"/>
                          </a:solidFill>
                        </a:rPr>
                        <a:t>belum</a:t>
                      </a:r>
                      <a:r>
                        <a:rPr lang="en-US" sz="1100" dirty="0">
                          <a:solidFill>
                            <a:schemeClr val="tx1"/>
                          </a:solidFill>
                        </a:rPr>
                        <a:t> </a:t>
                      </a:r>
                      <a:r>
                        <a:rPr lang="en-US" sz="1100" dirty="0" err="1">
                          <a:solidFill>
                            <a:schemeClr val="tx1"/>
                          </a:solidFill>
                        </a:rPr>
                        <a:t>autodebit</a:t>
                      </a:r>
                      <a:r>
                        <a:rPr lang="en-US" sz="1100" dirty="0">
                          <a:solidFill>
                            <a:schemeClr val="tx1"/>
                          </a:solidFill>
                        </a:rPr>
                        <a:t> yang beralih</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25% = 6.188 unit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2"/>
                  </a:ext>
                </a:extLst>
              </a:tr>
              <a:tr h="457200">
                <a:tc>
                  <a:txBody>
                    <a:bodyPr/>
                    <a:lstStyle/>
                    <a:p>
                      <a:pPr marL="0" indent="0">
                        <a:buNone/>
                      </a:pPr>
                      <a:r>
                        <a:rPr lang="en-US" sz="1100" dirty="0">
                          <a:solidFill>
                            <a:schemeClr val="tx1"/>
                          </a:solidFill>
                        </a:rPr>
                        <a:t>3. </a:t>
                      </a:r>
                      <a:r>
                        <a:rPr lang="en-US" sz="1100" dirty="0" err="1">
                          <a:solidFill>
                            <a:schemeClr val="tx1"/>
                          </a:solidFill>
                        </a:rPr>
                        <a:t>Adopsi</a:t>
                      </a:r>
                      <a:r>
                        <a:rPr lang="en-US" sz="1100" dirty="0">
                          <a:solidFill>
                            <a:schemeClr val="tx1"/>
                          </a:solidFill>
                        </a:rPr>
                        <a:t> autodebit unit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14,3% → 35,7%</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100" dirty="0">
                          <a:solidFill>
                            <a:schemeClr val="tx1"/>
                          </a:solidFill>
                        </a:rPr>
                        <a:t>4. Tingkat keberhasilan (porsi efek yang terealisasi)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25% / 50% / 100%</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24</a:t>
            </a:fld>
            <a:endParaRPr lang="en-US"/>
          </a:p>
        </p:txBody>
      </p:sp>
      <p:sp>
        <p:nvSpPr>
          <p:cNvPr id="10" name="Text Placeholder 9">
            <a:extLst>
              <a:ext uri="{FF2B5EF4-FFF2-40B4-BE49-F238E27FC236}">
                <a16:creationId xmlns:a16="http://schemas.microsoft.com/office/drawing/2014/main" id="{80F68997-FCE1-48A9-A104-BCB597DD8EB3}"/>
              </a:ext>
            </a:extLst>
          </p:cNvPr>
          <p:cNvSpPr>
            <a:spLocks noGrp="1"/>
          </p:cNvSpPr>
          <p:nvPr>
            <p:ph type="body" idx="102"/>
          </p:nvPr>
        </p:nvSpPr>
        <p:spPr/>
        <p:txBody>
          <a:bodyPr/>
          <a:lstStyle/>
          <a:p>
            <a:endParaRPr lang="id-ID"/>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PERBANDINGAN INTERVENSI</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err="1">
                <a:solidFill>
                  <a:schemeClr val="tx2"/>
                </a:solidFill>
              </a:rPr>
              <a:t>Autodebit</a:t>
            </a:r>
            <a:r>
              <a:rPr lang="en-US" sz="2600" b="1" dirty="0">
                <a:solidFill>
                  <a:schemeClr val="tx2"/>
                </a:solidFill>
              </a:rPr>
              <a:t> </a:t>
            </a:r>
            <a:r>
              <a:rPr lang="en-US" sz="2600" b="1" dirty="0" err="1">
                <a:solidFill>
                  <a:schemeClr val="tx2"/>
                </a:solidFill>
              </a:rPr>
              <a:t>memiliki</a:t>
            </a:r>
            <a:r>
              <a:rPr lang="en-US" sz="2600" b="1" dirty="0">
                <a:solidFill>
                  <a:schemeClr val="tx2"/>
                </a:solidFill>
              </a:rPr>
              <a:t> </a:t>
            </a:r>
            <a:r>
              <a:rPr lang="en-US" sz="2600" b="1" dirty="0" err="1">
                <a:solidFill>
                  <a:schemeClr val="tx2"/>
                </a:solidFill>
              </a:rPr>
              <a:t>dampak</a:t>
            </a:r>
            <a:r>
              <a:rPr lang="en-US" sz="2600" b="1" dirty="0">
                <a:solidFill>
                  <a:schemeClr val="tx2"/>
                </a:solidFill>
              </a:rPr>
              <a:t> NPI </a:t>
            </a:r>
            <a:r>
              <a:rPr lang="en-US" sz="2600" b="1" dirty="0" err="1">
                <a:solidFill>
                  <a:schemeClr val="tx2"/>
                </a:solidFill>
              </a:rPr>
              <a:t>terbesar</a:t>
            </a:r>
            <a:r>
              <a:rPr lang="en-US" sz="2600" b="1" dirty="0">
                <a:solidFill>
                  <a:schemeClr val="tx2"/>
                </a:solidFill>
              </a:rPr>
              <a:t> </a:t>
            </a:r>
            <a:r>
              <a:rPr lang="en-US" sz="2600" b="1" dirty="0" err="1">
                <a:solidFill>
                  <a:schemeClr val="tx2"/>
                </a:solidFill>
              </a:rPr>
              <a:t>dalam</a:t>
            </a:r>
            <a:r>
              <a:rPr lang="en-US" sz="2600" b="1" dirty="0">
                <a:solidFill>
                  <a:schemeClr val="tx2"/>
                </a:solidFill>
              </a:rPr>
              <a:t> </a:t>
            </a:r>
            <a:r>
              <a:rPr lang="en-US" sz="2600" b="1" dirty="0" err="1">
                <a:solidFill>
                  <a:schemeClr val="tx2"/>
                </a:solidFill>
              </a:rPr>
              <a:t>simulasi</a:t>
            </a:r>
            <a:r>
              <a:rPr lang="id-ID" sz="2600" b="1" dirty="0">
                <a:solidFill>
                  <a:schemeClr val="tx2"/>
                </a:solidFill>
              </a:rPr>
              <a:t>:</a:t>
            </a:r>
            <a:r>
              <a:rPr lang="en-US" sz="2600" b="1" dirty="0">
                <a:solidFill>
                  <a:schemeClr val="tx2"/>
                </a:solidFill>
              </a:rPr>
              <a:t> </a:t>
            </a:r>
            <a:r>
              <a:rPr lang="id-ID" sz="2600" b="1" dirty="0">
                <a:solidFill>
                  <a:schemeClr val="tx2"/>
                </a:solidFill>
              </a:rPr>
              <a:t>Tagihan digital</a:t>
            </a:r>
            <a:r>
              <a:rPr lang="en-US" sz="2600" b="1" dirty="0">
                <a:solidFill>
                  <a:schemeClr val="tx2"/>
                </a:solidFill>
              </a:rPr>
              <a:t> dan </a:t>
            </a:r>
            <a:r>
              <a:rPr lang="en-US" sz="2600" b="1" dirty="0" err="1">
                <a:solidFill>
                  <a:schemeClr val="tx2"/>
                </a:solidFill>
              </a:rPr>
              <a:t>verifikasi</a:t>
            </a:r>
            <a:r>
              <a:rPr lang="en-US" sz="2600" b="1" dirty="0">
                <a:solidFill>
                  <a:schemeClr val="tx2"/>
                </a:solidFill>
              </a:rPr>
              <a:t> </a:t>
            </a:r>
            <a:r>
              <a:rPr lang="en-US" sz="2600" b="1" dirty="0" err="1">
                <a:solidFill>
                  <a:schemeClr val="tx2"/>
                </a:solidFill>
              </a:rPr>
              <a:t>kontak</a:t>
            </a:r>
            <a:r>
              <a:rPr lang="en-US" sz="2600" b="1" dirty="0">
                <a:solidFill>
                  <a:schemeClr val="tx2"/>
                </a:solidFill>
              </a:rPr>
              <a:t> </a:t>
            </a:r>
            <a:r>
              <a:rPr lang="en-US" sz="2600" b="1" dirty="0" err="1">
                <a:solidFill>
                  <a:schemeClr val="tx2"/>
                </a:solidFill>
              </a:rPr>
              <a:t>tetap</a:t>
            </a:r>
            <a:r>
              <a:rPr lang="en-US" sz="2600" b="1" dirty="0">
                <a:solidFill>
                  <a:schemeClr val="tx2"/>
                </a:solidFill>
              </a:rPr>
              <a:t> </a:t>
            </a:r>
            <a:r>
              <a:rPr lang="id-ID" sz="2600" b="1" dirty="0">
                <a:solidFill>
                  <a:schemeClr val="tx2"/>
                </a:solidFill>
              </a:rPr>
              <a:t>berguna</a:t>
            </a:r>
            <a:endParaRPr lang="en-US" sz="2600" dirty="0"/>
          </a:p>
        </p:txBody>
      </p:sp>
      <p:sp>
        <p:nvSpPr>
          <p:cNvPr id="5" name="intervensi Autodebit"/>
          <p:cNvSpPr/>
          <p:nvPr/>
        </p:nvSpPr>
        <p:spPr>
          <a:xfrm>
            <a:off x="548640" y="1600200"/>
            <a:ext cx="3547872" cy="3090672"/>
          </a:xfrm>
          <a:prstGeom prst="roundRect">
            <a:avLst>
              <a:gd name="adj" fmla="val 2062"/>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6" name="aksen"/>
          <p:cNvSpPr/>
          <p:nvPr/>
        </p:nvSpPr>
        <p:spPr>
          <a:xfrm>
            <a:off x="548640" y="1600200"/>
            <a:ext cx="3547872" cy="91440"/>
          </a:xfrm>
          <a:prstGeom prst="rect">
            <a:avLst/>
          </a:prstGeom>
          <a:solidFill>
            <a:schemeClr val="accent2"/>
          </a:solidFill>
          <a:ln/>
        </p:spPr>
        <p:txBody>
          <a:bodyPr/>
          <a:lstStyle/>
          <a:p>
            <a:endParaRPr lang="en-US"/>
          </a:p>
        </p:txBody>
      </p:sp>
      <p:sp>
        <p:nvSpPr>
          <p:cNvPr id="7" name="Text 5"/>
          <p:cNvSpPr txBox="1"/>
          <p:nvPr/>
        </p:nvSpPr>
        <p:spPr>
          <a:xfrm>
            <a:off x="777240" y="1783080"/>
            <a:ext cx="3108960" cy="365760"/>
          </a:xfrm>
          <a:prstGeom prst="rect">
            <a:avLst/>
          </a:prstGeom>
          <a:noFill/>
          <a:ln/>
        </p:spPr>
        <p:txBody>
          <a:bodyPr wrap="square" lIns="0" tIns="0" rIns="0" bIns="0" rtlCol="0" anchor="t"/>
          <a:lstStyle/>
          <a:p>
            <a:pPr marL="0" indent="0">
              <a:buNone/>
            </a:pPr>
            <a:r>
              <a:rPr lang="en-US" sz="1600" b="1" dirty="0">
                <a:solidFill>
                  <a:schemeClr val="tx2"/>
                </a:solidFill>
              </a:rPr>
              <a:t>Autodebit</a:t>
            </a:r>
            <a:endParaRPr lang="en-US" sz="1600" dirty="0"/>
          </a:p>
        </p:txBody>
      </p:sp>
      <p:sp>
        <p:nvSpPr>
          <p:cNvPr id="8" name="Text 6"/>
          <p:cNvSpPr txBox="1"/>
          <p:nvPr/>
        </p:nvSpPr>
        <p:spPr>
          <a:xfrm>
            <a:off x="777240" y="2212848"/>
            <a:ext cx="1188720" cy="457200"/>
          </a:xfrm>
          <a:prstGeom prst="rect">
            <a:avLst/>
          </a:prstGeom>
          <a:noFill/>
          <a:ln/>
        </p:spPr>
        <p:txBody>
          <a:bodyPr wrap="square" lIns="0" tIns="0" rIns="0" bIns="0" rtlCol="0" anchor="ctr"/>
          <a:lstStyle/>
          <a:p>
            <a:pPr marL="0" indent="0">
              <a:buNone/>
            </a:pPr>
            <a:r>
              <a:rPr lang="en-US" sz="1000" b="1" dirty="0">
                <a:solidFill>
                  <a:schemeClr val="accent6"/>
                </a:solidFill>
              </a:rPr>
              <a:t>Sasaran</a:t>
            </a:r>
            <a:endParaRPr lang="en-US" sz="1000" dirty="0"/>
          </a:p>
        </p:txBody>
      </p:sp>
      <p:sp>
        <p:nvSpPr>
          <p:cNvPr id="9" name="Text 7"/>
          <p:cNvSpPr txBox="1"/>
          <p:nvPr/>
        </p:nvSpPr>
        <p:spPr>
          <a:xfrm>
            <a:off x="2011680" y="2212848"/>
            <a:ext cx="1920240" cy="457200"/>
          </a:xfrm>
          <a:prstGeom prst="rect">
            <a:avLst/>
          </a:prstGeom>
          <a:noFill/>
          <a:ln/>
        </p:spPr>
        <p:txBody>
          <a:bodyPr wrap="square" lIns="0" tIns="0" rIns="0" bIns="0" rtlCol="0" anchor="ctr">
            <a:normAutofit/>
          </a:bodyPr>
          <a:lstStyle/>
          <a:p>
            <a:r>
              <a:rPr lang="en-US" sz="1100" dirty="0">
                <a:solidFill>
                  <a:schemeClr val="tx1"/>
                </a:solidFill>
              </a:rPr>
              <a:t>25% unit </a:t>
            </a:r>
            <a:r>
              <a:rPr lang="en-US" sz="1100" dirty="0" err="1"/>
              <a:t>belum</a:t>
            </a:r>
            <a:r>
              <a:rPr lang="en-US" sz="1100" dirty="0"/>
              <a:t> </a:t>
            </a:r>
            <a:r>
              <a:rPr lang="en-US" sz="1100" dirty="0" err="1"/>
              <a:t>autodebit</a:t>
            </a:r>
            <a:r>
              <a:rPr lang="en-US" sz="1100" dirty="0"/>
              <a:t> </a:t>
            </a:r>
            <a:r>
              <a:rPr lang="en-US" sz="1100" dirty="0">
                <a:solidFill>
                  <a:schemeClr val="tx1"/>
                </a:solidFill>
              </a:rPr>
              <a:t>beralih (sasaran 21.119 invoice/bulan)</a:t>
            </a:r>
            <a:endParaRPr lang="en-US" sz="1100" dirty="0"/>
          </a:p>
        </p:txBody>
      </p:sp>
      <p:sp>
        <p:nvSpPr>
          <p:cNvPr id="10" name="Text 8"/>
          <p:cNvSpPr txBox="1"/>
          <p:nvPr/>
        </p:nvSpPr>
        <p:spPr>
          <a:xfrm>
            <a:off x="777240" y="2697480"/>
            <a:ext cx="1188720" cy="457200"/>
          </a:xfrm>
          <a:prstGeom prst="rect">
            <a:avLst/>
          </a:prstGeom>
          <a:noFill/>
          <a:ln/>
        </p:spPr>
        <p:txBody>
          <a:bodyPr wrap="square" lIns="0" tIns="0" rIns="0" bIns="0" rtlCol="0" anchor="ctr"/>
          <a:lstStyle/>
          <a:p>
            <a:pPr marL="0" indent="0">
              <a:buNone/>
            </a:pPr>
            <a:r>
              <a:rPr lang="en-US" sz="1000" b="1" dirty="0">
                <a:solidFill>
                  <a:schemeClr val="accent6"/>
                </a:solidFill>
              </a:rPr>
              <a:t>Efek awal → terkendali (poin)</a:t>
            </a:r>
            <a:endParaRPr lang="en-US" sz="1000" dirty="0"/>
          </a:p>
        </p:txBody>
      </p:sp>
      <p:sp>
        <p:nvSpPr>
          <p:cNvPr id="11" name="Text 9"/>
          <p:cNvSpPr txBox="1"/>
          <p:nvPr/>
        </p:nvSpPr>
        <p:spPr>
          <a:xfrm>
            <a:off x="2011680" y="2697480"/>
            <a:ext cx="1920240" cy="457200"/>
          </a:xfrm>
          <a:prstGeom prst="rect">
            <a:avLst/>
          </a:prstGeom>
          <a:noFill/>
          <a:ln/>
        </p:spPr>
        <p:txBody>
          <a:bodyPr wrap="square" lIns="0" tIns="0" rIns="0" bIns="0" rtlCol="0" anchor="ctr">
            <a:normAutofit/>
          </a:bodyPr>
          <a:lstStyle/>
          <a:p>
            <a:pPr marL="0" indent="0">
              <a:buNone/>
            </a:pPr>
            <a:r>
              <a:rPr lang="en-US" sz="1100" dirty="0">
                <a:solidFill>
                  <a:schemeClr val="tx1"/>
                </a:solidFill>
              </a:rPr>
              <a:t>29,78 → 26,59</a:t>
            </a:r>
            <a:endParaRPr lang="en-US" sz="1100" dirty="0"/>
          </a:p>
        </p:txBody>
      </p:sp>
      <p:sp>
        <p:nvSpPr>
          <p:cNvPr id="12" name="Text 10"/>
          <p:cNvSpPr txBox="1"/>
          <p:nvPr/>
        </p:nvSpPr>
        <p:spPr>
          <a:xfrm>
            <a:off x="777240" y="3182112"/>
            <a:ext cx="1188720" cy="457200"/>
          </a:xfrm>
          <a:prstGeom prst="rect">
            <a:avLst/>
          </a:prstGeom>
          <a:noFill/>
          <a:ln/>
        </p:spPr>
        <p:txBody>
          <a:bodyPr wrap="square" lIns="0" tIns="0" rIns="0" bIns="0" rtlCol="0" anchor="ctr"/>
          <a:lstStyle/>
          <a:p>
            <a:pPr marL="0" indent="0">
              <a:buNone/>
            </a:pPr>
            <a:r>
              <a:rPr lang="en-US" sz="1000" b="1" dirty="0">
                <a:solidFill>
                  <a:schemeClr val="accent6"/>
                </a:solidFill>
              </a:rPr>
              <a:t>Perubahan NPI simulasi</a:t>
            </a:r>
            <a:endParaRPr lang="en-US" sz="1000" dirty="0"/>
          </a:p>
        </p:txBody>
      </p:sp>
      <p:sp>
        <p:nvSpPr>
          <p:cNvPr id="13" name="Text 11"/>
          <p:cNvSpPr txBox="1"/>
          <p:nvPr/>
        </p:nvSpPr>
        <p:spPr>
          <a:xfrm>
            <a:off x="2011680" y="3182112"/>
            <a:ext cx="1920240" cy="457200"/>
          </a:xfrm>
          <a:prstGeom prst="rect">
            <a:avLst/>
          </a:prstGeom>
          <a:noFill/>
          <a:ln/>
        </p:spPr>
        <p:txBody>
          <a:bodyPr wrap="square" lIns="0" tIns="0" rIns="0" bIns="0" rtlCol="0" anchor="ctr">
            <a:normAutofit/>
          </a:bodyPr>
          <a:lstStyle/>
          <a:p>
            <a:pPr marL="0" indent="0">
              <a:buNone/>
            </a:pPr>
            <a:r>
              <a:rPr lang="en-US" sz="1300" b="1" dirty="0">
                <a:solidFill>
                  <a:schemeClr val="accent3"/>
                </a:solidFill>
              </a:rPr>
              <a:t>−2,46 poin</a:t>
            </a:r>
            <a:endParaRPr lang="en-US" sz="1300" dirty="0"/>
          </a:p>
        </p:txBody>
      </p:sp>
      <p:sp>
        <p:nvSpPr>
          <p:cNvPr id="14" name="Text 12"/>
          <p:cNvSpPr txBox="1"/>
          <p:nvPr/>
        </p:nvSpPr>
        <p:spPr>
          <a:xfrm>
            <a:off x="777240" y="3666744"/>
            <a:ext cx="1188720" cy="457200"/>
          </a:xfrm>
          <a:prstGeom prst="rect">
            <a:avLst/>
          </a:prstGeom>
          <a:noFill/>
          <a:ln/>
        </p:spPr>
        <p:txBody>
          <a:bodyPr wrap="square" lIns="0" tIns="0" rIns="0" bIns="0" rtlCol="0" anchor="ctr"/>
          <a:lstStyle/>
          <a:p>
            <a:pPr marL="0" indent="0">
              <a:buNone/>
            </a:pPr>
            <a:r>
              <a:rPr lang="en-US" sz="1000" b="1" dirty="0">
                <a:solidFill>
                  <a:schemeClr val="accent6"/>
                </a:solidFill>
              </a:rPr>
              <a:t>NPI baru dicegah/bulan</a:t>
            </a:r>
            <a:endParaRPr lang="en-US" sz="1000" dirty="0"/>
          </a:p>
        </p:txBody>
      </p:sp>
      <p:sp>
        <p:nvSpPr>
          <p:cNvPr id="15" name="Text 13"/>
          <p:cNvSpPr txBox="1"/>
          <p:nvPr/>
        </p:nvSpPr>
        <p:spPr>
          <a:xfrm>
            <a:off x="2011680" y="3666744"/>
            <a:ext cx="1920240" cy="457200"/>
          </a:xfrm>
          <a:prstGeom prst="rect">
            <a:avLst/>
          </a:prstGeom>
          <a:noFill/>
          <a:ln/>
        </p:spPr>
        <p:txBody>
          <a:bodyPr wrap="square" lIns="0" tIns="0" rIns="0" bIns="0" rtlCol="0" anchor="ctr">
            <a:normAutofit/>
          </a:bodyPr>
          <a:lstStyle/>
          <a:p>
            <a:pPr marL="0" indent="0">
              <a:buNone/>
            </a:pPr>
            <a:r>
              <a:rPr lang="en-US" sz="1300" b="1" dirty="0">
                <a:solidFill>
                  <a:schemeClr val="tx1"/>
                </a:solidFill>
              </a:rPr>
              <a:t>± Rp462 juta</a:t>
            </a:r>
            <a:endParaRPr lang="en-US" sz="1300" dirty="0"/>
          </a:p>
        </p:txBody>
      </p:sp>
      <p:sp>
        <p:nvSpPr>
          <p:cNvPr id="16" name="Text 14"/>
          <p:cNvSpPr txBox="1"/>
          <p:nvPr/>
        </p:nvSpPr>
        <p:spPr>
          <a:xfrm>
            <a:off x="777240" y="4151376"/>
            <a:ext cx="1188720" cy="457200"/>
          </a:xfrm>
          <a:prstGeom prst="rect">
            <a:avLst/>
          </a:prstGeom>
          <a:noFill/>
          <a:ln/>
        </p:spPr>
        <p:txBody>
          <a:bodyPr wrap="square" lIns="0" tIns="0" rIns="0" bIns="0" rtlCol="0" anchor="ctr"/>
          <a:lstStyle/>
          <a:p>
            <a:pPr marL="0" indent="0">
              <a:buNone/>
            </a:pPr>
            <a:r>
              <a:rPr lang="en-US" sz="1000" b="1" dirty="0">
                <a:solidFill>
                  <a:schemeClr val="accent6"/>
                </a:solidFill>
              </a:rPr>
              <a:t>Manfaat tambahan</a:t>
            </a:r>
            <a:endParaRPr lang="en-US" sz="1000" dirty="0"/>
          </a:p>
        </p:txBody>
      </p:sp>
      <p:sp>
        <p:nvSpPr>
          <p:cNvPr id="17" name="Text 15"/>
          <p:cNvSpPr txBox="1"/>
          <p:nvPr/>
        </p:nvSpPr>
        <p:spPr>
          <a:xfrm>
            <a:off x="2011680" y="4151376"/>
            <a:ext cx="1920240" cy="457200"/>
          </a:xfrm>
          <a:prstGeom prst="rect">
            <a:avLst/>
          </a:prstGeom>
          <a:noFill/>
          <a:ln/>
        </p:spPr>
        <p:txBody>
          <a:bodyPr wrap="square" lIns="0" tIns="0" rIns="0" bIns="0" rtlCol="0" anchor="ctr">
            <a:normAutofit/>
          </a:bodyPr>
          <a:lstStyle/>
          <a:p>
            <a:pPr marL="0" indent="0">
              <a:buNone/>
            </a:pPr>
            <a:r>
              <a:rPr lang="en-US" sz="1100" dirty="0">
                <a:solidFill>
                  <a:schemeClr val="tx1"/>
                </a:solidFill>
              </a:rPr>
              <a:t>Pembayaran otomatis tepat waktu</a:t>
            </a:r>
            <a:endParaRPr lang="en-US" sz="1100" dirty="0"/>
          </a:p>
        </p:txBody>
      </p:sp>
      <p:sp>
        <p:nvSpPr>
          <p:cNvPr id="20" name="intervensi Portal (ganti cetak fisik)"/>
          <p:cNvSpPr/>
          <p:nvPr/>
        </p:nvSpPr>
        <p:spPr>
          <a:xfrm>
            <a:off x="4297680" y="1600200"/>
            <a:ext cx="3547872" cy="3090672"/>
          </a:xfrm>
          <a:prstGeom prst="roundRect">
            <a:avLst>
              <a:gd name="adj" fmla="val 2062"/>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21" name="aksen"/>
          <p:cNvSpPr/>
          <p:nvPr/>
        </p:nvSpPr>
        <p:spPr>
          <a:xfrm>
            <a:off x="4297680" y="1600200"/>
            <a:ext cx="3547872" cy="91440"/>
          </a:xfrm>
          <a:prstGeom prst="rect">
            <a:avLst/>
          </a:prstGeom>
          <a:solidFill>
            <a:schemeClr val="tx2"/>
          </a:solidFill>
          <a:ln/>
        </p:spPr>
        <p:txBody>
          <a:bodyPr/>
          <a:lstStyle/>
          <a:p>
            <a:endParaRPr lang="en-US"/>
          </a:p>
        </p:txBody>
      </p:sp>
      <p:sp>
        <p:nvSpPr>
          <p:cNvPr id="22" name="Text 20"/>
          <p:cNvSpPr txBox="1"/>
          <p:nvPr/>
        </p:nvSpPr>
        <p:spPr>
          <a:xfrm>
            <a:off x="4526280" y="1783080"/>
            <a:ext cx="3108960" cy="365760"/>
          </a:xfrm>
          <a:prstGeom prst="rect">
            <a:avLst/>
          </a:prstGeom>
          <a:noFill/>
          <a:ln/>
        </p:spPr>
        <p:txBody>
          <a:bodyPr wrap="square" lIns="0" tIns="0" rIns="0" bIns="0" rtlCol="0" anchor="t"/>
          <a:lstStyle/>
          <a:p>
            <a:pPr marL="0" indent="0">
              <a:buNone/>
            </a:pPr>
            <a:r>
              <a:rPr lang="en-US" sz="1600" b="1" dirty="0">
                <a:solidFill>
                  <a:schemeClr val="tx2"/>
                </a:solidFill>
              </a:rPr>
              <a:t>Portal (ganti cetak fisik)</a:t>
            </a:r>
            <a:endParaRPr lang="en-US" sz="1600" dirty="0"/>
          </a:p>
        </p:txBody>
      </p:sp>
      <p:sp>
        <p:nvSpPr>
          <p:cNvPr id="23" name="Text 21"/>
          <p:cNvSpPr txBox="1"/>
          <p:nvPr/>
        </p:nvSpPr>
        <p:spPr>
          <a:xfrm>
            <a:off x="4526280" y="2212848"/>
            <a:ext cx="1188720" cy="457200"/>
          </a:xfrm>
          <a:prstGeom prst="rect">
            <a:avLst/>
          </a:prstGeom>
          <a:noFill/>
          <a:ln/>
        </p:spPr>
        <p:txBody>
          <a:bodyPr wrap="square" lIns="0" tIns="0" rIns="0" bIns="0" rtlCol="0" anchor="ctr"/>
          <a:lstStyle/>
          <a:p>
            <a:pPr marL="0" indent="0">
              <a:buNone/>
            </a:pPr>
            <a:r>
              <a:rPr lang="en-US" sz="1000" b="1" dirty="0">
                <a:solidFill>
                  <a:schemeClr val="accent6"/>
                </a:solidFill>
              </a:rPr>
              <a:t>Sasaran</a:t>
            </a:r>
            <a:endParaRPr lang="en-US" sz="1000" dirty="0"/>
          </a:p>
        </p:txBody>
      </p:sp>
      <p:sp>
        <p:nvSpPr>
          <p:cNvPr id="24" name="Text 22"/>
          <p:cNvSpPr txBox="1"/>
          <p:nvPr/>
        </p:nvSpPr>
        <p:spPr>
          <a:xfrm>
            <a:off x="5760720" y="2212848"/>
            <a:ext cx="1920240" cy="457200"/>
          </a:xfrm>
          <a:prstGeom prst="rect">
            <a:avLst/>
          </a:prstGeom>
          <a:noFill/>
          <a:ln/>
        </p:spPr>
        <p:txBody>
          <a:bodyPr wrap="square" lIns="0" tIns="0" rIns="0" bIns="0" rtlCol="0" anchor="ctr">
            <a:normAutofit lnSpcReduction="10000"/>
          </a:bodyPr>
          <a:lstStyle/>
          <a:p>
            <a:pPr marL="0" indent="0">
              <a:buNone/>
            </a:pPr>
            <a:r>
              <a:rPr lang="en-US" sz="1100" dirty="0">
                <a:solidFill>
                  <a:schemeClr val="tx1"/>
                </a:solidFill>
              </a:rPr>
              <a:t>50% tagihan cetak fisik pindah ke portal (sasaran 7.505 invoice/bulan)</a:t>
            </a:r>
            <a:endParaRPr lang="en-US" sz="1100" dirty="0"/>
          </a:p>
        </p:txBody>
      </p:sp>
      <p:sp>
        <p:nvSpPr>
          <p:cNvPr id="25" name="Text 23"/>
          <p:cNvSpPr txBox="1"/>
          <p:nvPr/>
        </p:nvSpPr>
        <p:spPr>
          <a:xfrm>
            <a:off x="4526280" y="2697480"/>
            <a:ext cx="1188720" cy="457200"/>
          </a:xfrm>
          <a:prstGeom prst="rect">
            <a:avLst/>
          </a:prstGeom>
          <a:noFill/>
          <a:ln/>
        </p:spPr>
        <p:txBody>
          <a:bodyPr wrap="square" lIns="0" tIns="0" rIns="0" bIns="0" rtlCol="0" anchor="ctr"/>
          <a:lstStyle/>
          <a:p>
            <a:pPr marL="0" indent="0">
              <a:buNone/>
            </a:pPr>
            <a:r>
              <a:rPr lang="en-US" sz="1000" b="1" dirty="0">
                <a:solidFill>
                  <a:schemeClr val="accent6"/>
                </a:solidFill>
              </a:rPr>
              <a:t>Efek awal → terkendali (poin)</a:t>
            </a:r>
            <a:endParaRPr lang="en-US" sz="1000" dirty="0"/>
          </a:p>
        </p:txBody>
      </p:sp>
      <p:sp>
        <p:nvSpPr>
          <p:cNvPr id="26" name="Text 24"/>
          <p:cNvSpPr txBox="1"/>
          <p:nvPr/>
        </p:nvSpPr>
        <p:spPr>
          <a:xfrm>
            <a:off x="5760720" y="2697480"/>
            <a:ext cx="1920240" cy="457200"/>
          </a:xfrm>
          <a:prstGeom prst="rect">
            <a:avLst/>
          </a:prstGeom>
          <a:noFill/>
          <a:ln/>
        </p:spPr>
        <p:txBody>
          <a:bodyPr wrap="square" lIns="0" tIns="0" rIns="0" bIns="0" rtlCol="0" anchor="ctr">
            <a:normAutofit/>
          </a:bodyPr>
          <a:lstStyle/>
          <a:p>
            <a:pPr marL="0" indent="0">
              <a:buNone/>
            </a:pPr>
            <a:r>
              <a:rPr lang="en-US" sz="1100" dirty="0">
                <a:solidFill>
                  <a:schemeClr val="tx1"/>
                </a:solidFill>
              </a:rPr>
              <a:t>7,26 → 0,00</a:t>
            </a:r>
            <a:endParaRPr lang="en-US" sz="1100" dirty="0"/>
          </a:p>
        </p:txBody>
      </p:sp>
      <p:sp>
        <p:nvSpPr>
          <p:cNvPr id="27" name="Text 25"/>
          <p:cNvSpPr txBox="1"/>
          <p:nvPr/>
        </p:nvSpPr>
        <p:spPr>
          <a:xfrm>
            <a:off x="4526280" y="3182112"/>
            <a:ext cx="1188720" cy="457200"/>
          </a:xfrm>
          <a:prstGeom prst="rect">
            <a:avLst/>
          </a:prstGeom>
          <a:noFill/>
          <a:ln/>
        </p:spPr>
        <p:txBody>
          <a:bodyPr wrap="square" lIns="0" tIns="0" rIns="0" bIns="0" rtlCol="0" anchor="ctr"/>
          <a:lstStyle/>
          <a:p>
            <a:pPr marL="0" indent="0">
              <a:buNone/>
            </a:pPr>
            <a:r>
              <a:rPr lang="en-US" sz="1000" b="1" dirty="0">
                <a:solidFill>
                  <a:schemeClr val="accent6"/>
                </a:solidFill>
              </a:rPr>
              <a:t>Perubahan NPI simulasi</a:t>
            </a:r>
            <a:endParaRPr lang="en-US" sz="1000" dirty="0"/>
          </a:p>
        </p:txBody>
      </p:sp>
      <p:sp>
        <p:nvSpPr>
          <p:cNvPr id="28" name="Text 26"/>
          <p:cNvSpPr txBox="1"/>
          <p:nvPr/>
        </p:nvSpPr>
        <p:spPr>
          <a:xfrm>
            <a:off x="5760720" y="3182112"/>
            <a:ext cx="1920240" cy="457200"/>
          </a:xfrm>
          <a:prstGeom prst="rect">
            <a:avLst/>
          </a:prstGeom>
          <a:noFill/>
          <a:ln/>
        </p:spPr>
        <p:txBody>
          <a:bodyPr wrap="square" lIns="0" tIns="0" rIns="0" bIns="0" rtlCol="0" anchor="ctr">
            <a:normAutofit/>
          </a:bodyPr>
          <a:lstStyle/>
          <a:p>
            <a:pPr marL="0" indent="0">
              <a:buNone/>
            </a:pPr>
            <a:r>
              <a:rPr lang="en-US" sz="1300" b="1" dirty="0">
                <a:solidFill>
                  <a:schemeClr val="tx1"/>
                </a:solidFill>
              </a:rPr>
              <a:t>−0,00 poin</a:t>
            </a:r>
            <a:endParaRPr lang="en-US" sz="1300" dirty="0"/>
          </a:p>
        </p:txBody>
      </p:sp>
      <p:sp>
        <p:nvSpPr>
          <p:cNvPr id="29" name="Text 27"/>
          <p:cNvSpPr txBox="1"/>
          <p:nvPr/>
        </p:nvSpPr>
        <p:spPr>
          <a:xfrm>
            <a:off x="4526280" y="3666744"/>
            <a:ext cx="1188720" cy="457200"/>
          </a:xfrm>
          <a:prstGeom prst="rect">
            <a:avLst/>
          </a:prstGeom>
          <a:noFill/>
          <a:ln/>
        </p:spPr>
        <p:txBody>
          <a:bodyPr wrap="square" lIns="0" tIns="0" rIns="0" bIns="0" rtlCol="0" anchor="ctr"/>
          <a:lstStyle/>
          <a:p>
            <a:pPr marL="0" indent="0">
              <a:buNone/>
            </a:pPr>
            <a:r>
              <a:rPr lang="en-US" sz="1000" b="1" dirty="0">
                <a:solidFill>
                  <a:schemeClr val="accent6"/>
                </a:solidFill>
              </a:rPr>
              <a:t>NPI baru dicegah/bulan</a:t>
            </a:r>
            <a:endParaRPr lang="en-US" sz="1000" dirty="0"/>
          </a:p>
        </p:txBody>
      </p:sp>
      <p:sp>
        <p:nvSpPr>
          <p:cNvPr id="30" name="Text 28"/>
          <p:cNvSpPr txBox="1"/>
          <p:nvPr/>
        </p:nvSpPr>
        <p:spPr>
          <a:xfrm>
            <a:off x="5760720" y="3666744"/>
            <a:ext cx="1920240" cy="457200"/>
          </a:xfrm>
          <a:prstGeom prst="rect">
            <a:avLst/>
          </a:prstGeom>
          <a:noFill/>
          <a:ln/>
        </p:spPr>
        <p:txBody>
          <a:bodyPr wrap="square" lIns="0" tIns="0" rIns="0" bIns="0" rtlCol="0" anchor="ctr">
            <a:normAutofit/>
          </a:bodyPr>
          <a:lstStyle/>
          <a:p>
            <a:pPr marL="0" indent="0">
              <a:buNone/>
            </a:pPr>
            <a:r>
              <a:rPr lang="en-US" sz="1300" b="1" dirty="0">
                <a:solidFill>
                  <a:schemeClr val="tx1"/>
                </a:solidFill>
              </a:rPr>
              <a:t>Rp0</a:t>
            </a:r>
            <a:endParaRPr lang="en-US" sz="1300" dirty="0"/>
          </a:p>
        </p:txBody>
      </p:sp>
      <p:sp>
        <p:nvSpPr>
          <p:cNvPr id="31" name="Text 29"/>
          <p:cNvSpPr txBox="1"/>
          <p:nvPr/>
        </p:nvSpPr>
        <p:spPr>
          <a:xfrm>
            <a:off x="4526280" y="4151376"/>
            <a:ext cx="1188720" cy="457200"/>
          </a:xfrm>
          <a:prstGeom prst="rect">
            <a:avLst/>
          </a:prstGeom>
          <a:noFill/>
          <a:ln/>
        </p:spPr>
        <p:txBody>
          <a:bodyPr wrap="square" lIns="0" tIns="0" rIns="0" bIns="0" rtlCol="0" anchor="ctr"/>
          <a:lstStyle/>
          <a:p>
            <a:pPr marL="0" indent="0">
              <a:buNone/>
            </a:pPr>
            <a:r>
              <a:rPr lang="en-US" sz="1000" b="1" dirty="0">
                <a:solidFill>
                  <a:schemeClr val="accent6"/>
                </a:solidFill>
              </a:rPr>
              <a:t>Manfaat tambahan</a:t>
            </a:r>
            <a:endParaRPr lang="en-US" sz="1000" dirty="0"/>
          </a:p>
        </p:txBody>
      </p:sp>
      <p:sp>
        <p:nvSpPr>
          <p:cNvPr id="32" name="Text 30"/>
          <p:cNvSpPr txBox="1"/>
          <p:nvPr/>
        </p:nvSpPr>
        <p:spPr>
          <a:xfrm>
            <a:off x="5760720" y="4151376"/>
            <a:ext cx="1920240" cy="457200"/>
          </a:xfrm>
          <a:prstGeom prst="rect">
            <a:avLst/>
          </a:prstGeom>
          <a:noFill/>
          <a:ln/>
        </p:spPr>
        <p:txBody>
          <a:bodyPr wrap="square" lIns="0" tIns="0" rIns="0" bIns="0" rtlCol="0" anchor="ctr">
            <a:normAutofit/>
          </a:bodyPr>
          <a:lstStyle/>
          <a:p>
            <a:pPr marL="0" indent="0">
              <a:buNone/>
            </a:pPr>
            <a:r>
              <a:rPr lang="en-US" sz="1100" dirty="0">
                <a:solidFill>
                  <a:schemeClr val="tx1"/>
                </a:solidFill>
              </a:rPr>
              <a:t>Hemat biaya cetak &amp; antar</a:t>
            </a:r>
            <a:endParaRPr lang="en-US" sz="1100" dirty="0"/>
          </a:p>
        </p:txBody>
      </p:sp>
      <p:sp>
        <p:nvSpPr>
          <p:cNvPr id="35" name="intervensi Verifikasi kontak"/>
          <p:cNvSpPr/>
          <p:nvPr/>
        </p:nvSpPr>
        <p:spPr>
          <a:xfrm>
            <a:off x="8046720" y="1600200"/>
            <a:ext cx="3547872" cy="3090672"/>
          </a:xfrm>
          <a:prstGeom prst="roundRect">
            <a:avLst>
              <a:gd name="adj" fmla="val 2062"/>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36" name="aksen"/>
          <p:cNvSpPr/>
          <p:nvPr/>
        </p:nvSpPr>
        <p:spPr>
          <a:xfrm>
            <a:off x="8046720" y="1600200"/>
            <a:ext cx="3547872" cy="91440"/>
          </a:xfrm>
          <a:prstGeom prst="rect">
            <a:avLst/>
          </a:prstGeom>
          <a:solidFill>
            <a:schemeClr val="tx2"/>
          </a:solidFill>
          <a:ln/>
        </p:spPr>
        <p:txBody>
          <a:bodyPr/>
          <a:lstStyle/>
          <a:p>
            <a:endParaRPr lang="en-US"/>
          </a:p>
        </p:txBody>
      </p:sp>
      <p:sp>
        <p:nvSpPr>
          <p:cNvPr id="37" name="Text 35"/>
          <p:cNvSpPr txBox="1"/>
          <p:nvPr/>
        </p:nvSpPr>
        <p:spPr>
          <a:xfrm>
            <a:off x="8275320" y="1783080"/>
            <a:ext cx="3108960" cy="365760"/>
          </a:xfrm>
          <a:prstGeom prst="rect">
            <a:avLst/>
          </a:prstGeom>
          <a:noFill/>
          <a:ln/>
        </p:spPr>
        <p:txBody>
          <a:bodyPr wrap="square" lIns="0" tIns="0" rIns="0" bIns="0" rtlCol="0" anchor="t"/>
          <a:lstStyle/>
          <a:p>
            <a:pPr marL="0" indent="0">
              <a:buNone/>
            </a:pPr>
            <a:r>
              <a:rPr lang="en-US" sz="1600" b="1" dirty="0">
                <a:solidFill>
                  <a:schemeClr val="tx2"/>
                </a:solidFill>
              </a:rPr>
              <a:t>Verifikasi kontak</a:t>
            </a:r>
            <a:endParaRPr lang="en-US" sz="1600" dirty="0"/>
          </a:p>
        </p:txBody>
      </p:sp>
      <p:sp>
        <p:nvSpPr>
          <p:cNvPr id="38" name="Text 36"/>
          <p:cNvSpPr txBox="1"/>
          <p:nvPr/>
        </p:nvSpPr>
        <p:spPr>
          <a:xfrm>
            <a:off x="8275320" y="2212848"/>
            <a:ext cx="1188720" cy="457200"/>
          </a:xfrm>
          <a:prstGeom prst="rect">
            <a:avLst/>
          </a:prstGeom>
          <a:noFill/>
          <a:ln/>
        </p:spPr>
        <p:txBody>
          <a:bodyPr wrap="square" lIns="0" tIns="0" rIns="0" bIns="0" rtlCol="0" anchor="ctr"/>
          <a:lstStyle/>
          <a:p>
            <a:pPr marL="0" indent="0">
              <a:buNone/>
            </a:pPr>
            <a:r>
              <a:rPr lang="en-US" sz="1000" b="1" dirty="0">
                <a:solidFill>
                  <a:schemeClr val="accent6"/>
                </a:solidFill>
              </a:rPr>
              <a:t>Sasaran</a:t>
            </a:r>
            <a:endParaRPr lang="en-US" sz="1000" dirty="0"/>
          </a:p>
        </p:txBody>
      </p:sp>
      <p:sp>
        <p:nvSpPr>
          <p:cNvPr id="39" name="Text 37"/>
          <p:cNvSpPr txBox="1"/>
          <p:nvPr/>
        </p:nvSpPr>
        <p:spPr>
          <a:xfrm>
            <a:off x="9509760" y="2212848"/>
            <a:ext cx="1920240" cy="457200"/>
          </a:xfrm>
          <a:prstGeom prst="rect">
            <a:avLst/>
          </a:prstGeom>
          <a:noFill/>
          <a:ln/>
        </p:spPr>
        <p:txBody>
          <a:bodyPr wrap="square" lIns="0" tIns="0" rIns="0" bIns="0" rtlCol="0" anchor="ctr">
            <a:normAutofit fontScale="92500"/>
          </a:bodyPr>
          <a:lstStyle/>
          <a:p>
            <a:pPr marL="0" indent="0">
              <a:buNone/>
            </a:pPr>
            <a:r>
              <a:rPr lang="en-US" sz="1100" dirty="0">
                <a:solidFill>
                  <a:schemeClr val="tx1"/>
                </a:solidFill>
              </a:rPr>
              <a:t>50% invoice dari unit dengan kontak kosong/belum terverifikasi (sasaran 8.867 invoice/bulan)</a:t>
            </a:r>
            <a:endParaRPr lang="en-US" sz="1100" dirty="0"/>
          </a:p>
        </p:txBody>
      </p:sp>
      <p:sp>
        <p:nvSpPr>
          <p:cNvPr id="40" name="Text 38"/>
          <p:cNvSpPr txBox="1"/>
          <p:nvPr/>
        </p:nvSpPr>
        <p:spPr>
          <a:xfrm>
            <a:off x="8275320" y="2697480"/>
            <a:ext cx="1188720" cy="457200"/>
          </a:xfrm>
          <a:prstGeom prst="rect">
            <a:avLst/>
          </a:prstGeom>
          <a:noFill/>
          <a:ln/>
        </p:spPr>
        <p:txBody>
          <a:bodyPr wrap="square" lIns="0" tIns="0" rIns="0" bIns="0" rtlCol="0" anchor="ctr"/>
          <a:lstStyle/>
          <a:p>
            <a:pPr marL="0" indent="0">
              <a:buNone/>
            </a:pPr>
            <a:r>
              <a:rPr lang="en-US" sz="1000" b="1" dirty="0">
                <a:solidFill>
                  <a:schemeClr val="accent6"/>
                </a:solidFill>
              </a:rPr>
              <a:t>Efek awal → terkendali (poin)</a:t>
            </a:r>
            <a:endParaRPr lang="en-US" sz="1000" dirty="0"/>
          </a:p>
        </p:txBody>
      </p:sp>
      <p:sp>
        <p:nvSpPr>
          <p:cNvPr id="41" name="Text 39"/>
          <p:cNvSpPr txBox="1"/>
          <p:nvPr/>
        </p:nvSpPr>
        <p:spPr>
          <a:xfrm>
            <a:off x="9509760" y="2697480"/>
            <a:ext cx="1920240" cy="457200"/>
          </a:xfrm>
          <a:prstGeom prst="rect">
            <a:avLst/>
          </a:prstGeom>
          <a:noFill/>
          <a:ln/>
        </p:spPr>
        <p:txBody>
          <a:bodyPr wrap="square" lIns="0" tIns="0" rIns="0" bIns="0" rtlCol="0" anchor="ctr">
            <a:normAutofit/>
          </a:bodyPr>
          <a:lstStyle/>
          <a:p>
            <a:pPr marL="0" indent="0">
              <a:buNone/>
            </a:pPr>
            <a:r>
              <a:rPr lang="en-US" sz="1100" dirty="0">
                <a:solidFill>
                  <a:schemeClr val="tx1"/>
                </a:solidFill>
              </a:rPr>
              <a:t>10,05 → 0,24</a:t>
            </a:r>
            <a:endParaRPr lang="en-US" sz="1100" dirty="0"/>
          </a:p>
        </p:txBody>
      </p:sp>
      <p:sp>
        <p:nvSpPr>
          <p:cNvPr id="42" name="Text 40"/>
          <p:cNvSpPr txBox="1"/>
          <p:nvPr/>
        </p:nvSpPr>
        <p:spPr>
          <a:xfrm>
            <a:off x="8275320" y="3182112"/>
            <a:ext cx="1188720" cy="457200"/>
          </a:xfrm>
          <a:prstGeom prst="rect">
            <a:avLst/>
          </a:prstGeom>
          <a:noFill/>
          <a:ln/>
        </p:spPr>
        <p:txBody>
          <a:bodyPr wrap="square" lIns="0" tIns="0" rIns="0" bIns="0" rtlCol="0" anchor="ctr"/>
          <a:lstStyle/>
          <a:p>
            <a:pPr marL="0" indent="0">
              <a:buNone/>
            </a:pPr>
            <a:r>
              <a:rPr lang="en-US" sz="1000" b="1" dirty="0">
                <a:solidFill>
                  <a:schemeClr val="accent6"/>
                </a:solidFill>
              </a:rPr>
              <a:t>Perubahan NPI simulasi</a:t>
            </a:r>
            <a:endParaRPr lang="en-US" sz="1000" dirty="0"/>
          </a:p>
        </p:txBody>
      </p:sp>
      <p:sp>
        <p:nvSpPr>
          <p:cNvPr id="43" name="Text 41"/>
          <p:cNvSpPr txBox="1"/>
          <p:nvPr/>
        </p:nvSpPr>
        <p:spPr>
          <a:xfrm>
            <a:off x="9509760" y="3182112"/>
            <a:ext cx="1920240" cy="457200"/>
          </a:xfrm>
          <a:prstGeom prst="rect">
            <a:avLst/>
          </a:prstGeom>
          <a:noFill/>
          <a:ln/>
        </p:spPr>
        <p:txBody>
          <a:bodyPr wrap="square" lIns="0" tIns="0" rIns="0" bIns="0" rtlCol="0" anchor="ctr">
            <a:normAutofit/>
          </a:bodyPr>
          <a:lstStyle/>
          <a:p>
            <a:pPr marL="0" indent="0">
              <a:buNone/>
            </a:pPr>
            <a:r>
              <a:rPr lang="en-US" sz="1300" b="1" dirty="0">
                <a:solidFill>
                  <a:schemeClr val="tx1"/>
                </a:solidFill>
              </a:rPr>
              <a:t>−0,02 poin</a:t>
            </a:r>
            <a:endParaRPr lang="en-US" sz="1300" dirty="0"/>
          </a:p>
        </p:txBody>
      </p:sp>
      <p:sp>
        <p:nvSpPr>
          <p:cNvPr id="44" name="Text 42"/>
          <p:cNvSpPr txBox="1"/>
          <p:nvPr/>
        </p:nvSpPr>
        <p:spPr>
          <a:xfrm>
            <a:off x="8275320" y="3666744"/>
            <a:ext cx="1188720" cy="457200"/>
          </a:xfrm>
          <a:prstGeom prst="rect">
            <a:avLst/>
          </a:prstGeom>
          <a:noFill/>
          <a:ln/>
        </p:spPr>
        <p:txBody>
          <a:bodyPr wrap="square" lIns="0" tIns="0" rIns="0" bIns="0" rtlCol="0" anchor="ctr"/>
          <a:lstStyle/>
          <a:p>
            <a:pPr marL="0" indent="0">
              <a:buNone/>
            </a:pPr>
            <a:r>
              <a:rPr lang="en-US" sz="1000" b="1" dirty="0">
                <a:solidFill>
                  <a:schemeClr val="accent6"/>
                </a:solidFill>
              </a:rPr>
              <a:t>NPI baru dicegah/bulan</a:t>
            </a:r>
            <a:endParaRPr lang="en-US" sz="1000" dirty="0"/>
          </a:p>
        </p:txBody>
      </p:sp>
      <p:sp>
        <p:nvSpPr>
          <p:cNvPr id="45" name="Text 43"/>
          <p:cNvSpPr txBox="1"/>
          <p:nvPr/>
        </p:nvSpPr>
        <p:spPr>
          <a:xfrm>
            <a:off x="9509760" y="3666744"/>
            <a:ext cx="1920240" cy="457200"/>
          </a:xfrm>
          <a:prstGeom prst="rect">
            <a:avLst/>
          </a:prstGeom>
          <a:noFill/>
          <a:ln/>
        </p:spPr>
        <p:txBody>
          <a:bodyPr wrap="square" lIns="0" tIns="0" rIns="0" bIns="0" rtlCol="0" anchor="ctr">
            <a:normAutofit/>
          </a:bodyPr>
          <a:lstStyle/>
          <a:p>
            <a:pPr marL="0" indent="0">
              <a:buNone/>
            </a:pPr>
            <a:r>
              <a:rPr lang="en-US" sz="1300" b="1" dirty="0">
                <a:solidFill>
                  <a:schemeClr val="tx1"/>
                </a:solidFill>
              </a:rPr>
              <a:t>± Rp3,5 juta</a:t>
            </a:r>
            <a:endParaRPr lang="en-US" sz="1300" dirty="0"/>
          </a:p>
        </p:txBody>
      </p:sp>
      <p:sp>
        <p:nvSpPr>
          <p:cNvPr id="46" name="Text 44"/>
          <p:cNvSpPr txBox="1"/>
          <p:nvPr/>
        </p:nvSpPr>
        <p:spPr>
          <a:xfrm>
            <a:off x="8275320" y="4151376"/>
            <a:ext cx="1188720" cy="457200"/>
          </a:xfrm>
          <a:prstGeom prst="rect">
            <a:avLst/>
          </a:prstGeom>
          <a:noFill/>
          <a:ln/>
        </p:spPr>
        <p:txBody>
          <a:bodyPr wrap="square" lIns="0" tIns="0" rIns="0" bIns="0" rtlCol="0" anchor="ctr"/>
          <a:lstStyle/>
          <a:p>
            <a:pPr marL="0" indent="0">
              <a:buNone/>
            </a:pPr>
            <a:r>
              <a:rPr lang="en-US" sz="1000" b="1" dirty="0">
                <a:solidFill>
                  <a:schemeClr val="accent6"/>
                </a:solidFill>
              </a:rPr>
              <a:t>Manfaat tambahan</a:t>
            </a:r>
            <a:endParaRPr lang="en-US" sz="1000" dirty="0"/>
          </a:p>
        </p:txBody>
      </p:sp>
      <p:sp>
        <p:nvSpPr>
          <p:cNvPr id="47" name="Text 45"/>
          <p:cNvSpPr txBox="1"/>
          <p:nvPr/>
        </p:nvSpPr>
        <p:spPr>
          <a:xfrm>
            <a:off x="9509760" y="4151376"/>
            <a:ext cx="1920240" cy="457200"/>
          </a:xfrm>
          <a:prstGeom prst="rect">
            <a:avLst/>
          </a:prstGeom>
          <a:noFill/>
          <a:ln/>
        </p:spPr>
        <p:txBody>
          <a:bodyPr wrap="square" lIns="0" tIns="0" rIns="0" bIns="0" rtlCol="0" anchor="ctr">
            <a:normAutofit/>
          </a:bodyPr>
          <a:lstStyle/>
          <a:p>
            <a:pPr marL="0" indent="0">
              <a:buNone/>
            </a:pPr>
            <a:r>
              <a:rPr lang="en-US" sz="1100" dirty="0">
                <a:solidFill>
                  <a:schemeClr val="tx1"/>
                </a:solidFill>
              </a:rPr>
              <a:t>Pemilik dapat dijangkau Collection</a:t>
            </a:r>
            <a:endParaRPr lang="en-US" sz="1100" dirty="0"/>
          </a:p>
        </p:txBody>
      </p:sp>
      <p:sp>
        <p:nvSpPr>
          <p:cNvPr id="56"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25</a:t>
            </a:fld>
            <a:endParaRPr lang="en-US"/>
          </a:p>
        </p:txBody>
      </p:sp>
      <p:sp>
        <p:nvSpPr>
          <p:cNvPr id="58" name="Text Placeholder 57">
            <a:extLst>
              <a:ext uri="{FF2B5EF4-FFF2-40B4-BE49-F238E27FC236}">
                <a16:creationId xmlns:a16="http://schemas.microsoft.com/office/drawing/2014/main" id="{F89041C9-2FB4-45D7-B228-DB32254ABF49}"/>
              </a:ext>
            </a:extLst>
          </p:cNvPr>
          <p:cNvSpPr>
            <a:spLocks noGrp="1"/>
          </p:cNvSpPr>
          <p:nvPr>
            <p:ph type="body" idx="102"/>
          </p:nvPr>
        </p:nvSpPr>
        <p:spPr/>
        <p:txBody>
          <a:bodyPr/>
          <a:lstStyle/>
          <a:p>
            <a:endParaRPr lang="id-ID"/>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lustrasi kawasan" descr="/home/claude/deck2/img/div6.jpg"/>
          <p:cNvPicPr>
            <a:picLocks noChangeAspect="1"/>
          </p:cNvPicPr>
          <p:nvPr/>
        </p:nvPicPr>
        <p:blipFill>
          <a:blip r:embed="rId3"/>
          <a:stretch>
            <a:fillRect/>
          </a:stretch>
        </p:blipFill>
        <p:spPr>
          <a:xfrm>
            <a:off x="0" y="0"/>
            <a:ext cx="12191695" cy="6858000"/>
          </a:xfrm>
          <a:prstGeom prst="rect">
            <a:avLst/>
          </a:prstGeom>
        </p:spPr>
      </p:pic>
      <p:sp>
        <p:nvSpPr>
          <p:cNvPr id="3" name="panel gelap"/>
          <p:cNvSpPr/>
          <p:nvPr/>
        </p:nvSpPr>
        <p:spPr>
          <a:xfrm>
            <a:off x="0" y="0"/>
            <a:ext cx="8138160" cy="6858000"/>
          </a:xfrm>
          <a:prstGeom prst="rect">
            <a:avLst/>
          </a:prstGeom>
          <a:solidFill>
            <a:srgbClr val="13294B">
              <a:alpha val="90000"/>
            </a:srgbClr>
          </a:solidFill>
          <a:ln/>
        </p:spPr>
        <p:txBody>
          <a:bodyPr/>
          <a:lstStyle/>
          <a:p>
            <a:endParaRPr lang="en-US"/>
          </a:p>
        </p:txBody>
      </p:sp>
      <p:sp>
        <p:nvSpPr>
          <p:cNvPr id="4" name="Text 1"/>
          <p:cNvSpPr txBox="1"/>
          <p:nvPr/>
        </p:nvSpPr>
        <p:spPr>
          <a:xfrm>
            <a:off x="731520" y="1828800"/>
            <a:ext cx="2743200" cy="822960"/>
          </a:xfrm>
          <a:prstGeom prst="rect">
            <a:avLst/>
          </a:prstGeom>
          <a:noFill/>
          <a:ln/>
        </p:spPr>
        <p:txBody>
          <a:bodyPr wrap="square" lIns="0" tIns="0" rIns="0" bIns="0" rtlCol="0" anchor="t"/>
          <a:lstStyle/>
          <a:p>
            <a:pPr marL="0" indent="0">
              <a:buNone/>
            </a:pPr>
            <a:r>
              <a:rPr lang="en-US" sz="4800" b="1" dirty="0">
                <a:solidFill>
                  <a:schemeClr val="accent2"/>
                </a:solidFill>
              </a:rPr>
              <a:t>07</a:t>
            </a:r>
            <a:endParaRPr lang="en-US" sz="4800" dirty="0"/>
          </a:p>
        </p:txBody>
      </p:sp>
      <p:sp>
        <p:nvSpPr>
          <p:cNvPr id="5" name="Text 0"/>
          <p:cNvSpPr>
            <a:spLocks noGrp="1"/>
          </p:cNvSpPr>
          <p:nvPr>
            <p:ph type="title" idx="100" hasCustomPrompt="1"/>
          </p:nvPr>
        </p:nvSpPr>
        <p:spPr>
          <a:xfrm>
            <a:off x="731520" y="2788920"/>
            <a:ext cx="6949440" cy="1188720"/>
          </a:xfrm>
          <a:prstGeom prst="rect">
            <a:avLst/>
          </a:prstGeom>
          <a:noFill/>
          <a:ln/>
        </p:spPr>
        <p:txBody>
          <a:bodyPr wrap="square" lIns="0" tIns="0" rIns="0" bIns="0" rtlCol="0" anchor="t"/>
          <a:lstStyle/>
          <a:p>
            <a:pPr marL="0" indent="0" algn="l">
              <a:buNone/>
            </a:pPr>
            <a:r>
              <a:rPr lang="en-US" sz="4000" b="1" dirty="0">
                <a:solidFill>
                  <a:schemeClr val="bg1"/>
                </a:solidFill>
              </a:rPr>
              <a:t>Rekomendasi, roadmap &amp; keputusan</a:t>
            </a:r>
            <a:endParaRPr lang="en-US" sz="4000" dirty="0"/>
          </a:p>
        </p:txBody>
      </p:sp>
      <p:sp>
        <p:nvSpPr>
          <p:cNvPr id="6" name="Text 0"/>
          <p:cNvSpPr>
            <a:spLocks noGrp="1"/>
          </p:cNvSpPr>
          <p:nvPr>
            <p:ph type="body" idx="101" hasCustomPrompt="1"/>
          </p:nvPr>
        </p:nvSpPr>
        <p:spPr>
          <a:xfrm>
            <a:off x="731520" y="4069080"/>
            <a:ext cx="6583680" cy="1097280"/>
          </a:xfrm>
          <a:prstGeom prst="rect">
            <a:avLst/>
          </a:prstGeom>
          <a:noFill/>
          <a:ln/>
        </p:spPr>
        <p:txBody>
          <a:bodyPr wrap="square" lIns="0" tIns="0" rIns="0" bIns="0" rtlCol="0" anchor="t"/>
          <a:lstStyle/>
          <a:p>
            <a:pPr marL="0" indent="0" algn="l">
              <a:buNone/>
            </a:pPr>
            <a:r>
              <a:rPr lang="en-US" sz="1800" dirty="0">
                <a:solidFill>
                  <a:schemeClr val="bg1"/>
                </a:solidFill>
              </a:rPr>
              <a:t>Peran setiap stakeholder, rencana dua kuartal, KPI, dan keputusan yang diminta</a:t>
            </a:r>
            <a:endParaRPr lang="en-US" sz="18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C9D3E0"/>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REKOMENDASI PER STAKEHOLDER</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Pilot</a:t>
            </a:r>
            <a:r>
              <a:rPr lang="id-ID" sz="2600" b="1" dirty="0">
                <a:solidFill>
                  <a:schemeClr val="tx2"/>
                </a:solidFill>
              </a:rPr>
              <a:t> project</a:t>
            </a:r>
            <a:r>
              <a:rPr lang="en-US" sz="2600" b="1" dirty="0">
                <a:solidFill>
                  <a:schemeClr val="tx2"/>
                </a:solidFill>
              </a:rPr>
              <a:t>, rekonsiliasi, dan </a:t>
            </a:r>
            <a:r>
              <a:rPr lang="en-US" sz="2600" b="1" dirty="0" err="1">
                <a:solidFill>
                  <a:schemeClr val="tx2"/>
                </a:solidFill>
              </a:rPr>
              <a:t>kontrol</a:t>
            </a:r>
            <a:r>
              <a:rPr lang="en-US" sz="2600" b="1" dirty="0">
                <a:solidFill>
                  <a:schemeClr val="tx2"/>
                </a:solidFill>
              </a:rPr>
              <a:t> </a:t>
            </a:r>
            <a:r>
              <a:rPr lang="id-ID" sz="2600" b="1" dirty="0">
                <a:solidFill>
                  <a:schemeClr val="tx2"/>
                </a:solidFill>
              </a:rPr>
              <a:t>pembayaran</a:t>
            </a:r>
            <a:r>
              <a:rPr lang="en-US" sz="2600" b="1" dirty="0">
                <a:solidFill>
                  <a:schemeClr val="tx2"/>
                </a:solidFill>
              </a:rPr>
              <a:t> berjalan lebih dahulu</a:t>
            </a:r>
            <a:endParaRPr lang="en-US" sz="2600" dirty="0"/>
          </a:p>
        </p:txBody>
      </p:sp>
      <p:sp>
        <p:nvSpPr>
          <p:cNvPr id="5" name="rekomendasi Sponsor &amp; keputusan"/>
          <p:cNvSpPr/>
          <p:nvPr/>
        </p:nvSpPr>
        <p:spPr>
          <a:xfrm>
            <a:off x="548640" y="1600200"/>
            <a:ext cx="5468112" cy="2176272"/>
          </a:xfrm>
          <a:prstGeom prst="roundRect">
            <a:avLst>
              <a:gd name="adj" fmla="val 3361"/>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6" name="penanda 1"/>
          <p:cNvSpPr txBox="1"/>
          <p:nvPr/>
        </p:nvSpPr>
        <p:spPr>
          <a:xfrm>
            <a:off x="777240" y="1801368"/>
            <a:ext cx="384048" cy="384048"/>
          </a:xfrm>
          <a:prstGeom prst="ellipse">
            <a:avLst/>
          </a:prstGeom>
          <a:solidFill>
            <a:schemeClr val="accent2"/>
          </a:solidFill>
          <a:ln/>
        </p:spPr>
        <p:txBody>
          <a:bodyPr wrap="square" lIns="0" tIns="0" rIns="0" bIns="0" rtlCol="0" anchor="ctr"/>
          <a:lstStyle/>
          <a:p>
            <a:pPr marL="0" indent="0" algn="ctr">
              <a:buNone/>
            </a:pPr>
            <a:r>
              <a:rPr lang="en-US" sz="1300" b="1" dirty="0">
                <a:solidFill>
                  <a:schemeClr val="tx2"/>
                </a:solidFill>
              </a:rPr>
              <a:t>1</a:t>
            </a:r>
            <a:endParaRPr lang="en-US" sz="1300" dirty="0"/>
          </a:p>
        </p:txBody>
      </p:sp>
      <p:sp>
        <p:nvSpPr>
          <p:cNvPr id="8" name="Text 6"/>
          <p:cNvSpPr txBox="1"/>
          <p:nvPr/>
        </p:nvSpPr>
        <p:spPr>
          <a:xfrm>
            <a:off x="1280160" y="1846020"/>
            <a:ext cx="4572000" cy="320040"/>
          </a:xfrm>
          <a:prstGeom prst="rect">
            <a:avLst/>
          </a:prstGeom>
          <a:noFill/>
          <a:ln/>
        </p:spPr>
        <p:txBody>
          <a:bodyPr wrap="square" lIns="0" tIns="0" rIns="0" bIns="0" rtlCol="0" anchor="t"/>
          <a:lstStyle/>
          <a:p>
            <a:pPr marL="0" indent="0">
              <a:buNone/>
            </a:pPr>
            <a:r>
              <a:rPr lang="en-US" sz="1600" b="1" dirty="0">
                <a:solidFill>
                  <a:schemeClr val="tx2"/>
                </a:solidFill>
              </a:rPr>
              <a:t>Head of Township Management</a:t>
            </a:r>
            <a:endParaRPr lang="en-US" sz="1600" dirty="0"/>
          </a:p>
        </p:txBody>
      </p:sp>
      <p:sp>
        <p:nvSpPr>
          <p:cNvPr id="9" name="Text 7"/>
          <p:cNvSpPr txBox="1"/>
          <p:nvPr/>
        </p:nvSpPr>
        <p:spPr>
          <a:xfrm>
            <a:off x="822960" y="2377440"/>
            <a:ext cx="5029200" cy="960120"/>
          </a:xfrm>
          <a:prstGeom prst="rect">
            <a:avLst/>
          </a:prstGeom>
          <a:noFill/>
          <a:ln/>
        </p:spPr>
        <p:txBody>
          <a:bodyPr wrap="square" lIns="0" tIns="0" rIns="0" bIns="0" rtlCol="0" anchor="t"/>
          <a:lstStyle/>
          <a:p>
            <a:pPr marL="342900" indent="-342900">
              <a:spcAft>
                <a:spcPts val="200"/>
              </a:spcAft>
              <a:buSzPct val="100000"/>
              <a:buChar char="•"/>
            </a:pPr>
            <a:r>
              <a:rPr lang="en-US" sz="1200" dirty="0" err="1"/>
              <a:t>Eksekusi</a:t>
            </a:r>
            <a:r>
              <a:rPr lang="en-US" sz="1200" dirty="0">
                <a:solidFill>
                  <a:schemeClr val="tx1"/>
                </a:solidFill>
              </a:rPr>
              <a:t> </a:t>
            </a:r>
            <a:r>
              <a:rPr lang="en-US" sz="1200" dirty="0" err="1">
                <a:solidFill>
                  <a:schemeClr val="tx1"/>
                </a:solidFill>
              </a:rPr>
              <a:t>kampanye</a:t>
            </a:r>
            <a:r>
              <a:rPr lang="en-US" sz="1200" dirty="0">
                <a:solidFill>
                  <a:schemeClr val="tx1"/>
                </a:solidFill>
              </a:rPr>
              <a:t> pilot </a:t>
            </a:r>
            <a:r>
              <a:rPr lang="en-US" sz="1200" dirty="0" err="1">
                <a:solidFill>
                  <a:schemeClr val="tx1"/>
                </a:solidFill>
              </a:rPr>
              <a:t>autodebit</a:t>
            </a:r>
            <a:endParaRPr lang="en-US" sz="1200" dirty="0"/>
          </a:p>
          <a:p>
            <a:pPr marL="342900" indent="-342900">
              <a:spcAft>
                <a:spcPts val="200"/>
              </a:spcAft>
              <a:buSzPct val="100000"/>
              <a:buChar char="•"/>
            </a:pPr>
            <a:r>
              <a:rPr lang="en-US" sz="1200" dirty="0">
                <a:solidFill>
                  <a:schemeClr val="tx1"/>
                </a:solidFill>
              </a:rPr>
              <a:t>Tetapkan target resmi setelah hasil pilot</a:t>
            </a:r>
            <a:endParaRPr lang="en-US" sz="1200" dirty="0"/>
          </a:p>
          <a:p>
            <a:pPr marL="342900" indent="-342900">
              <a:spcAft>
                <a:spcPts val="200"/>
              </a:spcAft>
              <a:buSzPct val="100000"/>
              <a:buChar char="•"/>
            </a:pPr>
            <a:r>
              <a:rPr lang="en-US" sz="1200" dirty="0">
                <a:solidFill>
                  <a:schemeClr val="tx1"/>
                </a:solidFill>
              </a:rPr>
              <a:t>Pantau NPI baru, kas aktual, dan biaya program</a:t>
            </a:r>
            <a:endParaRPr lang="en-US" sz="1200" dirty="0"/>
          </a:p>
        </p:txBody>
      </p:sp>
      <p:sp>
        <p:nvSpPr>
          <p:cNvPr id="11" name="rekomendasi Kas &amp; rekonsiliasi"/>
          <p:cNvSpPr/>
          <p:nvPr/>
        </p:nvSpPr>
        <p:spPr>
          <a:xfrm>
            <a:off x="6172200" y="1600200"/>
            <a:ext cx="5468112" cy="2176272"/>
          </a:xfrm>
          <a:prstGeom prst="roundRect">
            <a:avLst>
              <a:gd name="adj" fmla="val 3361"/>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2" name="penanda 2"/>
          <p:cNvSpPr txBox="1"/>
          <p:nvPr/>
        </p:nvSpPr>
        <p:spPr>
          <a:xfrm>
            <a:off x="6400800" y="1801368"/>
            <a:ext cx="384048" cy="384048"/>
          </a:xfrm>
          <a:prstGeom prst="ellipse">
            <a:avLst/>
          </a:prstGeom>
          <a:solidFill>
            <a:schemeClr val="tx2"/>
          </a:solid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2"/>
          <p:cNvSpPr txBox="1"/>
          <p:nvPr/>
        </p:nvSpPr>
        <p:spPr>
          <a:xfrm>
            <a:off x="6903720" y="1846020"/>
            <a:ext cx="4572000" cy="320040"/>
          </a:xfrm>
          <a:prstGeom prst="rect">
            <a:avLst/>
          </a:prstGeom>
          <a:noFill/>
          <a:ln/>
        </p:spPr>
        <p:txBody>
          <a:bodyPr wrap="square" lIns="0" tIns="0" rIns="0" bIns="0" rtlCol="0" anchor="t"/>
          <a:lstStyle/>
          <a:p>
            <a:pPr marL="0" indent="0">
              <a:buNone/>
            </a:pPr>
            <a:r>
              <a:rPr lang="en-US" sz="1600" b="1" dirty="0">
                <a:solidFill>
                  <a:schemeClr val="tx2"/>
                </a:solidFill>
              </a:rPr>
              <a:t>Finance</a:t>
            </a:r>
            <a:endParaRPr lang="en-US" sz="1600" dirty="0"/>
          </a:p>
        </p:txBody>
      </p:sp>
      <p:sp>
        <p:nvSpPr>
          <p:cNvPr id="15" name="Text 13"/>
          <p:cNvSpPr txBox="1"/>
          <p:nvPr/>
        </p:nvSpPr>
        <p:spPr>
          <a:xfrm>
            <a:off x="6446520" y="2377440"/>
            <a:ext cx="5029200" cy="960120"/>
          </a:xfrm>
          <a:prstGeom prst="rect">
            <a:avLst/>
          </a:prstGeom>
          <a:noFill/>
          <a:ln/>
        </p:spPr>
        <p:txBody>
          <a:bodyPr wrap="square" lIns="0" tIns="0" rIns="0" bIns="0" rtlCol="0" anchor="t"/>
          <a:lstStyle/>
          <a:p>
            <a:pPr marL="342900" indent="-342900">
              <a:spcAft>
                <a:spcPts val="200"/>
              </a:spcAft>
              <a:buSzPct val="100000"/>
              <a:buChar char="•"/>
            </a:pPr>
            <a:r>
              <a:rPr lang="en-US" sz="1200" dirty="0" err="1">
                <a:solidFill>
                  <a:schemeClr val="tx1"/>
                </a:solidFill>
              </a:rPr>
              <a:t>Tetapkan</a:t>
            </a:r>
            <a:r>
              <a:rPr lang="en-US" sz="1200" dirty="0">
                <a:solidFill>
                  <a:schemeClr val="tx1"/>
                </a:solidFill>
              </a:rPr>
              <a:t> </a:t>
            </a:r>
            <a:r>
              <a:rPr lang="en-US" sz="1200" dirty="0" err="1">
                <a:solidFill>
                  <a:schemeClr val="tx1"/>
                </a:solidFill>
              </a:rPr>
              <a:t>standarisasi</a:t>
            </a:r>
            <a:r>
              <a:rPr lang="en-US" sz="1200" dirty="0">
                <a:solidFill>
                  <a:schemeClr val="tx1"/>
                </a:solidFill>
              </a:rPr>
              <a:t> 4 kode metode bayar sebagai master data</a:t>
            </a:r>
            <a:endParaRPr lang="en-US" sz="1200" dirty="0"/>
          </a:p>
          <a:p>
            <a:pPr marL="342900" indent="-342900">
              <a:spcAft>
                <a:spcPts val="200"/>
              </a:spcAft>
              <a:buSzPct val="100000"/>
              <a:buChar char="•"/>
            </a:pPr>
            <a:r>
              <a:rPr lang="en-US" sz="1200" dirty="0">
                <a:solidFill>
                  <a:schemeClr val="tx1"/>
                </a:solidFill>
              </a:rPr>
              <a:t>Tuntaskan 3 daftar rekonsiliasi (slide 21)</a:t>
            </a:r>
            <a:endParaRPr lang="en-US" sz="1200" dirty="0"/>
          </a:p>
        </p:txBody>
      </p:sp>
      <p:sp>
        <p:nvSpPr>
          <p:cNvPr id="17" name="rekomendasi Penagihan &amp; kontak"/>
          <p:cNvSpPr/>
          <p:nvPr/>
        </p:nvSpPr>
        <p:spPr>
          <a:xfrm>
            <a:off x="548640" y="3931920"/>
            <a:ext cx="5468112" cy="2176272"/>
          </a:xfrm>
          <a:prstGeom prst="roundRect">
            <a:avLst>
              <a:gd name="adj" fmla="val 3361"/>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8" name="penanda 3"/>
          <p:cNvSpPr txBox="1"/>
          <p:nvPr/>
        </p:nvSpPr>
        <p:spPr>
          <a:xfrm>
            <a:off x="777240" y="4133088"/>
            <a:ext cx="384048" cy="384048"/>
          </a:xfrm>
          <a:prstGeom prst="ellipse">
            <a:avLst/>
          </a:prstGeom>
          <a:solidFill>
            <a:schemeClr val="tx2"/>
          </a:solid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20" name="Text 18"/>
          <p:cNvSpPr txBox="1"/>
          <p:nvPr/>
        </p:nvSpPr>
        <p:spPr>
          <a:xfrm>
            <a:off x="1280160" y="4188373"/>
            <a:ext cx="4572000" cy="320040"/>
          </a:xfrm>
          <a:prstGeom prst="rect">
            <a:avLst/>
          </a:prstGeom>
          <a:noFill/>
          <a:ln/>
        </p:spPr>
        <p:txBody>
          <a:bodyPr wrap="square" lIns="0" tIns="0" rIns="0" bIns="0" rtlCol="0" anchor="t"/>
          <a:lstStyle/>
          <a:p>
            <a:pPr marL="0" indent="0">
              <a:buNone/>
            </a:pPr>
            <a:r>
              <a:rPr lang="en-US" sz="1600" b="1" dirty="0" err="1">
                <a:solidFill>
                  <a:schemeClr val="tx2"/>
                </a:solidFill>
              </a:rPr>
              <a:t>Penagihan</a:t>
            </a:r>
            <a:endParaRPr lang="en-US" sz="1600" dirty="0"/>
          </a:p>
        </p:txBody>
      </p:sp>
      <p:sp>
        <p:nvSpPr>
          <p:cNvPr id="21" name="Text 19"/>
          <p:cNvSpPr txBox="1"/>
          <p:nvPr/>
        </p:nvSpPr>
        <p:spPr>
          <a:xfrm>
            <a:off x="822960" y="4709160"/>
            <a:ext cx="5029200" cy="960120"/>
          </a:xfrm>
          <a:prstGeom prst="rect">
            <a:avLst/>
          </a:prstGeom>
          <a:noFill/>
          <a:ln/>
        </p:spPr>
        <p:txBody>
          <a:bodyPr wrap="square" lIns="0" tIns="0" rIns="0" bIns="0" rtlCol="0" anchor="t"/>
          <a:lstStyle/>
          <a:p>
            <a:pPr marL="342900" indent="-342900">
              <a:spcAft>
                <a:spcPts val="200"/>
              </a:spcAft>
              <a:buSzPct val="100000"/>
              <a:buChar char="•"/>
            </a:pPr>
            <a:r>
              <a:rPr lang="en-US" sz="1200" dirty="0" err="1">
                <a:solidFill>
                  <a:schemeClr val="tx1"/>
                </a:solidFill>
              </a:rPr>
              <a:t>Tagih</a:t>
            </a:r>
            <a:r>
              <a:rPr lang="en-US" sz="1200" dirty="0">
                <a:solidFill>
                  <a:schemeClr val="tx1"/>
                </a:solidFill>
              </a:rPr>
              <a:t> </a:t>
            </a:r>
            <a:r>
              <a:rPr lang="en-US" sz="1200" dirty="0" err="1">
                <a:solidFill>
                  <a:schemeClr val="tx1"/>
                </a:solidFill>
              </a:rPr>
              <a:t>kontak</a:t>
            </a:r>
            <a:r>
              <a:rPr lang="en-US" sz="1200" dirty="0">
                <a:solidFill>
                  <a:schemeClr val="tx1"/>
                </a:solidFill>
              </a:rPr>
              <a:t> </a:t>
            </a:r>
            <a:r>
              <a:rPr lang="en-US" sz="1200" dirty="0" err="1">
                <a:solidFill>
                  <a:schemeClr val="tx1"/>
                </a:solidFill>
              </a:rPr>
              <a:t>terverifikasi</a:t>
            </a:r>
            <a:r>
              <a:rPr lang="en-US" sz="1200" dirty="0">
                <a:solidFill>
                  <a:schemeClr val="tx1"/>
                </a:solidFill>
              </a:rPr>
              <a:t> dan tindak lanjuti janji bayar</a:t>
            </a:r>
            <a:endParaRPr lang="en-US" sz="1200" dirty="0"/>
          </a:p>
          <a:p>
            <a:pPr marL="342900" indent="-342900">
              <a:spcAft>
                <a:spcPts val="200"/>
              </a:spcAft>
              <a:buSzPct val="100000"/>
              <a:buChar char="•"/>
            </a:pPr>
            <a:r>
              <a:rPr lang="en-US" sz="1200" dirty="0" err="1">
                <a:solidFill>
                  <a:schemeClr val="tx1"/>
                </a:solidFill>
              </a:rPr>
              <a:t>Verifikasi</a:t>
            </a:r>
            <a:r>
              <a:rPr lang="en-US" sz="1200" dirty="0">
                <a:solidFill>
                  <a:schemeClr val="tx1"/>
                </a:solidFill>
              </a:rPr>
              <a:t> </a:t>
            </a:r>
            <a:r>
              <a:rPr lang="en-US" sz="1200" dirty="0" err="1">
                <a:solidFill>
                  <a:schemeClr val="tx1"/>
                </a:solidFill>
              </a:rPr>
              <a:t>kontak</a:t>
            </a:r>
            <a:r>
              <a:rPr lang="en-US" sz="1200" dirty="0">
                <a:solidFill>
                  <a:schemeClr val="tx1"/>
                </a:solidFill>
              </a:rPr>
              <a:t> yang </a:t>
            </a:r>
            <a:r>
              <a:rPr lang="en-US" sz="1200" dirty="0" err="1">
                <a:solidFill>
                  <a:schemeClr val="tx1"/>
                </a:solidFill>
              </a:rPr>
              <a:t>belum</a:t>
            </a:r>
            <a:r>
              <a:rPr lang="en-US" sz="1200" dirty="0">
                <a:solidFill>
                  <a:schemeClr val="tx1"/>
                </a:solidFill>
              </a:rPr>
              <a:t> </a:t>
            </a:r>
            <a:r>
              <a:rPr lang="en-US" sz="1200" dirty="0" err="1">
                <a:solidFill>
                  <a:schemeClr val="tx1"/>
                </a:solidFill>
              </a:rPr>
              <a:t>terdaftar</a:t>
            </a:r>
            <a:r>
              <a:rPr lang="en-US" sz="1200" dirty="0"/>
              <a:t> dan </a:t>
            </a:r>
            <a:r>
              <a:rPr lang="en-US" sz="1200" dirty="0" err="1"/>
              <a:t>tindak</a:t>
            </a:r>
            <a:r>
              <a:rPr lang="en-US" sz="1200" dirty="0"/>
              <a:t> </a:t>
            </a:r>
            <a:r>
              <a:rPr lang="en-US" sz="1200" dirty="0" err="1"/>
              <a:t>lanjuti</a:t>
            </a:r>
            <a:r>
              <a:rPr lang="en-US" sz="1200" dirty="0"/>
              <a:t> </a:t>
            </a:r>
            <a:r>
              <a:rPr lang="en-US" sz="1200" dirty="0" err="1"/>
              <a:t>janji</a:t>
            </a:r>
            <a:r>
              <a:rPr lang="en-US" sz="1200" dirty="0"/>
              <a:t> </a:t>
            </a:r>
            <a:r>
              <a:rPr lang="en-US" sz="1200" dirty="0" err="1"/>
              <a:t>bayar</a:t>
            </a:r>
            <a:endParaRPr lang="en-US" sz="1200" dirty="0"/>
          </a:p>
          <a:p>
            <a:pPr marL="342900" indent="-342900">
              <a:spcAft>
                <a:spcPts val="200"/>
              </a:spcAft>
              <a:buSzPct val="100000"/>
              <a:buChar char="•"/>
            </a:pPr>
            <a:r>
              <a:rPr lang="en-US" sz="1200" dirty="0" err="1">
                <a:solidFill>
                  <a:schemeClr val="tx1"/>
                </a:solidFill>
              </a:rPr>
              <a:t>Pisahkan</a:t>
            </a:r>
            <a:r>
              <a:rPr lang="en-US" sz="1200" dirty="0">
                <a:solidFill>
                  <a:schemeClr val="tx1"/>
                </a:solidFill>
              </a:rPr>
              <a:t> program </a:t>
            </a:r>
            <a:r>
              <a:rPr lang="en-US" sz="1200" dirty="0" err="1">
                <a:solidFill>
                  <a:schemeClr val="tx1"/>
                </a:solidFill>
              </a:rPr>
              <a:t>penagihan</a:t>
            </a:r>
            <a:r>
              <a:rPr lang="en-US" sz="1200" dirty="0">
                <a:solidFill>
                  <a:schemeClr val="tx1"/>
                </a:solidFill>
              </a:rPr>
              <a:t> </a:t>
            </a:r>
            <a:r>
              <a:rPr lang="en-US" sz="1200" dirty="0" err="1">
                <a:solidFill>
                  <a:schemeClr val="tx1"/>
                </a:solidFill>
              </a:rPr>
              <a:t>tunggakan</a:t>
            </a:r>
            <a:r>
              <a:rPr lang="en-US" sz="1200" dirty="0">
                <a:solidFill>
                  <a:schemeClr val="tx1"/>
                </a:solidFill>
              </a:rPr>
              <a:t> lama </a:t>
            </a:r>
            <a:r>
              <a:rPr lang="en-US" sz="1200" dirty="0" err="1">
                <a:solidFill>
                  <a:schemeClr val="tx1"/>
                </a:solidFill>
              </a:rPr>
              <a:t>dengan</a:t>
            </a:r>
            <a:r>
              <a:rPr lang="en-US" sz="1200" dirty="0">
                <a:solidFill>
                  <a:schemeClr val="tx1"/>
                </a:solidFill>
              </a:rPr>
              <a:t> program </a:t>
            </a:r>
            <a:r>
              <a:rPr lang="en-US" sz="1200" dirty="0" err="1">
                <a:solidFill>
                  <a:schemeClr val="tx1"/>
                </a:solidFill>
              </a:rPr>
              <a:t>pencegahan</a:t>
            </a:r>
            <a:r>
              <a:rPr lang="en-US" sz="1200" dirty="0">
                <a:solidFill>
                  <a:schemeClr val="tx1"/>
                </a:solidFill>
              </a:rPr>
              <a:t> dua </a:t>
            </a:r>
            <a:r>
              <a:rPr lang="en-US" sz="1200" dirty="0" err="1">
                <a:solidFill>
                  <a:schemeClr val="tx1"/>
                </a:solidFill>
              </a:rPr>
              <a:t>kuartal</a:t>
            </a:r>
            <a:r>
              <a:rPr lang="en-US" sz="1200" dirty="0">
                <a:solidFill>
                  <a:schemeClr val="tx1"/>
                </a:solidFill>
              </a:rPr>
              <a:t> </a:t>
            </a:r>
            <a:r>
              <a:rPr lang="en-US" sz="1200" dirty="0" err="1">
                <a:solidFill>
                  <a:schemeClr val="tx1"/>
                </a:solidFill>
              </a:rPr>
              <a:t>ke</a:t>
            </a:r>
            <a:r>
              <a:rPr lang="en-US" sz="1200" dirty="0">
                <a:solidFill>
                  <a:schemeClr val="tx1"/>
                </a:solidFill>
              </a:rPr>
              <a:t> </a:t>
            </a:r>
            <a:r>
              <a:rPr lang="en-US" sz="1200" dirty="0" err="1">
                <a:solidFill>
                  <a:schemeClr val="tx1"/>
                </a:solidFill>
              </a:rPr>
              <a:t>depan</a:t>
            </a:r>
            <a:endParaRPr lang="en-US" sz="1200" dirty="0"/>
          </a:p>
        </p:txBody>
      </p:sp>
      <p:sp>
        <p:nvSpPr>
          <p:cNvPr id="23" name="rekomendasi Sistem &amp; meter"/>
          <p:cNvSpPr/>
          <p:nvPr/>
        </p:nvSpPr>
        <p:spPr>
          <a:xfrm>
            <a:off x="6172200" y="3931920"/>
            <a:ext cx="5468112" cy="2176272"/>
          </a:xfrm>
          <a:prstGeom prst="roundRect">
            <a:avLst>
              <a:gd name="adj" fmla="val 3361"/>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24" name="penanda 4"/>
          <p:cNvSpPr txBox="1"/>
          <p:nvPr/>
        </p:nvSpPr>
        <p:spPr>
          <a:xfrm>
            <a:off x="6400800" y="4133088"/>
            <a:ext cx="384048" cy="384048"/>
          </a:xfrm>
          <a:prstGeom prst="ellipse">
            <a:avLst/>
          </a:prstGeom>
          <a:solidFill>
            <a:schemeClr val="tx2"/>
          </a:solid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26" name="Text 24"/>
          <p:cNvSpPr txBox="1"/>
          <p:nvPr/>
        </p:nvSpPr>
        <p:spPr>
          <a:xfrm>
            <a:off x="6903720" y="4188373"/>
            <a:ext cx="4572000" cy="320040"/>
          </a:xfrm>
          <a:prstGeom prst="rect">
            <a:avLst/>
          </a:prstGeom>
          <a:noFill/>
          <a:ln/>
        </p:spPr>
        <p:txBody>
          <a:bodyPr wrap="square" lIns="0" tIns="0" rIns="0" bIns="0" rtlCol="0" anchor="t"/>
          <a:lstStyle/>
          <a:p>
            <a:pPr marL="0" indent="0">
              <a:buNone/>
            </a:pPr>
            <a:r>
              <a:rPr lang="en-US" sz="1600" b="1" dirty="0">
                <a:solidFill>
                  <a:schemeClr val="tx2"/>
                </a:solidFill>
              </a:rPr>
              <a:t>IT/ERP dan Estate Operations</a:t>
            </a:r>
            <a:endParaRPr lang="en-US" sz="1600" dirty="0"/>
          </a:p>
        </p:txBody>
      </p:sp>
      <p:sp>
        <p:nvSpPr>
          <p:cNvPr id="27" name="Text 25"/>
          <p:cNvSpPr txBox="1"/>
          <p:nvPr/>
        </p:nvSpPr>
        <p:spPr>
          <a:xfrm>
            <a:off x="6446520" y="4709160"/>
            <a:ext cx="5029200" cy="960120"/>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chemeClr val="tx1"/>
                </a:solidFill>
              </a:rPr>
              <a:t>IT/ERP: </a:t>
            </a:r>
            <a:r>
              <a:rPr lang="en-US" sz="1200" dirty="0" err="1">
                <a:solidFill>
                  <a:schemeClr val="tx1"/>
                </a:solidFill>
              </a:rPr>
              <a:t>hindari</a:t>
            </a:r>
            <a:r>
              <a:rPr lang="en-US" sz="1200" dirty="0">
                <a:solidFill>
                  <a:schemeClr val="tx1"/>
                </a:solidFill>
              </a:rPr>
              <a:t> invoice </a:t>
            </a:r>
            <a:r>
              <a:rPr lang="en-US" sz="1200" dirty="0" err="1">
                <a:solidFill>
                  <a:schemeClr val="tx1"/>
                </a:solidFill>
              </a:rPr>
              <a:t>duplikat</a:t>
            </a:r>
            <a:r>
              <a:rPr lang="en-US" sz="1200" dirty="0">
                <a:solidFill>
                  <a:schemeClr val="tx1"/>
                </a:solidFill>
              </a:rPr>
              <a:t> </a:t>
            </a:r>
            <a:r>
              <a:rPr lang="en-US" sz="1200" dirty="0" err="1">
                <a:solidFill>
                  <a:schemeClr val="tx1"/>
                </a:solidFill>
              </a:rPr>
              <a:t>dengan</a:t>
            </a:r>
            <a:r>
              <a:rPr lang="en-US" sz="1200" dirty="0">
                <a:solidFill>
                  <a:schemeClr val="tx1"/>
                </a:solidFill>
              </a:rPr>
              <a:t> </a:t>
            </a:r>
            <a:r>
              <a:rPr lang="en-US" sz="1200" dirty="0" err="1">
                <a:solidFill>
                  <a:schemeClr val="tx1"/>
                </a:solidFill>
              </a:rPr>
              <a:t>memastikan</a:t>
            </a:r>
            <a:r>
              <a:rPr lang="en-US" sz="1200" dirty="0">
                <a:solidFill>
                  <a:schemeClr val="tx1"/>
                </a:solidFill>
              </a:rPr>
              <a:t> 1 invoice </a:t>
            </a:r>
            <a:r>
              <a:rPr lang="en-US" sz="1200" dirty="0" err="1">
                <a:solidFill>
                  <a:schemeClr val="tx1"/>
                </a:solidFill>
              </a:rPr>
              <a:t>untuk</a:t>
            </a:r>
            <a:r>
              <a:rPr lang="en-US" sz="1200" dirty="0">
                <a:solidFill>
                  <a:schemeClr val="tx1"/>
                </a:solidFill>
              </a:rPr>
              <a:t> 1 unit </a:t>
            </a:r>
            <a:r>
              <a:rPr lang="en-US" sz="1200" dirty="0" err="1">
                <a:solidFill>
                  <a:schemeClr val="tx1"/>
                </a:solidFill>
              </a:rPr>
              <a:t>dalam</a:t>
            </a:r>
            <a:r>
              <a:rPr lang="en-US" sz="1200" dirty="0">
                <a:solidFill>
                  <a:schemeClr val="tx1"/>
                </a:solidFill>
              </a:rPr>
              <a:t> 1 </a:t>
            </a:r>
            <a:r>
              <a:rPr lang="en-US" sz="1200" dirty="0" err="1">
                <a:solidFill>
                  <a:schemeClr val="tx1"/>
                </a:solidFill>
              </a:rPr>
              <a:t>bulan</a:t>
            </a:r>
            <a:endParaRPr lang="en-US" sz="1200" dirty="0"/>
          </a:p>
          <a:p>
            <a:pPr marL="342900" indent="-342900">
              <a:spcAft>
                <a:spcPts val="200"/>
              </a:spcAft>
              <a:buSzPct val="100000"/>
              <a:buChar char="•"/>
            </a:pPr>
            <a:r>
              <a:rPr lang="en-US" sz="1200" dirty="0">
                <a:solidFill>
                  <a:schemeClr val="tx1"/>
                </a:solidFill>
              </a:rPr>
              <a:t>IT/ERP: input metode bayar </a:t>
            </a:r>
            <a:r>
              <a:rPr lang="en-US" sz="1200" dirty="0" err="1">
                <a:solidFill>
                  <a:schemeClr val="tx1"/>
                </a:solidFill>
              </a:rPr>
              <a:t>berbasis</a:t>
            </a:r>
            <a:r>
              <a:rPr lang="en-US" sz="1200" dirty="0">
                <a:solidFill>
                  <a:schemeClr val="tx1"/>
                </a:solidFill>
              </a:rPr>
              <a:t> </a:t>
            </a:r>
            <a:r>
              <a:rPr lang="en-US" sz="1200" dirty="0" err="1">
                <a:solidFill>
                  <a:schemeClr val="tx1"/>
                </a:solidFill>
              </a:rPr>
              <a:t>standarisasi</a:t>
            </a:r>
            <a:endParaRPr lang="en-US" sz="1200" dirty="0"/>
          </a:p>
          <a:p>
            <a:pPr marL="342900" indent="-342900">
              <a:spcAft>
                <a:spcPts val="200"/>
              </a:spcAft>
              <a:buSzPct val="100000"/>
              <a:buChar char="•"/>
            </a:pPr>
            <a:r>
              <a:rPr lang="en-US" sz="1200" dirty="0">
                <a:solidFill>
                  <a:schemeClr val="tx1"/>
                </a:solidFill>
              </a:rPr>
              <a:t>Estate Ops: validasi 3.789 anomali air dengan bukti meter</a:t>
            </a:r>
            <a:endParaRPr lang="en-US" sz="1200" dirty="0"/>
          </a:p>
        </p:txBody>
      </p:sp>
      <p:sp>
        <p:nvSpPr>
          <p:cNvPr id="29"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27</a:t>
            </a:fld>
            <a:endParaRPr lang="en-US"/>
          </a:p>
        </p:txBody>
      </p:sp>
      <p:sp>
        <p:nvSpPr>
          <p:cNvPr id="31" name="Text Placeholder 30">
            <a:extLst>
              <a:ext uri="{FF2B5EF4-FFF2-40B4-BE49-F238E27FC236}">
                <a16:creationId xmlns:a16="http://schemas.microsoft.com/office/drawing/2014/main" id="{E1A69F36-BB9F-42B8-95A3-4D760BB3F225}"/>
              </a:ext>
            </a:extLst>
          </p:cNvPr>
          <p:cNvSpPr>
            <a:spLocks noGrp="1"/>
          </p:cNvSpPr>
          <p:nvPr>
            <p:ph type="body" idx="102"/>
          </p:nvPr>
        </p:nvSpPr>
        <p:spPr/>
        <p:txBody>
          <a:bodyPr/>
          <a:lstStyle/>
          <a:p>
            <a:endParaRPr lang="id-ID"/>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ROADMAP DUA KUARTAL</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err="1">
                <a:solidFill>
                  <a:schemeClr val="tx2"/>
                </a:solidFill>
              </a:rPr>
              <a:t>Bulan</a:t>
            </a:r>
            <a:r>
              <a:rPr lang="en-US" sz="2600" b="1" dirty="0">
                <a:solidFill>
                  <a:schemeClr val="tx2"/>
                </a:solidFill>
              </a:rPr>
              <a:t> </a:t>
            </a:r>
            <a:r>
              <a:rPr lang="id-ID" sz="2600" b="1" dirty="0">
                <a:solidFill>
                  <a:schemeClr val="tx2"/>
                </a:solidFill>
              </a:rPr>
              <a:t>pertama</a:t>
            </a:r>
            <a:r>
              <a:rPr lang="en-US" sz="2600" b="1" dirty="0">
                <a:solidFill>
                  <a:schemeClr val="tx2"/>
                </a:solidFill>
              </a:rPr>
              <a:t> untuk fondasi, sisa Q1 untuk pilot, Q2 untuk evaluasi dan perluasan berbasis hasil</a:t>
            </a:r>
            <a:endParaRPr lang="en-US" sz="2600" dirty="0"/>
          </a:p>
        </p:txBody>
      </p:sp>
      <p:sp>
        <p:nvSpPr>
          <p:cNvPr id="6" name="penanda 1"/>
          <p:cNvSpPr txBox="1"/>
          <p:nvPr/>
        </p:nvSpPr>
        <p:spPr>
          <a:xfrm>
            <a:off x="731520" y="1627632"/>
            <a:ext cx="411480" cy="411480"/>
          </a:xfrm>
          <a:prstGeom prst="ellipse">
            <a:avLst/>
          </a:prstGeom>
          <a:solidFill>
            <a:schemeClr val="tx2"/>
          </a:solid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7" name="label fase"/>
          <p:cNvSpPr txBox="1"/>
          <p:nvPr/>
        </p:nvSpPr>
        <p:spPr>
          <a:xfrm>
            <a:off x="1188720" y="1645920"/>
            <a:ext cx="1969150" cy="365760"/>
          </a:xfrm>
          <a:prstGeom prst="rect">
            <a:avLst/>
          </a:prstGeom>
          <a:solidFill>
            <a:srgbClr val="FFFFFF"/>
          </a:solidFill>
          <a:ln/>
        </p:spPr>
        <p:txBody>
          <a:bodyPr wrap="square" lIns="0" tIns="1270" rIns="1270" bIns="0" rtlCol="0" anchor="ctr"/>
          <a:lstStyle/>
          <a:p>
            <a:pPr marL="0" indent="0">
              <a:buNone/>
            </a:pPr>
            <a:r>
              <a:rPr lang="en-US" sz="1100" b="1" kern="0" spc="100" dirty="0">
                <a:solidFill>
                  <a:schemeClr val="accent3"/>
                </a:solidFill>
              </a:rPr>
              <a:t>BULAN 1</a:t>
            </a:r>
            <a:endParaRPr lang="en-US" sz="1100" dirty="0"/>
          </a:p>
        </p:txBody>
      </p:sp>
      <p:sp>
        <p:nvSpPr>
          <p:cNvPr id="8" name="fase Fondasi"/>
          <p:cNvSpPr/>
          <p:nvPr/>
        </p:nvSpPr>
        <p:spPr>
          <a:xfrm>
            <a:off x="548640" y="2240280"/>
            <a:ext cx="3547872" cy="3977640"/>
          </a:xfrm>
          <a:prstGeom prst="roundRect">
            <a:avLst>
              <a:gd name="adj" fmla="val 2062"/>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9" name="Text 7"/>
          <p:cNvSpPr txBox="1"/>
          <p:nvPr/>
        </p:nvSpPr>
        <p:spPr>
          <a:xfrm>
            <a:off x="822960" y="2395728"/>
            <a:ext cx="3017520" cy="457200"/>
          </a:xfrm>
          <a:prstGeom prst="rect">
            <a:avLst/>
          </a:prstGeom>
          <a:noFill/>
          <a:ln/>
        </p:spPr>
        <p:txBody>
          <a:bodyPr wrap="square" lIns="0" tIns="0" rIns="0" bIns="0" rtlCol="0" anchor="t"/>
          <a:lstStyle/>
          <a:p>
            <a:pPr marL="0" indent="0">
              <a:buNone/>
            </a:pPr>
            <a:r>
              <a:rPr lang="en-US" sz="2000" b="1" dirty="0">
                <a:solidFill>
                  <a:schemeClr val="tx2"/>
                </a:solidFill>
              </a:rPr>
              <a:t>Fondasi</a:t>
            </a:r>
            <a:endParaRPr lang="en-US" sz="2000" dirty="0"/>
          </a:p>
        </p:txBody>
      </p:sp>
      <p:sp>
        <p:nvSpPr>
          <p:cNvPr id="10" name="Text 8"/>
          <p:cNvSpPr txBox="1"/>
          <p:nvPr/>
        </p:nvSpPr>
        <p:spPr>
          <a:xfrm>
            <a:off x="822960" y="2926080"/>
            <a:ext cx="3063240" cy="2331720"/>
          </a:xfrm>
          <a:prstGeom prst="rect">
            <a:avLst/>
          </a:prstGeom>
          <a:noFill/>
          <a:ln/>
        </p:spPr>
        <p:txBody>
          <a:bodyPr wrap="square" lIns="0" tIns="0" rIns="0" bIns="0" rtlCol="0" anchor="t"/>
          <a:lstStyle/>
          <a:p>
            <a:pPr marL="342900" indent="-342900">
              <a:spcAft>
                <a:spcPts val="600"/>
              </a:spcAft>
              <a:buSzPct val="100000"/>
              <a:buChar char="•"/>
            </a:pPr>
            <a:r>
              <a:rPr lang="en-US" sz="1300" dirty="0" err="1">
                <a:solidFill>
                  <a:schemeClr val="tx1"/>
                </a:solidFill>
              </a:rPr>
              <a:t>Persetujuan</a:t>
            </a:r>
            <a:r>
              <a:rPr lang="en-US" sz="1300" dirty="0">
                <a:solidFill>
                  <a:schemeClr val="tx1"/>
                </a:solidFill>
              </a:rPr>
              <a:t> pilot</a:t>
            </a:r>
            <a:r>
              <a:rPr lang="en-US" sz="1300" dirty="0"/>
              <a:t> </a:t>
            </a:r>
            <a:r>
              <a:rPr lang="en-US" sz="1300" dirty="0" err="1"/>
              <a:t>kampanye</a:t>
            </a:r>
            <a:r>
              <a:rPr lang="en-US" sz="1300" dirty="0"/>
              <a:t> </a:t>
            </a:r>
            <a:r>
              <a:rPr lang="en-US" sz="1300" dirty="0" err="1"/>
              <a:t>autodebit</a:t>
            </a:r>
            <a:endParaRPr lang="en-US" sz="1300" dirty="0">
              <a:solidFill>
                <a:schemeClr val="tx1"/>
              </a:solidFill>
            </a:endParaRPr>
          </a:p>
          <a:p>
            <a:pPr marL="342900" indent="-342900">
              <a:spcAft>
                <a:spcPts val="600"/>
              </a:spcAft>
              <a:buSzPct val="100000"/>
              <a:buChar char="•"/>
            </a:pPr>
            <a:r>
              <a:rPr lang="en-US" sz="1300" dirty="0" err="1">
                <a:solidFill>
                  <a:schemeClr val="tx1"/>
                </a:solidFill>
              </a:rPr>
              <a:t>Menindaklanjuti</a:t>
            </a:r>
            <a:r>
              <a:rPr lang="en-US" sz="1300" dirty="0">
                <a:solidFill>
                  <a:schemeClr val="tx1"/>
                </a:solidFill>
              </a:rPr>
              <a:t> </a:t>
            </a:r>
            <a:r>
              <a:rPr lang="en-US" sz="1300" dirty="0" err="1">
                <a:solidFill>
                  <a:schemeClr val="tx1"/>
                </a:solidFill>
              </a:rPr>
              <a:t>metode</a:t>
            </a:r>
            <a:r>
              <a:rPr lang="en-US" sz="1300" dirty="0">
                <a:solidFill>
                  <a:schemeClr val="tx1"/>
                </a:solidFill>
              </a:rPr>
              <a:t> </a:t>
            </a:r>
            <a:r>
              <a:rPr lang="en-US" sz="1300" dirty="0" err="1">
                <a:solidFill>
                  <a:schemeClr val="tx1"/>
                </a:solidFill>
              </a:rPr>
              <a:t>pembayaran</a:t>
            </a:r>
            <a:r>
              <a:rPr lang="en-US" sz="1300" dirty="0">
                <a:solidFill>
                  <a:schemeClr val="tx1"/>
                </a:solidFill>
              </a:rPr>
              <a:t> </a:t>
            </a:r>
            <a:r>
              <a:rPr lang="en-US" sz="1300" dirty="0" err="1">
                <a:solidFill>
                  <a:schemeClr val="tx1"/>
                </a:solidFill>
              </a:rPr>
              <a:t>Memvalidasi</a:t>
            </a:r>
            <a:r>
              <a:rPr lang="en-US" sz="1300" dirty="0">
                <a:solidFill>
                  <a:schemeClr val="tx1"/>
                </a:solidFill>
              </a:rPr>
              <a:t> </a:t>
            </a:r>
            <a:r>
              <a:rPr lang="en-US" sz="1300" dirty="0" err="1">
                <a:solidFill>
                  <a:schemeClr val="tx1"/>
                </a:solidFill>
              </a:rPr>
              <a:t>kontak</a:t>
            </a:r>
            <a:r>
              <a:rPr lang="en-US" sz="1300" dirty="0">
                <a:solidFill>
                  <a:schemeClr val="tx1"/>
                </a:solidFill>
              </a:rPr>
              <a:t> yang </a:t>
            </a:r>
            <a:r>
              <a:rPr lang="en-US" sz="1300" dirty="0" err="1">
                <a:solidFill>
                  <a:schemeClr val="tx1"/>
                </a:solidFill>
              </a:rPr>
              <a:t>belum</a:t>
            </a:r>
            <a:r>
              <a:rPr lang="en-US" sz="1300" dirty="0">
                <a:solidFill>
                  <a:schemeClr val="tx1"/>
                </a:solidFill>
              </a:rPr>
              <a:t> </a:t>
            </a:r>
            <a:r>
              <a:rPr lang="en-US" sz="1300" dirty="0" err="1">
                <a:solidFill>
                  <a:schemeClr val="tx1"/>
                </a:solidFill>
              </a:rPr>
              <a:t>terverifikasi</a:t>
            </a:r>
            <a:endParaRPr lang="en-US" sz="1300" dirty="0"/>
          </a:p>
        </p:txBody>
      </p:sp>
      <p:sp>
        <p:nvSpPr>
          <p:cNvPr id="13" name="penanda 2"/>
          <p:cNvSpPr txBox="1"/>
          <p:nvPr/>
        </p:nvSpPr>
        <p:spPr>
          <a:xfrm>
            <a:off x="4480560" y="1627632"/>
            <a:ext cx="411480" cy="411480"/>
          </a:xfrm>
          <a:prstGeom prst="ellipse">
            <a:avLst/>
          </a:prstGeom>
          <a:solidFill>
            <a:schemeClr val="accent2"/>
          </a:solidFill>
          <a:ln/>
        </p:spPr>
        <p:txBody>
          <a:bodyPr wrap="square" lIns="0" tIns="0" rIns="0" bIns="0" rtlCol="0" anchor="ctr"/>
          <a:lstStyle/>
          <a:p>
            <a:pPr marL="0" indent="0" algn="ctr">
              <a:buNone/>
            </a:pPr>
            <a:r>
              <a:rPr lang="en-US" sz="1300" b="1" dirty="0">
                <a:solidFill>
                  <a:schemeClr val="tx2"/>
                </a:solidFill>
              </a:rPr>
              <a:t>2</a:t>
            </a:r>
            <a:endParaRPr lang="en-US" sz="1300" dirty="0"/>
          </a:p>
        </p:txBody>
      </p:sp>
      <p:sp>
        <p:nvSpPr>
          <p:cNvPr id="14" name="label fase"/>
          <p:cNvSpPr txBox="1"/>
          <p:nvPr/>
        </p:nvSpPr>
        <p:spPr>
          <a:xfrm>
            <a:off x="4937760" y="1645920"/>
            <a:ext cx="1158240" cy="365760"/>
          </a:xfrm>
          <a:prstGeom prst="rect">
            <a:avLst/>
          </a:prstGeom>
          <a:solidFill>
            <a:srgbClr val="FFFFFF"/>
          </a:solidFill>
          <a:ln/>
        </p:spPr>
        <p:txBody>
          <a:bodyPr wrap="square" lIns="0" tIns="1270" rIns="1270" bIns="0" rtlCol="0" anchor="ctr"/>
          <a:lstStyle/>
          <a:p>
            <a:pPr marL="0" indent="0">
              <a:buNone/>
            </a:pPr>
            <a:r>
              <a:rPr lang="en-US" sz="1100" b="1" kern="0" spc="100" dirty="0">
                <a:solidFill>
                  <a:schemeClr val="accent3"/>
                </a:solidFill>
              </a:rPr>
              <a:t>BULAN 2–3</a:t>
            </a:r>
            <a:endParaRPr lang="en-US" sz="1100" dirty="0"/>
          </a:p>
        </p:txBody>
      </p:sp>
      <p:sp>
        <p:nvSpPr>
          <p:cNvPr id="15" name="fase Pilot berjalan"/>
          <p:cNvSpPr/>
          <p:nvPr/>
        </p:nvSpPr>
        <p:spPr>
          <a:xfrm>
            <a:off x="4297680" y="2240280"/>
            <a:ext cx="3547872" cy="3977640"/>
          </a:xfrm>
          <a:prstGeom prst="roundRect">
            <a:avLst>
              <a:gd name="adj" fmla="val 2062"/>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6" name="Text 14"/>
          <p:cNvSpPr txBox="1"/>
          <p:nvPr/>
        </p:nvSpPr>
        <p:spPr>
          <a:xfrm>
            <a:off x="4572000" y="2395728"/>
            <a:ext cx="3017520" cy="457200"/>
          </a:xfrm>
          <a:prstGeom prst="rect">
            <a:avLst/>
          </a:prstGeom>
          <a:noFill/>
          <a:ln/>
        </p:spPr>
        <p:txBody>
          <a:bodyPr wrap="square" lIns="0" tIns="0" rIns="0" bIns="0" rtlCol="0" anchor="t"/>
          <a:lstStyle/>
          <a:p>
            <a:pPr marL="0" indent="0">
              <a:buNone/>
            </a:pPr>
            <a:r>
              <a:rPr lang="en-US" sz="2000" b="1" dirty="0">
                <a:solidFill>
                  <a:schemeClr val="tx2"/>
                </a:solidFill>
              </a:rPr>
              <a:t>Pilot</a:t>
            </a:r>
            <a:r>
              <a:rPr lang="id-ID" sz="2000" b="1" dirty="0">
                <a:solidFill>
                  <a:schemeClr val="tx2"/>
                </a:solidFill>
              </a:rPr>
              <a:t> project</a:t>
            </a:r>
            <a:r>
              <a:rPr lang="en-US" sz="2000" b="1" dirty="0">
                <a:solidFill>
                  <a:schemeClr val="tx2"/>
                </a:solidFill>
              </a:rPr>
              <a:t> berjalan</a:t>
            </a:r>
            <a:endParaRPr lang="en-US" sz="2000" dirty="0"/>
          </a:p>
        </p:txBody>
      </p:sp>
      <p:sp>
        <p:nvSpPr>
          <p:cNvPr id="17" name="Text 15"/>
          <p:cNvSpPr txBox="1"/>
          <p:nvPr/>
        </p:nvSpPr>
        <p:spPr>
          <a:xfrm>
            <a:off x="4572000" y="2926080"/>
            <a:ext cx="3063240" cy="23317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Autodebit pada unit pilot</a:t>
            </a:r>
            <a:r>
              <a:rPr lang="id-ID" sz="1300" dirty="0">
                <a:solidFill>
                  <a:schemeClr val="tx1"/>
                </a:solidFill>
              </a:rPr>
              <a:t> project</a:t>
            </a:r>
            <a:endParaRPr lang="en-US" sz="1300" dirty="0"/>
          </a:p>
          <a:p>
            <a:pPr marL="342900" indent="-342900">
              <a:spcAft>
                <a:spcPts val="600"/>
              </a:spcAft>
              <a:buSzPct val="100000"/>
              <a:buChar char="•"/>
            </a:pPr>
            <a:r>
              <a:rPr lang="en-US" sz="1300" dirty="0">
                <a:solidFill>
                  <a:schemeClr val="tx1"/>
                </a:solidFill>
              </a:rPr>
              <a:t>Penagihan Tier 1; verifikasi kontak Tier 2</a:t>
            </a:r>
            <a:endParaRPr lang="en-US" sz="1300" dirty="0"/>
          </a:p>
          <a:p>
            <a:pPr marL="342900" indent="-342900">
              <a:spcAft>
                <a:spcPts val="600"/>
              </a:spcAft>
              <a:buSzPct val="100000"/>
              <a:buChar char="•"/>
            </a:pPr>
            <a:r>
              <a:rPr lang="en-US" sz="1300" dirty="0">
                <a:solidFill>
                  <a:schemeClr val="tx1"/>
                </a:solidFill>
              </a:rPr>
              <a:t>Kontrol invoice ganda &amp; validasi meter</a:t>
            </a:r>
            <a:endParaRPr lang="en-US" sz="1300" dirty="0"/>
          </a:p>
          <a:p>
            <a:pPr marL="342900" indent="-342900">
              <a:spcAft>
                <a:spcPts val="600"/>
              </a:spcAft>
              <a:buSzPct val="100000"/>
              <a:buChar char="•"/>
            </a:pPr>
            <a:r>
              <a:rPr lang="en-US" sz="1300" dirty="0">
                <a:solidFill>
                  <a:schemeClr val="tx1"/>
                </a:solidFill>
              </a:rPr>
              <a:t>Standar 4 kode metode bayar</a:t>
            </a:r>
            <a:endParaRPr lang="en-US" sz="1300" dirty="0"/>
          </a:p>
        </p:txBody>
      </p:sp>
      <p:sp>
        <p:nvSpPr>
          <p:cNvPr id="20" name="penanda 3"/>
          <p:cNvSpPr txBox="1"/>
          <p:nvPr/>
        </p:nvSpPr>
        <p:spPr>
          <a:xfrm>
            <a:off x="8229600" y="1627632"/>
            <a:ext cx="411480" cy="411480"/>
          </a:xfrm>
          <a:prstGeom prst="ellipse">
            <a:avLst/>
          </a:prstGeom>
          <a:solidFill>
            <a:schemeClr val="tx2"/>
          </a:solid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21" name="label fase"/>
          <p:cNvSpPr txBox="1"/>
          <p:nvPr/>
        </p:nvSpPr>
        <p:spPr>
          <a:xfrm>
            <a:off x="8686800" y="1645920"/>
            <a:ext cx="2651760" cy="365760"/>
          </a:xfrm>
          <a:prstGeom prst="rect">
            <a:avLst/>
          </a:prstGeom>
          <a:solidFill>
            <a:srgbClr val="FFFFFF"/>
          </a:solidFill>
          <a:ln/>
        </p:spPr>
        <p:txBody>
          <a:bodyPr wrap="square" lIns="0" tIns="1270" rIns="1270" bIns="0" rtlCol="0" anchor="ctr"/>
          <a:lstStyle/>
          <a:p>
            <a:pPr marL="0" indent="0">
              <a:buNone/>
            </a:pPr>
            <a:r>
              <a:rPr lang="en-US" sz="1100" b="1" kern="0" spc="100" dirty="0">
                <a:solidFill>
                  <a:schemeClr val="accent3"/>
                </a:solidFill>
              </a:rPr>
              <a:t>Q2</a:t>
            </a:r>
            <a:endParaRPr lang="en-US" sz="1100" dirty="0"/>
          </a:p>
        </p:txBody>
      </p:sp>
      <p:sp>
        <p:nvSpPr>
          <p:cNvPr id="22" name="fase Evaluasi &amp; perluasan"/>
          <p:cNvSpPr/>
          <p:nvPr/>
        </p:nvSpPr>
        <p:spPr>
          <a:xfrm>
            <a:off x="8046720" y="2240280"/>
            <a:ext cx="3547872" cy="3977640"/>
          </a:xfrm>
          <a:prstGeom prst="roundRect">
            <a:avLst>
              <a:gd name="adj" fmla="val 2062"/>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23" name="Text 21"/>
          <p:cNvSpPr txBox="1"/>
          <p:nvPr/>
        </p:nvSpPr>
        <p:spPr>
          <a:xfrm>
            <a:off x="8321040" y="2395728"/>
            <a:ext cx="3017520" cy="457200"/>
          </a:xfrm>
          <a:prstGeom prst="rect">
            <a:avLst/>
          </a:prstGeom>
          <a:noFill/>
          <a:ln/>
        </p:spPr>
        <p:txBody>
          <a:bodyPr wrap="square" lIns="0" tIns="0" rIns="0" bIns="0" rtlCol="0" anchor="t"/>
          <a:lstStyle/>
          <a:p>
            <a:pPr marL="0" indent="0">
              <a:buNone/>
            </a:pPr>
            <a:r>
              <a:rPr lang="en-US" sz="2000" b="1" dirty="0">
                <a:solidFill>
                  <a:schemeClr val="tx2"/>
                </a:solidFill>
              </a:rPr>
              <a:t>Evaluasi &amp; perluasan</a:t>
            </a:r>
            <a:endParaRPr lang="en-US" sz="2000" dirty="0"/>
          </a:p>
        </p:txBody>
      </p:sp>
      <p:sp>
        <p:nvSpPr>
          <p:cNvPr id="24" name="Text 22"/>
          <p:cNvSpPr txBox="1"/>
          <p:nvPr/>
        </p:nvSpPr>
        <p:spPr>
          <a:xfrm>
            <a:off x="8321040" y="2926080"/>
            <a:ext cx="3063240" cy="23317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Bandingkan pilot vs grup kontrol</a:t>
            </a:r>
            <a:endParaRPr lang="en-US" sz="1300" dirty="0"/>
          </a:p>
          <a:p>
            <a:pPr marL="342900" indent="-342900">
              <a:spcAft>
                <a:spcPts val="600"/>
              </a:spcAft>
              <a:buSzPct val="100000"/>
              <a:buChar char="•"/>
            </a:pPr>
            <a:r>
              <a:rPr lang="en-US" sz="1300" dirty="0">
                <a:solidFill>
                  <a:schemeClr val="tx1"/>
                </a:solidFill>
              </a:rPr>
              <a:t>Perluas hanya program yang terbukti</a:t>
            </a:r>
            <a:endParaRPr lang="en-US" sz="1300" dirty="0"/>
          </a:p>
          <a:p>
            <a:pPr marL="342900" indent="-342900">
              <a:spcAft>
                <a:spcPts val="600"/>
              </a:spcAft>
              <a:buSzPct val="100000"/>
              <a:buChar char="•"/>
            </a:pPr>
            <a:r>
              <a:rPr lang="en-US" sz="1300" dirty="0">
                <a:solidFill>
                  <a:schemeClr val="tx1"/>
                </a:solidFill>
              </a:rPr>
              <a:t>Program pemulihan tunggakan lama (terpisah)</a:t>
            </a:r>
            <a:endParaRPr lang="en-US" sz="1300" dirty="0"/>
          </a:p>
          <a:p>
            <a:pPr marL="342900" indent="-342900">
              <a:spcAft>
                <a:spcPts val="600"/>
              </a:spcAft>
              <a:buSzPct val="100000"/>
              <a:buChar char="•"/>
            </a:pPr>
            <a:r>
              <a:rPr lang="en-US" sz="1300" dirty="0">
                <a:solidFill>
                  <a:schemeClr val="tx1"/>
                </a:solidFill>
              </a:rPr>
              <a:t>Tetapkan target resmi</a:t>
            </a:r>
            <a:endParaRPr lang="en-US" sz="1300" dirty="0"/>
          </a:p>
        </p:txBody>
      </p:sp>
      <p:sp>
        <p:nvSpPr>
          <p:cNvPr id="27"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28</a:t>
            </a:fld>
            <a:endParaRPr lang="en-US"/>
          </a:p>
        </p:txBody>
      </p:sp>
      <p:sp>
        <p:nvSpPr>
          <p:cNvPr id="29" name="Text Placeholder 28">
            <a:extLst>
              <a:ext uri="{FF2B5EF4-FFF2-40B4-BE49-F238E27FC236}">
                <a16:creationId xmlns:a16="http://schemas.microsoft.com/office/drawing/2014/main" id="{CA75B21E-FB7C-4CD9-A1BD-7EBB9B9FE3D7}"/>
              </a:ext>
            </a:extLst>
          </p:cNvPr>
          <p:cNvSpPr>
            <a:spLocks noGrp="1"/>
          </p:cNvSpPr>
          <p:nvPr>
            <p:ph type="body" idx="102"/>
          </p:nvPr>
        </p:nvSpPr>
        <p:spPr/>
        <p:txBody>
          <a:bodyPr/>
          <a:lstStyle/>
          <a:p>
            <a:endParaRPr lang="id-ID"/>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lustrasi kota mandiri" descr="/home/claude/deck2/img/cover.jpg"/>
          <p:cNvPicPr>
            <a:picLocks noChangeAspect="1"/>
          </p:cNvPicPr>
          <p:nvPr/>
        </p:nvPicPr>
        <p:blipFill>
          <a:blip r:embed="rId3"/>
          <a:stretch>
            <a:fillRect/>
          </a:stretch>
        </p:blipFill>
        <p:spPr>
          <a:xfrm>
            <a:off x="0" y="0"/>
            <a:ext cx="12191695" cy="6858000"/>
          </a:xfrm>
          <a:prstGeom prst="rect">
            <a:avLst/>
          </a:prstGeom>
        </p:spPr>
      </p:pic>
      <p:sp>
        <p:nvSpPr>
          <p:cNvPr id="3" name="lapisan gelap"/>
          <p:cNvSpPr/>
          <p:nvPr/>
        </p:nvSpPr>
        <p:spPr>
          <a:xfrm>
            <a:off x="0" y="0"/>
            <a:ext cx="12191695" cy="6858000"/>
          </a:xfrm>
          <a:prstGeom prst="rect">
            <a:avLst/>
          </a:prstGeom>
          <a:solidFill>
            <a:srgbClr val="13294B">
              <a:alpha val="85000"/>
            </a:srgbClr>
          </a:solidFill>
          <a:ln/>
        </p:spPr>
        <p:txBody>
          <a:bodyPr/>
          <a:lstStyle/>
          <a:p>
            <a:endParaRPr lang="en-US"/>
          </a:p>
        </p:txBody>
      </p:sp>
      <p:sp>
        <p:nvSpPr>
          <p:cNvPr id="4" name="Text 1"/>
          <p:cNvSpPr txBox="1"/>
          <p:nvPr/>
        </p:nvSpPr>
        <p:spPr>
          <a:xfrm>
            <a:off x="731520" y="1737360"/>
            <a:ext cx="10698480" cy="1097280"/>
          </a:xfrm>
          <a:prstGeom prst="rect">
            <a:avLst/>
          </a:prstGeom>
          <a:noFill/>
          <a:ln/>
        </p:spPr>
        <p:txBody>
          <a:bodyPr wrap="square" lIns="0" tIns="0" rIns="0" bIns="0" rtlCol="0" anchor="t"/>
          <a:lstStyle/>
          <a:p>
            <a:pPr marL="0" indent="0">
              <a:buNone/>
            </a:pPr>
            <a:r>
              <a:rPr lang="en-US" sz="4800" b="1" dirty="0">
                <a:solidFill>
                  <a:schemeClr val="bg1"/>
                </a:solidFill>
              </a:rPr>
              <a:t>Terima kasih</a:t>
            </a:r>
            <a:endParaRPr lang="en-US" sz="4800" dirty="0"/>
          </a:p>
        </p:txBody>
      </p:sp>
      <p:sp>
        <p:nvSpPr>
          <p:cNvPr id="5" name="Text 2"/>
          <p:cNvSpPr txBox="1"/>
          <p:nvPr/>
        </p:nvSpPr>
        <p:spPr>
          <a:xfrm>
            <a:off x="731520" y="2880360"/>
            <a:ext cx="9601200" cy="548640"/>
          </a:xfrm>
          <a:prstGeom prst="rect">
            <a:avLst/>
          </a:prstGeom>
          <a:noFill/>
          <a:ln/>
        </p:spPr>
        <p:txBody>
          <a:bodyPr wrap="square" lIns="0" tIns="0" rIns="0" bIns="0" rtlCol="0" anchor="t"/>
          <a:lstStyle/>
          <a:p>
            <a:r>
              <a:rPr lang="en-US" sz="2200" dirty="0" err="1">
                <a:solidFill>
                  <a:schemeClr val="accent2"/>
                </a:solidFill>
              </a:rPr>
              <a:t>Saatnya</a:t>
            </a:r>
            <a:r>
              <a:rPr lang="en-US" sz="2200" dirty="0">
                <a:solidFill>
                  <a:schemeClr val="accent2"/>
                </a:solidFill>
              </a:rPr>
              <a:t> </a:t>
            </a:r>
            <a:r>
              <a:rPr lang="en-US" sz="2200" dirty="0" err="1">
                <a:solidFill>
                  <a:schemeClr val="accent2"/>
                </a:solidFill>
              </a:rPr>
              <a:t>Beralih</a:t>
            </a:r>
            <a:r>
              <a:rPr lang="en-US" sz="2200" dirty="0">
                <a:solidFill>
                  <a:schemeClr val="accent2"/>
                </a:solidFill>
              </a:rPr>
              <a:t> </a:t>
            </a:r>
            <a:r>
              <a:rPr lang="en-US" sz="2200" dirty="0" err="1">
                <a:solidFill>
                  <a:schemeClr val="accent2"/>
                </a:solidFill>
              </a:rPr>
              <a:t>dari</a:t>
            </a:r>
            <a:r>
              <a:rPr lang="en-US" sz="2200" dirty="0">
                <a:solidFill>
                  <a:schemeClr val="accent2"/>
                </a:solidFill>
              </a:rPr>
              <a:t> </a:t>
            </a:r>
            <a:r>
              <a:rPr lang="en-US" sz="2200" dirty="0" err="1">
                <a:solidFill>
                  <a:schemeClr val="accent2"/>
                </a:solidFill>
              </a:rPr>
              <a:t>Menagih</a:t>
            </a:r>
            <a:r>
              <a:rPr lang="en-US" sz="2200" dirty="0">
                <a:solidFill>
                  <a:schemeClr val="accent2"/>
                </a:solidFill>
              </a:rPr>
              <a:t> </a:t>
            </a:r>
            <a:r>
              <a:rPr lang="en-US" sz="2200" dirty="0" err="1">
                <a:solidFill>
                  <a:schemeClr val="accent2"/>
                </a:solidFill>
              </a:rPr>
              <a:t>ke</a:t>
            </a:r>
            <a:r>
              <a:rPr lang="en-US" sz="2200" dirty="0">
                <a:solidFill>
                  <a:schemeClr val="accent2"/>
                </a:solidFill>
              </a:rPr>
              <a:t> </a:t>
            </a:r>
            <a:r>
              <a:rPr lang="en-US" sz="2200" dirty="0" err="1">
                <a:solidFill>
                  <a:schemeClr val="accent2"/>
                </a:solidFill>
              </a:rPr>
              <a:t>Mencegah</a:t>
            </a:r>
            <a:endParaRPr lang="en-US" sz="2200" dirty="0"/>
          </a:p>
        </p:txBody>
      </p:sp>
      <p:sp>
        <p:nvSpPr>
          <p:cNvPr id="6" name="Text 3"/>
          <p:cNvSpPr txBox="1"/>
          <p:nvPr/>
        </p:nvSpPr>
        <p:spPr>
          <a:xfrm>
            <a:off x="731520" y="3849425"/>
            <a:ext cx="9601200" cy="822960"/>
          </a:xfrm>
          <a:prstGeom prst="rect">
            <a:avLst/>
          </a:prstGeom>
          <a:noFill/>
          <a:ln/>
        </p:spPr>
        <p:txBody>
          <a:bodyPr wrap="square" lIns="0" tIns="0" rIns="0" bIns="0" rtlCol="0" anchor="t"/>
          <a:lstStyle/>
          <a:p>
            <a:r>
              <a:rPr lang="en-US" sz="1700" dirty="0" err="1">
                <a:solidFill>
                  <a:schemeClr val="bg1"/>
                </a:solidFill>
              </a:rPr>
              <a:t>Cegah</a:t>
            </a:r>
            <a:r>
              <a:rPr lang="en-US" sz="1700" dirty="0">
                <a:solidFill>
                  <a:schemeClr val="bg1"/>
                </a:solidFill>
              </a:rPr>
              <a:t> NPI </a:t>
            </a:r>
            <a:r>
              <a:rPr lang="en-US" sz="1700" dirty="0" err="1">
                <a:solidFill>
                  <a:schemeClr val="bg1"/>
                </a:solidFill>
              </a:rPr>
              <a:t>baru</a:t>
            </a:r>
            <a:r>
              <a:rPr lang="en-US" sz="1700" dirty="0">
                <a:solidFill>
                  <a:schemeClr val="bg1"/>
                </a:solidFill>
              </a:rPr>
              <a:t>, </a:t>
            </a:r>
            <a:r>
              <a:rPr lang="en-US" sz="1700" dirty="0" err="1">
                <a:solidFill>
                  <a:schemeClr val="bg1"/>
                </a:solidFill>
              </a:rPr>
              <a:t>rapikan</a:t>
            </a:r>
            <a:r>
              <a:rPr lang="en-US" sz="1700" dirty="0">
                <a:solidFill>
                  <a:schemeClr val="bg1"/>
                </a:solidFill>
              </a:rPr>
              <a:t> data, dan uji </a:t>
            </a:r>
            <a:r>
              <a:rPr lang="en-US" sz="1700" dirty="0" err="1">
                <a:solidFill>
                  <a:schemeClr val="bg1"/>
                </a:solidFill>
              </a:rPr>
              <a:t>dampak</a:t>
            </a:r>
            <a:r>
              <a:rPr lang="en-US" sz="1700" dirty="0">
                <a:solidFill>
                  <a:schemeClr val="bg1"/>
                </a:solidFill>
              </a:rPr>
              <a:t> </a:t>
            </a:r>
            <a:r>
              <a:rPr lang="en-US" sz="1700" dirty="0" err="1">
                <a:solidFill>
                  <a:schemeClr val="bg1"/>
                </a:solidFill>
              </a:rPr>
              <a:t>lewat</a:t>
            </a:r>
            <a:r>
              <a:rPr lang="en-US" sz="1700" dirty="0">
                <a:solidFill>
                  <a:schemeClr val="bg1"/>
                </a:solidFill>
              </a:rPr>
              <a:t> pilot </a:t>
            </a:r>
            <a:r>
              <a:rPr lang="id-ID" sz="1700" dirty="0">
                <a:solidFill>
                  <a:schemeClr val="bg1"/>
                </a:solidFill>
              </a:rPr>
              <a:t>project </a:t>
            </a:r>
            <a:r>
              <a:rPr lang="en-US" sz="1700" dirty="0" err="1">
                <a:solidFill>
                  <a:schemeClr val="bg1"/>
                </a:solidFill>
              </a:rPr>
              <a:t>terukur</a:t>
            </a:r>
            <a:endParaRPr lang="en-US" sz="1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lustrasi kawasan" descr="/home/claude/deck2/img/div2.jpg"/>
          <p:cNvPicPr>
            <a:picLocks noChangeAspect="1"/>
          </p:cNvPicPr>
          <p:nvPr/>
        </p:nvPicPr>
        <p:blipFill>
          <a:blip r:embed="rId3"/>
          <a:stretch>
            <a:fillRect/>
          </a:stretch>
        </p:blipFill>
        <p:spPr>
          <a:xfrm>
            <a:off x="0" y="0"/>
            <a:ext cx="12191695" cy="6858000"/>
          </a:xfrm>
          <a:prstGeom prst="rect">
            <a:avLst/>
          </a:prstGeom>
        </p:spPr>
      </p:pic>
      <p:sp>
        <p:nvSpPr>
          <p:cNvPr id="3" name="panel gelap"/>
          <p:cNvSpPr/>
          <p:nvPr/>
        </p:nvSpPr>
        <p:spPr>
          <a:xfrm>
            <a:off x="0" y="0"/>
            <a:ext cx="8138160" cy="6858000"/>
          </a:xfrm>
          <a:prstGeom prst="rect">
            <a:avLst/>
          </a:prstGeom>
          <a:solidFill>
            <a:srgbClr val="13294B">
              <a:alpha val="90000"/>
            </a:srgbClr>
          </a:solidFill>
          <a:ln/>
        </p:spPr>
        <p:txBody>
          <a:bodyPr/>
          <a:lstStyle/>
          <a:p>
            <a:endParaRPr lang="en-US"/>
          </a:p>
        </p:txBody>
      </p:sp>
      <p:sp>
        <p:nvSpPr>
          <p:cNvPr id="4" name="Text 1"/>
          <p:cNvSpPr txBox="1"/>
          <p:nvPr/>
        </p:nvSpPr>
        <p:spPr>
          <a:xfrm>
            <a:off x="731520" y="1828800"/>
            <a:ext cx="2743200" cy="822960"/>
          </a:xfrm>
          <a:prstGeom prst="rect">
            <a:avLst/>
          </a:prstGeom>
          <a:noFill/>
          <a:ln/>
        </p:spPr>
        <p:txBody>
          <a:bodyPr wrap="square" lIns="0" tIns="0" rIns="0" bIns="0" rtlCol="0" anchor="t"/>
          <a:lstStyle/>
          <a:p>
            <a:pPr marL="0" indent="0">
              <a:buNone/>
            </a:pPr>
            <a:r>
              <a:rPr lang="en-US" sz="4800" b="1" dirty="0">
                <a:solidFill>
                  <a:schemeClr val="accent2"/>
                </a:solidFill>
              </a:rPr>
              <a:t>A</a:t>
            </a:r>
            <a:endParaRPr lang="en-US" sz="4800" dirty="0"/>
          </a:p>
        </p:txBody>
      </p:sp>
      <p:sp>
        <p:nvSpPr>
          <p:cNvPr id="5" name="Text 0"/>
          <p:cNvSpPr>
            <a:spLocks noGrp="1"/>
          </p:cNvSpPr>
          <p:nvPr>
            <p:ph type="title" idx="100" hasCustomPrompt="1"/>
          </p:nvPr>
        </p:nvSpPr>
        <p:spPr>
          <a:xfrm>
            <a:off x="731520" y="2788920"/>
            <a:ext cx="6949440" cy="1188720"/>
          </a:xfrm>
          <a:prstGeom prst="rect">
            <a:avLst/>
          </a:prstGeom>
          <a:noFill/>
          <a:ln/>
        </p:spPr>
        <p:txBody>
          <a:bodyPr wrap="square" lIns="0" tIns="0" rIns="0" bIns="0" rtlCol="0" anchor="t"/>
          <a:lstStyle/>
          <a:p>
            <a:pPr marL="0" indent="0" algn="l">
              <a:buNone/>
            </a:pPr>
            <a:r>
              <a:rPr lang="en-US" sz="4000" b="1" dirty="0">
                <a:solidFill>
                  <a:schemeClr val="bg1"/>
                </a:solidFill>
              </a:rPr>
              <a:t>Lampiran</a:t>
            </a:r>
            <a:endParaRPr lang="en-US" sz="4000" dirty="0"/>
          </a:p>
        </p:txBody>
      </p:sp>
      <p:sp>
        <p:nvSpPr>
          <p:cNvPr id="6" name="Text 0"/>
          <p:cNvSpPr>
            <a:spLocks noGrp="1"/>
          </p:cNvSpPr>
          <p:nvPr>
            <p:ph type="body" idx="101" hasCustomPrompt="1"/>
          </p:nvPr>
        </p:nvSpPr>
        <p:spPr>
          <a:xfrm>
            <a:off x="731520" y="4069080"/>
            <a:ext cx="6583680" cy="1097280"/>
          </a:xfrm>
          <a:prstGeom prst="rect">
            <a:avLst/>
          </a:prstGeom>
          <a:noFill/>
          <a:ln/>
        </p:spPr>
        <p:txBody>
          <a:bodyPr wrap="square" lIns="0" tIns="0" rIns="0" bIns="0" rtlCol="0" anchor="t"/>
          <a:lstStyle/>
          <a:p>
            <a:pPr marL="0" indent="0" algn="l">
              <a:buNone/>
            </a:pPr>
            <a:r>
              <a:rPr lang="en-US" sz="1800" dirty="0">
                <a:solidFill>
                  <a:schemeClr val="bg1"/>
                </a:solidFill>
              </a:rPr>
              <a:t>Rincian hipotesis, definisi metrik, metodologi statistik, kualitas data, asumsi simulasi, dan keterbatasan</a:t>
            </a:r>
            <a:endParaRPr lang="en-US" sz="18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C9D3E0"/>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LAMPIRAN A1</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Hipotesis yang didukung data: kesimpulan uji dipisahkan dari kekuatan asosiasi</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Sumber: capstone_sinarmas_hdt_4.ipynb · invoice utama Jul 2022–Des 2024 · status per 27 Jan 2025 (asumsi snapshot)</a:t>
            </a:r>
            <a:endParaRPr lang="en-US" sz="1000" dirty="0"/>
          </a:p>
        </p:txBody>
      </p:sp>
      <p:graphicFrame>
        <p:nvGraphicFramePr>
          <p:cNvPr id="39" name="tabel hipotesis didukung"/>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59436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86868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gridCol w="1170432">
                  <a:extLst>
                    <a:ext uri="{9D8B030D-6E8A-4147-A177-3AD203B41FA5}">
                      <a16:colId xmlns:a16="http://schemas.microsoft.com/office/drawing/2014/main" val="20007"/>
                    </a:ext>
                  </a:extLst>
                </a:gridCol>
                <a:gridCol w="1280160">
                  <a:extLst>
                    <a:ext uri="{9D8B030D-6E8A-4147-A177-3AD203B41FA5}">
                      <a16:colId xmlns:a16="http://schemas.microsoft.com/office/drawing/2014/main" val="20008"/>
                    </a:ext>
                  </a:extLst>
                </a:gridCol>
              </a:tblGrid>
              <a:tr h="384048">
                <a:tc>
                  <a:txBody>
                    <a:bodyPr/>
                    <a:lstStyle/>
                    <a:p>
                      <a:pPr marL="0" indent="0">
                        <a:buNone/>
                      </a:pPr>
                      <a:r>
                        <a:rPr lang="en-US" sz="1100" b="1" dirty="0">
                          <a:solidFill>
                            <a:schemeClr val="bg1"/>
                          </a:solidFill>
                        </a:rPr>
                        <a:t>Kode</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Kelompok uji vs pembanding</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NPI uji vs pembanding</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Selisih (poin %)</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CI 95%</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p (Holm)</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Cramér's V</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Kekuatan asosiasi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Kesimpulan uji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384048">
                <a:tc>
                  <a:txBody>
                    <a:bodyPr/>
                    <a:lstStyle/>
                    <a:p>
                      <a:pPr marL="0" indent="0">
                        <a:buNone/>
                      </a:pPr>
                      <a:r>
                        <a:rPr lang="en-US" sz="1100" dirty="0">
                          <a:solidFill>
                            <a:schemeClr val="tx1"/>
                          </a:solidFill>
                        </a:rPr>
                        <a:t>H1</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Vacant vs dihuni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58,43% vs 28,11%</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+30,32</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29,92–30,72</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&lt; 0,001</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0,271</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Lemah</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Didukung</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100" dirty="0">
                          <a:solidFill>
                            <a:schemeClr val="tx1"/>
                          </a:solidFill>
                        </a:rPr>
                        <a:t>H6</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Tanpa vs dengan autodebit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39,71% vs 9,93%</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+29,78</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29,52–30,04</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&lt; 0,001</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0,218</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Lemah</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Didukung</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2"/>
                  </a:ext>
                </a:extLst>
              </a:tr>
              <a:tr h="384048">
                <a:tc>
                  <a:txBody>
                    <a:bodyPr/>
                    <a:lstStyle/>
                    <a:p>
                      <a:pPr marL="0" indent="0">
                        <a:buNone/>
                      </a:pPr>
                      <a:r>
                        <a:rPr lang="en-US" sz="1100" dirty="0">
                          <a:solidFill>
                            <a:schemeClr val="tx1"/>
                          </a:solidFill>
                        </a:rPr>
                        <a:t>H2</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Luar kota/negeri vs dalam kota</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49,93% vs 27,88%</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+22,05</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21,61–22,52</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&lt; 0,001</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0,219</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Lemah</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Didukung</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100" dirty="0">
                          <a:solidFill>
                            <a:schemeClr val="tx1"/>
                          </a:solidFill>
                        </a:rPr>
                        <a:t>H3</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Tanpa nomor vs terverifikasi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44,24% vs 32,33%</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+11,91</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11,17–12,58</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&lt; 0,001</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0,100</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Lemah (batas)</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Didukung*</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4"/>
                  </a:ext>
                </a:extLst>
              </a:tr>
              <a:tr h="384048">
                <a:tc>
                  <a:txBody>
                    <a:bodyPr/>
                    <a:lstStyle/>
                    <a:p>
                      <a:pPr marL="0" indent="0">
                        <a:buNone/>
                      </a:pPr>
                      <a:r>
                        <a:rPr lang="en-US" sz="1100" dirty="0">
                          <a:solidFill>
                            <a:schemeClr val="tx1"/>
                          </a:solidFill>
                        </a:rPr>
                        <a:t>H7</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Cetak fisik vs portal</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40,81% vs 32,15%</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+8,66</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8,31–9,05</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&lt; 0,001</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0,086</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Sangat lemah</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Didukung*</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buNone/>
                      </a:pPr>
                      <a:r>
                        <a:rPr lang="en-US" sz="1100" dirty="0">
                          <a:solidFill>
                            <a:schemeClr val="tx1"/>
                          </a:solidFill>
                        </a:rPr>
                        <a:t>H17</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Disengketakan vs tidak</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42,76% vs 35,29%</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+7,47</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6,68–8,21</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&lt; 0,001</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0,022</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Sangat lemah</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Didukung (dua arah)</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6"/>
                  </a:ext>
                </a:extLst>
              </a:tr>
              <a:tr h="384048">
                <a:tc>
                  <a:txBody>
                    <a:bodyPr/>
                    <a:lstStyle/>
                    <a:p>
                      <a:pPr marL="0" indent="0">
                        <a:buNone/>
                      </a:pPr>
                      <a:r>
                        <a:rPr lang="en-US" sz="1100" dirty="0">
                          <a:solidFill>
                            <a:schemeClr val="tx1"/>
                          </a:solidFill>
                        </a:rPr>
                        <a:t>H11</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New Phase vs Established</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40,07% vs 32,83%</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+7,24</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6,75–7,70</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&lt; 0,001</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0,073</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Sangat lemah</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Didukung</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84048">
                <a:tc>
                  <a:txBody>
                    <a:bodyPr/>
                    <a:lstStyle/>
                    <a:p>
                      <a:pPr marL="0" indent="0">
                        <a:buNone/>
                      </a:pPr>
                      <a:r>
                        <a:rPr lang="en-US" sz="1100" dirty="0">
                          <a:solidFill>
                            <a:schemeClr val="tx1"/>
                          </a:solidFill>
                        </a:rPr>
                        <a:t>H8</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Tarif &gt; Rp500 rb vs ≤ Rp500 rb</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39,29% vs 34,78%</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+4,51</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3,83–5,23</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&lt; 0,001</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0,033</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Sangat lemah</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Didukung</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8"/>
                  </a:ext>
                </a:extLst>
              </a:tr>
              <a:tr h="384048">
                <a:tc>
                  <a:txBody>
                    <a:bodyPr/>
                    <a:lstStyle/>
                    <a:p>
                      <a:pPr marL="0" indent="0">
                        <a:buNone/>
                      </a:pPr>
                      <a:r>
                        <a:rPr lang="en-US" sz="1100" dirty="0">
                          <a:solidFill>
                            <a:schemeClr val="tx1"/>
                          </a:solidFill>
                        </a:rPr>
                        <a:t>H12</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Regional Hub vs Onsite</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37,38% vs 34,35%</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+3,03</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2,51–3,49</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&lt; 0,001</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0,030</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Sangat lemah</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Didukung*</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Text 3"/>
          <p:cNvSpPr txBox="1"/>
          <p:nvPr/>
        </p:nvSpPr>
        <p:spPr>
          <a:xfrm>
            <a:off x="548640" y="5577840"/>
            <a:ext cx="11064240" cy="640080"/>
          </a:xfrm>
          <a:prstGeom prst="rect">
            <a:avLst/>
          </a:prstGeom>
          <a:noFill/>
          <a:ln/>
        </p:spPr>
        <p:txBody>
          <a:bodyPr wrap="square" lIns="0" tIns="0" rIns="0" bIns="0" rtlCol="0" anchor="t"/>
          <a:lstStyle/>
          <a:p>
            <a:pPr marL="0" indent="0">
              <a:buNone/>
            </a:pPr>
            <a:r>
              <a:rPr lang="en-US" sz="1200" dirty="0">
                <a:solidFill>
                  <a:schemeClr val="accent6"/>
                </a:solidFill>
              </a:rPr>
              <a:t>Kekuatan asosiasi (Cramér's V): &lt; 0,10 sangat lemah · 0,10–0,30 lemah · 0,30–0,50 sedang · &gt; 0,50 kuat. Didukung = CI 95% tidak mencakup 0 dan p (Holm) &lt; 0,05. * Selisih hampir hilang setelah faktor lain dikendalikan (H3 +0,24; H7 −0,02; H12 +0,34 poin).</a:t>
            </a:r>
            <a:endParaRPr lang="en-US" sz="12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LAMPIRAN A2</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Hipotesis yang tidak didukung, rekonsiliasi, dan yang belum dapat diuji</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Sumber: capstone_sinarmas_hdt_4.ipynb · invoice utama Jul 2022–Des 2024 · status per 27 Jan 2025 (asumsi snapshot)</a:t>
            </a:r>
            <a:endParaRPr lang="en-US" sz="1000" dirty="0"/>
          </a:p>
        </p:txBody>
      </p:sp>
      <p:graphicFrame>
        <p:nvGraphicFramePr>
          <p:cNvPr id="40" name="tabel hipotesis lainnya"/>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105156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gridCol w="868680">
                  <a:extLst>
                    <a:ext uri="{9D8B030D-6E8A-4147-A177-3AD203B41FA5}">
                      <a16:colId xmlns:a16="http://schemas.microsoft.com/office/drawing/2014/main" val="20006"/>
                    </a:ext>
                  </a:extLst>
                </a:gridCol>
                <a:gridCol w="1261872">
                  <a:extLst>
                    <a:ext uri="{9D8B030D-6E8A-4147-A177-3AD203B41FA5}">
                      <a16:colId xmlns:a16="http://schemas.microsoft.com/office/drawing/2014/main" val="20007"/>
                    </a:ext>
                  </a:extLst>
                </a:gridCol>
              </a:tblGrid>
              <a:tr h="548640">
                <a:tc>
                  <a:txBody>
                    <a:bodyPr/>
                    <a:lstStyle/>
                    <a:p>
                      <a:pPr marL="0" indent="0">
                        <a:buNone/>
                      </a:pPr>
                      <a:r>
                        <a:rPr lang="en-US" sz="1100" b="1" dirty="0">
                          <a:solidFill>
                            <a:schemeClr val="bg1"/>
                          </a:solidFill>
                        </a:rPr>
                        <a:t>Kode</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Kelompok uji vs pembanding</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Hasil</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Selisih (poin %)</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CI 95%</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p (Holm)</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Cramér's V</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Kesimpulan uji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548640">
                <a:tc>
                  <a:txBody>
                    <a:bodyPr/>
                    <a:lstStyle/>
                    <a:p>
                      <a:pPr marL="0" indent="0">
                        <a:buNone/>
                      </a:pPr>
                      <a:r>
                        <a:rPr lang="en-US" sz="1100" dirty="0">
                          <a:solidFill>
                            <a:schemeClr val="tx1"/>
                          </a:solidFill>
                        </a:rPr>
                        <a:t>H9</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Jatuh tempo ≤ 39 vs &gt; 39 hari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35,46% vs 35,43%</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+0,03</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−0,13–0,24</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0,776</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0,000</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Tidak didukung</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100" dirty="0">
                          <a:solidFill>
                            <a:schemeClr val="tx1"/>
                          </a:solidFill>
                        </a:rPr>
                        <a:t>H16</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Meter Manual vs Otomatis</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34,15% vs 40,13% (dalam New Phase 40,0% vs 40,1%)</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−5,98</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−6,36 – −5,58</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&lt; 0,001</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0,051</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Tidak didukung (arah terbalik)</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2"/>
                  </a:ext>
                </a:extLst>
              </a:tr>
              <a:tr h="548640">
                <a:tc>
                  <a:txBody>
                    <a:bodyPr/>
                    <a:lstStyle/>
                    <a:p>
                      <a:pPr marL="0" indent="0">
                        <a:buNone/>
                      </a:pPr>
                      <a:r>
                        <a:rPr lang="en-US" sz="1100" dirty="0">
                          <a:solidFill>
                            <a:schemeClr val="tx1"/>
                          </a:solidFill>
                        </a:rPr>
                        <a:t>H13</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20% cluster teratas vs ambang 50%</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30,3% nominal (40 dari 111 cluster = 50%)</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Di bawah ambang</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100" dirty="0">
                          <a:solidFill>
                            <a:schemeClr val="tx1"/>
                          </a:solidFill>
                        </a:rPr>
                        <a:t>H18</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Sebelum vs sesudah aturan duplikasi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36,96% vs 35,44%</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−1,52</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Rekonsiliasi data</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4"/>
                  </a:ext>
                </a:extLst>
              </a:tr>
              <a:tr h="548640">
                <a:tc>
                  <a:txBody>
                    <a:bodyPr/>
                    <a:lstStyle/>
                    <a:p>
                      <a:pPr marL="0" indent="0">
                        <a:buNone/>
                      </a:pPr>
                      <a:r>
                        <a:rPr lang="en-US" sz="1100" dirty="0">
                          <a:solidFill>
                            <a:schemeClr val="tx1"/>
                          </a:solidFill>
                        </a:rPr>
                        <a:t>H14</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Telepon vs SMS + Surat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Seluruh 82.806 invoice ditagih masih Overdue</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Belum dapat diuji</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buNone/>
                      </a:pPr>
                      <a:r>
                        <a:rPr lang="en-US" sz="1100" dirty="0">
                          <a:solidFill>
                            <a:schemeClr val="tx1"/>
                          </a:solidFill>
                        </a:rPr>
                        <a:t>H4, H5, H10, H15</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Kondisi ekonomi, kepuasan layanan, pengingat, penampilan petugas</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Data tidak tersedia atau hubungan terbalik</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Tidak lolos penyaringan</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6"/>
                  </a:ext>
                </a:extLst>
              </a:tr>
            </a:tbl>
          </a:graphicData>
        </a:graphic>
      </p:graphicFrame>
      <p:sp>
        <p:nvSpPr>
          <p:cNvPr id="6" name="Text 3"/>
          <p:cNvSpPr txBox="1"/>
          <p:nvPr/>
        </p:nvSpPr>
        <p:spPr>
          <a:xfrm>
            <a:off x="548640" y="5715000"/>
            <a:ext cx="11064240" cy="411480"/>
          </a:xfrm>
          <a:prstGeom prst="rect">
            <a:avLst/>
          </a:prstGeom>
          <a:noFill/>
          <a:ln/>
        </p:spPr>
        <p:txBody>
          <a:bodyPr wrap="square" lIns="0" tIns="0" rIns="0" bIns="0" rtlCol="0" anchor="t"/>
          <a:lstStyle/>
          <a:p>
            <a:pPr marL="0" indent="0">
              <a:buNone/>
            </a:pPr>
            <a:r>
              <a:rPr lang="en-US" sz="1200" dirty="0">
                <a:solidFill>
                  <a:schemeClr val="accent6"/>
                </a:solidFill>
              </a:rPr>
              <a:t>"Tidak didukung" berarti data ini tidak menunjukkan selisih yang berarti; bukan bukti bahwa efek tidak ada dalam semua situasi.</a:t>
            </a:r>
            <a:endParaRPr lang="en-US" sz="12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LAMPIRAN A3</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Definisi metrik dan rumus</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Sumber: capstone_sinarmas_hdt_4.ipynb · invoice utama Jul 2022–Des 2024 · status per 27 Jan 2025 (asumsi snapshot)</a:t>
            </a:r>
            <a:endParaRPr lang="en-US" sz="1000" dirty="0"/>
          </a:p>
        </p:txBody>
      </p:sp>
      <p:graphicFrame>
        <p:nvGraphicFramePr>
          <p:cNvPr id="41" name="tabel definisi"/>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233172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3639312">
                  <a:extLst>
                    <a:ext uri="{9D8B030D-6E8A-4147-A177-3AD203B41FA5}">
                      <a16:colId xmlns:a16="http://schemas.microsoft.com/office/drawing/2014/main" val="20002"/>
                    </a:ext>
                  </a:extLst>
                </a:gridCol>
              </a:tblGrid>
              <a:tr h="502920">
                <a:tc>
                  <a:txBody>
                    <a:bodyPr/>
                    <a:lstStyle/>
                    <a:p>
                      <a:pPr marL="0" indent="0">
                        <a:buNone/>
                      </a:pPr>
                      <a:r>
                        <a:rPr lang="en-US" sz="1200" b="1" dirty="0">
                          <a:solidFill>
                            <a:schemeClr val="bg1"/>
                          </a:solidFill>
                        </a:rPr>
                        <a:t>Metrik</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200" b="1" dirty="0">
                          <a:solidFill>
                            <a:schemeClr val="bg1"/>
                          </a:solidFill>
                        </a:rPr>
                        <a:t>Rumus / definisi</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200" b="1" dirty="0">
                          <a:solidFill>
                            <a:schemeClr val="bg1"/>
                          </a:solidFill>
                        </a:rPr>
                        <a:t>Catatan</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502920">
                <a:tc>
                  <a:txBody>
                    <a:bodyPr/>
                    <a:lstStyle/>
                    <a:p>
                      <a:pPr marL="0" indent="0">
                        <a:buNone/>
                      </a:pPr>
                      <a:r>
                        <a:rPr lang="en-US" sz="1200" dirty="0">
                          <a:solidFill>
                            <a:schemeClr val="tx1"/>
                          </a:solidFill>
                        </a:rPr>
                        <a:t>NPI rate (jumlah)</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Invoice utama Unpaid + Overdue ÷ seluruh invoice utama</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35,44%; status per snapshot 27 Jan 2025 (asumsi)</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200" dirty="0">
                          <a:solidFill>
                            <a:schemeClr val="tx1"/>
                          </a:solidFill>
                        </a:rPr>
                        <a:t>NPI rate (nominal)</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Nominal NPI analisis ÷ total nilai tagihan analisis</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35,55%; tidak sama dengan NPI jumlah</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2"/>
                  </a:ext>
                </a:extLst>
              </a:tr>
              <a:tr h="502920">
                <a:tc>
                  <a:txBody>
                    <a:bodyPr/>
                    <a:lstStyle/>
                    <a:p>
                      <a:pPr marL="0" indent="0">
                        <a:buNone/>
                      </a:pPr>
                      <a:r>
                        <a:rPr lang="en-US" sz="1200" dirty="0">
                          <a:solidFill>
                            <a:schemeClr val="tx1"/>
                          </a:solidFill>
                        </a:rPr>
                        <a:t>Invoice utama</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Satu invoice per unit per bulan; salinan pola 9xxxx ditandai</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Aturan analitis; menunggu pengesahan IT/ERP &amp; Finance</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200" dirty="0">
                          <a:solidFill>
                            <a:schemeClr val="tx1"/>
                          </a:solidFill>
                        </a:rPr>
                        <a:t>Nominal NPI bruto / analisis</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Bruto = Σ total_amount invoice NPI; analisis = bruto − komponen air perlu validasi</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Rp224,64 M − Rp48,30 M = Rp176,34 M</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4"/>
                  </a:ext>
                </a:extLst>
              </a:tr>
              <a:tr h="502920">
                <a:tc>
                  <a:txBody>
                    <a:bodyPr/>
                    <a:lstStyle/>
                    <a:p>
                      <a:pPr marL="0" indent="0">
                        <a:buNone/>
                      </a:pPr>
                      <a:r>
                        <a:rPr lang="en-US" sz="1200" dirty="0">
                          <a:solidFill>
                            <a:schemeClr val="tx1"/>
                          </a:solidFill>
                        </a:rPr>
                        <a:t>Komponen air perlu validasi</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Σ (total − tarif IPL − denda) pada invoice NPI dengan air &lt; 0 atau &gt; 97,8 m³</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Batas 97,8 m³ = parameter screening</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buNone/>
                      </a:pPr>
                      <a:r>
                        <a:rPr lang="en-US" sz="1200" dirty="0">
                          <a:solidFill>
                            <a:schemeClr val="tx1"/>
                          </a:solidFill>
                        </a:rPr>
                        <a:t>NPI per cohort</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Invoice terbit bulan X yang masih NPI ÷ invoice terbit bulan X</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Matang jika jatuh tempo + 22 hari ≤ snapshot</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6"/>
                  </a:ext>
                </a:extLst>
              </a:tr>
              <a:tr h="502920">
                <a:tc>
                  <a:txBody>
                    <a:bodyPr/>
                    <a:lstStyle/>
                    <a:p>
                      <a:pPr marL="0" indent="0">
                        <a:buNone/>
                      </a:pPr>
                      <a:r>
                        <a:rPr lang="en-US" sz="1200" dirty="0">
                          <a:solidFill>
                            <a:schemeClr val="tx1"/>
                          </a:solidFill>
                        </a:rPr>
                        <a:t>Umur tunggakan</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Tanggal snapshot − tanggal jatuh tempo (invoice NPI)</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Bergeser jika tanggal snapshot resmi berbeda</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02920">
                <a:tc>
                  <a:txBody>
                    <a:bodyPr/>
                    <a:lstStyle/>
                    <a:p>
                      <a:pPr marL="0" indent="0">
                        <a:buNone/>
                      </a:pPr>
                      <a:r>
                        <a:rPr lang="en-US" sz="1200" dirty="0">
                          <a:solidFill>
                            <a:schemeClr val="tx1"/>
                          </a:solidFill>
                        </a:rPr>
                        <a:t>Collection rate (usulan KPI)</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Invoice ditagih yang menurut billing/mutasi bank lunas ≤ 30/60/90 hari setelah aksi pertama ÷ seluruh invoice ditagih</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Unit evaluasi: invoice; respons petugas bukan bukti bayar</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LAMPIRAN A4</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Metodologi statistik: interval kepercayaan, Cramér's V, koreksi Holm, dan selisih terkendali</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Sumber: capstone_sinarmas_hdt_4.ipynb · invoice utama Jul 2022–Des 2024 · status per 27 Jan 2025 (asumsi snapshot)</a:t>
            </a:r>
            <a:endParaRPr lang="en-US" sz="1000" dirty="0"/>
          </a:p>
        </p:txBody>
      </p:sp>
      <p:sp>
        <p:nvSpPr>
          <p:cNvPr id="5" name="metode CI 95% bootstrap per unit"/>
          <p:cNvSpPr/>
          <p:nvPr/>
        </p:nvSpPr>
        <p:spPr>
          <a:xfrm>
            <a:off x="548640" y="1600200"/>
            <a:ext cx="5440680" cy="2176272"/>
          </a:xfrm>
          <a:prstGeom prst="roundRect">
            <a:avLst>
              <a:gd name="adj" fmla="val 3361"/>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6" name="penanda 1"/>
          <p:cNvSpPr txBox="1"/>
          <p:nvPr/>
        </p:nvSpPr>
        <p:spPr>
          <a:xfrm>
            <a:off x="777240" y="1801368"/>
            <a:ext cx="384048" cy="384048"/>
          </a:xfrm>
          <a:prstGeom prst="ellipse">
            <a:avLst/>
          </a:prstGeom>
          <a:solidFill>
            <a:schemeClr val="accent2"/>
          </a:solidFill>
          <a:ln/>
        </p:spPr>
        <p:txBody>
          <a:bodyPr wrap="square" lIns="0" tIns="0" rIns="0" bIns="0" rtlCol="0" anchor="ctr"/>
          <a:lstStyle/>
          <a:p>
            <a:pPr marL="0" indent="0" algn="ctr">
              <a:buNone/>
            </a:pPr>
            <a:r>
              <a:rPr lang="en-US" sz="1300" b="1" dirty="0">
                <a:solidFill>
                  <a:schemeClr val="tx2"/>
                </a:solidFill>
              </a:rPr>
              <a:t>1</a:t>
            </a:r>
            <a:endParaRPr lang="en-US" sz="1300" dirty="0"/>
          </a:p>
        </p:txBody>
      </p:sp>
      <p:sp>
        <p:nvSpPr>
          <p:cNvPr id="7" name="Text 5"/>
          <p:cNvSpPr txBox="1"/>
          <p:nvPr/>
        </p:nvSpPr>
        <p:spPr>
          <a:xfrm>
            <a:off x="1280160" y="1801368"/>
            <a:ext cx="4480560" cy="384048"/>
          </a:xfrm>
          <a:prstGeom prst="rect">
            <a:avLst/>
          </a:prstGeom>
          <a:noFill/>
          <a:ln/>
        </p:spPr>
        <p:txBody>
          <a:bodyPr wrap="square" lIns="0" tIns="0" rIns="0" bIns="0" rtlCol="0" anchor="ctr"/>
          <a:lstStyle/>
          <a:p>
            <a:pPr marL="0" indent="0">
              <a:buNone/>
            </a:pPr>
            <a:r>
              <a:rPr lang="en-US" sz="1600" b="1" dirty="0">
                <a:solidFill>
                  <a:schemeClr val="tx2"/>
                </a:solidFill>
              </a:rPr>
              <a:t>CI 95% bootstrap per unit</a:t>
            </a:r>
            <a:endParaRPr lang="en-US" sz="1600" dirty="0"/>
          </a:p>
        </p:txBody>
      </p:sp>
      <p:sp>
        <p:nvSpPr>
          <p:cNvPr id="8" name="Text 6"/>
          <p:cNvSpPr txBox="1"/>
          <p:nvPr/>
        </p:nvSpPr>
        <p:spPr>
          <a:xfrm>
            <a:off x="777240" y="2313432"/>
            <a:ext cx="4983480" cy="868680"/>
          </a:xfrm>
          <a:prstGeom prst="rect">
            <a:avLst/>
          </a:prstGeom>
          <a:noFill/>
          <a:ln/>
        </p:spPr>
        <p:txBody>
          <a:bodyPr wrap="square" lIns="0" tIns="0" rIns="0" bIns="0" rtlCol="0" anchor="t"/>
          <a:lstStyle/>
          <a:p>
            <a:pPr marL="0" indent="0">
              <a:buNone/>
            </a:pPr>
            <a:r>
              <a:rPr lang="en-US" sz="1200" dirty="0">
                <a:solidFill>
                  <a:schemeClr val="tx1"/>
                </a:solidFill>
              </a:rPr>
              <a:t>Unit diambil ulang secara acak beserta seluruh invoice-nya (300 ulangan, seed 42); persentil 2,5 dan 97,5 menjadi batas interval.</a:t>
            </a:r>
            <a:endParaRPr lang="en-US" sz="1200" dirty="0"/>
          </a:p>
        </p:txBody>
      </p:sp>
      <p:sp>
        <p:nvSpPr>
          <p:cNvPr id="9" name="Text 7"/>
          <p:cNvSpPr txBox="1"/>
          <p:nvPr/>
        </p:nvSpPr>
        <p:spPr>
          <a:xfrm>
            <a:off x="777240" y="3172968"/>
            <a:ext cx="4983480" cy="548640"/>
          </a:xfrm>
          <a:prstGeom prst="rect">
            <a:avLst/>
          </a:prstGeom>
          <a:noFill/>
          <a:ln/>
        </p:spPr>
        <p:txBody>
          <a:bodyPr wrap="square" lIns="0" tIns="0" rIns="0" bIns="0" rtlCol="0" anchor="t"/>
          <a:lstStyle/>
          <a:p>
            <a:pPr marL="0" indent="0">
              <a:buNone/>
            </a:pPr>
            <a:r>
              <a:rPr lang="en-US" sz="1200" b="1" dirty="0">
                <a:solidFill>
                  <a:schemeClr val="accent5"/>
                </a:solidFill>
              </a:rPr>
              <a:t>Batasan: 300 ulangan cukup untuk analisis awal; gunakan ≥ 1.000 ulangan sebelum finalisasi.</a:t>
            </a:r>
            <a:endParaRPr lang="en-US" sz="1200" dirty="0"/>
          </a:p>
        </p:txBody>
      </p:sp>
      <p:sp>
        <p:nvSpPr>
          <p:cNvPr id="10" name="metode Cramér's V"/>
          <p:cNvSpPr/>
          <p:nvPr/>
        </p:nvSpPr>
        <p:spPr>
          <a:xfrm>
            <a:off x="6172200" y="1600200"/>
            <a:ext cx="5440680" cy="2176272"/>
          </a:xfrm>
          <a:prstGeom prst="roundRect">
            <a:avLst>
              <a:gd name="adj" fmla="val 3361"/>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1" name="penanda 2"/>
          <p:cNvSpPr txBox="1"/>
          <p:nvPr/>
        </p:nvSpPr>
        <p:spPr>
          <a:xfrm>
            <a:off x="6400800" y="1801368"/>
            <a:ext cx="384048" cy="384048"/>
          </a:xfrm>
          <a:prstGeom prst="ellipse">
            <a:avLst/>
          </a:prstGeom>
          <a:solidFill>
            <a:schemeClr val="accent2"/>
          </a:solidFill>
          <a:ln/>
        </p:spPr>
        <p:txBody>
          <a:bodyPr wrap="square" lIns="0" tIns="0" rIns="0" bIns="0" rtlCol="0" anchor="ctr"/>
          <a:lstStyle/>
          <a:p>
            <a:pPr marL="0" indent="0" algn="ctr">
              <a:buNone/>
            </a:pPr>
            <a:r>
              <a:rPr lang="en-US" sz="1300" b="1" dirty="0">
                <a:solidFill>
                  <a:schemeClr val="tx2"/>
                </a:solidFill>
              </a:rPr>
              <a:t>2</a:t>
            </a:r>
            <a:endParaRPr lang="en-US" sz="1300" dirty="0"/>
          </a:p>
        </p:txBody>
      </p:sp>
      <p:sp>
        <p:nvSpPr>
          <p:cNvPr id="12" name="Text 10"/>
          <p:cNvSpPr txBox="1"/>
          <p:nvPr/>
        </p:nvSpPr>
        <p:spPr>
          <a:xfrm>
            <a:off x="6903720" y="1801368"/>
            <a:ext cx="4480560" cy="384048"/>
          </a:xfrm>
          <a:prstGeom prst="rect">
            <a:avLst/>
          </a:prstGeom>
          <a:noFill/>
          <a:ln/>
        </p:spPr>
        <p:txBody>
          <a:bodyPr wrap="square" lIns="0" tIns="0" rIns="0" bIns="0" rtlCol="0" anchor="ctr"/>
          <a:lstStyle/>
          <a:p>
            <a:pPr marL="0" indent="0">
              <a:buNone/>
            </a:pPr>
            <a:r>
              <a:rPr lang="en-US" sz="1600" b="1" dirty="0">
                <a:solidFill>
                  <a:schemeClr val="tx2"/>
                </a:solidFill>
              </a:rPr>
              <a:t>Cramér's V</a:t>
            </a:r>
            <a:endParaRPr lang="en-US" sz="1600" dirty="0"/>
          </a:p>
        </p:txBody>
      </p:sp>
      <p:sp>
        <p:nvSpPr>
          <p:cNvPr id="13" name="Text 11"/>
          <p:cNvSpPr txBox="1"/>
          <p:nvPr/>
        </p:nvSpPr>
        <p:spPr>
          <a:xfrm>
            <a:off x="6400800" y="2313432"/>
            <a:ext cx="4983480" cy="868680"/>
          </a:xfrm>
          <a:prstGeom prst="rect">
            <a:avLst/>
          </a:prstGeom>
          <a:noFill/>
          <a:ln/>
        </p:spPr>
        <p:txBody>
          <a:bodyPr wrap="square" lIns="0" tIns="0" rIns="0" bIns="0" rtlCol="0" anchor="t"/>
          <a:lstStyle/>
          <a:p>
            <a:pPr marL="0" indent="0">
              <a:buNone/>
            </a:pPr>
            <a:r>
              <a:rPr lang="en-US" sz="1200" dirty="0">
                <a:solidFill>
                  <a:schemeClr val="tx1"/>
                </a:solidFill>
              </a:rPr>
              <a:t>Untuk tabel 2×2 (dua kelompok, outcome NPI/tidak): V = √(χ² ÷ n). &lt; 0,10 sangat lemah; 0,10–0,30 lemah; 0,30–0,50 sedang; &gt; 0,50 kuat.</a:t>
            </a:r>
            <a:endParaRPr lang="en-US" sz="1200" dirty="0"/>
          </a:p>
        </p:txBody>
      </p:sp>
      <p:sp>
        <p:nvSpPr>
          <p:cNvPr id="14" name="Text 12"/>
          <p:cNvSpPr txBox="1"/>
          <p:nvPr/>
        </p:nvSpPr>
        <p:spPr>
          <a:xfrm>
            <a:off x="6400800" y="3172968"/>
            <a:ext cx="4983480" cy="548640"/>
          </a:xfrm>
          <a:prstGeom prst="rect">
            <a:avLst/>
          </a:prstGeom>
          <a:noFill/>
          <a:ln/>
        </p:spPr>
        <p:txBody>
          <a:bodyPr wrap="square" lIns="0" tIns="0" rIns="0" bIns="0" rtlCol="0" anchor="t"/>
          <a:lstStyle/>
          <a:p>
            <a:pPr marL="0" indent="0">
              <a:buNone/>
            </a:pPr>
            <a:r>
              <a:rPr lang="en-US" sz="1200" b="1" dirty="0">
                <a:solidFill>
                  <a:schemeClr val="accent5"/>
                </a:solidFill>
              </a:rPr>
              <a:t>Lebih berguna daripada p-value saja untuk menilai besar hubungan; estimasinya tetap bergantung pada data.</a:t>
            </a:r>
            <a:endParaRPr lang="en-US" sz="1200" dirty="0"/>
          </a:p>
        </p:txBody>
      </p:sp>
      <p:sp>
        <p:nvSpPr>
          <p:cNvPr id="15" name="metode Koreksi Holm"/>
          <p:cNvSpPr/>
          <p:nvPr/>
        </p:nvSpPr>
        <p:spPr>
          <a:xfrm>
            <a:off x="548640" y="3931920"/>
            <a:ext cx="5440680" cy="2176272"/>
          </a:xfrm>
          <a:prstGeom prst="roundRect">
            <a:avLst>
              <a:gd name="adj" fmla="val 3361"/>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6" name="penanda 3"/>
          <p:cNvSpPr txBox="1"/>
          <p:nvPr/>
        </p:nvSpPr>
        <p:spPr>
          <a:xfrm>
            <a:off x="777240" y="4133088"/>
            <a:ext cx="384048" cy="384048"/>
          </a:xfrm>
          <a:prstGeom prst="ellipse">
            <a:avLst/>
          </a:prstGeom>
          <a:solidFill>
            <a:schemeClr val="accent2"/>
          </a:solidFill>
          <a:ln/>
        </p:spPr>
        <p:txBody>
          <a:bodyPr wrap="square" lIns="0" tIns="0" rIns="0" bIns="0" rtlCol="0" anchor="ctr"/>
          <a:lstStyle/>
          <a:p>
            <a:pPr marL="0" indent="0" algn="ctr">
              <a:buNone/>
            </a:pPr>
            <a:r>
              <a:rPr lang="en-US" sz="1300" b="1" dirty="0">
                <a:solidFill>
                  <a:schemeClr val="tx2"/>
                </a:solidFill>
              </a:rPr>
              <a:t>3</a:t>
            </a:r>
            <a:endParaRPr lang="en-US" sz="1300" dirty="0"/>
          </a:p>
        </p:txBody>
      </p:sp>
      <p:sp>
        <p:nvSpPr>
          <p:cNvPr id="17" name="Text 15"/>
          <p:cNvSpPr txBox="1"/>
          <p:nvPr/>
        </p:nvSpPr>
        <p:spPr>
          <a:xfrm>
            <a:off x="1280160" y="4133088"/>
            <a:ext cx="4480560" cy="384048"/>
          </a:xfrm>
          <a:prstGeom prst="rect">
            <a:avLst/>
          </a:prstGeom>
          <a:noFill/>
          <a:ln/>
        </p:spPr>
        <p:txBody>
          <a:bodyPr wrap="square" lIns="0" tIns="0" rIns="0" bIns="0" rtlCol="0" anchor="ctr"/>
          <a:lstStyle/>
          <a:p>
            <a:pPr marL="0" indent="0">
              <a:buNone/>
            </a:pPr>
            <a:r>
              <a:rPr lang="en-US" sz="1600" b="1" dirty="0">
                <a:solidFill>
                  <a:schemeClr val="tx2"/>
                </a:solidFill>
              </a:rPr>
              <a:t>Koreksi Holm</a:t>
            </a:r>
            <a:endParaRPr lang="en-US" sz="1600" dirty="0"/>
          </a:p>
        </p:txBody>
      </p:sp>
      <p:sp>
        <p:nvSpPr>
          <p:cNvPr id="18" name="Text 16"/>
          <p:cNvSpPr txBox="1"/>
          <p:nvPr/>
        </p:nvSpPr>
        <p:spPr>
          <a:xfrm>
            <a:off x="777240" y="4645152"/>
            <a:ext cx="4983480" cy="868680"/>
          </a:xfrm>
          <a:prstGeom prst="rect">
            <a:avLst/>
          </a:prstGeom>
          <a:noFill/>
          <a:ln/>
        </p:spPr>
        <p:txBody>
          <a:bodyPr wrap="square" lIns="0" tIns="0" rIns="0" bIns="0" rtlCol="0" anchor="t"/>
          <a:lstStyle/>
          <a:p>
            <a:pPr marL="0" indent="0">
              <a:buNone/>
            </a:pPr>
            <a:r>
              <a:rPr lang="en-US" sz="1200" dirty="0">
                <a:solidFill>
                  <a:schemeClr val="tx1"/>
                </a:solidFill>
              </a:rPr>
              <a:t>p-value diurutkan dari terkecil; p terkecil dikali m, berikutnya dikali (m − 1), dan seterusnya, lalu dibuat tidak menurun.</a:t>
            </a:r>
            <a:endParaRPr lang="en-US" sz="1200" dirty="0"/>
          </a:p>
        </p:txBody>
      </p:sp>
      <p:sp>
        <p:nvSpPr>
          <p:cNvPr id="19" name="Text 17"/>
          <p:cNvSpPr txBox="1"/>
          <p:nvPr/>
        </p:nvSpPr>
        <p:spPr>
          <a:xfrm>
            <a:off x="777240" y="5504688"/>
            <a:ext cx="4983480" cy="548640"/>
          </a:xfrm>
          <a:prstGeom prst="rect">
            <a:avLst/>
          </a:prstGeom>
          <a:noFill/>
          <a:ln/>
        </p:spPr>
        <p:txBody>
          <a:bodyPr wrap="square" lIns="0" tIns="0" rIns="0" bIns="0" rtlCol="0" anchor="t"/>
          <a:lstStyle/>
          <a:p>
            <a:pPr marL="0" indent="0">
              <a:buNone/>
            </a:pPr>
            <a:r>
              <a:rPr lang="en-US" sz="1200" b="1" dirty="0">
                <a:solidFill>
                  <a:schemeClr val="accent5"/>
                </a:solidFill>
              </a:rPr>
              <a:t>Mengurangi risiko temuan palsu karena banyak hipotesis diuji sekaligus.</a:t>
            </a:r>
            <a:endParaRPr lang="en-US" sz="1200" dirty="0"/>
          </a:p>
        </p:txBody>
      </p:sp>
      <p:sp>
        <p:nvSpPr>
          <p:cNvPr id="20" name="metode Selisih terkendali"/>
          <p:cNvSpPr/>
          <p:nvPr/>
        </p:nvSpPr>
        <p:spPr>
          <a:xfrm>
            <a:off x="6172200" y="3931920"/>
            <a:ext cx="5440680" cy="2176272"/>
          </a:xfrm>
          <a:prstGeom prst="roundRect">
            <a:avLst>
              <a:gd name="adj" fmla="val 3361"/>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21" name="penanda 4"/>
          <p:cNvSpPr txBox="1"/>
          <p:nvPr/>
        </p:nvSpPr>
        <p:spPr>
          <a:xfrm>
            <a:off x="6400800" y="4133088"/>
            <a:ext cx="384048" cy="384048"/>
          </a:xfrm>
          <a:prstGeom prst="ellipse">
            <a:avLst/>
          </a:prstGeom>
          <a:solidFill>
            <a:schemeClr val="accent2"/>
          </a:solidFill>
          <a:ln/>
        </p:spPr>
        <p:txBody>
          <a:bodyPr wrap="square" lIns="0" tIns="0" rIns="0" bIns="0" rtlCol="0" anchor="ctr"/>
          <a:lstStyle/>
          <a:p>
            <a:pPr marL="0" indent="0" algn="ctr">
              <a:buNone/>
            </a:pPr>
            <a:r>
              <a:rPr lang="en-US" sz="1300" b="1" dirty="0">
                <a:solidFill>
                  <a:schemeClr val="tx2"/>
                </a:solidFill>
              </a:rPr>
              <a:t>4</a:t>
            </a:r>
            <a:endParaRPr lang="en-US" sz="1300" dirty="0"/>
          </a:p>
        </p:txBody>
      </p:sp>
      <p:sp>
        <p:nvSpPr>
          <p:cNvPr id="22" name="Text 20"/>
          <p:cNvSpPr txBox="1"/>
          <p:nvPr/>
        </p:nvSpPr>
        <p:spPr>
          <a:xfrm>
            <a:off x="6903720" y="4133088"/>
            <a:ext cx="4480560" cy="384048"/>
          </a:xfrm>
          <a:prstGeom prst="rect">
            <a:avLst/>
          </a:prstGeom>
          <a:noFill/>
          <a:ln/>
        </p:spPr>
        <p:txBody>
          <a:bodyPr wrap="square" lIns="0" tIns="0" rIns="0" bIns="0" rtlCol="0" anchor="ctr"/>
          <a:lstStyle/>
          <a:p>
            <a:pPr marL="0" indent="0">
              <a:buNone/>
            </a:pPr>
            <a:r>
              <a:rPr lang="en-US" sz="1600" b="1" dirty="0">
                <a:solidFill>
                  <a:schemeClr val="tx2"/>
                </a:solidFill>
              </a:rPr>
              <a:t>Selisih terkendali</a:t>
            </a:r>
            <a:endParaRPr lang="en-US" sz="1600" dirty="0"/>
          </a:p>
        </p:txBody>
      </p:sp>
      <p:sp>
        <p:nvSpPr>
          <p:cNvPr id="23" name="Text 21"/>
          <p:cNvSpPr txBox="1"/>
          <p:nvPr/>
        </p:nvSpPr>
        <p:spPr>
          <a:xfrm>
            <a:off x="6400800" y="4645152"/>
            <a:ext cx="4983480" cy="868680"/>
          </a:xfrm>
          <a:prstGeom prst="rect">
            <a:avLst/>
          </a:prstGeom>
          <a:noFill/>
          <a:ln/>
        </p:spPr>
        <p:txBody>
          <a:bodyPr wrap="square" lIns="0" tIns="0" rIns="0" bIns="0" rtlCol="0" anchor="t"/>
          <a:lstStyle/>
          <a:p>
            <a:pPr marL="0" indent="0">
              <a:buNone/>
            </a:pPr>
            <a:r>
              <a:rPr lang="en-US" sz="1200" dirty="0">
                <a:solidFill>
                  <a:schemeClr val="tx1"/>
                </a:solidFill>
              </a:rPr>
              <a:t>Selisih NPI dihitung di dalam setiap kombinasi faktor lain (strata), lalu dirata-ratakan dengan bobot jumlah invoice.</a:t>
            </a:r>
            <a:endParaRPr lang="en-US" sz="1200" dirty="0"/>
          </a:p>
        </p:txBody>
      </p:sp>
      <p:sp>
        <p:nvSpPr>
          <p:cNvPr id="24" name="Text 22"/>
          <p:cNvSpPr txBox="1"/>
          <p:nvPr/>
        </p:nvSpPr>
        <p:spPr>
          <a:xfrm>
            <a:off x="6400800" y="5504688"/>
            <a:ext cx="4983480" cy="548640"/>
          </a:xfrm>
          <a:prstGeom prst="rect">
            <a:avLst/>
          </a:prstGeom>
          <a:noFill/>
          <a:ln/>
        </p:spPr>
        <p:txBody>
          <a:bodyPr wrap="square" lIns="0" tIns="0" rIns="0" bIns="0" rtlCol="0" anchor="t"/>
          <a:lstStyle/>
          <a:p>
            <a:pPr marL="0" indent="0">
              <a:buNone/>
            </a:pPr>
            <a:r>
              <a:rPr lang="en-US" sz="1200" b="1" dirty="0">
                <a:solidFill>
                  <a:schemeClr val="accent5"/>
                </a:solidFill>
              </a:rPr>
              <a:t>Hanya mengendalikan 7 faktor yang tersedia pada data; hasil tetap asosiasi.</a:t>
            </a:r>
            <a:endParaRPr lang="en-US" sz="12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LAMPIRAN A5</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Detail kualitas data, diurutkan menurut dampak nominal</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Sumber: capstone_sinarmas_hdt_4.ipynb · invoice utama Jul 2022–Des 2024 · status per 27 Jan 2025 (asumsi snapshot)</a:t>
            </a:r>
            <a:endParaRPr lang="en-US" sz="1000" dirty="0"/>
          </a:p>
        </p:txBody>
      </p:sp>
      <p:graphicFrame>
        <p:nvGraphicFramePr>
          <p:cNvPr id="43" name="tabel kualitas data detail"/>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35661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3136392">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tblGrid>
              <a:tr h="411480">
                <a:tc>
                  <a:txBody>
                    <a:bodyPr/>
                    <a:lstStyle/>
                    <a:p>
                      <a:pPr marL="0" indent="0">
                        <a:buNone/>
                      </a:pPr>
                      <a:r>
                        <a:rPr lang="en-US" sz="1200" b="1" dirty="0">
                          <a:solidFill>
                            <a:schemeClr val="bg1"/>
                          </a:solidFill>
                        </a:rPr>
                        <a:t>Temuan</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200" b="1" dirty="0">
                          <a:solidFill>
                            <a:schemeClr val="bg1"/>
                          </a:solidFill>
                        </a:rPr>
                        <a:t>Jumlah baris</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200" b="1" dirty="0">
                          <a:solidFill>
                            <a:schemeClr val="bg1"/>
                          </a:solidFill>
                        </a:rPr>
                        <a:t>Jumlah unit</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200" b="1" dirty="0">
                          <a:solidFill>
                            <a:schemeClr val="bg1"/>
                          </a:solidFill>
                        </a:rPr>
                        <a:t>Nominal terkait</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200" b="1" dirty="0">
                          <a:solidFill>
                            <a:schemeClr val="bg1"/>
                          </a:solidFill>
                        </a:rPr>
                        <a:t>Status temuan</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411480">
                <a:tc>
                  <a:txBody>
                    <a:bodyPr/>
                    <a:lstStyle/>
                    <a:p>
                      <a:pPr marL="0" indent="0">
                        <a:buNone/>
                      </a:pPr>
                      <a:r>
                        <a:rPr lang="en-US" sz="1200" dirty="0">
                          <a:solidFill>
                            <a:schemeClr val="tx1"/>
                          </a:solidFill>
                        </a:rPr>
                        <a:t>Air di atas batas 97,8 m³ (Manual)</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3.789</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3.314</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Rp149,87 M (komponen air, semua status)</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Perlu validasi meter</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1200" dirty="0">
                          <a:solidFill>
                            <a:schemeClr val="tx1"/>
                          </a:solidFill>
                        </a:rPr>
                        <a:t>Salinan tagihan ganda (pola 9xxxx)</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38.449</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21.877</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Rp21,76 M (salinan berstatus NPI)</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Kesalahan data</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2"/>
                  </a:ext>
                </a:extLst>
              </a:tr>
              <a:tr h="411480">
                <a:tc>
                  <a:txBody>
                    <a:bodyPr/>
                    <a:lstStyle/>
                    <a:p>
                      <a:pPr marL="0" indent="0">
                        <a:buNone/>
                      </a:pPr>
                      <a:r>
                        <a:rPr lang="en-US" sz="1200" dirty="0">
                          <a:solidFill>
                            <a:schemeClr val="tx1"/>
                          </a:solidFill>
                        </a:rPr>
                        <a:t>Pasangan ganda Paid + Paid</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12.568</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10.092</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Rp11,07 M</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Perlu rekonsiliasi</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buNone/>
                      </a:pPr>
                      <a:r>
                        <a:rPr lang="en-US" sz="1200" dirty="0">
                          <a:solidFill>
                            <a:schemeClr val="tx1"/>
                          </a:solidFill>
                        </a:rPr>
                        <a:t>Paid terlambat tanpa denda</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46.656</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21.888</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Kebijakan perlu dikonfirmasi</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4"/>
                  </a:ext>
                </a:extLst>
              </a:tr>
              <a:tr h="411480">
                <a:tc>
                  <a:txBody>
                    <a:bodyPr/>
                    <a:lstStyle/>
                    <a:p>
                      <a:pPr marL="0" indent="0">
                        <a:buNone/>
                      </a:pPr>
                      <a:r>
                        <a:rPr lang="en-US" sz="1200" dirty="0">
                          <a:solidFill>
                            <a:schemeClr val="tx1"/>
                          </a:solidFill>
                        </a:rPr>
                        <a:t>Tanggal bayar sebelum periode tagihan</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11.236</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8.809</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Kesalahan data</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11480">
                <a:tc>
                  <a:txBody>
                    <a:bodyPr/>
                    <a:lstStyle/>
                    <a:p>
                      <a:pPr marL="0" indent="0">
                        <a:buNone/>
                      </a:pPr>
                      <a:r>
                        <a:rPr lang="en-US" sz="1200" dirty="0">
                          <a:solidFill>
                            <a:schemeClr val="tx1"/>
                          </a:solidFill>
                        </a:rPr>
                        <a:t>Respons “Lunas Setelah Kontak” tidak sinkron</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5.580</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5.162</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Sinkronisasi sistem</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6"/>
                  </a:ext>
                </a:extLst>
              </a:tr>
              <a:tr h="411480">
                <a:tc>
                  <a:txBody>
                    <a:bodyPr/>
                    <a:lstStyle/>
                    <a:p>
                      <a:pPr marL="0" indent="0">
                        <a:buNone/>
                      </a:pPr>
                      <a:r>
                        <a:rPr lang="en-US" sz="1200" dirty="0">
                          <a:solidFill>
                            <a:schemeClr val="tx1"/>
                          </a:solidFill>
                        </a:rPr>
                        <a:t>Nomor kontak kosong</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4.978</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4.978</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Kelengkapan data</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11480">
                <a:tc>
                  <a:txBody>
                    <a:bodyPr/>
                    <a:lstStyle/>
                    <a:p>
                      <a:pPr marL="0" indent="0">
                        <a:buNone/>
                      </a:pPr>
                      <a:r>
                        <a:rPr lang="en-US" sz="1200" dirty="0">
                          <a:solidFill>
                            <a:schemeClr val="tx1"/>
                          </a:solidFill>
                        </a:rPr>
                        <a:t>Air negatif (Manual)</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3.824</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3.389</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Kesalahan data</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8"/>
                  </a:ext>
                </a:extLst>
              </a:tr>
            </a:tbl>
          </a:graphicData>
        </a:graphic>
      </p:graphicFrame>
      <p:sp>
        <p:nvSpPr>
          <p:cNvPr id="6" name="catatan cakupan air"/>
          <p:cNvSpPr/>
          <p:nvPr/>
        </p:nvSpPr>
        <p:spPr>
          <a:xfrm>
            <a:off x="548640" y="5440680"/>
            <a:ext cx="11091672" cy="777240"/>
          </a:xfrm>
          <a:prstGeom prst="roundRect">
            <a:avLst>
              <a:gd name="adj" fmla="val 9412"/>
            </a:avLst>
          </a:prstGeom>
          <a:solidFill>
            <a:srgbClr val="F3E7BF"/>
          </a:solidFill>
          <a:ln/>
        </p:spPr>
        <p:txBody>
          <a:bodyPr/>
          <a:lstStyle/>
          <a:p>
            <a:endParaRPr lang="en-US"/>
          </a:p>
        </p:txBody>
      </p:sp>
      <p:sp>
        <p:nvSpPr>
          <p:cNvPr id="7" name="Text 4"/>
          <p:cNvSpPr txBox="1"/>
          <p:nvPr/>
        </p:nvSpPr>
        <p:spPr>
          <a:xfrm>
            <a:off x="777240" y="5486400"/>
            <a:ext cx="10698480" cy="685800"/>
          </a:xfrm>
          <a:prstGeom prst="rect">
            <a:avLst/>
          </a:prstGeom>
          <a:noFill/>
          <a:ln/>
        </p:spPr>
        <p:txBody>
          <a:bodyPr wrap="square" lIns="0" tIns="0" rIns="0" bIns="0" rtlCol="0" anchor="ctr"/>
          <a:lstStyle/>
          <a:p>
            <a:pPr marL="0" indent="0">
              <a:buNone/>
            </a:pPr>
            <a:r>
              <a:rPr lang="en-US" sz="1200" b="1" dirty="0">
                <a:solidFill>
                  <a:schemeClr val="tx2"/>
                </a:solidFill>
              </a:rPr>
              <a:t>Cakupan berbeda: </a:t>
            </a:r>
            <a:r>
              <a:rPr lang="en-US" sz="1200" dirty="0">
                <a:solidFill>
                  <a:schemeClr val="tx1"/>
                </a:solidFill>
              </a:rPr>
              <a:t>Rp149,87 M = komponen air semua status invoice dengan air &gt; 97,8 m³. Rp48,30 M di slide 13 = komponen air hanya pada invoice berstatus NPI (air negatif atau &gt; 97,8 m³). Relasi antartabel bersih: 0 PK ganda, 0 FK tanpa pasangan.</a:t>
            </a:r>
            <a:endParaRPr lang="en-US" sz="12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LAMPIRAN A6</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Asumsi dan parameter simulasi</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Sumber: capstone_sinarmas_hdt_4.ipynb · invoice utama Jul 2022–Des 2024 · status per 27 Jan 2025 (asumsi snapshot)</a:t>
            </a:r>
            <a:endParaRPr lang="en-US" sz="1000" dirty="0"/>
          </a:p>
        </p:txBody>
      </p:sp>
      <p:graphicFrame>
        <p:nvGraphicFramePr>
          <p:cNvPr id="44" name="tabel asumsi"/>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26517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599432">
                  <a:extLst>
                    <a:ext uri="{9D8B030D-6E8A-4147-A177-3AD203B41FA5}">
                      <a16:colId xmlns:a16="http://schemas.microsoft.com/office/drawing/2014/main" val="20002"/>
                    </a:ext>
                  </a:extLst>
                </a:gridCol>
              </a:tblGrid>
              <a:tr h="402336">
                <a:tc>
                  <a:txBody>
                    <a:bodyPr/>
                    <a:lstStyle/>
                    <a:p>
                      <a:pPr marL="0" indent="0">
                        <a:buNone/>
                      </a:pPr>
                      <a:r>
                        <a:rPr lang="en-US" sz="1200" b="1" dirty="0">
                          <a:solidFill>
                            <a:schemeClr val="bg1"/>
                          </a:solidFill>
                        </a:rPr>
                        <a:t>Asumsi / parameter</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200" b="1" dirty="0">
                          <a:solidFill>
                            <a:schemeClr val="bg1"/>
                          </a:solidFill>
                        </a:rPr>
                        <a:t>Nilai</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200" b="1" dirty="0">
                          <a:solidFill>
                            <a:schemeClr val="bg1"/>
                          </a:solidFill>
                        </a:rPr>
                        <a:t>Dasar</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402336">
                <a:tc>
                  <a:txBody>
                    <a:bodyPr/>
                    <a:lstStyle/>
                    <a:p>
                      <a:pPr marL="0" indent="0">
                        <a:buNone/>
                      </a:pPr>
                      <a:r>
                        <a:rPr lang="en-US" sz="1200" dirty="0">
                          <a:solidFill>
                            <a:schemeClr val="tx1"/>
                          </a:solidFill>
                        </a:rPr>
                        <a:t>Periode dasar</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6 cohort matang terakhir (Jun–Nov 2024)</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Data: mewakili tagihan baru</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200" dirty="0">
                          <a:solidFill>
                            <a:schemeClr val="tx1"/>
                          </a:solidFill>
                        </a:rPr>
                        <a:t>Kematangan cohort</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Jatuh tempo + 22 hari</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Asumsi empiris: pembayaran paling terlambat yang teramati, bukan kebijakan resmi</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2"/>
                  </a:ext>
                </a:extLst>
              </a:tr>
              <a:tr h="402336">
                <a:tc>
                  <a:txBody>
                    <a:bodyPr/>
                    <a:lstStyle/>
                    <a:p>
                      <a:pPr marL="0" indent="0">
                        <a:buNone/>
                      </a:pPr>
                      <a:r>
                        <a:rPr lang="en-US" sz="1200" dirty="0">
                          <a:solidFill>
                            <a:schemeClr val="tx1"/>
                          </a:solidFill>
                        </a:rPr>
                        <a:t>Populasi sasaran</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24.754 unit tanpa autodebit pada bulan terakhir</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Data: unit eligible, bukan invoice historis</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buNone/>
                      </a:pPr>
                      <a:r>
                        <a:rPr lang="en-US" sz="1200" b="1" dirty="0">
                          <a:solidFill>
                            <a:schemeClr val="tx1"/>
                          </a:solidFill>
                        </a:rPr>
                        <a:t>Porsi unit beralih</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b="1" dirty="0">
                          <a:solidFill>
                            <a:schemeClr val="tx1"/>
                          </a:solidFill>
                        </a:rPr>
                        <a:t>25% unit eligible (6.188 unit)</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Parameter analis (populasi)</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4"/>
                  </a:ext>
                </a:extLst>
              </a:tr>
              <a:tr h="402336">
                <a:tc>
                  <a:txBody>
                    <a:bodyPr/>
                    <a:lstStyle/>
                    <a:p>
                      <a:pPr marL="0" indent="0">
                        <a:buNone/>
                      </a:pPr>
                      <a:r>
                        <a:rPr lang="en-US" sz="1200" dirty="0">
                          <a:solidFill>
                            <a:schemeClr val="tx1"/>
                          </a:solidFill>
                        </a:rPr>
                        <a:t>Besar efek</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Selisih terkendali 26,59 poin</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Data: bukan selisih mentah 29,78 poin</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buNone/>
                      </a:pPr>
                      <a:r>
                        <a:rPr lang="en-US" sz="1200" b="1" dirty="0">
                          <a:solidFill>
                            <a:schemeClr val="tx1"/>
                          </a:solidFill>
                        </a:rPr>
                        <a:t>Tingkat keberhasilan</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b="1" dirty="0">
                          <a:solidFill>
                            <a:schemeClr val="tx1"/>
                          </a:solidFill>
                        </a:rPr>
                        <a:t>25% / 50% / 100% dari efek</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Parameter analis (porsi efek yang terealisasi)</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6"/>
                  </a:ext>
                </a:extLst>
              </a:tr>
              <a:tr h="402336">
                <a:tc>
                  <a:txBody>
                    <a:bodyPr/>
                    <a:lstStyle/>
                    <a:p>
                      <a:pPr marL="0" indent="0">
                        <a:buNone/>
                      </a:pPr>
                      <a:r>
                        <a:rPr lang="en-US" sz="1200" dirty="0">
                          <a:solidFill>
                            <a:schemeClr val="tx1"/>
                          </a:solidFill>
                        </a:rPr>
                        <a:t>Nominal per invoice NPI</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Rata-rata nominal NPI analisis per invoice NPI, periode dasar</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Data: mengonversi invoice dicegah ke rupiah</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02336">
                <a:tc>
                  <a:txBody>
                    <a:bodyPr/>
                    <a:lstStyle/>
                    <a:p>
                      <a:pPr marL="0" indent="0">
                        <a:buNone/>
                      </a:pPr>
                      <a:r>
                        <a:rPr lang="en-US" sz="1200" dirty="0">
                          <a:solidFill>
                            <a:schemeClr val="tx1"/>
                          </a:solidFill>
                        </a:rPr>
                        <a:t>Nilai tagihan &amp; NPI per bulan</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Rp18,73 M dan Rp7,00 M</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Dihitung dari periode dasar (versi lama: Rp18,74 M &amp; Rp7,01 M)</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8"/>
                  </a:ext>
                </a:extLst>
              </a:tr>
              <a:tr h="402336">
                <a:tc>
                  <a:txBody>
                    <a:bodyPr/>
                    <a:lstStyle/>
                    <a:p>
                      <a:pPr marL="0" indent="0">
                        <a:buNone/>
                      </a:pPr>
                      <a:r>
                        <a:rPr lang="en-US" sz="1200" dirty="0">
                          <a:solidFill>
                            <a:schemeClr val="tx1"/>
                          </a:solidFill>
                        </a:rPr>
                        <a:t>Tidak termasuk</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Biaya insentif &amp; kanal, kapasitas tim, kas aktual</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Manfaat bersih/ROI belum dapat dihitung</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Text 3"/>
          <p:cNvSpPr txBox="1"/>
          <p:nvPr/>
        </p:nvSpPr>
        <p:spPr>
          <a:xfrm>
            <a:off x="548640" y="5989320"/>
            <a:ext cx="11064240" cy="320040"/>
          </a:xfrm>
          <a:prstGeom prst="rect">
            <a:avLst/>
          </a:prstGeom>
          <a:noFill/>
          <a:ln/>
        </p:spPr>
        <p:txBody>
          <a:bodyPr wrap="square" lIns="0" tIns="0" rIns="0" bIns="0" rtlCol="0" anchor="t"/>
          <a:lstStyle/>
          <a:p>
            <a:pPr marL="0" indent="0">
              <a:buNone/>
            </a:pPr>
            <a:r>
              <a:rPr lang="en-US" sz="1200" b="1" dirty="0">
                <a:solidFill>
                  <a:schemeClr val="accent4"/>
                </a:solidFill>
              </a:rPr>
              <a:t>Dua angka 25% berbeda: 25% unit eligible yang beralih (populasi) dan 25% tingkat keberhasilan konservatif (efek).</a:t>
            </a:r>
            <a:endParaRPr lang="en-US" sz="12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LAMPIRAN A7</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Batas analisis dan data yang dibutuhkan untuk keputusan berikutnya</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r>
              <a:rPr lang="en-US" sz="1000" dirty="0">
                <a:solidFill>
                  <a:schemeClr val="accent6"/>
                </a:solidFill>
              </a:rPr>
              <a:t>Sumber: capstone_sinarmas_hdt_4.ipynb · invoice utama Jul 2022–Des 2024 · status per 27 Jan 2025 (asumsi snapshot)</a:t>
            </a:r>
            <a:endParaRPr lang="en-US" sz="1000" dirty="0"/>
          </a:p>
        </p:txBody>
      </p:sp>
      <p:sp>
        <p:nvSpPr>
          <p:cNvPr id="5" name="sumber data"/>
          <p:cNvSpPr/>
          <p:nvPr/>
        </p:nvSpPr>
        <p:spPr>
          <a:xfrm>
            <a:off x="548640" y="1645920"/>
            <a:ext cx="3566160" cy="4572000"/>
          </a:xfrm>
          <a:prstGeom prst="roundRect">
            <a:avLst>
              <a:gd name="adj" fmla="val 2051"/>
            </a:avLst>
          </a:prstGeom>
          <a:solidFill>
            <a:srgbClr val="F7F5F0"/>
          </a:solidFill>
          <a:ln w="9525">
            <a:solidFill>
              <a:srgbClr val="DCE1E8"/>
            </a:solidFill>
            <a:prstDash val="solid"/>
          </a:ln>
        </p:spPr>
        <p:txBody>
          <a:bodyPr/>
          <a:lstStyle/>
          <a:p>
            <a:endParaRPr lang="en-US"/>
          </a:p>
        </p:txBody>
      </p:sp>
      <p:sp>
        <p:nvSpPr>
          <p:cNvPr id="6" name="Text 4"/>
          <p:cNvSpPr txBox="1"/>
          <p:nvPr/>
        </p:nvSpPr>
        <p:spPr>
          <a:xfrm>
            <a:off x="777240" y="1828800"/>
            <a:ext cx="3108960" cy="274320"/>
          </a:xfrm>
          <a:prstGeom prst="rect">
            <a:avLst/>
          </a:prstGeom>
          <a:noFill/>
          <a:ln/>
        </p:spPr>
        <p:txBody>
          <a:bodyPr wrap="square" lIns="0" tIns="0" rIns="0" bIns="0" rtlCol="0" anchor="t"/>
          <a:lstStyle/>
          <a:p>
            <a:pPr marL="0" indent="0">
              <a:buNone/>
            </a:pPr>
            <a:r>
              <a:rPr lang="en-US" sz="1100" b="1" kern="0" spc="100" dirty="0">
                <a:solidFill>
                  <a:schemeClr val="accent3"/>
                </a:solidFill>
              </a:rPr>
              <a:t>SUMBER DATA</a:t>
            </a:r>
            <a:endParaRPr lang="en-US" sz="1100" dirty="0"/>
          </a:p>
        </p:txBody>
      </p:sp>
      <p:sp>
        <p:nvSpPr>
          <p:cNvPr id="7" name="Text 5"/>
          <p:cNvSpPr txBox="1"/>
          <p:nvPr/>
        </p:nvSpPr>
        <p:spPr>
          <a:xfrm>
            <a:off x="777240" y="2194560"/>
            <a:ext cx="3154680" cy="38404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Notebook capstone_sinarmas_hdt_4.ipynb (output tersimpan).</a:t>
            </a:r>
            <a:endParaRPr lang="en-US" sz="1300" dirty="0"/>
          </a:p>
          <a:p>
            <a:pPr marL="342900" indent="-342900">
              <a:spcAft>
                <a:spcPts val="800"/>
              </a:spcAft>
              <a:buSzPct val="100000"/>
              <a:buChar char="•"/>
            </a:pPr>
            <a:r>
              <a:rPr lang="en-US" sz="1300" dirty="0">
                <a:solidFill>
                  <a:schemeClr val="tx1"/>
                </a:solidFill>
              </a:rPr>
              <a:t>Lima CSV mentah dari database: clusters, units, ipl_billings, collection_actions, payment_disputes.</a:t>
            </a:r>
            <a:endParaRPr lang="en-US" sz="1300" dirty="0"/>
          </a:p>
          <a:p>
            <a:pPr marL="342900" indent="-342900">
              <a:spcAft>
                <a:spcPts val="800"/>
              </a:spcAft>
              <a:buSzPct val="100000"/>
              <a:buChar char="•"/>
            </a:pPr>
            <a:r>
              <a:rPr lang="en-US" sz="1300" dirty="0">
                <a:solidFill>
                  <a:schemeClr val="tx1"/>
                </a:solidFill>
              </a:rPr>
              <a:t>Brief peserta dan ERD Sinarmas Land.</a:t>
            </a:r>
            <a:endParaRPr lang="en-US" sz="1300" dirty="0"/>
          </a:p>
          <a:p>
            <a:pPr marL="342900" indent="-342900">
              <a:spcAft>
                <a:spcPts val="800"/>
              </a:spcAft>
              <a:buSzPct val="100000"/>
              <a:buChar char="•"/>
            </a:pPr>
            <a:r>
              <a:rPr lang="en-US" sz="1300" dirty="0">
                <a:solidFill>
                  <a:schemeClr val="tx1"/>
                </a:solidFill>
              </a:rPr>
              <a:t>Tagihan Jul 2022 – Des 2024; status per 27 Jan 2025 (asumsi).</a:t>
            </a:r>
            <a:endParaRPr lang="en-US" sz="1300" dirty="0"/>
          </a:p>
        </p:txBody>
      </p:sp>
      <p:graphicFrame>
        <p:nvGraphicFramePr>
          <p:cNvPr id="45" name="tabel keterbatasan"/>
          <p:cNvGraphicFramePr>
            <a:graphicFrameLocks noGrp="1"/>
          </p:cNvGraphicFramePr>
          <p:nvPr>
            <p:extLst>
              <p:ext uri="{D42A27DB-BD31-4B8C-83A1-F6EECF244321}">
                <p14:modId xmlns:p14="http://schemas.microsoft.com/office/powerpoint/2010/main" val="1579011935"/>
              </p:ext>
            </p:extLst>
          </p:nvPr>
        </p:nvGraphicFramePr>
        <p:xfrm>
          <a:off x="4343400" y="1645920"/>
          <a:ext cx="7296912" cy="4279392"/>
        </p:xfrm>
        <a:graphic>
          <a:graphicData uri="http://schemas.openxmlformats.org/drawingml/2006/table">
            <a:tbl>
              <a:tblPr/>
              <a:tblGrid>
                <a:gridCol w="269748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1627632">
                  <a:extLst>
                    <a:ext uri="{9D8B030D-6E8A-4147-A177-3AD203B41FA5}">
                      <a16:colId xmlns:a16="http://schemas.microsoft.com/office/drawing/2014/main" val="20002"/>
                    </a:ext>
                  </a:extLst>
                </a:gridCol>
              </a:tblGrid>
              <a:tr h="713232">
                <a:tc>
                  <a:txBody>
                    <a:bodyPr/>
                    <a:lstStyle/>
                    <a:p>
                      <a:pPr marL="0" indent="0">
                        <a:buNone/>
                      </a:pPr>
                      <a:r>
                        <a:rPr lang="en-US" sz="1200" b="1" dirty="0">
                          <a:solidFill>
                            <a:schemeClr val="bg1"/>
                          </a:solidFill>
                        </a:rPr>
                        <a:t>Keterbatasan</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200" b="1" dirty="0">
                          <a:solidFill>
                            <a:schemeClr val="bg1"/>
                          </a:solidFill>
                        </a:rPr>
                        <a:t>Data yang dibutuhkan berikutnya</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200" b="1" dirty="0">
                          <a:solidFill>
                            <a:schemeClr val="bg1"/>
                          </a:solidFill>
                        </a:rPr>
                        <a:t>Pemilik validasi</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713232">
                <a:tc>
                  <a:txBody>
                    <a:bodyPr/>
                    <a:lstStyle/>
                    <a:p>
                      <a:pPr marL="0" indent="0">
                        <a:buNone/>
                      </a:pPr>
                      <a:r>
                        <a:rPr lang="en-US" sz="1200" dirty="0">
                          <a:solidFill>
                            <a:schemeClr val="tx1"/>
                          </a:solidFill>
                        </a:rPr>
                        <a:t>Status hanya per snapshot; tanggal belum resmi</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Tanggal ekstraksi resmi; log riwayat status pembayaran</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Manajemen &amp; IT/ERP</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200" dirty="0">
                          <a:solidFill>
                            <a:schemeClr val="tx1"/>
                          </a:solidFill>
                        </a:rPr>
                        <a:t>Hubungan berupa asosiasi</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Hasil pilot dengan grup kontrol</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Head of Township</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2"/>
                  </a:ext>
                </a:extLst>
              </a:tr>
              <a:tr h="713232">
                <a:tc>
                  <a:txBody>
                    <a:bodyPr/>
                    <a:lstStyle/>
                    <a:p>
                      <a:pPr marL="0" indent="0">
                        <a:buNone/>
                      </a:pPr>
                      <a:r>
                        <a:rPr lang="en-US" sz="1200" dirty="0">
                          <a:solidFill>
                            <a:schemeClr val="tx1"/>
                          </a:solidFill>
                        </a:rPr>
                        <a:t>Aturan invoice utama &amp; batas air belum disahkan</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Pengesahan aturan; log dan bukti meter</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IT/ERP &amp; Estate Ops</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200" dirty="0">
                          <a:solidFill>
                            <a:schemeClr val="tx1"/>
                          </a:solidFill>
                        </a:rPr>
                        <a:t>Efektivitas Collection belum terukur</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Bukti pembayaran hasil aksi; log kunjungan lapangan</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Collection</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4"/>
                  </a:ext>
                </a:extLst>
              </a:tr>
              <a:tr h="713232">
                <a:tc>
                  <a:txBody>
                    <a:bodyPr/>
                    <a:lstStyle/>
                    <a:p>
                      <a:pPr marL="0" indent="0">
                        <a:buNone/>
                      </a:pPr>
                      <a:r>
                        <a:rPr lang="en-US" sz="1200" dirty="0">
                          <a:solidFill>
                            <a:schemeClr val="tx1"/>
                          </a:solidFill>
                        </a:rPr>
                        <a:t>Nominal NPI bukan kas; biaya belum ada</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Mutasi bank; biaya program</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Finance</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PROFIL RISIKO GABUNGAN</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NPI meningkat seiring skor risiko deskriptif: 4,93% pada skor 0 menjadi 67,10% pada skor 4</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endParaRPr lang="en-US" sz="1000" dirty="0"/>
          </a:p>
        </p:txBody>
      </p:sp>
      <p:graphicFrame>
        <p:nvGraphicFramePr>
          <p:cNvPr id="5" name="grafik skor npi"/>
          <p:cNvGraphicFramePr/>
          <p:nvPr/>
        </p:nvGraphicFramePr>
        <p:xfrm>
          <a:off x="548640" y="1572768"/>
          <a:ext cx="3931920" cy="36118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grafik skor nominal"/>
          <p:cNvGraphicFramePr/>
          <p:nvPr/>
        </p:nvGraphicFramePr>
        <p:xfrm>
          <a:off x="4572000" y="1572768"/>
          <a:ext cx="3931920" cy="361188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9" name="tabel konsistensi skor"/>
          <p:cNvGraphicFramePr>
            <a:graphicFrameLocks noGrp="1"/>
          </p:cNvGraphicFramePr>
          <p:nvPr/>
        </p:nvGraphicFramePr>
        <p:xfrm>
          <a:off x="8686800" y="1645920"/>
          <a:ext cx="2953512" cy="2328672"/>
        </p:xfrm>
        <a:graphic>
          <a:graphicData uri="http://schemas.openxmlformats.org/drawingml/2006/table">
            <a:tbl>
              <a:tblPr/>
              <a:tblGrid>
                <a:gridCol w="45720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859536">
                  <a:extLst>
                    <a:ext uri="{9D8B030D-6E8A-4147-A177-3AD203B41FA5}">
                      <a16:colId xmlns:a16="http://schemas.microsoft.com/office/drawing/2014/main" val="20002"/>
                    </a:ext>
                  </a:extLst>
                </a:gridCol>
                <a:gridCol w="859536">
                  <a:extLst>
                    <a:ext uri="{9D8B030D-6E8A-4147-A177-3AD203B41FA5}">
                      <a16:colId xmlns:a16="http://schemas.microsoft.com/office/drawing/2014/main" val="20003"/>
                    </a:ext>
                  </a:extLst>
                </a:gridCol>
              </a:tblGrid>
              <a:tr h="384048">
                <a:tc>
                  <a:txBody>
                    <a:bodyPr/>
                    <a:lstStyle/>
                    <a:p>
                      <a:pPr marL="0" indent="0">
                        <a:buNone/>
                      </a:pPr>
                      <a:r>
                        <a:rPr lang="en-US" sz="1100" b="1" dirty="0">
                          <a:solidFill>
                            <a:schemeClr val="bg1"/>
                          </a:solidFill>
                        </a:rPr>
                        <a:t>Skor</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Invoice</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NPI cohort 2022–23</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100" b="1" dirty="0">
                          <a:solidFill>
                            <a:schemeClr val="bg1"/>
                          </a:solidFill>
                        </a:rPr>
                        <a:t>NPI cohort 2024</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384048">
                <a:tc>
                  <a:txBody>
                    <a:bodyPr/>
                    <a:lstStyle/>
                    <a:p>
                      <a:pPr marL="0" indent="0">
                        <a:buNone/>
                      </a:pPr>
                      <a:r>
                        <a:rPr lang="en-US" sz="1100" dirty="0">
                          <a:solidFill>
                            <a:schemeClr val="tx1"/>
                          </a:solidFill>
                        </a:rPr>
                        <a:t>0</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52.037</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4,8%</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5,0%</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100" dirty="0">
                          <a:solidFill>
                            <a:schemeClr val="tx1"/>
                          </a:solidFill>
                        </a:rPr>
                        <a:t>1</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277.447</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23,1%</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24,4%</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2"/>
                  </a:ext>
                </a:extLst>
              </a:tr>
              <a:tr h="384048">
                <a:tc>
                  <a:txBody>
                    <a:bodyPr/>
                    <a:lstStyle/>
                    <a:p>
                      <a:pPr marL="0" indent="0">
                        <a:buNone/>
                      </a:pPr>
                      <a:r>
                        <a:rPr lang="en-US" sz="1100" dirty="0">
                          <a:solidFill>
                            <a:schemeClr val="tx1"/>
                          </a:solidFill>
                        </a:rPr>
                        <a:t>2</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254.315</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36,9%</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38,2%</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100" dirty="0">
                          <a:solidFill>
                            <a:schemeClr val="tx1"/>
                          </a:solidFill>
                        </a:rPr>
                        <a:t>3</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141.088</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56,1%</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100" dirty="0">
                          <a:solidFill>
                            <a:schemeClr val="tx1"/>
                          </a:solidFill>
                        </a:rPr>
                        <a:t>56,6%</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4"/>
                  </a:ext>
                </a:extLst>
              </a:tr>
              <a:tr h="384048">
                <a:tc>
                  <a:txBody>
                    <a:bodyPr/>
                    <a:lstStyle/>
                    <a:p>
                      <a:pPr marL="0" indent="0">
                        <a:buNone/>
                      </a:pPr>
                      <a:r>
                        <a:rPr lang="en-US" sz="1100" dirty="0">
                          <a:solidFill>
                            <a:schemeClr val="tx1"/>
                          </a:solidFill>
                        </a:rPr>
                        <a:t>4</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44.091</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66,1%</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68,0%</a:t>
                      </a:r>
                      <a:endParaRPr lang="en-US" sz="11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Text 3"/>
          <p:cNvSpPr txBox="1"/>
          <p:nvPr/>
        </p:nvSpPr>
        <p:spPr>
          <a:xfrm>
            <a:off x="8686800" y="4069080"/>
            <a:ext cx="2953512" cy="1097280"/>
          </a:xfrm>
          <a:prstGeom prst="rect">
            <a:avLst/>
          </a:prstGeom>
          <a:noFill/>
          <a:ln/>
        </p:spPr>
        <p:txBody>
          <a:bodyPr wrap="square" lIns="0" tIns="0" rIns="0" bIns="0" rtlCol="0" anchor="t"/>
          <a:lstStyle/>
          <a:p>
            <a:pPr marL="0" indent="0">
              <a:buNone/>
            </a:pPr>
            <a:r>
              <a:rPr lang="en-US" sz="1200" dirty="0">
                <a:solidFill>
                  <a:schemeClr val="accent6"/>
                </a:solidFill>
              </a:rPr>
              <a:t>Pola sama pada cohort matang 2022–2023 dan 2024: konsisten pada data ini, belum bukti stabil di masa depan.</a:t>
            </a:r>
            <a:endParaRPr lang="en-US" sz="1200" dirty="0"/>
          </a:p>
        </p:txBody>
      </p:sp>
      <p:sp>
        <p:nvSpPr>
          <p:cNvPr id="9" name="catatan skor"/>
          <p:cNvSpPr/>
          <p:nvPr/>
        </p:nvSpPr>
        <p:spPr>
          <a:xfrm>
            <a:off x="548640" y="5349240"/>
            <a:ext cx="11091672" cy="868680"/>
          </a:xfrm>
          <a:prstGeom prst="roundRect">
            <a:avLst>
              <a:gd name="adj" fmla="val 8421"/>
            </a:avLst>
          </a:prstGeom>
          <a:solidFill>
            <a:schemeClr val="tx2"/>
          </a:solidFill>
          <a:ln/>
        </p:spPr>
        <p:txBody>
          <a:bodyPr/>
          <a:lstStyle/>
          <a:p>
            <a:endParaRPr lang="en-US"/>
          </a:p>
        </p:txBody>
      </p:sp>
      <p:sp>
        <p:nvSpPr>
          <p:cNvPr id="10" name="Text 5"/>
          <p:cNvSpPr txBox="1"/>
          <p:nvPr/>
        </p:nvSpPr>
        <p:spPr>
          <a:xfrm>
            <a:off x="822960" y="5413248"/>
            <a:ext cx="10607040" cy="731520"/>
          </a:xfrm>
          <a:prstGeom prst="rect">
            <a:avLst/>
          </a:prstGeom>
          <a:noFill/>
          <a:ln/>
        </p:spPr>
        <p:txBody>
          <a:bodyPr wrap="square" lIns="0" tIns="0" rIns="0" bIns="0" rtlCol="0" anchor="ctr"/>
          <a:lstStyle/>
          <a:p>
            <a:pPr marL="0" indent="0">
              <a:buNone/>
            </a:pPr>
            <a:r>
              <a:rPr lang="en-US" sz="1300" b="1" dirty="0">
                <a:solidFill>
                  <a:schemeClr val="accent2"/>
                </a:solidFill>
              </a:rPr>
              <a:t>Skor = jumlah faktor (bobot sama): </a:t>
            </a:r>
            <a:r>
              <a:rPr lang="en-US" sz="1300" dirty="0">
                <a:solidFill>
                  <a:schemeClr val="bg1"/>
                </a:solidFill>
              </a:rPr>
              <a:t>vacant, pemilik luar kota/negeri, tanpa autodebit, cluster New Phase. Skor 3–4 = 24,1% invoice tetapi 40,1% nominal (Rp70,7 miliar). Profil deskriptif, bukan model prediktif; perlu validasi prospektif.</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38</a:t>
            </a:fld>
            <a:endParaRPr lang="en-US"/>
          </a:p>
        </p:txBody>
      </p:sp>
    </p:spTree>
    <p:extLst>
      <p:ext uri="{BB962C8B-B14F-4D97-AF65-F5344CB8AC3E}">
        <p14:creationId xmlns:p14="http://schemas.microsoft.com/office/powerpoint/2010/main" val="30986950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PENGENDALIAN FAKTOR PENGGANGGU</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Setelah </a:t>
            </a:r>
            <a:r>
              <a:rPr lang="id-ID" sz="2600" b="1" dirty="0">
                <a:solidFill>
                  <a:schemeClr val="tx2"/>
                </a:solidFill>
              </a:rPr>
              <a:t>analisa</a:t>
            </a:r>
            <a:r>
              <a:rPr lang="en-US" sz="2600" b="1" dirty="0">
                <a:solidFill>
                  <a:schemeClr val="tx2"/>
                </a:solidFill>
              </a:rPr>
              <a:t>, autodebit, </a:t>
            </a:r>
            <a:r>
              <a:rPr lang="id-ID" dirty="0"/>
              <a:t>unit kosong</a:t>
            </a:r>
            <a:r>
              <a:rPr lang="en-US" sz="2600" b="1" dirty="0">
                <a:solidFill>
                  <a:schemeClr val="tx2"/>
                </a:solidFill>
              </a:rPr>
              <a:t>, </a:t>
            </a:r>
            <a:r>
              <a:rPr lang="id-ID" sz="2600" b="1" dirty="0">
                <a:solidFill>
                  <a:schemeClr val="tx2"/>
                </a:solidFill>
              </a:rPr>
              <a:t>pemilik luar kota/negeri</a:t>
            </a:r>
            <a:r>
              <a:rPr lang="en-US" sz="2600" b="1" dirty="0">
                <a:solidFill>
                  <a:schemeClr val="tx2"/>
                </a:solidFill>
              </a:rPr>
              <a:t>, dan </a:t>
            </a:r>
            <a:r>
              <a:rPr lang="id-ID" dirty="0"/>
              <a:t>cluster baru (2021-2023)</a:t>
            </a:r>
            <a:r>
              <a:rPr lang="en-US" sz="2600" b="1" dirty="0">
                <a:solidFill>
                  <a:schemeClr val="tx2"/>
                </a:solidFill>
              </a:rPr>
              <a:t> masih menunjukkan selisih NPI</a:t>
            </a:r>
            <a:endParaRPr lang="en-US" sz="2600" dirty="0"/>
          </a:p>
        </p:txBody>
      </p:sp>
      <p:graphicFrame>
        <p:nvGraphicFramePr>
          <p:cNvPr id="5" name="grafik pengendalian"/>
          <p:cNvGraphicFramePr/>
          <p:nvPr/>
        </p:nvGraphicFramePr>
        <p:xfrm>
          <a:off x="548640" y="1572768"/>
          <a:ext cx="740664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15" name="Text Placeholder 14">
            <a:extLst>
              <a:ext uri="{FF2B5EF4-FFF2-40B4-BE49-F238E27FC236}">
                <a16:creationId xmlns:a16="http://schemas.microsoft.com/office/drawing/2014/main" id="{2D0FB555-A61B-4245-92BE-5DC5CE78D798}"/>
              </a:ext>
            </a:extLst>
          </p:cNvPr>
          <p:cNvSpPr>
            <a:spLocks noGrp="1"/>
          </p:cNvSpPr>
          <p:nvPr>
            <p:ph type="body" idx="102"/>
          </p:nvPr>
        </p:nvSpPr>
        <p:spPr/>
        <p:txBody>
          <a:bodyPr/>
          <a:lstStyle/>
          <a:p>
            <a:endParaRPr lang="id-ID"/>
          </a:p>
        </p:txBody>
      </p:sp>
    </p:spTree>
    <p:extLst>
      <p:ext uri="{BB962C8B-B14F-4D97-AF65-F5344CB8AC3E}">
        <p14:creationId xmlns:p14="http://schemas.microsoft.com/office/powerpoint/2010/main" val="32388114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REKONSILIASI DUPLIKASI</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Mengeluarkan salinan duplikasi menurunkan baseline NPI dari 36,96% menjadi 35,44%</a:t>
            </a:r>
            <a:endParaRPr lang="en-US" sz="2600" dirty="0"/>
          </a:p>
        </p:txBody>
      </p:sp>
      <p:sp>
        <p:nvSpPr>
          <p:cNvPr id="4" name="Text 0"/>
          <p:cNvSpPr>
            <a:spLocks noGrp="1"/>
          </p:cNvSpPr>
          <p:nvPr>
            <p:ph type="body" idx="102" hasCustomPrompt="1"/>
          </p:nvPr>
        </p:nvSpPr>
        <p:spPr>
          <a:xfrm>
            <a:off x="533400" y="6400800"/>
            <a:ext cx="10241280" cy="274320"/>
          </a:xfrm>
          <a:prstGeom prst="rect">
            <a:avLst/>
          </a:prstGeom>
          <a:noFill/>
          <a:ln/>
        </p:spPr>
        <p:txBody>
          <a:bodyPr wrap="square" lIns="0" tIns="0" rIns="0" bIns="0" rtlCol="0" anchor="ctr"/>
          <a:lstStyle/>
          <a:p>
            <a:pPr marL="0" indent="0">
              <a:buNone/>
            </a:pPr>
            <a:endParaRPr lang="en-US" sz="1000" dirty="0"/>
          </a:p>
        </p:txBody>
      </p:sp>
      <p:graphicFrame>
        <p:nvGraphicFramePr>
          <p:cNvPr id="5" name="grafik duplikasi"/>
          <p:cNvGraphicFramePr/>
          <p:nvPr/>
        </p:nvGraphicFramePr>
        <p:xfrm>
          <a:off x="548640" y="1645920"/>
          <a:ext cx="512064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548640" y="5394960"/>
            <a:ext cx="5120640" cy="320040"/>
          </a:xfrm>
          <a:prstGeom prst="rect">
            <a:avLst/>
          </a:prstGeom>
          <a:noFill/>
          <a:ln/>
        </p:spPr>
        <p:txBody>
          <a:bodyPr wrap="square" lIns="0" tIns="0" rIns="0" bIns="0" rtlCol="0" anchor="t"/>
          <a:lstStyle/>
          <a:p>
            <a:pPr marL="0" indent="0" algn="ctr">
              <a:buNone/>
            </a:pPr>
            <a:r>
              <a:rPr lang="en-US" sz="1300" dirty="0">
                <a:solidFill>
                  <a:schemeClr val="accent6"/>
                </a:solidFill>
              </a:rPr>
              <a:t>807.427 invoice → 768.978 invoice utama (selisih 1,52 poin persentase)</a:t>
            </a:r>
            <a:endParaRPr lang="en-US" sz="1300" dirty="0"/>
          </a:p>
        </p:txBody>
      </p:sp>
      <p:sp>
        <p:nvSpPr>
          <p:cNvPr id="7" name="bukti 100%"/>
          <p:cNvSpPr/>
          <p:nvPr/>
        </p:nvSpPr>
        <p:spPr>
          <a:xfrm>
            <a:off x="6035040" y="1645920"/>
            <a:ext cx="5605272" cy="804672"/>
          </a:xfrm>
          <a:prstGeom prst="roundRect">
            <a:avLst>
              <a:gd name="adj" fmla="val 9091"/>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8" name="Text 5"/>
          <p:cNvSpPr txBox="1"/>
          <p:nvPr/>
        </p:nvSpPr>
        <p:spPr>
          <a:xfrm>
            <a:off x="6263640" y="1737360"/>
            <a:ext cx="1371600" cy="621792"/>
          </a:xfrm>
          <a:prstGeom prst="rect">
            <a:avLst/>
          </a:prstGeom>
          <a:noFill/>
          <a:ln/>
        </p:spPr>
        <p:txBody>
          <a:bodyPr wrap="square" lIns="0" tIns="0" rIns="0" bIns="0" rtlCol="0" anchor="ctr">
            <a:normAutofit/>
          </a:bodyPr>
          <a:lstStyle/>
          <a:p>
            <a:pPr marL="0" indent="0">
              <a:buNone/>
            </a:pPr>
            <a:r>
              <a:rPr lang="en-US" sz="2400" b="1" dirty="0">
                <a:solidFill>
                  <a:schemeClr val="tx2"/>
                </a:solidFill>
              </a:rPr>
              <a:t>100%</a:t>
            </a:r>
            <a:endParaRPr lang="en-US" sz="2400" dirty="0"/>
          </a:p>
        </p:txBody>
      </p:sp>
      <p:sp>
        <p:nvSpPr>
          <p:cNvPr id="9" name="Text 6"/>
          <p:cNvSpPr txBox="1"/>
          <p:nvPr/>
        </p:nvSpPr>
        <p:spPr>
          <a:xfrm>
            <a:off x="7680960" y="1719072"/>
            <a:ext cx="3794760" cy="658368"/>
          </a:xfrm>
          <a:prstGeom prst="rect">
            <a:avLst/>
          </a:prstGeom>
          <a:noFill/>
          <a:ln/>
        </p:spPr>
        <p:txBody>
          <a:bodyPr wrap="square" lIns="0" tIns="0" rIns="0" bIns="0" rtlCol="0" anchor="ctr"/>
          <a:lstStyle/>
          <a:p>
            <a:pPr marL="0" indent="0">
              <a:buNone/>
            </a:pPr>
            <a:r>
              <a:rPr lang="en-US" sz="1300" dirty="0">
                <a:solidFill>
                  <a:schemeClr val="tx1"/>
                </a:solidFill>
              </a:rPr>
              <a:t>dari 38.449 pasangan berisi tepat 2 invoice dengan nominal, air, tarif, dan denda identik</a:t>
            </a:r>
            <a:endParaRPr lang="en-US" sz="1300" dirty="0"/>
          </a:p>
        </p:txBody>
      </p:sp>
      <p:sp>
        <p:nvSpPr>
          <p:cNvPr id="10" name="bukti 0"/>
          <p:cNvSpPr/>
          <p:nvPr/>
        </p:nvSpPr>
        <p:spPr>
          <a:xfrm>
            <a:off x="6035040" y="2578608"/>
            <a:ext cx="5605272" cy="804672"/>
          </a:xfrm>
          <a:prstGeom prst="roundRect">
            <a:avLst>
              <a:gd name="adj" fmla="val 9091"/>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1" name="Text 8"/>
          <p:cNvSpPr txBox="1"/>
          <p:nvPr/>
        </p:nvSpPr>
        <p:spPr>
          <a:xfrm>
            <a:off x="6263640" y="2670048"/>
            <a:ext cx="1371600" cy="621792"/>
          </a:xfrm>
          <a:prstGeom prst="rect">
            <a:avLst/>
          </a:prstGeom>
          <a:noFill/>
          <a:ln/>
        </p:spPr>
        <p:txBody>
          <a:bodyPr wrap="square" lIns="0" tIns="0" rIns="0" bIns="0" rtlCol="0" anchor="ctr">
            <a:normAutofit/>
          </a:bodyPr>
          <a:lstStyle/>
          <a:p>
            <a:pPr marL="0" indent="0">
              <a:buNone/>
            </a:pPr>
            <a:r>
              <a:rPr lang="en-US" sz="2400" b="1" dirty="0">
                <a:solidFill>
                  <a:schemeClr val="tx2"/>
                </a:solidFill>
              </a:rPr>
              <a:t>0</a:t>
            </a:r>
            <a:endParaRPr lang="en-US" sz="2400" dirty="0"/>
          </a:p>
        </p:txBody>
      </p:sp>
      <p:sp>
        <p:nvSpPr>
          <p:cNvPr id="12" name="Text 9"/>
          <p:cNvSpPr txBox="1"/>
          <p:nvPr/>
        </p:nvSpPr>
        <p:spPr>
          <a:xfrm>
            <a:off x="7680960" y="2651760"/>
            <a:ext cx="3794760" cy="658368"/>
          </a:xfrm>
          <a:prstGeom prst="rect">
            <a:avLst/>
          </a:prstGeom>
          <a:noFill/>
          <a:ln/>
        </p:spPr>
        <p:txBody>
          <a:bodyPr wrap="square" lIns="0" tIns="0" rIns="0" bIns="0" rtlCol="0" anchor="ctr"/>
          <a:lstStyle/>
          <a:p>
            <a:pPr marL="0" indent="0">
              <a:buNone/>
            </a:pPr>
            <a:r>
              <a:rPr lang="en-US" sz="1300" dirty="0">
                <a:solidFill>
                  <a:schemeClr val="tx1"/>
                </a:solidFill>
              </a:rPr>
              <a:t>pembayaran yang hanya tercatat pada salinan (pola 9xxxx)</a:t>
            </a:r>
            <a:endParaRPr lang="en-US" sz="1300" dirty="0"/>
          </a:p>
        </p:txBody>
      </p:sp>
      <p:sp>
        <p:nvSpPr>
          <p:cNvPr id="13" name="bukti 25.881"/>
          <p:cNvSpPr/>
          <p:nvPr/>
        </p:nvSpPr>
        <p:spPr>
          <a:xfrm>
            <a:off x="6035040" y="3511296"/>
            <a:ext cx="5605272" cy="804672"/>
          </a:xfrm>
          <a:prstGeom prst="roundRect">
            <a:avLst>
              <a:gd name="adj" fmla="val 9091"/>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4" name="Text 11"/>
          <p:cNvSpPr txBox="1"/>
          <p:nvPr/>
        </p:nvSpPr>
        <p:spPr>
          <a:xfrm>
            <a:off x="6263640" y="3602736"/>
            <a:ext cx="1371600" cy="621792"/>
          </a:xfrm>
          <a:prstGeom prst="rect">
            <a:avLst/>
          </a:prstGeom>
          <a:noFill/>
          <a:ln/>
        </p:spPr>
        <p:txBody>
          <a:bodyPr wrap="square" lIns="0" tIns="0" rIns="0" bIns="0" rtlCol="0" anchor="ctr">
            <a:normAutofit/>
          </a:bodyPr>
          <a:lstStyle/>
          <a:p>
            <a:pPr marL="0" indent="0">
              <a:buNone/>
            </a:pPr>
            <a:r>
              <a:rPr lang="en-US" sz="2400" b="1" dirty="0">
                <a:solidFill>
                  <a:schemeClr val="tx2"/>
                </a:solidFill>
              </a:rPr>
              <a:t>25.881</a:t>
            </a:r>
            <a:endParaRPr lang="en-US" sz="2400" dirty="0"/>
          </a:p>
        </p:txBody>
      </p:sp>
      <p:sp>
        <p:nvSpPr>
          <p:cNvPr id="15" name="Text 12"/>
          <p:cNvSpPr txBox="1"/>
          <p:nvPr/>
        </p:nvSpPr>
        <p:spPr>
          <a:xfrm>
            <a:off x="7680960" y="3584448"/>
            <a:ext cx="3794760" cy="658368"/>
          </a:xfrm>
          <a:prstGeom prst="rect">
            <a:avLst/>
          </a:prstGeom>
          <a:noFill/>
          <a:ln/>
        </p:spPr>
        <p:txBody>
          <a:bodyPr wrap="square" lIns="0" tIns="0" rIns="0" bIns="0" rtlCol="0" anchor="ctr"/>
          <a:lstStyle/>
          <a:p>
            <a:pPr marL="0" indent="0">
              <a:buNone/>
            </a:pPr>
            <a:r>
              <a:rPr lang="en-US" sz="1300" dirty="0">
                <a:solidFill>
                  <a:schemeClr val="tx1"/>
                </a:solidFill>
              </a:rPr>
              <a:t>salinan berstatus NPI; nominal tercatat ganda Rp21,76 miliar, bukan piutang baru</a:t>
            </a:r>
            <a:endParaRPr lang="en-US" sz="1300" dirty="0"/>
          </a:p>
        </p:txBody>
      </p:sp>
      <p:sp>
        <p:nvSpPr>
          <p:cNvPr id="16" name="bukti 12.568"/>
          <p:cNvSpPr/>
          <p:nvPr/>
        </p:nvSpPr>
        <p:spPr>
          <a:xfrm>
            <a:off x="6035040" y="4443984"/>
            <a:ext cx="5605272" cy="804672"/>
          </a:xfrm>
          <a:prstGeom prst="roundRect">
            <a:avLst>
              <a:gd name="adj" fmla="val 9091"/>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7" name="Text 14"/>
          <p:cNvSpPr txBox="1"/>
          <p:nvPr/>
        </p:nvSpPr>
        <p:spPr>
          <a:xfrm>
            <a:off x="6263640" y="4535424"/>
            <a:ext cx="1371600" cy="621792"/>
          </a:xfrm>
          <a:prstGeom prst="rect">
            <a:avLst/>
          </a:prstGeom>
          <a:noFill/>
          <a:ln/>
        </p:spPr>
        <p:txBody>
          <a:bodyPr wrap="square" lIns="0" tIns="0" rIns="0" bIns="0" rtlCol="0" anchor="ctr">
            <a:normAutofit/>
          </a:bodyPr>
          <a:lstStyle/>
          <a:p>
            <a:pPr marL="0" indent="0">
              <a:buNone/>
            </a:pPr>
            <a:r>
              <a:rPr lang="en-US" sz="2400" b="1" dirty="0">
                <a:solidFill>
                  <a:schemeClr val="accent4"/>
                </a:solidFill>
              </a:rPr>
              <a:t>12.568</a:t>
            </a:r>
            <a:endParaRPr lang="en-US" sz="2400" dirty="0"/>
          </a:p>
        </p:txBody>
      </p:sp>
      <p:sp>
        <p:nvSpPr>
          <p:cNvPr id="18" name="Text 15"/>
          <p:cNvSpPr txBox="1"/>
          <p:nvPr/>
        </p:nvSpPr>
        <p:spPr>
          <a:xfrm>
            <a:off x="7680960" y="4517136"/>
            <a:ext cx="3794760" cy="658368"/>
          </a:xfrm>
          <a:prstGeom prst="rect">
            <a:avLst/>
          </a:prstGeom>
          <a:noFill/>
          <a:ln/>
        </p:spPr>
        <p:txBody>
          <a:bodyPr wrap="square" lIns="0" tIns="0" rIns="0" bIns="0" rtlCol="0" anchor="ctr"/>
          <a:lstStyle/>
          <a:p>
            <a:pPr marL="0" indent="0">
              <a:buNone/>
            </a:pPr>
            <a:r>
              <a:rPr lang="en-US" sz="1300" dirty="0">
                <a:solidFill>
                  <a:schemeClr val="tx1"/>
                </a:solidFill>
              </a:rPr>
              <a:t>pasangan Paid + Paid (Rp11,07 miliar): indikasi bayar ganda, perlu cek mutasi bank</a:t>
            </a:r>
            <a:endParaRPr lang="en-US" sz="1300" dirty="0"/>
          </a:p>
        </p:txBody>
      </p:sp>
      <p:sp>
        <p:nvSpPr>
          <p:cNvPr id="19" name="Text 16"/>
          <p:cNvSpPr txBox="1"/>
          <p:nvPr/>
        </p:nvSpPr>
        <p:spPr>
          <a:xfrm>
            <a:off x="6035040" y="5440680"/>
            <a:ext cx="5605272" cy="731520"/>
          </a:xfrm>
          <a:prstGeom prst="rect">
            <a:avLst/>
          </a:prstGeom>
          <a:noFill/>
          <a:ln/>
        </p:spPr>
        <p:txBody>
          <a:bodyPr wrap="square" lIns="0" tIns="0" rIns="0" bIns="0" rtlCol="0" anchor="t"/>
          <a:lstStyle/>
          <a:p>
            <a:pPr marL="0" indent="0">
              <a:buNone/>
            </a:pPr>
            <a:r>
              <a:rPr lang="en-US" sz="1300" b="1" dirty="0">
                <a:solidFill>
                  <a:schemeClr val="tx2"/>
                </a:solidFill>
              </a:rPr>
              <a:t>Salinan tetap disimpan dan diberi flag untuk audit. </a:t>
            </a:r>
            <a:r>
              <a:rPr lang="en-US" sz="1300" dirty="0">
                <a:solidFill>
                  <a:schemeClr val="tx1"/>
                </a:solidFill>
              </a:rPr>
              <a:t>Ini rekonsiliasi data (H18), bukan dampak program. Aturan invoice utama perlu disahkan IT/ERP dan Finance.</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40</a:t>
            </a:fld>
            <a:endParaRPr lang="en-US"/>
          </a:p>
        </p:txBody>
      </p:sp>
    </p:spTree>
    <p:extLst>
      <p:ext uri="{BB962C8B-B14F-4D97-AF65-F5344CB8AC3E}">
        <p14:creationId xmlns:p14="http://schemas.microsoft.com/office/powerpoint/2010/main" val="6688653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HASIL YANG TIDAK MENDUKUNG HIPOTESIS</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Beberapa dugaan tidak didukung data; sebagian belum dapat diuji</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endParaRPr lang="en-US" sz="1000" dirty="0"/>
          </a:p>
        </p:txBody>
      </p:sp>
      <p:sp>
        <p:nvSpPr>
          <p:cNvPr id="5" name="hasil H9"/>
          <p:cNvSpPr/>
          <p:nvPr/>
        </p:nvSpPr>
        <p:spPr>
          <a:xfrm>
            <a:off x="548640" y="1600200"/>
            <a:ext cx="11091672" cy="777240"/>
          </a:xfrm>
          <a:prstGeom prst="roundRect">
            <a:avLst>
              <a:gd name="adj" fmla="val 9412"/>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6" name="label H9"/>
          <p:cNvSpPr txBox="1"/>
          <p:nvPr/>
        </p:nvSpPr>
        <p:spPr>
          <a:xfrm>
            <a:off x="731520" y="1847088"/>
            <a:ext cx="566928" cy="274320"/>
          </a:xfrm>
          <a:prstGeom prst="roundRect">
            <a:avLst>
              <a:gd name="adj" fmla="val 50000"/>
            </a:avLst>
          </a:prstGeom>
          <a:solidFill>
            <a:schemeClr val="tx2"/>
          </a:solidFill>
          <a:ln/>
        </p:spPr>
        <p:txBody>
          <a:bodyPr wrap="square" lIns="0" tIns="0" rIns="0" bIns="0" rtlCol="0" anchor="ctr"/>
          <a:lstStyle/>
          <a:p>
            <a:pPr marL="0" indent="0" algn="ctr">
              <a:buNone/>
            </a:pPr>
            <a:r>
              <a:rPr lang="en-US" sz="1000" b="1" kern="0" spc="100" dirty="0">
                <a:solidFill>
                  <a:schemeClr val="bg1"/>
                </a:solidFill>
              </a:rPr>
              <a:t>H9</a:t>
            </a:r>
            <a:endParaRPr lang="en-US" sz="1000" dirty="0"/>
          </a:p>
        </p:txBody>
      </p:sp>
      <p:sp>
        <p:nvSpPr>
          <p:cNvPr id="7" name="Text 5"/>
          <p:cNvSpPr txBox="1"/>
          <p:nvPr/>
        </p:nvSpPr>
        <p:spPr>
          <a:xfrm>
            <a:off x="1417320" y="1691640"/>
            <a:ext cx="2011680" cy="594360"/>
          </a:xfrm>
          <a:prstGeom prst="rect">
            <a:avLst/>
          </a:prstGeom>
          <a:noFill/>
          <a:ln/>
        </p:spPr>
        <p:txBody>
          <a:bodyPr wrap="square" lIns="0" tIns="0" rIns="0" bIns="0" rtlCol="0" anchor="ctr"/>
          <a:lstStyle/>
          <a:p>
            <a:pPr marL="0" indent="0">
              <a:buNone/>
            </a:pPr>
            <a:r>
              <a:rPr lang="en-US" sz="1400" b="1" dirty="0">
                <a:solidFill>
                  <a:schemeClr val="tx2"/>
                </a:solidFill>
              </a:rPr>
              <a:t>Jarak ke jatuh tempo</a:t>
            </a:r>
            <a:endParaRPr lang="en-US" sz="1400" dirty="0"/>
          </a:p>
        </p:txBody>
      </p:sp>
      <p:sp>
        <p:nvSpPr>
          <p:cNvPr id="8" name="label TIDAK DIDUKUNG"/>
          <p:cNvSpPr txBox="1"/>
          <p:nvPr/>
        </p:nvSpPr>
        <p:spPr>
          <a:xfrm>
            <a:off x="3474720" y="1847088"/>
            <a:ext cx="1600200" cy="274320"/>
          </a:xfrm>
          <a:prstGeom prst="roundRect">
            <a:avLst>
              <a:gd name="adj" fmla="val 50000"/>
            </a:avLst>
          </a:prstGeom>
          <a:solidFill>
            <a:schemeClr val="accent6"/>
          </a:solidFill>
          <a:ln/>
        </p:spPr>
        <p:txBody>
          <a:bodyPr wrap="square" lIns="0" tIns="0" rIns="0" bIns="0" rtlCol="0" anchor="ctr"/>
          <a:lstStyle/>
          <a:p>
            <a:pPr marL="0" indent="0" algn="ctr">
              <a:buNone/>
            </a:pPr>
            <a:r>
              <a:rPr lang="en-US" sz="1000" b="1" kern="0" spc="100" dirty="0">
                <a:solidFill>
                  <a:schemeClr val="bg1"/>
                </a:solidFill>
              </a:rPr>
              <a:t>TIDAK DIDUKUNG</a:t>
            </a:r>
            <a:endParaRPr lang="en-US" sz="1000" dirty="0"/>
          </a:p>
        </p:txBody>
      </p:sp>
      <p:sp>
        <p:nvSpPr>
          <p:cNvPr id="9" name="Text 7"/>
          <p:cNvSpPr txBox="1"/>
          <p:nvPr/>
        </p:nvSpPr>
        <p:spPr>
          <a:xfrm>
            <a:off x="5257800" y="1673352"/>
            <a:ext cx="3337560" cy="640080"/>
          </a:xfrm>
          <a:prstGeom prst="rect">
            <a:avLst/>
          </a:prstGeom>
          <a:noFill/>
          <a:ln/>
        </p:spPr>
        <p:txBody>
          <a:bodyPr wrap="square" lIns="0" tIns="0" rIns="0" bIns="0" rtlCol="0" anchor="ctr"/>
          <a:lstStyle/>
          <a:p>
            <a:pPr marL="0" indent="0">
              <a:buNone/>
            </a:pPr>
            <a:r>
              <a:rPr lang="en-US" sz="1200" dirty="0">
                <a:solidFill>
                  <a:schemeClr val="tx1"/>
                </a:solidFill>
              </a:rPr>
              <a:t>35,46% vs 35,43%; selisih +0,03 poin; p = 0,776</a:t>
            </a:r>
            <a:endParaRPr lang="en-US" sz="1200" dirty="0"/>
          </a:p>
        </p:txBody>
      </p:sp>
      <p:sp>
        <p:nvSpPr>
          <p:cNvPr id="10" name="Text 8"/>
          <p:cNvSpPr txBox="1"/>
          <p:nvPr/>
        </p:nvSpPr>
        <p:spPr>
          <a:xfrm>
            <a:off x="8732520" y="1673352"/>
            <a:ext cx="2788920" cy="640080"/>
          </a:xfrm>
          <a:prstGeom prst="rect">
            <a:avLst/>
          </a:prstGeom>
          <a:noFill/>
          <a:ln/>
        </p:spPr>
        <p:txBody>
          <a:bodyPr wrap="square" lIns="0" tIns="0" rIns="0" bIns="0" rtlCol="0" anchor="ctr"/>
          <a:lstStyle/>
          <a:p>
            <a:pPr marL="0" indent="0">
              <a:buNone/>
            </a:pPr>
            <a:r>
              <a:rPr lang="en-US" sz="1200" dirty="0">
                <a:solidFill>
                  <a:schemeClr val="tx1"/>
                </a:solidFill>
              </a:rPr>
              <a:t>Mengubah jarak jatuh tempo (32–45 hari) bukan prioritas.</a:t>
            </a:r>
            <a:endParaRPr lang="en-US" sz="1200" dirty="0"/>
          </a:p>
        </p:txBody>
      </p:sp>
      <p:sp>
        <p:nvSpPr>
          <p:cNvPr id="11" name="hasil H16"/>
          <p:cNvSpPr/>
          <p:nvPr/>
        </p:nvSpPr>
        <p:spPr>
          <a:xfrm>
            <a:off x="548640" y="2487168"/>
            <a:ext cx="11091672" cy="777240"/>
          </a:xfrm>
          <a:prstGeom prst="roundRect">
            <a:avLst>
              <a:gd name="adj" fmla="val 9412"/>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2" name="label H16"/>
          <p:cNvSpPr txBox="1"/>
          <p:nvPr/>
        </p:nvSpPr>
        <p:spPr>
          <a:xfrm>
            <a:off x="731520" y="2734056"/>
            <a:ext cx="566928" cy="274320"/>
          </a:xfrm>
          <a:prstGeom prst="roundRect">
            <a:avLst>
              <a:gd name="adj" fmla="val 50000"/>
            </a:avLst>
          </a:prstGeom>
          <a:solidFill>
            <a:schemeClr val="tx2"/>
          </a:solidFill>
          <a:ln/>
        </p:spPr>
        <p:txBody>
          <a:bodyPr wrap="square" lIns="0" tIns="0" rIns="0" bIns="0" rtlCol="0" anchor="ctr"/>
          <a:lstStyle/>
          <a:p>
            <a:pPr marL="0" indent="0" algn="ctr">
              <a:buNone/>
            </a:pPr>
            <a:r>
              <a:rPr lang="en-US" sz="1000" b="1" kern="0" spc="100" dirty="0">
                <a:solidFill>
                  <a:schemeClr val="bg1"/>
                </a:solidFill>
              </a:rPr>
              <a:t>H16</a:t>
            </a:r>
            <a:endParaRPr lang="en-US" sz="1000" dirty="0"/>
          </a:p>
        </p:txBody>
      </p:sp>
      <p:sp>
        <p:nvSpPr>
          <p:cNvPr id="13" name="Text 11"/>
          <p:cNvSpPr txBox="1"/>
          <p:nvPr/>
        </p:nvSpPr>
        <p:spPr>
          <a:xfrm>
            <a:off x="1417320" y="2578608"/>
            <a:ext cx="2011680" cy="594360"/>
          </a:xfrm>
          <a:prstGeom prst="rect">
            <a:avLst/>
          </a:prstGeom>
          <a:noFill/>
          <a:ln/>
        </p:spPr>
        <p:txBody>
          <a:bodyPr wrap="square" lIns="0" tIns="0" rIns="0" bIns="0" rtlCol="0" anchor="ctr"/>
          <a:lstStyle/>
          <a:p>
            <a:pPr marL="0" indent="0">
              <a:buNone/>
            </a:pPr>
            <a:r>
              <a:rPr lang="en-US" sz="1400" b="1" dirty="0">
                <a:solidFill>
                  <a:schemeClr val="tx2"/>
                </a:solidFill>
              </a:rPr>
              <a:t>Input meter Manual</a:t>
            </a:r>
            <a:endParaRPr lang="en-US" sz="1400" dirty="0"/>
          </a:p>
        </p:txBody>
      </p:sp>
      <p:sp>
        <p:nvSpPr>
          <p:cNvPr id="14" name="label TIDAK DIDUKUNG"/>
          <p:cNvSpPr txBox="1"/>
          <p:nvPr/>
        </p:nvSpPr>
        <p:spPr>
          <a:xfrm>
            <a:off x="3474720" y="2734056"/>
            <a:ext cx="1600200" cy="274320"/>
          </a:xfrm>
          <a:prstGeom prst="roundRect">
            <a:avLst>
              <a:gd name="adj" fmla="val 50000"/>
            </a:avLst>
          </a:prstGeom>
          <a:solidFill>
            <a:schemeClr val="accent6"/>
          </a:solidFill>
          <a:ln/>
        </p:spPr>
        <p:txBody>
          <a:bodyPr wrap="square" lIns="0" tIns="0" rIns="0" bIns="0" rtlCol="0" anchor="ctr"/>
          <a:lstStyle/>
          <a:p>
            <a:pPr marL="0" indent="0" algn="ctr">
              <a:buNone/>
            </a:pPr>
            <a:r>
              <a:rPr lang="en-US" sz="1000" b="1" kern="0" spc="100" dirty="0">
                <a:solidFill>
                  <a:schemeClr val="bg1"/>
                </a:solidFill>
              </a:rPr>
              <a:t>TIDAK DIDUKUNG</a:t>
            </a:r>
            <a:endParaRPr lang="en-US" sz="1000" dirty="0"/>
          </a:p>
        </p:txBody>
      </p:sp>
      <p:sp>
        <p:nvSpPr>
          <p:cNvPr id="15" name="Text 13"/>
          <p:cNvSpPr txBox="1"/>
          <p:nvPr/>
        </p:nvSpPr>
        <p:spPr>
          <a:xfrm>
            <a:off x="5257800" y="2560320"/>
            <a:ext cx="3337560" cy="640080"/>
          </a:xfrm>
          <a:prstGeom prst="rect">
            <a:avLst/>
          </a:prstGeom>
          <a:noFill/>
          <a:ln/>
        </p:spPr>
        <p:txBody>
          <a:bodyPr wrap="square" lIns="0" tIns="0" rIns="0" bIns="0" rtlCol="0" anchor="ctr"/>
          <a:lstStyle/>
          <a:p>
            <a:pPr marL="0" indent="0">
              <a:buNone/>
            </a:pPr>
            <a:r>
              <a:rPr lang="en-US" sz="1200" dirty="0">
                <a:solidFill>
                  <a:schemeClr val="tx1"/>
                </a:solidFill>
              </a:rPr>
              <a:t>34,15% vs 40,13%; di dalam New Phase 40,0% vs 40,1%</a:t>
            </a:r>
            <a:endParaRPr lang="en-US" sz="1200" dirty="0"/>
          </a:p>
        </p:txBody>
      </p:sp>
      <p:sp>
        <p:nvSpPr>
          <p:cNvPr id="16" name="Text 14"/>
          <p:cNvSpPr txBox="1"/>
          <p:nvPr/>
        </p:nvSpPr>
        <p:spPr>
          <a:xfrm>
            <a:off x="8732520" y="2560320"/>
            <a:ext cx="2788920" cy="640080"/>
          </a:xfrm>
          <a:prstGeom prst="rect">
            <a:avLst/>
          </a:prstGeom>
          <a:noFill/>
          <a:ln/>
        </p:spPr>
        <p:txBody>
          <a:bodyPr wrap="square" lIns="0" tIns="0" rIns="0" bIns="0" rtlCol="0" anchor="ctr"/>
          <a:lstStyle/>
          <a:p>
            <a:pPr marL="0" indent="0">
              <a:buNone/>
            </a:pPr>
            <a:r>
              <a:rPr lang="en-US" sz="1200" dirty="0">
                <a:solidFill>
                  <a:schemeClr val="tx1"/>
                </a:solidFill>
              </a:rPr>
              <a:t>Meter Manual tetap perlu divalidasi karena memengaruhi nominal dan sengketa.</a:t>
            </a:r>
            <a:endParaRPr lang="en-US" sz="1200" dirty="0"/>
          </a:p>
        </p:txBody>
      </p:sp>
      <p:sp>
        <p:nvSpPr>
          <p:cNvPr id="17" name="hasil H13"/>
          <p:cNvSpPr/>
          <p:nvPr/>
        </p:nvSpPr>
        <p:spPr>
          <a:xfrm>
            <a:off x="548640" y="3374136"/>
            <a:ext cx="11091672" cy="777240"/>
          </a:xfrm>
          <a:prstGeom prst="roundRect">
            <a:avLst>
              <a:gd name="adj" fmla="val 9412"/>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8" name="label H13"/>
          <p:cNvSpPr txBox="1"/>
          <p:nvPr/>
        </p:nvSpPr>
        <p:spPr>
          <a:xfrm>
            <a:off x="731520" y="3621024"/>
            <a:ext cx="566928" cy="274320"/>
          </a:xfrm>
          <a:prstGeom prst="roundRect">
            <a:avLst>
              <a:gd name="adj" fmla="val 50000"/>
            </a:avLst>
          </a:prstGeom>
          <a:solidFill>
            <a:schemeClr val="tx2"/>
          </a:solidFill>
          <a:ln/>
        </p:spPr>
        <p:txBody>
          <a:bodyPr wrap="square" lIns="0" tIns="0" rIns="0" bIns="0" rtlCol="0" anchor="ctr"/>
          <a:lstStyle/>
          <a:p>
            <a:pPr marL="0" indent="0" algn="ctr">
              <a:buNone/>
            </a:pPr>
            <a:r>
              <a:rPr lang="en-US" sz="1000" b="1" kern="0" spc="100" dirty="0">
                <a:solidFill>
                  <a:schemeClr val="bg1"/>
                </a:solidFill>
              </a:rPr>
              <a:t>H13</a:t>
            </a:r>
            <a:endParaRPr lang="en-US" sz="1000" dirty="0"/>
          </a:p>
        </p:txBody>
      </p:sp>
      <p:sp>
        <p:nvSpPr>
          <p:cNvPr id="19" name="Text 17"/>
          <p:cNvSpPr txBox="1"/>
          <p:nvPr/>
        </p:nvSpPr>
        <p:spPr>
          <a:xfrm>
            <a:off x="1417320" y="3465576"/>
            <a:ext cx="2011680" cy="594360"/>
          </a:xfrm>
          <a:prstGeom prst="rect">
            <a:avLst/>
          </a:prstGeom>
          <a:noFill/>
          <a:ln/>
        </p:spPr>
        <p:txBody>
          <a:bodyPr wrap="square" lIns="0" tIns="0" rIns="0" bIns="0" rtlCol="0" anchor="ctr"/>
          <a:lstStyle/>
          <a:p>
            <a:pPr marL="0" indent="0">
              <a:buNone/>
            </a:pPr>
            <a:r>
              <a:rPr lang="en-US" sz="1400" b="1" dirty="0">
                <a:solidFill>
                  <a:schemeClr val="tx2"/>
                </a:solidFill>
              </a:rPr>
              <a:t>Konsentrasi cluster</a:t>
            </a:r>
            <a:endParaRPr lang="en-US" sz="1400" dirty="0"/>
          </a:p>
        </p:txBody>
      </p:sp>
      <p:sp>
        <p:nvSpPr>
          <p:cNvPr id="20" name="label DI BAWAH AMBANG"/>
          <p:cNvSpPr txBox="1"/>
          <p:nvPr/>
        </p:nvSpPr>
        <p:spPr>
          <a:xfrm>
            <a:off x="3474720" y="3621024"/>
            <a:ext cx="1600200" cy="274320"/>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00" dirty="0">
                <a:solidFill>
                  <a:schemeClr val="bg1"/>
                </a:solidFill>
              </a:rPr>
              <a:t>DI BAWAH AMBANG</a:t>
            </a:r>
            <a:endParaRPr lang="en-US" sz="1000" dirty="0"/>
          </a:p>
        </p:txBody>
      </p:sp>
      <p:sp>
        <p:nvSpPr>
          <p:cNvPr id="21" name="Text 19"/>
          <p:cNvSpPr txBox="1"/>
          <p:nvPr/>
        </p:nvSpPr>
        <p:spPr>
          <a:xfrm>
            <a:off x="5257800" y="3447288"/>
            <a:ext cx="3337560" cy="640080"/>
          </a:xfrm>
          <a:prstGeom prst="rect">
            <a:avLst/>
          </a:prstGeom>
          <a:noFill/>
          <a:ln/>
        </p:spPr>
        <p:txBody>
          <a:bodyPr wrap="square" lIns="0" tIns="0" rIns="0" bIns="0" rtlCol="0" anchor="ctr"/>
          <a:lstStyle/>
          <a:p>
            <a:pPr marL="0" indent="0">
              <a:buNone/>
            </a:pPr>
            <a:r>
              <a:rPr lang="en-US" sz="1200" dirty="0">
                <a:solidFill>
                  <a:schemeClr val="tx1"/>
                </a:solidFill>
              </a:rPr>
              <a:t>50% nominal tersebar di 40 dari 111 cluster; 20% cluster teratas = 30,3% (ambang 50%)</a:t>
            </a:r>
            <a:endParaRPr lang="en-US" sz="1200" dirty="0"/>
          </a:p>
        </p:txBody>
      </p:sp>
      <p:sp>
        <p:nvSpPr>
          <p:cNvPr id="22" name="Text 20"/>
          <p:cNvSpPr txBox="1"/>
          <p:nvPr/>
        </p:nvSpPr>
        <p:spPr>
          <a:xfrm>
            <a:off x="8732520" y="3447288"/>
            <a:ext cx="2788920" cy="640080"/>
          </a:xfrm>
          <a:prstGeom prst="rect">
            <a:avLst/>
          </a:prstGeom>
          <a:noFill/>
          <a:ln/>
        </p:spPr>
        <p:txBody>
          <a:bodyPr wrap="square" lIns="0" tIns="0" rIns="0" bIns="0" rtlCol="0" anchor="ctr"/>
          <a:lstStyle/>
          <a:p>
            <a:pPr marL="0" indent="0">
              <a:buNone/>
            </a:pPr>
            <a:r>
              <a:rPr lang="en-US" sz="1200" dirty="0">
                <a:solidFill>
                  <a:schemeClr val="tx1"/>
                </a:solidFill>
              </a:rPr>
              <a:t>Prioritas lebih tepat per unit: 6.771 unit = 50% nominal.</a:t>
            </a:r>
            <a:endParaRPr lang="en-US" sz="1200" dirty="0"/>
          </a:p>
        </p:txBody>
      </p:sp>
      <p:sp>
        <p:nvSpPr>
          <p:cNvPr id="23" name="hasil H14"/>
          <p:cNvSpPr/>
          <p:nvPr/>
        </p:nvSpPr>
        <p:spPr>
          <a:xfrm>
            <a:off x="548640" y="4261104"/>
            <a:ext cx="11091672" cy="777240"/>
          </a:xfrm>
          <a:prstGeom prst="roundRect">
            <a:avLst>
              <a:gd name="adj" fmla="val 9412"/>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24" name="label H14"/>
          <p:cNvSpPr txBox="1"/>
          <p:nvPr/>
        </p:nvSpPr>
        <p:spPr>
          <a:xfrm>
            <a:off x="731520" y="4507992"/>
            <a:ext cx="566928" cy="274320"/>
          </a:xfrm>
          <a:prstGeom prst="roundRect">
            <a:avLst>
              <a:gd name="adj" fmla="val 50000"/>
            </a:avLst>
          </a:prstGeom>
          <a:solidFill>
            <a:schemeClr val="tx2"/>
          </a:solidFill>
          <a:ln/>
        </p:spPr>
        <p:txBody>
          <a:bodyPr wrap="square" lIns="0" tIns="0" rIns="0" bIns="0" rtlCol="0" anchor="ctr"/>
          <a:lstStyle/>
          <a:p>
            <a:pPr marL="0" indent="0" algn="ctr">
              <a:buNone/>
            </a:pPr>
            <a:r>
              <a:rPr lang="en-US" sz="1000" b="1" kern="0" spc="100" dirty="0">
                <a:solidFill>
                  <a:schemeClr val="bg1"/>
                </a:solidFill>
              </a:rPr>
              <a:t>H14</a:t>
            </a:r>
            <a:endParaRPr lang="en-US" sz="1000" dirty="0"/>
          </a:p>
        </p:txBody>
      </p:sp>
      <p:sp>
        <p:nvSpPr>
          <p:cNvPr id="25" name="Text 23"/>
          <p:cNvSpPr txBox="1"/>
          <p:nvPr/>
        </p:nvSpPr>
        <p:spPr>
          <a:xfrm>
            <a:off x="1417320" y="4352544"/>
            <a:ext cx="2011680" cy="594360"/>
          </a:xfrm>
          <a:prstGeom prst="rect">
            <a:avLst/>
          </a:prstGeom>
          <a:noFill/>
          <a:ln/>
        </p:spPr>
        <p:txBody>
          <a:bodyPr wrap="square" lIns="0" tIns="0" rIns="0" bIns="0" rtlCol="0" anchor="ctr"/>
          <a:lstStyle/>
          <a:p>
            <a:pPr marL="0" indent="0">
              <a:buNone/>
            </a:pPr>
            <a:r>
              <a:rPr lang="en-US" sz="1400" b="1" dirty="0">
                <a:solidFill>
                  <a:schemeClr val="tx2"/>
                </a:solidFill>
              </a:rPr>
              <a:t>Jenis aksi Collection</a:t>
            </a:r>
            <a:endParaRPr lang="en-US" sz="1400" dirty="0"/>
          </a:p>
        </p:txBody>
      </p:sp>
      <p:sp>
        <p:nvSpPr>
          <p:cNvPr id="26" name="label BELUM DAPAT DIUJI"/>
          <p:cNvSpPr txBox="1"/>
          <p:nvPr/>
        </p:nvSpPr>
        <p:spPr>
          <a:xfrm>
            <a:off x="3474720" y="4507992"/>
            <a:ext cx="1600200" cy="274320"/>
          </a:xfrm>
          <a:prstGeom prst="roundRect">
            <a:avLst>
              <a:gd name="adj" fmla="val 50000"/>
            </a:avLst>
          </a:prstGeom>
          <a:solidFill>
            <a:schemeClr val="accent5"/>
          </a:solidFill>
          <a:ln/>
        </p:spPr>
        <p:txBody>
          <a:bodyPr wrap="square" lIns="0" tIns="0" rIns="0" bIns="0" rtlCol="0" anchor="ctr"/>
          <a:lstStyle/>
          <a:p>
            <a:pPr marL="0" indent="0" algn="ctr">
              <a:buNone/>
            </a:pPr>
            <a:r>
              <a:rPr lang="en-US" sz="1000" b="1" kern="0" spc="100" dirty="0">
                <a:solidFill>
                  <a:schemeClr val="bg1"/>
                </a:solidFill>
              </a:rPr>
              <a:t>BELUM DAPAT DIUJI</a:t>
            </a:r>
            <a:endParaRPr lang="en-US" sz="1000" dirty="0"/>
          </a:p>
        </p:txBody>
      </p:sp>
      <p:sp>
        <p:nvSpPr>
          <p:cNvPr id="27" name="Text 25"/>
          <p:cNvSpPr txBox="1"/>
          <p:nvPr/>
        </p:nvSpPr>
        <p:spPr>
          <a:xfrm>
            <a:off x="5257800" y="4334256"/>
            <a:ext cx="3337560" cy="640080"/>
          </a:xfrm>
          <a:prstGeom prst="rect">
            <a:avLst/>
          </a:prstGeom>
          <a:noFill/>
          <a:ln/>
        </p:spPr>
        <p:txBody>
          <a:bodyPr wrap="square" lIns="0" tIns="0" rIns="0" bIns="0" rtlCol="0" anchor="ctr"/>
          <a:lstStyle/>
          <a:p>
            <a:pPr marL="0" indent="0">
              <a:buNone/>
            </a:pPr>
            <a:r>
              <a:rPr lang="en-US" sz="1200" dirty="0">
                <a:solidFill>
                  <a:schemeClr val="tx1"/>
                </a:solidFill>
              </a:rPr>
              <a:t>Seluruh 82.806 invoice yang pernah ditagih berstatus Overdue; tidak ada pembanding lunas</a:t>
            </a:r>
            <a:endParaRPr lang="en-US" sz="1200" dirty="0"/>
          </a:p>
        </p:txBody>
      </p:sp>
      <p:sp>
        <p:nvSpPr>
          <p:cNvPr id="28" name="Text 26"/>
          <p:cNvSpPr txBox="1"/>
          <p:nvPr/>
        </p:nvSpPr>
        <p:spPr>
          <a:xfrm>
            <a:off x="8732520" y="4334256"/>
            <a:ext cx="2788920" cy="640080"/>
          </a:xfrm>
          <a:prstGeom prst="rect">
            <a:avLst/>
          </a:prstGeom>
          <a:noFill/>
          <a:ln/>
        </p:spPr>
        <p:txBody>
          <a:bodyPr wrap="square" lIns="0" tIns="0" rIns="0" bIns="0" rtlCol="0" anchor="ctr"/>
          <a:lstStyle/>
          <a:p>
            <a:pPr marL="0" indent="0">
              <a:buNone/>
            </a:pPr>
            <a:r>
              <a:rPr lang="en-US" sz="1200" dirty="0">
                <a:solidFill>
                  <a:schemeClr val="tx1"/>
                </a:solidFill>
              </a:rPr>
              <a:t>Perlu bukti pembayaran hasil aksi.</a:t>
            </a:r>
            <a:endParaRPr lang="en-US" sz="1200" dirty="0"/>
          </a:p>
        </p:txBody>
      </p:sp>
      <p:sp>
        <p:nvSpPr>
          <p:cNvPr id="29" name="hasil H17"/>
          <p:cNvSpPr/>
          <p:nvPr/>
        </p:nvSpPr>
        <p:spPr>
          <a:xfrm>
            <a:off x="548640" y="5148072"/>
            <a:ext cx="11091672" cy="777240"/>
          </a:xfrm>
          <a:prstGeom prst="roundRect">
            <a:avLst>
              <a:gd name="adj" fmla="val 9412"/>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30" name="label H17"/>
          <p:cNvSpPr txBox="1"/>
          <p:nvPr/>
        </p:nvSpPr>
        <p:spPr>
          <a:xfrm>
            <a:off x="731520" y="5394960"/>
            <a:ext cx="566928" cy="274320"/>
          </a:xfrm>
          <a:prstGeom prst="roundRect">
            <a:avLst>
              <a:gd name="adj" fmla="val 50000"/>
            </a:avLst>
          </a:prstGeom>
          <a:solidFill>
            <a:schemeClr val="tx2"/>
          </a:solidFill>
          <a:ln/>
        </p:spPr>
        <p:txBody>
          <a:bodyPr wrap="square" lIns="0" tIns="0" rIns="0" bIns="0" rtlCol="0" anchor="ctr"/>
          <a:lstStyle/>
          <a:p>
            <a:pPr marL="0" indent="0" algn="ctr">
              <a:buNone/>
            </a:pPr>
            <a:r>
              <a:rPr lang="en-US" sz="1000" b="1" kern="0" spc="100" dirty="0">
                <a:solidFill>
                  <a:schemeClr val="bg1"/>
                </a:solidFill>
              </a:rPr>
              <a:t>H17</a:t>
            </a:r>
            <a:endParaRPr lang="en-US" sz="1000" dirty="0"/>
          </a:p>
        </p:txBody>
      </p:sp>
      <p:sp>
        <p:nvSpPr>
          <p:cNvPr id="31" name="Text 29"/>
          <p:cNvSpPr txBox="1"/>
          <p:nvPr/>
        </p:nvSpPr>
        <p:spPr>
          <a:xfrm>
            <a:off x="1417320" y="5239512"/>
            <a:ext cx="2011680" cy="594360"/>
          </a:xfrm>
          <a:prstGeom prst="rect">
            <a:avLst/>
          </a:prstGeom>
          <a:noFill/>
          <a:ln/>
        </p:spPr>
        <p:txBody>
          <a:bodyPr wrap="square" lIns="0" tIns="0" rIns="0" bIns="0" rtlCol="0" anchor="ctr"/>
          <a:lstStyle/>
          <a:p>
            <a:pPr marL="0" indent="0">
              <a:buNone/>
            </a:pPr>
            <a:r>
              <a:rPr lang="en-US" sz="1400" b="1" dirty="0">
                <a:solidFill>
                  <a:schemeClr val="tx2"/>
                </a:solidFill>
              </a:rPr>
              <a:t>Tagihan disengketakan</a:t>
            </a:r>
            <a:endParaRPr lang="en-US" sz="1400" dirty="0"/>
          </a:p>
        </p:txBody>
      </p:sp>
      <p:sp>
        <p:nvSpPr>
          <p:cNvPr id="32" name="label ASOSIASI LEMAH"/>
          <p:cNvSpPr txBox="1"/>
          <p:nvPr/>
        </p:nvSpPr>
        <p:spPr>
          <a:xfrm>
            <a:off x="3474720" y="5394960"/>
            <a:ext cx="1600200" cy="274320"/>
          </a:xfrm>
          <a:prstGeom prst="roundRect">
            <a:avLst>
              <a:gd name="adj" fmla="val 50000"/>
            </a:avLst>
          </a:prstGeom>
          <a:solidFill>
            <a:schemeClr val="accent2"/>
          </a:solidFill>
          <a:ln/>
        </p:spPr>
        <p:txBody>
          <a:bodyPr wrap="square" lIns="0" tIns="0" rIns="0" bIns="0" rtlCol="0" anchor="ctr"/>
          <a:lstStyle/>
          <a:p>
            <a:pPr marL="0" indent="0" algn="ctr">
              <a:buNone/>
            </a:pPr>
            <a:r>
              <a:rPr lang="en-US" sz="1000" b="1" kern="0" spc="100" dirty="0">
                <a:solidFill>
                  <a:schemeClr val="tx2"/>
                </a:solidFill>
              </a:rPr>
              <a:t>ASOSIASI LEMAH</a:t>
            </a:r>
            <a:endParaRPr lang="en-US" sz="1000" dirty="0"/>
          </a:p>
        </p:txBody>
      </p:sp>
      <p:sp>
        <p:nvSpPr>
          <p:cNvPr id="33" name="Text 31"/>
          <p:cNvSpPr txBox="1"/>
          <p:nvPr/>
        </p:nvSpPr>
        <p:spPr>
          <a:xfrm>
            <a:off x="5257800" y="5221224"/>
            <a:ext cx="3337560" cy="640080"/>
          </a:xfrm>
          <a:prstGeom prst="rect">
            <a:avLst/>
          </a:prstGeom>
          <a:noFill/>
          <a:ln/>
        </p:spPr>
        <p:txBody>
          <a:bodyPr wrap="square" lIns="0" tIns="0" rIns="0" bIns="0" rtlCol="0" anchor="ctr"/>
          <a:lstStyle/>
          <a:p>
            <a:pPr marL="0" indent="0">
              <a:buNone/>
            </a:pPr>
            <a:r>
              <a:rPr lang="en-US" sz="1200" dirty="0">
                <a:solidFill>
                  <a:schemeClr val="tx1"/>
                </a:solidFill>
              </a:rPr>
              <a:t>42,76% vs 35,29%; Cramér's V 0,02</a:t>
            </a:r>
            <a:endParaRPr lang="en-US" sz="1200" dirty="0"/>
          </a:p>
        </p:txBody>
      </p:sp>
      <p:sp>
        <p:nvSpPr>
          <p:cNvPr id="34" name="Text 32"/>
          <p:cNvSpPr txBox="1"/>
          <p:nvPr/>
        </p:nvSpPr>
        <p:spPr>
          <a:xfrm>
            <a:off x="8732520" y="5221224"/>
            <a:ext cx="2788920" cy="640080"/>
          </a:xfrm>
          <a:prstGeom prst="rect">
            <a:avLst/>
          </a:prstGeom>
          <a:noFill/>
          <a:ln/>
        </p:spPr>
        <p:txBody>
          <a:bodyPr wrap="square" lIns="0" tIns="0" rIns="0" bIns="0" rtlCol="0" anchor="ctr"/>
          <a:lstStyle/>
          <a:p>
            <a:pPr marL="0" indent="0">
              <a:buNone/>
            </a:pPr>
            <a:r>
              <a:rPr lang="en-US" sz="1200" dirty="0">
                <a:solidFill>
                  <a:schemeClr val="tx1"/>
                </a:solidFill>
              </a:rPr>
              <a:t>Hubungan dapat dua arah; bukan bukti kausal.</a:t>
            </a:r>
            <a:endParaRPr lang="en-US" sz="1200" dirty="0"/>
          </a:p>
        </p:txBody>
      </p:sp>
      <p:sp>
        <p:nvSpPr>
          <p:cNvPr id="35" name="Text 33"/>
          <p:cNvSpPr txBox="1"/>
          <p:nvPr/>
        </p:nvSpPr>
        <p:spPr>
          <a:xfrm>
            <a:off x="548640" y="6035040"/>
            <a:ext cx="11064240" cy="365760"/>
          </a:xfrm>
          <a:prstGeom prst="rect">
            <a:avLst/>
          </a:prstGeom>
          <a:noFill/>
          <a:ln/>
        </p:spPr>
        <p:txBody>
          <a:bodyPr wrap="square" lIns="0" tIns="0" rIns="0" bIns="0" rtlCol="0" anchor="t"/>
          <a:lstStyle/>
          <a:p>
            <a:pPr marL="0" indent="0">
              <a:buNone/>
            </a:pPr>
            <a:r>
              <a:rPr lang="en-US" sz="1100" dirty="0">
                <a:solidFill>
                  <a:schemeClr val="accent6"/>
                </a:solidFill>
              </a:rPr>
              <a:t>Tidak dapat diuji karena datanya tidak tersedia: H4 kondisi ekonomi, H5 kepuasan layanan, H10 pengingat (hubungan terbalik), H15 penampilan petugas. "Tidak didukung" bukan bukti bahwa efek tidak ada dalam semua situasi.</a:t>
            </a:r>
            <a:endParaRPr lang="en-US" sz="1100" dirty="0"/>
          </a:p>
        </p:txBody>
      </p:sp>
      <p:sp>
        <p:nvSpPr>
          <p:cNvPr id="36"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41</a:t>
            </a:fld>
            <a:endParaRPr lang="en-US"/>
          </a:p>
        </p:txBody>
      </p:sp>
    </p:spTree>
    <p:extLst>
      <p:ext uri="{BB962C8B-B14F-4D97-AF65-F5344CB8AC3E}">
        <p14:creationId xmlns:p14="http://schemas.microsoft.com/office/powerpoint/2010/main" val="10388805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EFEKTIVITAS PENAGIHAN</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Ada atau tidaknya aksi hampir tidak membedakan pembayaran </a:t>
            </a:r>
            <a:r>
              <a:rPr lang="en-US" sz="2600" b="1" dirty="0" err="1">
                <a:solidFill>
                  <a:schemeClr val="tx2"/>
                </a:solidFill>
              </a:rPr>
              <a:t>bulan</a:t>
            </a:r>
            <a:r>
              <a:rPr lang="en-US" sz="2600" b="1" dirty="0">
                <a:solidFill>
                  <a:schemeClr val="tx2"/>
                </a:solidFill>
              </a:rPr>
              <a:t> </a:t>
            </a:r>
            <a:r>
              <a:rPr lang="en-US" sz="2600" b="1" dirty="0" err="1">
                <a:solidFill>
                  <a:schemeClr val="tx2"/>
                </a:solidFill>
              </a:rPr>
              <a:t>berikutnya</a:t>
            </a:r>
            <a:r>
              <a:rPr lang="id-ID" sz="2600" b="1" dirty="0">
                <a:solidFill>
                  <a:schemeClr val="tx2"/>
                </a:solidFill>
              </a:rPr>
              <a:t>:</a:t>
            </a:r>
            <a:r>
              <a:rPr lang="en-US" sz="2600" b="1" dirty="0">
                <a:solidFill>
                  <a:schemeClr val="tx2"/>
                </a:solidFill>
              </a:rPr>
              <a:t> polanya berbeda menurut respons tercatat</a:t>
            </a:r>
            <a:endParaRPr lang="en-US" sz="2600" dirty="0"/>
          </a:p>
        </p:txBody>
      </p:sp>
      <p:sp>
        <p:nvSpPr>
          <p:cNvPr id="4" name="Text 0"/>
          <p:cNvSpPr>
            <a:spLocks noGrp="1"/>
          </p:cNvSpPr>
          <p:nvPr>
            <p:ph type="body" idx="102" hasCustomPrompt="1"/>
          </p:nvPr>
        </p:nvSpPr>
        <p:spPr>
          <a:xfrm>
            <a:off x="548640" y="6400800"/>
            <a:ext cx="10241280" cy="274320"/>
          </a:xfrm>
          <a:prstGeom prst="rect">
            <a:avLst/>
          </a:prstGeom>
          <a:noFill/>
          <a:ln/>
        </p:spPr>
        <p:txBody>
          <a:bodyPr wrap="square" lIns="0" tIns="0" rIns="0" bIns="0" rtlCol="0" anchor="ctr"/>
          <a:lstStyle/>
          <a:p>
            <a:pPr marL="0" indent="0">
              <a:buNone/>
            </a:pPr>
            <a:endParaRPr lang="en-US" sz="1000" dirty="0"/>
          </a:p>
        </p:txBody>
      </p:sp>
      <p:graphicFrame>
        <p:nvGraphicFramePr>
          <p:cNvPr id="5" name="grafik ditagih"/>
          <p:cNvGraphicFramePr/>
          <p:nvPr/>
        </p:nvGraphicFramePr>
        <p:xfrm>
          <a:off x="548640" y="1572768"/>
          <a:ext cx="3566160" cy="39319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grafik respon"/>
          <p:cNvGraphicFramePr/>
          <p:nvPr/>
        </p:nvGraphicFramePr>
        <p:xfrm>
          <a:off x="4251960" y="1572768"/>
          <a:ext cx="3840480" cy="393192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txBox="1"/>
          <p:nvPr/>
        </p:nvSpPr>
        <p:spPr>
          <a:xfrm>
            <a:off x="548640" y="5596128"/>
            <a:ext cx="7543800" cy="594360"/>
          </a:xfrm>
          <a:prstGeom prst="rect">
            <a:avLst/>
          </a:prstGeom>
          <a:noFill/>
          <a:ln/>
        </p:spPr>
        <p:txBody>
          <a:bodyPr wrap="square" lIns="0" tIns="0" rIns="0" bIns="0" rtlCol="0" anchor="t"/>
          <a:lstStyle/>
          <a:p>
            <a:pPr marL="0" indent="0">
              <a:buNone/>
            </a:pPr>
            <a:r>
              <a:rPr lang="en-US" sz="1100" dirty="0">
                <a:solidFill>
                  <a:schemeClr val="accent6"/>
                </a:solidFill>
              </a:rPr>
              <a:t>Basis: 186.415 invoice Overdue yang memiliki invoice bulan berikutnya. Hanya aksi sebelum periode tagihan berikutnya yang dipakai (109.115 dari 126.772 aksi).</a:t>
            </a:r>
            <a:endParaRPr lang="en-US" sz="1100" dirty="0"/>
          </a:p>
        </p:txBody>
      </p:sp>
      <p:sp>
        <p:nvSpPr>
          <p:cNvPr id="8" name="panel key takeaway"/>
          <p:cNvSpPr/>
          <p:nvPr/>
        </p:nvSpPr>
        <p:spPr>
          <a:xfrm>
            <a:off x="8275320" y="1572768"/>
            <a:ext cx="3364992" cy="4663440"/>
          </a:xfrm>
          <a:prstGeom prst="roundRect">
            <a:avLst>
              <a:gd name="adj" fmla="val 2174"/>
            </a:avLst>
          </a:prstGeom>
          <a:solidFill>
            <a:schemeClr val="tx2"/>
          </a:solidFill>
          <a:ln/>
        </p:spPr>
        <p:txBody>
          <a:bodyPr/>
          <a:lstStyle/>
          <a:p>
            <a:endParaRPr lang="en-US"/>
          </a:p>
        </p:txBody>
      </p:sp>
      <p:sp>
        <p:nvSpPr>
          <p:cNvPr id="9" name="Text 5"/>
          <p:cNvSpPr txBox="1"/>
          <p:nvPr/>
        </p:nvSpPr>
        <p:spPr>
          <a:xfrm>
            <a:off x="8549640" y="1801368"/>
            <a:ext cx="2816352" cy="274320"/>
          </a:xfrm>
          <a:prstGeom prst="rect">
            <a:avLst/>
          </a:prstGeom>
          <a:noFill/>
          <a:ln/>
        </p:spPr>
        <p:txBody>
          <a:bodyPr wrap="square" lIns="0" tIns="0" rIns="0" bIns="0" rtlCol="0" anchor="t"/>
          <a:lstStyle/>
          <a:p>
            <a:pPr marL="0" indent="0">
              <a:buNone/>
            </a:pPr>
            <a:r>
              <a:rPr lang="en-US" sz="1100" b="1" kern="0" spc="200" dirty="0">
                <a:solidFill>
                  <a:schemeClr val="accent2"/>
                </a:solidFill>
              </a:rPr>
              <a:t>KEY TAKEAWAY</a:t>
            </a:r>
            <a:endParaRPr lang="en-US" sz="1100" dirty="0"/>
          </a:p>
        </p:txBody>
      </p:sp>
      <p:sp>
        <p:nvSpPr>
          <p:cNvPr id="10" name="Text 6"/>
          <p:cNvSpPr txBox="1"/>
          <p:nvPr/>
        </p:nvSpPr>
        <p:spPr>
          <a:xfrm>
            <a:off x="8549640" y="2121408"/>
            <a:ext cx="2816352" cy="960120"/>
          </a:xfrm>
          <a:prstGeom prst="rect">
            <a:avLst/>
          </a:prstGeom>
          <a:noFill/>
          <a:ln/>
        </p:spPr>
        <p:txBody>
          <a:bodyPr wrap="square" lIns="0" tIns="0" rIns="0" bIns="0" rtlCol="0" anchor="t">
            <a:normAutofit/>
          </a:bodyPr>
          <a:lstStyle/>
          <a:p>
            <a:pPr marL="0" indent="0">
              <a:buNone/>
            </a:pPr>
            <a:r>
              <a:rPr lang="en-US" sz="1600" b="1" dirty="0">
                <a:solidFill>
                  <a:schemeClr val="bg1"/>
                </a:solidFill>
              </a:rPr>
              <a:t>Respons tercatat berkaitan dengan </a:t>
            </a:r>
            <a:r>
              <a:rPr lang="en-US" sz="1600" b="1" dirty="0" err="1">
                <a:solidFill>
                  <a:schemeClr val="bg1"/>
                </a:solidFill>
              </a:rPr>
              <a:t>pembayaran</a:t>
            </a:r>
            <a:r>
              <a:rPr lang="en-US" sz="1600" b="1" dirty="0">
                <a:solidFill>
                  <a:schemeClr val="bg1"/>
                </a:solidFill>
              </a:rPr>
              <a:t> </a:t>
            </a:r>
            <a:r>
              <a:rPr lang="en-US" sz="1600" b="1" dirty="0" err="1">
                <a:solidFill>
                  <a:schemeClr val="bg1"/>
                </a:solidFill>
              </a:rPr>
              <a:t>berikutnya</a:t>
            </a:r>
            <a:r>
              <a:rPr lang="id-ID" sz="1600" b="1" dirty="0">
                <a:solidFill>
                  <a:schemeClr val="bg1"/>
                </a:solidFill>
              </a:rPr>
              <a:t>:</a:t>
            </a:r>
            <a:endParaRPr lang="en-US" sz="1600" dirty="0"/>
          </a:p>
        </p:txBody>
      </p:sp>
      <p:sp>
        <p:nvSpPr>
          <p:cNvPr id="11" name="Text 7"/>
          <p:cNvSpPr txBox="1"/>
          <p:nvPr/>
        </p:nvSpPr>
        <p:spPr>
          <a:xfrm>
            <a:off x="8549640" y="3127248"/>
            <a:ext cx="2816352" cy="1965960"/>
          </a:xfrm>
          <a:prstGeom prst="rect">
            <a:avLst/>
          </a:prstGeom>
          <a:noFill/>
          <a:ln/>
        </p:spPr>
        <p:txBody>
          <a:bodyPr wrap="square" lIns="0" tIns="0" rIns="0" bIns="0" rtlCol="0" anchor="t">
            <a:normAutofit/>
          </a:bodyPr>
          <a:lstStyle/>
          <a:p>
            <a:pPr marL="0" indent="0">
              <a:buNone/>
            </a:pPr>
            <a:r>
              <a:rPr lang="en-US" sz="1300" dirty="0">
                <a:solidFill>
                  <a:srgbClr val="DCE3EE"/>
                </a:solidFill>
              </a:rPr>
              <a:t>Ditagih 72,4% vs tidak ditagih 71,2% hampir sama. Pemilik ‘Tidak Respon’ dan ‘Sengketa’ paling sering tidak membayar bulan berikutnya. Ini asosiasi, bukan efek kausal.</a:t>
            </a:r>
            <a:endParaRPr lang="en-US" sz="1300" dirty="0"/>
          </a:p>
        </p:txBody>
      </p:sp>
      <p:sp>
        <p:nvSpPr>
          <p:cNvPr id="12" name="Text 8"/>
          <p:cNvSpPr txBox="1"/>
          <p:nvPr/>
        </p:nvSpPr>
        <p:spPr>
          <a:xfrm>
            <a:off x="8549640" y="5184648"/>
            <a:ext cx="2816352" cy="868680"/>
          </a:xfrm>
          <a:prstGeom prst="rect">
            <a:avLst/>
          </a:prstGeom>
          <a:noFill/>
          <a:ln/>
        </p:spPr>
        <p:txBody>
          <a:bodyPr wrap="square" lIns="0" tIns="0" rIns="0" bIns="0" rtlCol="0" anchor="t">
            <a:normAutofit/>
          </a:bodyPr>
          <a:lstStyle/>
          <a:p>
            <a:pPr marL="0" indent="0">
              <a:buNone/>
            </a:pPr>
            <a:r>
              <a:rPr lang="en-US" sz="1300" b="1" dirty="0">
                <a:solidFill>
                  <a:schemeClr val="accent2"/>
                </a:solidFill>
              </a:rPr>
              <a:t>Implikasi: </a:t>
            </a:r>
            <a:r>
              <a:rPr lang="en-US" sz="1300" dirty="0">
                <a:solidFill>
                  <a:schemeClr val="bg1"/>
                </a:solidFill>
              </a:rPr>
              <a:t>Ukur collection rate dari bukti bayar, bukan dari respons petugas.</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42</a:t>
            </a:fld>
            <a:endParaRPr lang="en-US"/>
          </a:p>
        </p:txBody>
      </p:sp>
    </p:spTree>
    <p:extLst>
      <p:ext uri="{BB962C8B-B14F-4D97-AF65-F5344CB8AC3E}">
        <p14:creationId xmlns:p14="http://schemas.microsoft.com/office/powerpoint/2010/main" val="6523282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KPI PEMANTAUAN (1/2)</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KPI hasil: NPI tagihan baru, nominal NPI baru, kas aktual, dan rekonsiliasi</a:t>
            </a:r>
            <a:endParaRPr lang="en-US" sz="2600" dirty="0"/>
          </a:p>
        </p:txBody>
      </p:sp>
      <p:graphicFrame>
        <p:nvGraphicFramePr>
          <p:cNvPr id="34" name="tabel kpi hasil"/>
          <p:cNvGraphicFramePr>
            <a:graphicFrameLocks noGrp="1"/>
          </p:cNvGraphicFramePr>
          <p:nvPr/>
        </p:nvGraphicFramePr>
        <p:xfrm>
          <a:off x="548640" y="1645920"/>
          <a:ext cx="11091672" cy="3566160"/>
        </p:xfrm>
        <a:graphic>
          <a:graphicData uri="http://schemas.openxmlformats.org/drawingml/2006/table">
            <a:tbl>
              <a:tblPr/>
              <a:tblGrid>
                <a:gridCol w="21945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gridCol w="1444752">
                  <a:extLst>
                    <a:ext uri="{9D8B030D-6E8A-4147-A177-3AD203B41FA5}">
                      <a16:colId xmlns:a16="http://schemas.microsoft.com/office/drawing/2014/main" val="20004"/>
                    </a:ext>
                  </a:extLst>
                </a:gridCol>
              </a:tblGrid>
              <a:tr h="713232">
                <a:tc>
                  <a:txBody>
                    <a:bodyPr/>
                    <a:lstStyle/>
                    <a:p>
                      <a:pPr marL="0" indent="0">
                        <a:buNone/>
                      </a:pPr>
                      <a:r>
                        <a:rPr lang="en-US" sz="1300" b="1" dirty="0">
                          <a:solidFill>
                            <a:schemeClr val="bg1"/>
                          </a:solidFill>
                        </a:rPr>
                        <a:t>KPI</a:t>
                      </a:r>
                      <a:endParaRPr lang="en-US" sz="13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300" b="1" dirty="0">
                          <a:solidFill>
                            <a:schemeClr val="bg1"/>
                          </a:solidFill>
                        </a:rPr>
                        <a:t>Definisi &amp; sumber</a:t>
                      </a:r>
                      <a:endParaRPr lang="en-US" sz="13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300" b="1" dirty="0">
                          <a:solidFill>
                            <a:schemeClr val="bg1"/>
                          </a:solidFill>
                        </a:rPr>
                        <a:t>Baseline (historis)</a:t>
                      </a:r>
                      <a:endParaRPr lang="en-US" sz="13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300" b="1" dirty="0">
                          <a:solidFill>
                            <a:schemeClr val="bg1"/>
                          </a:solidFill>
                        </a:rPr>
                        <a:t>Target usulan akhir Q2</a:t>
                      </a:r>
                      <a:endParaRPr lang="en-US" sz="13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300" b="1" dirty="0">
                          <a:solidFill>
                            <a:schemeClr val="bg1"/>
                          </a:solidFill>
                        </a:rPr>
                        <a:t>Frekuensi · Pemilik</a:t>
                      </a:r>
                      <a:endParaRPr lang="en-US" sz="13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713232">
                <a:tc>
                  <a:txBody>
                    <a:bodyPr/>
                    <a:lstStyle/>
                    <a:p>
                      <a:pPr marL="0" indent="0">
                        <a:buNone/>
                      </a:pPr>
                      <a:r>
                        <a:rPr lang="en-US" sz="1300" dirty="0">
                          <a:solidFill>
                            <a:schemeClr val="tx1"/>
                          </a:solidFill>
                        </a:rPr>
                        <a:t>NPI </a:t>
                      </a:r>
                      <a:r>
                        <a:rPr lang="en-US" sz="1300" dirty="0" err="1">
                          <a:solidFill>
                            <a:schemeClr val="tx1"/>
                          </a:solidFill>
                        </a:rPr>
                        <a:t>tagihan</a:t>
                      </a:r>
                      <a:r>
                        <a:rPr lang="en-US" sz="1300" dirty="0">
                          <a:solidFill>
                            <a:schemeClr val="tx1"/>
                          </a:solidFill>
                        </a:rPr>
                        <a:t> baru</a:t>
                      </a:r>
                      <a:endParaRPr lang="en-US" sz="13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Invoice terbit bulan X yang NPI setelah jatuh tempo + 22 hari ÷ invoice terbit bulan X (billing)</a:t>
                      </a:r>
                      <a:endParaRPr lang="en-US" sz="13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37,24%</a:t>
                      </a:r>
                      <a:endParaRPr lang="en-US" sz="13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 34,8% (skenario dasar)</a:t>
                      </a:r>
                      <a:endParaRPr lang="en-US" sz="13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Bulanan · Head of Township</a:t>
                      </a:r>
                      <a:endParaRPr lang="en-US" sz="13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300" dirty="0">
                          <a:solidFill>
                            <a:schemeClr val="tx1"/>
                          </a:solidFill>
                        </a:rPr>
                        <a:t>Nominal NPI baru per bulan</a:t>
                      </a:r>
                      <a:endParaRPr lang="en-US" sz="13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300" dirty="0">
                          <a:solidFill>
                            <a:schemeClr val="tx1"/>
                          </a:solidFill>
                        </a:rPr>
                        <a:t>Σ nominal NPI analisis invoice terbit bulan X (billing)</a:t>
                      </a:r>
                      <a:endParaRPr lang="en-US" sz="13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300" dirty="0">
                          <a:solidFill>
                            <a:schemeClr val="tx1"/>
                          </a:solidFill>
                        </a:rPr>
                        <a:t>± Rp7,00 M</a:t>
                      </a:r>
                      <a:endParaRPr lang="en-US" sz="13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300" dirty="0">
                          <a:solidFill>
                            <a:schemeClr val="tx1"/>
                          </a:solidFill>
                        </a:rPr>
                        <a:t>Turun sesuai hasil pilot</a:t>
                      </a:r>
                      <a:endParaRPr lang="en-US" sz="13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300" dirty="0">
                          <a:solidFill>
                            <a:schemeClr val="tx1"/>
                          </a:solidFill>
                        </a:rPr>
                        <a:t>Bulanan · Finance</a:t>
                      </a:r>
                      <a:endParaRPr lang="en-US" sz="13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2"/>
                  </a:ext>
                </a:extLst>
              </a:tr>
              <a:tr h="713232">
                <a:tc>
                  <a:txBody>
                    <a:bodyPr/>
                    <a:lstStyle/>
                    <a:p>
                      <a:pPr marL="0" indent="0">
                        <a:buNone/>
                      </a:pPr>
                      <a:r>
                        <a:rPr lang="en-US" sz="1300" dirty="0">
                          <a:solidFill>
                            <a:schemeClr val="tx1"/>
                          </a:solidFill>
                        </a:rPr>
                        <a:t>Kas tertagih aktual</a:t>
                      </a:r>
                      <a:endParaRPr lang="en-US" sz="13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Dana IPL yang benar-benar masuk menurut mutasi bank, per bulan</a:t>
                      </a:r>
                      <a:endParaRPr lang="en-US" sz="13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Belum tersedia</a:t>
                      </a:r>
                      <a:endParaRPr lang="en-US" sz="13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Ditetapkan setelah rekonsiliasi</a:t>
                      </a:r>
                      <a:endParaRPr lang="en-US" sz="13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Bulanan · Finance</a:t>
                      </a:r>
                      <a:endParaRPr lang="en-US" sz="13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300" dirty="0">
                          <a:solidFill>
                            <a:schemeClr val="tx1"/>
                          </a:solidFill>
                        </a:rPr>
                        <a:t>Item belum direkonsiliasi</a:t>
                      </a:r>
                      <a:endParaRPr lang="en-US" sz="13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300" dirty="0">
                          <a:solidFill>
                            <a:schemeClr val="tx1"/>
                          </a:solidFill>
                        </a:rPr>
                        <a:t>Jumlah invoice/pasangan pada 3 daftar rekonsiliasi yang belum ditutup</a:t>
                      </a:r>
                      <a:endParaRPr lang="en-US" sz="13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300" dirty="0">
                          <a:solidFill>
                            <a:schemeClr val="tx1"/>
                          </a:solidFill>
                        </a:rPr>
                        <a:t>3.795 + 5.953 invoice; 12.568 pasangan</a:t>
                      </a:r>
                      <a:endParaRPr lang="en-US" sz="13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300" dirty="0">
                          <a:solidFill>
                            <a:schemeClr val="tx1"/>
                          </a:solidFill>
                        </a:rPr>
                        <a:t>0</a:t>
                      </a:r>
                      <a:endParaRPr lang="en-US" sz="13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300" dirty="0">
                          <a:solidFill>
                            <a:schemeClr val="tx1"/>
                          </a:solidFill>
                        </a:rPr>
                        <a:t>Bulanan · Finance</a:t>
                      </a:r>
                      <a:endParaRPr lang="en-US" sz="13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4"/>
                  </a:ext>
                </a:extLst>
              </a:tr>
            </a:tbl>
          </a:graphicData>
        </a:graphic>
      </p:graphicFrame>
      <p:sp>
        <p:nvSpPr>
          <p:cNvPr id="6" name="Text 3"/>
          <p:cNvSpPr txBox="1"/>
          <p:nvPr/>
        </p:nvSpPr>
        <p:spPr>
          <a:xfrm>
            <a:off x="548640" y="5577840"/>
            <a:ext cx="11064240" cy="365760"/>
          </a:xfrm>
          <a:prstGeom prst="rect">
            <a:avLst/>
          </a:prstGeom>
          <a:noFill/>
          <a:ln/>
        </p:spPr>
        <p:txBody>
          <a:bodyPr wrap="square" lIns="0" tIns="0" rIns="0" bIns="0" rtlCol="0" anchor="t"/>
          <a:lstStyle/>
          <a:p>
            <a:pPr marL="0" indent="0">
              <a:buNone/>
            </a:pPr>
            <a:r>
              <a:rPr lang="en-US" sz="1300" dirty="0">
                <a:solidFill>
                  <a:schemeClr val="accent6"/>
                </a:solidFill>
              </a:rPr>
              <a:t>Baseline = temuan historis dari data. Target = usulan yang disahkan setelah pilot, bukan hasil yang dijamin.</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43</a:t>
            </a:fld>
            <a:endParaRPr lang="en-US"/>
          </a:p>
        </p:txBody>
      </p:sp>
      <p:sp>
        <p:nvSpPr>
          <p:cNvPr id="7" name="Text Placeholder 6">
            <a:extLst>
              <a:ext uri="{FF2B5EF4-FFF2-40B4-BE49-F238E27FC236}">
                <a16:creationId xmlns:a16="http://schemas.microsoft.com/office/drawing/2014/main" id="{EB35F7F2-237A-4005-A322-A97437BF27A0}"/>
              </a:ext>
            </a:extLst>
          </p:cNvPr>
          <p:cNvSpPr>
            <a:spLocks noGrp="1"/>
          </p:cNvSpPr>
          <p:nvPr>
            <p:ph type="body" idx="102"/>
          </p:nvPr>
        </p:nvSpPr>
        <p:spPr/>
        <p:txBody>
          <a:bodyPr/>
          <a:lstStyle/>
          <a:p>
            <a:endParaRPr lang="id-ID"/>
          </a:p>
        </p:txBody>
      </p:sp>
    </p:spTree>
    <p:extLst>
      <p:ext uri="{BB962C8B-B14F-4D97-AF65-F5344CB8AC3E}">
        <p14:creationId xmlns:p14="http://schemas.microsoft.com/office/powerpoint/2010/main" val="18939968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KPI PEMANTAUAN (2/2)</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Indikator awal dan KPI kualitas data bergerak lebih dulu sebelum NPI berubah</a:t>
            </a:r>
            <a:endParaRPr lang="en-US" sz="2600" dirty="0"/>
          </a:p>
        </p:txBody>
      </p:sp>
      <p:graphicFrame>
        <p:nvGraphicFramePr>
          <p:cNvPr id="35" name="tabel kpi proses"/>
          <p:cNvGraphicFramePr>
            <a:graphicFrameLocks noGrp="1"/>
          </p:cNvGraphicFramePr>
          <p:nvPr/>
        </p:nvGraphicFramePr>
        <p:xfrm>
          <a:off x="548640" y="1645920"/>
          <a:ext cx="11091672" cy="3840480"/>
        </p:xfrm>
        <a:graphic>
          <a:graphicData uri="http://schemas.openxmlformats.org/drawingml/2006/table">
            <a:tbl>
              <a:tblPr/>
              <a:tblGrid>
                <a:gridCol w="21488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1307592">
                  <a:extLst>
                    <a:ext uri="{9D8B030D-6E8A-4147-A177-3AD203B41FA5}">
                      <a16:colId xmlns:a16="http://schemas.microsoft.com/office/drawing/2014/main" val="20005"/>
                    </a:ext>
                  </a:extLst>
                </a:gridCol>
              </a:tblGrid>
              <a:tr h="640080">
                <a:tc>
                  <a:txBody>
                    <a:bodyPr/>
                    <a:lstStyle/>
                    <a:p>
                      <a:pPr marL="0" indent="0">
                        <a:buNone/>
                      </a:pPr>
                      <a:r>
                        <a:rPr lang="en-US" sz="1200" b="1" dirty="0">
                          <a:solidFill>
                            <a:schemeClr val="bg1"/>
                          </a:solidFill>
                        </a:rPr>
                        <a:t>KPI</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200" b="1" dirty="0">
                          <a:solidFill>
                            <a:schemeClr val="bg1"/>
                          </a:solidFill>
                        </a:rPr>
                        <a:t>Jenis</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200" b="1" dirty="0">
                          <a:solidFill>
                            <a:schemeClr val="bg1"/>
                          </a:solidFill>
                        </a:rPr>
                        <a:t>Definisi &amp; sumber</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200" b="1" dirty="0">
                          <a:solidFill>
                            <a:schemeClr val="bg1"/>
                          </a:solidFill>
                        </a:rPr>
                        <a:t>Baseline (historis)</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200" b="1" dirty="0">
                          <a:solidFill>
                            <a:schemeClr val="bg1"/>
                          </a:solidFill>
                        </a:rPr>
                        <a:t>Target usulan</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tc>
                  <a:txBody>
                    <a:bodyPr/>
                    <a:lstStyle/>
                    <a:p>
                      <a:pPr marL="0" indent="0">
                        <a:buNone/>
                      </a:pPr>
                      <a:r>
                        <a:rPr lang="en-US" sz="1200" b="1" dirty="0">
                          <a:solidFill>
                            <a:schemeClr val="bg1"/>
                          </a:solidFill>
                        </a:rPr>
                        <a:t>Pemilik</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640080">
                <a:tc>
                  <a:txBody>
                    <a:bodyPr/>
                    <a:lstStyle/>
                    <a:p>
                      <a:pPr marL="0" indent="0">
                        <a:buNone/>
                      </a:pPr>
                      <a:r>
                        <a:rPr lang="en-US" sz="1200" dirty="0">
                          <a:solidFill>
                            <a:schemeClr val="tx1"/>
                          </a:solidFill>
                        </a:rPr>
                        <a:t>Adopsi autodebit unit</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Indikator awal</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Unit autodebit pada bulan tagihan terakhir ÷ seluruh unit</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14,3%</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 35,7%</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Finance &amp; Collection</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buNone/>
                      </a:pPr>
                      <a:r>
                        <a:rPr lang="en-US" sz="1200" dirty="0">
                          <a:solidFill>
                            <a:schemeClr val="tx1"/>
                          </a:solidFill>
                        </a:rPr>
                        <a:t>Kontak terverifikasi</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Indikator awal</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Unit dengan nomor terverifikasi ÷ seluruh unit</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69,0%</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Naik bertahap</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CS</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2"/>
                  </a:ext>
                </a:extLst>
              </a:tr>
              <a:tr h="640080">
                <a:tc>
                  <a:txBody>
                    <a:bodyPr/>
                    <a:lstStyle/>
                    <a:p>
                      <a:pPr marL="0" indent="0">
                        <a:buNone/>
                      </a:pPr>
                      <a:r>
                        <a:rPr lang="en-US" sz="1200" dirty="0">
                          <a:solidFill>
                            <a:schemeClr val="tx1"/>
                          </a:solidFill>
                        </a:rPr>
                        <a:t>Invoice ganda baru</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Kualitas data</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Salinan baru per unit-bulan per bulan</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38.449 (historis, Jun–Sep 2023)</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0 per bulan</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IT/ERP</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buNone/>
                      </a:pPr>
                      <a:r>
                        <a:rPr lang="en-US" sz="1200" dirty="0">
                          <a:solidFill>
                            <a:schemeClr val="tx1"/>
                          </a:solidFill>
                        </a:rPr>
                        <a:t>Metode bayar di luar kode master</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Kualitas data</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Invoice Paid dengan metode di luar 4 kode baku</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9 variasi penulisan</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0</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tc>
                  <a:txBody>
                    <a:bodyPr/>
                    <a:lstStyle/>
                    <a:p>
                      <a:pPr marL="0" indent="0">
                        <a:buNone/>
                      </a:pPr>
                      <a:r>
                        <a:rPr lang="en-US" sz="1200" dirty="0">
                          <a:solidFill>
                            <a:schemeClr val="tx1"/>
                          </a:solidFill>
                        </a:rPr>
                        <a:t>Finance &amp; IT/ERP</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7F5F0"/>
                    </a:solidFill>
                  </a:tcPr>
                </a:tc>
                <a:extLst>
                  <a:ext uri="{0D108BD9-81ED-4DB2-BD59-A6C34878D82A}">
                    <a16:rowId xmlns:a16="http://schemas.microsoft.com/office/drawing/2014/main" val="10004"/>
                  </a:ext>
                </a:extLst>
              </a:tr>
              <a:tr h="640080">
                <a:tc>
                  <a:txBody>
                    <a:bodyPr/>
                    <a:lstStyle/>
                    <a:p>
                      <a:pPr marL="0" indent="0">
                        <a:buNone/>
                      </a:pPr>
                      <a:r>
                        <a:rPr lang="en-US" sz="1200" dirty="0">
                          <a:solidFill>
                            <a:schemeClr val="tx1"/>
                          </a:solidFill>
                        </a:rPr>
                        <a:t>Anomali air tervalidasi</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Kualitas data</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Anomali air yang sudah dicek dengan bukti meter ÷ seluruh anomali</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0 dari 7.613</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100%</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marL="0" indent="0">
                        <a:buNone/>
                      </a:pPr>
                      <a:r>
                        <a:rPr lang="en-US" sz="1200" dirty="0">
                          <a:solidFill>
                            <a:schemeClr val="tx1"/>
                          </a:solidFill>
                        </a:rPr>
                        <a:t>Estate Ops</a:t>
                      </a:r>
                      <a:endParaRPr lang="en-US" sz="1200" dirty="0"/>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txBox="1"/>
          <p:nvPr/>
        </p:nvSpPr>
        <p:spPr>
          <a:xfrm>
            <a:off x="548640" y="5623560"/>
            <a:ext cx="11064240" cy="365760"/>
          </a:xfrm>
          <a:prstGeom prst="rect">
            <a:avLst/>
          </a:prstGeom>
          <a:noFill/>
          <a:ln/>
        </p:spPr>
        <p:txBody>
          <a:bodyPr wrap="square" lIns="0" tIns="0" rIns="0" bIns="0" rtlCol="0" anchor="t"/>
          <a:lstStyle/>
          <a:p>
            <a:pPr marL="0" indent="0">
              <a:buNone/>
            </a:pPr>
            <a:r>
              <a:rPr lang="en-US" sz="1300" dirty="0">
                <a:solidFill>
                  <a:schemeClr val="accent6"/>
                </a:solidFill>
              </a:rPr>
              <a:t>Semua KPI dipantau bulanan. 7.613 = 3.824 air negatif + 3.789 air &gt; 97,8 m³.</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44</a:t>
            </a:fld>
            <a:endParaRPr lang="en-US"/>
          </a:p>
        </p:txBody>
      </p:sp>
      <p:sp>
        <p:nvSpPr>
          <p:cNvPr id="7" name="Text Placeholder 6">
            <a:extLst>
              <a:ext uri="{FF2B5EF4-FFF2-40B4-BE49-F238E27FC236}">
                <a16:creationId xmlns:a16="http://schemas.microsoft.com/office/drawing/2014/main" id="{8D677BA0-F28C-4D78-B8A2-B1A37F4A19A1}"/>
              </a:ext>
            </a:extLst>
          </p:cNvPr>
          <p:cNvSpPr>
            <a:spLocks noGrp="1"/>
          </p:cNvSpPr>
          <p:nvPr>
            <p:ph type="body" idx="102"/>
          </p:nvPr>
        </p:nvSpPr>
        <p:spPr/>
        <p:txBody>
          <a:bodyPr/>
          <a:lstStyle/>
          <a:p>
            <a:endParaRPr lang="id-ID"/>
          </a:p>
        </p:txBody>
      </p:sp>
    </p:spTree>
    <p:extLst>
      <p:ext uri="{BB962C8B-B14F-4D97-AF65-F5344CB8AC3E}">
        <p14:creationId xmlns:p14="http://schemas.microsoft.com/office/powerpoint/2010/main" val="18928264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9601200"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KEPUTUSAN MANAJEMEN</a:t>
            </a:r>
            <a:endParaRPr lang="en-US" sz="1100" dirty="0"/>
          </a:p>
        </p:txBody>
      </p:sp>
      <p:sp>
        <p:nvSpPr>
          <p:cNvPr id="3" name="Text 0"/>
          <p:cNvSpPr>
            <a:spLocks noGrp="1"/>
          </p:cNvSpPr>
          <p:nvPr>
            <p:ph type="title" idx="101" hasCustomPrompt="1"/>
          </p:nvPr>
        </p:nvSpPr>
        <p:spPr>
          <a:xfrm>
            <a:off x="548640" y="621792"/>
            <a:ext cx="11064240" cy="868680"/>
          </a:xfrm>
          <a:prstGeom prst="rect">
            <a:avLst/>
          </a:prstGeom>
          <a:noFill/>
          <a:ln/>
        </p:spPr>
        <p:txBody>
          <a:bodyPr wrap="square" lIns="0" tIns="0" rIns="0" bIns="0" rtlCol="0" anchor="t"/>
          <a:lstStyle/>
          <a:p>
            <a:pPr marL="0" indent="0" algn="l">
              <a:buNone/>
            </a:pPr>
            <a:r>
              <a:rPr lang="en-US" sz="2600" b="1" dirty="0">
                <a:solidFill>
                  <a:schemeClr val="tx2"/>
                </a:solidFill>
              </a:rPr>
              <a:t>Mohon persetujuan pilot Q1 dengan evaluasi terukur hingga akhir Q2</a:t>
            </a:r>
            <a:endParaRPr lang="en-US" sz="2600" dirty="0"/>
          </a:p>
        </p:txBody>
      </p:sp>
      <p:sp>
        <p:nvSpPr>
          <p:cNvPr id="5" name="yang diminta"/>
          <p:cNvSpPr/>
          <p:nvPr/>
        </p:nvSpPr>
        <p:spPr>
          <a:xfrm>
            <a:off x="548640" y="1645920"/>
            <a:ext cx="7223760" cy="1234440"/>
          </a:xfrm>
          <a:prstGeom prst="roundRect">
            <a:avLst>
              <a:gd name="adj" fmla="val 5926"/>
            </a:avLst>
          </a:prstGeom>
          <a:solidFill>
            <a:schemeClr val="tx2"/>
          </a:solidFill>
          <a:ln/>
        </p:spPr>
        <p:txBody>
          <a:bodyPr/>
          <a:lstStyle/>
          <a:p>
            <a:endParaRPr lang="en-US"/>
          </a:p>
        </p:txBody>
      </p:sp>
      <p:sp>
        <p:nvSpPr>
          <p:cNvPr id="6" name="Text 4"/>
          <p:cNvSpPr txBox="1"/>
          <p:nvPr/>
        </p:nvSpPr>
        <p:spPr>
          <a:xfrm>
            <a:off x="822960" y="1755648"/>
            <a:ext cx="6675120" cy="274320"/>
          </a:xfrm>
          <a:prstGeom prst="rect">
            <a:avLst/>
          </a:prstGeom>
          <a:noFill/>
          <a:ln/>
        </p:spPr>
        <p:txBody>
          <a:bodyPr wrap="square" lIns="0" tIns="0" rIns="0" bIns="0" rtlCol="0" anchor="t"/>
          <a:lstStyle/>
          <a:p>
            <a:pPr marL="0" indent="0">
              <a:buNone/>
            </a:pPr>
            <a:r>
              <a:rPr lang="en-US" sz="1100" b="1" kern="0" spc="100" dirty="0">
                <a:solidFill>
                  <a:schemeClr val="accent2"/>
                </a:solidFill>
              </a:rPr>
              <a:t>YANG DIMINTA DISETUJUI HARI INI</a:t>
            </a:r>
            <a:endParaRPr lang="en-US" sz="1100" dirty="0"/>
          </a:p>
        </p:txBody>
      </p:sp>
      <p:sp>
        <p:nvSpPr>
          <p:cNvPr id="7" name="Text 5"/>
          <p:cNvSpPr txBox="1"/>
          <p:nvPr/>
        </p:nvSpPr>
        <p:spPr>
          <a:xfrm>
            <a:off x="822960" y="2057400"/>
            <a:ext cx="6675120" cy="731520"/>
          </a:xfrm>
          <a:prstGeom prst="rect">
            <a:avLst/>
          </a:prstGeom>
          <a:noFill/>
          <a:ln/>
        </p:spPr>
        <p:txBody>
          <a:bodyPr wrap="square" lIns="0" tIns="0" rIns="0" bIns="0" rtlCol="0" anchor="ctr"/>
          <a:lstStyle/>
          <a:p>
            <a:pPr marL="0" indent="0">
              <a:buNone/>
            </a:pPr>
            <a:r>
              <a:rPr lang="en-US" sz="1700" b="1" dirty="0">
                <a:solidFill>
                  <a:schemeClr val="bg1"/>
                </a:solidFill>
              </a:rPr>
              <a:t>Pilot autodebit untuk unit eligible dan penagihan terfokus Tier 1–2, dengan grup kontrol.</a:t>
            </a:r>
            <a:endParaRPr lang="en-US" sz="1700" dirty="0"/>
          </a:p>
        </p:txBody>
      </p:sp>
      <p:sp>
        <p:nvSpPr>
          <p:cNvPr id="8" name="keputusan Penanggung jawab"/>
          <p:cNvSpPr/>
          <p:nvPr/>
        </p:nvSpPr>
        <p:spPr>
          <a:xfrm>
            <a:off x="548640" y="2999232"/>
            <a:ext cx="7223760" cy="493776"/>
          </a:xfrm>
          <a:prstGeom prst="roundRect">
            <a:avLst>
              <a:gd name="adj" fmla="val 14815"/>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9" name="Text 7"/>
          <p:cNvSpPr txBox="1"/>
          <p:nvPr/>
        </p:nvSpPr>
        <p:spPr>
          <a:xfrm>
            <a:off x="777240" y="3026664"/>
            <a:ext cx="1828800" cy="438912"/>
          </a:xfrm>
          <a:prstGeom prst="rect">
            <a:avLst/>
          </a:prstGeom>
          <a:noFill/>
          <a:ln/>
        </p:spPr>
        <p:txBody>
          <a:bodyPr wrap="square" lIns="0" tIns="0" rIns="0" bIns="0" rtlCol="0" anchor="ctr"/>
          <a:lstStyle/>
          <a:p>
            <a:pPr marL="0" indent="0">
              <a:buNone/>
            </a:pPr>
            <a:r>
              <a:rPr lang="en-US" sz="1300" b="1" dirty="0">
                <a:solidFill>
                  <a:schemeClr val="tx2"/>
                </a:solidFill>
              </a:rPr>
              <a:t>Penanggung jawab</a:t>
            </a:r>
            <a:endParaRPr lang="en-US" sz="1300" dirty="0"/>
          </a:p>
        </p:txBody>
      </p:sp>
      <p:sp>
        <p:nvSpPr>
          <p:cNvPr id="10" name="Text 8"/>
          <p:cNvSpPr txBox="1"/>
          <p:nvPr/>
        </p:nvSpPr>
        <p:spPr>
          <a:xfrm>
            <a:off x="2651760" y="3026664"/>
            <a:ext cx="4983480" cy="438912"/>
          </a:xfrm>
          <a:prstGeom prst="rect">
            <a:avLst/>
          </a:prstGeom>
          <a:noFill/>
          <a:ln/>
        </p:spPr>
        <p:txBody>
          <a:bodyPr wrap="square" lIns="0" tIns="0" rIns="0" bIns="0" rtlCol="0" anchor="ctr"/>
          <a:lstStyle/>
          <a:p>
            <a:pPr marL="0" indent="0">
              <a:buNone/>
            </a:pPr>
            <a:r>
              <a:rPr lang="en-US" sz="1200" dirty="0">
                <a:solidFill>
                  <a:schemeClr val="tx1"/>
                </a:solidFill>
              </a:rPr>
              <a:t>Head of Township Management (sponsor); Finance &amp; Collection (pelaksana); CS, IT/ERP, Estate Ops (pendukung)</a:t>
            </a:r>
            <a:endParaRPr lang="en-US" sz="1200" dirty="0"/>
          </a:p>
        </p:txBody>
      </p:sp>
      <p:sp>
        <p:nvSpPr>
          <p:cNvPr id="11" name="keputusan Waktu"/>
          <p:cNvSpPr/>
          <p:nvPr/>
        </p:nvSpPr>
        <p:spPr>
          <a:xfrm>
            <a:off x="548640" y="3566160"/>
            <a:ext cx="7223760" cy="493776"/>
          </a:xfrm>
          <a:prstGeom prst="roundRect">
            <a:avLst>
              <a:gd name="adj" fmla="val 14815"/>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2" name="Text 10"/>
          <p:cNvSpPr txBox="1"/>
          <p:nvPr/>
        </p:nvSpPr>
        <p:spPr>
          <a:xfrm>
            <a:off x="777240" y="3593592"/>
            <a:ext cx="1828800" cy="438912"/>
          </a:xfrm>
          <a:prstGeom prst="rect">
            <a:avLst/>
          </a:prstGeom>
          <a:noFill/>
          <a:ln/>
        </p:spPr>
        <p:txBody>
          <a:bodyPr wrap="square" lIns="0" tIns="0" rIns="0" bIns="0" rtlCol="0" anchor="ctr"/>
          <a:lstStyle/>
          <a:p>
            <a:pPr marL="0" indent="0">
              <a:buNone/>
            </a:pPr>
            <a:r>
              <a:rPr lang="en-US" sz="1300" b="1" dirty="0">
                <a:solidFill>
                  <a:schemeClr val="tx2"/>
                </a:solidFill>
              </a:rPr>
              <a:t>Waktu</a:t>
            </a:r>
            <a:endParaRPr lang="en-US" sz="1300" dirty="0"/>
          </a:p>
        </p:txBody>
      </p:sp>
      <p:sp>
        <p:nvSpPr>
          <p:cNvPr id="13" name="Text 11"/>
          <p:cNvSpPr txBox="1"/>
          <p:nvPr/>
        </p:nvSpPr>
        <p:spPr>
          <a:xfrm>
            <a:off x="2651760" y="3593592"/>
            <a:ext cx="4983480" cy="438912"/>
          </a:xfrm>
          <a:prstGeom prst="rect">
            <a:avLst/>
          </a:prstGeom>
          <a:noFill/>
          <a:ln/>
        </p:spPr>
        <p:txBody>
          <a:bodyPr wrap="square" lIns="0" tIns="0" rIns="0" bIns="0" rtlCol="0" anchor="ctr"/>
          <a:lstStyle/>
          <a:p>
            <a:pPr marL="0" indent="0">
              <a:buNone/>
            </a:pPr>
            <a:r>
              <a:rPr lang="en-US" sz="1200" dirty="0">
                <a:solidFill>
                  <a:schemeClr val="tx1"/>
                </a:solidFill>
              </a:rPr>
              <a:t>Persiapan bulan 1 (bagian Q1); pilot berjalan bulan 2–3 Q1</a:t>
            </a:r>
            <a:endParaRPr lang="en-US" sz="1200" dirty="0"/>
          </a:p>
        </p:txBody>
      </p:sp>
      <p:sp>
        <p:nvSpPr>
          <p:cNvPr id="14" name="keputusan Checkpoint"/>
          <p:cNvSpPr/>
          <p:nvPr/>
        </p:nvSpPr>
        <p:spPr>
          <a:xfrm>
            <a:off x="548640" y="4133088"/>
            <a:ext cx="7223760" cy="493776"/>
          </a:xfrm>
          <a:prstGeom prst="roundRect">
            <a:avLst>
              <a:gd name="adj" fmla="val 14815"/>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5" name="Text 13"/>
          <p:cNvSpPr txBox="1"/>
          <p:nvPr/>
        </p:nvSpPr>
        <p:spPr>
          <a:xfrm>
            <a:off x="777240" y="4160520"/>
            <a:ext cx="1828800" cy="438912"/>
          </a:xfrm>
          <a:prstGeom prst="rect">
            <a:avLst/>
          </a:prstGeom>
          <a:noFill/>
          <a:ln/>
        </p:spPr>
        <p:txBody>
          <a:bodyPr wrap="square" lIns="0" tIns="0" rIns="0" bIns="0" rtlCol="0" anchor="ctr"/>
          <a:lstStyle/>
          <a:p>
            <a:pPr marL="0" indent="0">
              <a:buNone/>
            </a:pPr>
            <a:r>
              <a:rPr lang="en-US" sz="1300" b="1" dirty="0">
                <a:solidFill>
                  <a:schemeClr val="tx2"/>
                </a:solidFill>
              </a:rPr>
              <a:t>Checkpoint</a:t>
            </a:r>
            <a:endParaRPr lang="en-US" sz="1300" dirty="0"/>
          </a:p>
        </p:txBody>
      </p:sp>
      <p:sp>
        <p:nvSpPr>
          <p:cNvPr id="16" name="Text 14"/>
          <p:cNvSpPr txBox="1"/>
          <p:nvPr/>
        </p:nvSpPr>
        <p:spPr>
          <a:xfrm>
            <a:off x="2651760" y="4160520"/>
            <a:ext cx="4983480" cy="438912"/>
          </a:xfrm>
          <a:prstGeom prst="rect">
            <a:avLst/>
          </a:prstGeom>
          <a:noFill/>
          <a:ln/>
        </p:spPr>
        <p:txBody>
          <a:bodyPr wrap="square" lIns="0" tIns="0" rIns="0" bIns="0" rtlCol="0" anchor="ctr"/>
          <a:lstStyle/>
          <a:p>
            <a:pPr marL="0" indent="0">
              <a:buNone/>
            </a:pPr>
            <a:r>
              <a:rPr lang="en-US" sz="1200" dirty="0">
                <a:solidFill>
                  <a:schemeClr val="tx1"/>
                </a:solidFill>
              </a:rPr>
              <a:t>Akhir bulan 2 (indikator awal) dan akhir Q2 (pilot vs grup kontrol)</a:t>
            </a:r>
            <a:endParaRPr lang="en-US" sz="1200" dirty="0"/>
          </a:p>
        </p:txBody>
      </p:sp>
      <p:sp>
        <p:nvSpPr>
          <p:cNvPr id="17" name="keputusan KPI utama"/>
          <p:cNvSpPr/>
          <p:nvPr/>
        </p:nvSpPr>
        <p:spPr>
          <a:xfrm>
            <a:off x="548640" y="4700016"/>
            <a:ext cx="7223760" cy="493776"/>
          </a:xfrm>
          <a:prstGeom prst="roundRect">
            <a:avLst>
              <a:gd name="adj" fmla="val 14815"/>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18" name="Text 16"/>
          <p:cNvSpPr txBox="1"/>
          <p:nvPr/>
        </p:nvSpPr>
        <p:spPr>
          <a:xfrm>
            <a:off x="777240" y="4727448"/>
            <a:ext cx="1828800" cy="438912"/>
          </a:xfrm>
          <a:prstGeom prst="rect">
            <a:avLst/>
          </a:prstGeom>
          <a:noFill/>
          <a:ln/>
        </p:spPr>
        <p:txBody>
          <a:bodyPr wrap="square" lIns="0" tIns="0" rIns="0" bIns="0" rtlCol="0" anchor="ctr"/>
          <a:lstStyle/>
          <a:p>
            <a:pPr marL="0" indent="0">
              <a:buNone/>
            </a:pPr>
            <a:r>
              <a:rPr lang="en-US" sz="1300" b="1" dirty="0">
                <a:solidFill>
                  <a:schemeClr val="tx2"/>
                </a:solidFill>
              </a:rPr>
              <a:t>KPI utama</a:t>
            </a:r>
            <a:endParaRPr lang="en-US" sz="1300" dirty="0"/>
          </a:p>
        </p:txBody>
      </p:sp>
      <p:sp>
        <p:nvSpPr>
          <p:cNvPr id="19" name="Text 17"/>
          <p:cNvSpPr txBox="1"/>
          <p:nvPr/>
        </p:nvSpPr>
        <p:spPr>
          <a:xfrm>
            <a:off x="2651760" y="4727448"/>
            <a:ext cx="4983480" cy="438912"/>
          </a:xfrm>
          <a:prstGeom prst="rect">
            <a:avLst/>
          </a:prstGeom>
          <a:noFill/>
          <a:ln/>
        </p:spPr>
        <p:txBody>
          <a:bodyPr wrap="square" lIns="0" tIns="0" rIns="0" bIns="0" rtlCol="0" anchor="ctr"/>
          <a:lstStyle/>
          <a:p>
            <a:pPr marL="0" indent="0">
              <a:buNone/>
            </a:pPr>
            <a:r>
              <a:rPr lang="en-US" sz="1200" dirty="0">
                <a:solidFill>
                  <a:schemeClr val="tx1"/>
                </a:solidFill>
              </a:rPr>
              <a:t>NPI cohort tagihan baru, adopsi autodebit, kas tertagih aktual, biaya program</a:t>
            </a:r>
            <a:endParaRPr lang="en-US" sz="1200" dirty="0"/>
          </a:p>
        </p:txBody>
      </p:sp>
      <p:sp>
        <p:nvSpPr>
          <p:cNvPr id="20" name="keputusan Prasyarat"/>
          <p:cNvSpPr/>
          <p:nvPr/>
        </p:nvSpPr>
        <p:spPr>
          <a:xfrm>
            <a:off x="548640" y="5266944"/>
            <a:ext cx="7223760" cy="493776"/>
          </a:xfrm>
          <a:prstGeom prst="roundRect">
            <a:avLst>
              <a:gd name="adj" fmla="val 14815"/>
            </a:avLst>
          </a:prstGeom>
          <a:solidFill>
            <a:schemeClr val="bg1"/>
          </a:solidFill>
          <a:ln w="9525">
            <a:solidFill>
              <a:srgbClr val="DCE1E8"/>
            </a:solidFill>
            <a:prstDash val="solid"/>
          </a:ln>
          <a:effectLst>
            <a:outerShdw blurRad="76200" dist="25400" dir="5400000" algn="bl" rotWithShape="0">
              <a:srgbClr val="13294B">
                <a:alpha val="10000"/>
              </a:srgbClr>
            </a:outerShdw>
          </a:effectLst>
        </p:spPr>
        <p:txBody>
          <a:bodyPr/>
          <a:lstStyle/>
          <a:p>
            <a:endParaRPr lang="en-US"/>
          </a:p>
        </p:txBody>
      </p:sp>
      <p:sp>
        <p:nvSpPr>
          <p:cNvPr id="21" name="Text 19"/>
          <p:cNvSpPr txBox="1"/>
          <p:nvPr/>
        </p:nvSpPr>
        <p:spPr>
          <a:xfrm>
            <a:off x="777240" y="5294376"/>
            <a:ext cx="1828800" cy="438912"/>
          </a:xfrm>
          <a:prstGeom prst="rect">
            <a:avLst/>
          </a:prstGeom>
          <a:noFill/>
          <a:ln/>
        </p:spPr>
        <p:txBody>
          <a:bodyPr wrap="square" lIns="0" tIns="0" rIns="0" bIns="0" rtlCol="0" anchor="ctr"/>
          <a:lstStyle/>
          <a:p>
            <a:pPr marL="0" indent="0">
              <a:buNone/>
            </a:pPr>
            <a:r>
              <a:rPr lang="en-US" sz="1300" b="1" dirty="0">
                <a:solidFill>
                  <a:schemeClr val="tx2"/>
                </a:solidFill>
              </a:rPr>
              <a:t>Prasyarat</a:t>
            </a:r>
            <a:endParaRPr lang="en-US" sz="1300" dirty="0"/>
          </a:p>
        </p:txBody>
      </p:sp>
      <p:sp>
        <p:nvSpPr>
          <p:cNvPr id="22" name="Text 20"/>
          <p:cNvSpPr txBox="1"/>
          <p:nvPr/>
        </p:nvSpPr>
        <p:spPr>
          <a:xfrm>
            <a:off x="2651760" y="5294376"/>
            <a:ext cx="4983480" cy="438912"/>
          </a:xfrm>
          <a:prstGeom prst="rect">
            <a:avLst/>
          </a:prstGeom>
          <a:noFill/>
          <a:ln/>
        </p:spPr>
        <p:txBody>
          <a:bodyPr wrap="square" lIns="0" tIns="0" rIns="0" bIns="0" rtlCol="0" anchor="ctr"/>
          <a:lstStyle/>
          <a:p>
            <a:pPr marL="0" indent="0">
              <a:buNone/>
            </a:pPr>
            <a:r>
              <a:rPr lang="en-US" sz="1200" dirty="0">
                <a:solidFill>
                  <a:schemeClr val="tx1"/>
                </a:solidFill>
              </a:rPr>
              <a:t>Biaya pilot dan pemilik anggaran disepakati sebelum pelaksanaan</a:t>
            </a:r>
            <a:endParaRPr lang="en-US" sz="1200" dirty="0"/>
          </a:p>
        </p:txBody>
      </p:sp>
      <p:sp>
        <p:nvSpPr>
          <p:cNvPr id="23" name="rencana cadangan"/>
          <p:cNvSpPr/>
          <p:nvPr/>
        </p:nvSpPr>
        <p:spPr>
          <a:xfrm>
            <a:off x="8046720" y="1645920"/>
            <a:ext cx="3593592" cy="4114800"/>
          </a:xfrm>
          <a:prstGeom prst="roundRect">
            <a:avLst>
              <a:gd name="adj" fmla="val 2036"/>
            </a:avLst>
          </a:prstGeom>
          <a:solidFill>
            <a:srgbClr val="F7F5F0"/>
          </a:solidFill>
          <a:ln w="9525">
            <a:solidFill>
              <a:srgbClr val="DCE1E8"/>
            </a:solidFill>
            <a:prstDash val="solid"/>
          </a:ln>
        </p:spPr>
        <p:txBody>
          <a:bodyPr/>
          <a:lstStyle/>
          <a:p>
            <a:endParaRPr lang="en-US"/>
          </a:p>
        </p:txBody>
      </p:sp>
      <p:sp>
        <p:nvSpPr>
          <p:cNvPr id="24" name="Text 22"/>
          <p:cNvSpPr txBox="1"/>
          <p:nvPr/>
        </p:nvSpPr>
        <p:spPr>
          <a:xfrm>
            <a:off x="8321040" y="1828800"/>
            <a:ext cx="3108960" cy="548640"/>
          </a:xfrm>
          <a:prstGeom prst="rect">
            <a:avLst/>
          </a:prstGeom>
          <a:noFill/>
          <a:ln/>
        </p:spPr>
        <p:txBody>
          <a:bodyPr wrap="square" lIns="0" tIns="0" rIns="0" bIns="0" rtlCol="0" anchor="t"/>
          <a:lstStyle/>
          <a:p>
            <a:pPr marL="0" indent="0">
              <a:buNone/>
            </a:pPr>
            <a:r>
              <a:rPr lang="en-US" sz="1100" b="1" kern="0" spc="100" dirty="0">
                <a:solidFill>
                  <a:schemeClr val="accent4"/>
                </a:solidFill>
              </a:rPr>
              <a:t>JIKA PILOT</a:t>
            </a:r>
            <a:r>
              <a:rPr lang="id-ID" sz="1100" b="1" kern="0" spc="100" dirty="0">
                <a:solidFill>
                  <a:schemeClr val="accent4"/>
                </a:solidFill>
              </a:rPr>
              <a:t> PROJECT</a:t>
            </a:r>
            <a:r>
              <a:rPr lang="en-US" sz="1100" b="1" kern="0" spc="100" dirty="0">
                <a:solidFill>
                  <a:schemeClr val="accent4"/>
                </a:solidFill>
              </a:rPr>
              <a:t> TIDAK MENUNJUKKAN PERBAIKAN</a:t>
            </a:r>
            <a:endParaRPr lang="en-US" sz="1100" dirty="0"/>
          </a:p>
        </p:txBody>
      </p:sp>
      <p:sp>
        <p:nvSpPr>
          <p:cNvPr id="25" name="Text 23"/>
          <p:cNvSpPr txBox="1"/>
          <p:nvPr/>
        </p:nvSpPr>
        <p:spPr>
          <a:xfrm>
            <a:off x="8321040" y="2468880"/>
            <a:ext cx="3108960" cy="30175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Jangan diperluas; evaluasi desain insentif.</a:t>
            </a:r>
            <a:endParaRPr lang="en-US" sz="1300" dirty="0"/>
          </a:p>
          <a:p>
            <a:pPr marL="342900" indent="-342900">
              <a:spcAft>
                <a:spcPts val="800"/>
              </a:spcAft>
              <a:buSzPct val="100000"/>
              <a:buChar char="•"/>
            </a:pPr>
            <a:r>
              <a:rPr lang="en-US" sz="1300" dirty="0">
                <a:solidFill>
                  <a:schemeClr val="tx1"/>
                </a:solidFill>
              </a:rPr>
              <a:t>Uji kanal komunikasi lain untuk segmen vacant dan pemilik jauh.</a:t>
            </a:r>
            <a:endParaRPr lang="en-US" sz="1300" dirty="0"/>
          </a:p>
          <a:p>
            <a:pPr marL="342900" indent="-342900">
              <a:spcAft>
                <a:spcPts val="800"/>
              </a:spcAft>
              <a:buSzPct val="100000"/>
              <a:buChar char="•"/>
            </a:pPr>
            <a:r>
              <a:rPr lang="en-US" sz="1300" dirty="0">
                <a:solidFill>
                  <a:schemeClr val="tx1"/>
                </a:solidFill>
              </a:rPr>
              <a:t>Tetap prioritaskan rekonsiliasi dan perbaikan data.</a:t>
            </a:r>
            <a:endParaRPr lang="en-US" sz="1300" dirty="0"/>
          </a:p>
          <a:p>
            <a:pPr marL="342900" indent="-342900">
              <a:spcAft>
                <a:spcPts val="800"/>
              </a:spcAft>
              <a:buSzPct val="100000"/>
              <a:buChar char="•"/>
            </a:pPr>
            <a:r>
              <a:rPr lang="en-US" sz="1300" dirty="0">
                <a:solidFill>
                  <a:schemeClr val="tx1"/>
                </a:solidFill>
              </a:rPr>
              <a:t>Kalibrasi ulang skor risiko dengan data hasil pilot.</a:t>
            </a:r>
            <a:endParaRPr lang="en-US" sz="1300" dirty="0"/>
          </a:p>
        </p:txBody>
      </p:sp>
      <p:sp>
        <p:nvSpPr>
          <p:cNvPr id="26" name="Text 24"/>
          <p:cNvSpPr txBox="1"/>
          <p:nvPr/>
        </p:nvSpPr>
        <p:spPr>
          <a:xfrm>
            <a:off x="548640" y="5897880"/>
            <a:ext cx="11064240" cy="365760"/>
          </a:xfrm>
          <a:prstGeom prst="rect">
            <a:avLst/>
          </a:prstGeom>
          <a:noFill/>
          <a:ln/>
        </p:spPr>
        <p:txBody>
          <a:bodyPr wrap="square" lIns="0" tIns="0" rIns="0" bIns="0" rtlCol="0" anchor="t"/>
          <a:lstStyle/>
          <a:p>
            <a:pPr marL="0" indent="0">
              <a:buNone/>
            </a:pPr>
            <a:r>
              <a:rPr lang="en-US" sz="1200" dirty="0">
                <a:solidFill>
                  <a:schemeClr val="accent6"/>
                </a:solidFill>
              </a:rPr>
              <a:t>Target ≤ 34,8% berlaku untuk NPI cohort tagihan baru (baseline 37,24%); usulan dari skenario dasar, disahkan setelah hasil pilot.</a:t>
            </a:r>
            <a:endParaRPr lang="en-US" sz="1200" dirty="0"/>
          </a:p>
        </p:txBody>
      </p:sp>
      <p:sp>
        <p:nvSpPr>
          <p:cNvPr id="27"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45</a:t>
            </a:fld>
            <a:endParaRPr lang="en-US"/>
          </a:p>
        </p:txBody>
      </p:sp>
      <p:sp>
        <p:nvSpPr>
          <p:cNvPr id="29" name="Text Placeholder 28">
            <a:extLst>
              <a:ext uri="{FF2B5EF4-FFF2-40B4-BE49-F238E27FC236}">
                <a16:creationId xmlns:a16="http://schemas.microsoft.com/office/drawing/2014/main" id="{FC59D8CB-CE60-49BC-902B-450B3CA867F6}"/>
              </a:ext>
            </a:extLst>
          </p:cNvPr>
          <p:cNvSpPr>
            <a:spLocks noGrp="1"/>
          </p:cNvSpPr>
          <p:nvPr>
            <p:ph type="body" idx="102"/>
          </p:nvPr>
        </p:nvSpPr>
        <p:spPr/>
        <p:txBody>
          <a:bodyPr/>
          <a:lstStyle/>
          <a:p>
            <a:endParaRPr lang="id-ID"/>
          </a:p>
        </p:txBody>
      </p:sp>
    </p:spTree>
    <p:extLst>
      <p:ext uri="{BB962C8B-B14F-4D97-AF65-F5344CB8AC3E}">
        <p14:creationId xmlns:p14="http://schemas.microsoft.com/office/powerpoint/2010/main" val="3584625927"/>
      </p:ext>
    </p:extLst>
  </p:cSld>
  <p:clrMapOvr>
    <a:masterClrMapping/>
  </p:clrMapOvr>
</p:sld>
</file>

<file path=ppt/theme/theme1.xml><?xml version="1.0" encoding="utf-8"?>
<a:theme xmlns:a="http://schemas.openxmlformats.org/drawingml/2006/main" name="Township Navy Gold">
  <a:themeElements>
    <a:clrScheme name="Township Navy Gold">
      <a:dk1>
        <a:srgbClr val="1E2633"/>
      </a:dk1>
      <a:lt1>
        <a:srgbClr val="FFFFFF"/>
      </a:lt1>
      <a:dk2>
        <a:srgbClr val="13294B"/>
      </a:dk2>
      <a:lt2>
        <a:srgbClr val="F7F5F0"/>
      </a:lt2>
      <a:accent1>
        <a:srgbClr val="2F5E8C"/>
      </a:accent1>
      <a:accent2>
        <a:srgbClr val="C9A227"/>
      </a:accent2>
      <a:accent3>
        <a:srgbClr val="1F4D3A"/>
      </a:accent3>
      <a:accent4>
        <a:srgbClr val="B23A3A"/>
      </a:accent4>
      <a:accent5>
        <a:srgbClr val="D98E04"/>
      </a:accent5>
      <a:accent6>
        <a:srgbClr val="7B8494"/>
      </a:accent6>
      <a:hlink>
        <a:srgbClr val="2F5E8C"/>
      </a:hlink>
      <a:folHlink>
        <a:srgbClr val="7B8494"/>
      </a:folHlink>
    </a:clrScheme>
    <a:fontScheme name="Township Navy Gold">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227</TotalTime>
  <Words>18310</Words>
  <Application>Microsoft Macintosh PowerPoint</Application>
  <PresentationFormat>Widescreen</PresentationFormat>
  <Paragraphs>1028</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Township Navy Gold</vt:lpstr>
      <vt:lpstr>PowerPoint Presentation</vt:lpstr>
      <vt:lpstr>Alur presentasi</vt:lpstr>
      <vt:lpstr>NPI tinggi: autodebit menjadi pilihan utama untuk diuji lewat pilot project</vt:lpstr>
      <vt:lpstr>Konteks &amp; masalah bisnis</vt:lpstr>
      <vt:lpstr>IPL membiayai biaya operasional, tunggakan akan meningkatkan risiko arus kas</vt:lpstr>
      <vt:lpstr>Bagaimana menurunkan NPI dalam dua kuartal?</vt:lpstr>
      <vt:lpstr>Data, metodologi &amp; kualitas data</vt:lpstr>
      <vt:lpstr>Terdapat 5 Dataset Terkait NPI</vt:lpstr>
      <vt:lpstr>Alur analisis: validasi data, uji hipotesis, dan simulasi</vt:lpstr>
      <vt:lpstr>Enam temuan kualitas data, dalam tiga kelompok, memengaruhi akurasi NPI</vt:lpstr>
      <vt:lpstr>Besar masalah NPI</vt:lpstr>
      <vt:lpstr>35,44% invoice utama berstatus NPI: nominal analisisnya Rp176,34 miliar</vt:lpstr>
      <vt:lpstr>Rata-rata NPI perbulan naik dari 20,03% (Jul 2022) dan bertahan di kisaran 35–38% sejak 2023</vt:lpstr>
      <vt:lpstr>Faktor risiko tunggakan</vt:lpstr>
      <vt:lpstr>Vacant, tanpa autodebit, dan domisili jauh memiliki selisih NPI mentah terbesar</vt:lpstr>
      <vt:lpstr>Setelah analisa, autodebit, unit kosong, pemilik luar kota/negeri, dan cluster baru (2021-2023) masih menunjukkan selisih NPI</vt:lpstr>
      <vt:lpstr>Risiko tertinggi tidak selalu menyumbang nominal terbesar</vt:lpstr>
      <vt:lpstr>Durasi tunggakan &amp; prioritas Penagihan</vt:lpstr>
      <vt:lpstr>88% nominal NPI berumur lebih dari 90 hari; Rp93,5 miliar berumur lebih dari setahun</vt:lpstr>
      <vt:lpstr>6.771 unit memegang 50% nominal NPI: Rekomendasi dibagi menjadi empat</vt:lpstr>
      <vt:lpstr>Menyelesaikan tiga daftar prioritas sebelum menetapkan target keuangan</vt:lpstr>
      <vt:lpstr>Simulasi pencegahan NPI</vt:lpstr>
      <vt:lpstr>Estimasi Rp42,0 miliar tagihan baru berpotensi menjadi NPI dalam enam bulan ke depan</vt:lpstr>
      <vt:lpstr>Skenario dasar: Konservatif (efek 25%)”, “Dasar (efek 50%)”, dan “Optimistis (efek 100%)</vt:lpstr>
      <vt:lpstr>Autodebit memiliki dampak NPI terbesar dalam simulasi: Tagihan digital dan verifikasi kontak tetap berguna</vt:lpstr>
      <vt:lpstr>Rekomendasi, roadmap &amp; keputusan</vt:lpstr>
      <vt:lpstr>Pilot project, rekonsiliasi, dan kontrol pembayaran berjalan lebih dahulu</vt:lpstr>
      <vt:lpstr>Bulan pertama untuk fondasi, sisa Q1 untuk pilot, Q2 untuk evaluasi dan perluasan berbasis hasil</vt:lpstr>
      <vt:lpstr>PowerPoint Presentation</vt:lpstr>
      <vt:lpstr>Lampiran</vt:lpstr>
      <vt:lpstr>Hipotesis yang didukung data: kesimpulan uji dipisahkan dari kekuatan asosiasi</vt:lpstr>
      <vt:lpstr>Hipotesis yang tidak didukung, rekonsiliasi, dan yang belum dapat diuji</vt:lpstr>
      <vt:lpstr>Definisi metrik dan rumus</vt:lpstr>
      <vt:lpstr>Metodologi statistik: interval kepercayaan, Cramér's V, koreksi Holm, dan selisih terkendali</vt:lpstr>
      <vt:lpstr>Detail kualitas data, diurutkan menurut dampak nominal</vt:lpstr>
      <vt:lpstr>Asumsi dan parameter simulasi</vt:lpstr>
      <vt:lpstr>Batas analisis dan data yang dibutuhkan untuk keputusan berikutnya</vt:lpstr>
      <vt:lpstr>NPI meningkat seiring skor risiko deskriptif: 4,93% pada skor 0 menjadi 67,10% pada skor 4</vt:lpstr>
      <vt:lpstr>Setelah analisa, autodebit, unit kosong, pemilik luar kota/negeri, dan cluster baru (2021-2023) masih menunjukkan selisih NPI</vt:lpstr>
      <vt:lpstr>Mengeluarkan salinan duplikasi menurunkan baseline NPI dari 36,96% menjadi 35,44%</vt:lpstr>
      <vt:lpstr>Beberapa dugaan tidak didukung data; sebagian belum dapat diuji</vt:lpstr>
      <vt:lpstr>Ada atau tidaknya aksi hampir tidak membedakan pembayaran bulan berikutnya: polanya berbeda menurut respons tercatat</vt:lpstr>
      <vt:lpstr>KPI hasil: NPI tagihan baru, nominal NPI baru, kas aktual, dan rekonsiliasi</vt:lpstr>
      <vt:lpstr>Indikator awal dan KPI kualitas data bergerak lebih dulu sebelum NPI berubah</vt:lpstr>
      <vt:lpstr>Mohon persetujuan pilot Q1 dengan evaluasi terukur hingga akhir Q2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Menyehatkan Cashflow IPL Sinarmas Land</dc:title>
  <dc:subject>Analisis Risiko NPI, Prioritas Collection, dan Strategi Pencegahan Tunggakan</dc:subject>
  <dc:creator>Astro Lihardo Aloysius; Raffy Reyhan</dc:creator>
  <cp:lastModifiedBy>Astro Aloysius</cp:lastModifiedBy>
  <cp:revision>132</cp:revision>
  <dcterms:created xsi:type="dcterms:W3CDTF">2026-10-19T13:55:04Z</dcterms:created>
  <dcterms:modified xsi:type="dcterms:W3CDTF">2026-10-21T02:44:00Z</dcterms:modified>
</cp:coreProperties>
</file>